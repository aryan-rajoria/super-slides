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nano-super v0.1.0: self-hosted observability for the pi coding agent. Two parts: a pi extension package (session monitor + /research) and a zero-dependency local dashboard. ~3,578 first-party lines, 63 tests, zero npm dependencies. GAME CUE (1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the pi coding agent logs nothing by default; usage insight dies with each terminal. Pain points: per-project scatter, soft failures (exit-0 powershell wrappers), unreviewed prompting habits, drift noticed late, invisible spend. nano-super exists to make all five measurable. GAME CUE (3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at product level. Part 1: pi/ installs as the nano-super-pi package — monitor.ts + research.ts extensions. Part 2: dashboard/ — stdlib-only HTTP server + SPA. They share exactly one thing: the JSONL event logs in ~/.pi/agent/logs. No npm install anywhere.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monitor.ts (127 lines): hooks 7 pi lifecycle events, appends one JSONL line per event into &lt;sessionId&gt;.jsonl. Hot-path discipline: mkdirSync on first write only, a single appendFileSync per event, every write in try/catch, 200k-char truncation guard, and the PI_DASHBOARD_ENRICHMENT no-op guard against self-enrichment loops.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Entity model: one session = one &lt;id&gt;.jsonl (schemaVersion 1, 12 event types). The dashboard digests it into .enrich/&lt;id&gt;.input.md (30k-char budget; event [N] == JSONL line N), a headless pi run (zai/glm-5.3-flash) writes &lt;id&gt;.analysis.json (schemaVersion 2). Research runs emit research_* events whose streamSessionIds/refineSessionId link child sessions.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data flow: parse.js (mtime+size cache, regex soft-failure detection) → server.js (node:http, 5 endpoints, localhost:3131) → enrich.js (headless pi writes analyses through the harness) → no-build SPA with vendored Chart.js, 15 s auto-refresh. The watcher scans every 5 s and triggers enrichment after quiet periods.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research.ts (364 lines) implements the 6-stage pipeline: scout (1 call, 3 approaches) → 3 parallel headless streams (read-only, 10-min cap) → distill → RTV tournament (3 pairs × 3 votes) → PDR refine → submit. LLM-call math at N=3: 1 scout + 3 distill + 9 judges = 13, +1 tie-break only when needed. Survivor logic requires ≥2 streams. GAME CUE (5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/research adapts the paper's test-time-scaling recipe: N 16→3 streams (configurable 2-5), G unchanged, V 8→3 with one lens per vote (pragmatism/risk/effort), one PDR pass. Judges see only distilled summaries (~2k tokens), tie-break ranking call resolves cycles, PDR failure falls back to the winning stream's brief.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Documented design decisions, each with rationale in the README or source comments: zero-dependency stack, dual versioned schemas, the enrichment feedback-loop guard, never-break-pi try/catch, 200k truncation, the stdin ignore quirk, enrichment through the pi harness instead of direct API calls, and the honest-brief instruction.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of observation, honestly stated. Monitor: one sync append per event — architectural guarantee, not a benchmark. /research: 4 pi runs + ~14 short LLM calls, typically 2-5 minutes; the checked-in fixture ran 6m25s with one stream timing out. Enrichment: glm-5.3-flash through headless pi; real logged per-turn cost $0.000049.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payoff, measurable. The dashboard computes 9 KPI cards and 9 charts, soft-failure forensics, and the prompt coach with 8 habit tags. Evidence from a real logged steering test: 3 wasted turns; one correction detour priced at 5 turns / 4 tool calls / 30 s; drift rooted to prompt_ambiguity with 6 cited events; 2 coach rewrites. GAME CUE (4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Status: v0.1.0, single-user localhost tool. Three takeaways: the zero-dependency discipline holds end to end; the meta-loop is closed but guarded; honesty is systemic. Honest limits: no latency benchmarks yet, bound to 127.0.0.1, one user. One slide left — the coffee awaits. GAME CUE (3 min budget): runner jumps the obstacle at 0:12 left; going back a slide costs one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Thank-you slide: after 12 slides of running, the man reaches the coffee machine on the strip below, brews, and finally gets his cup — hearts refill. Let the animation play out (~6 s),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8.png"/><Relationship Id="rId20" Type="http://schemas.openxmlformats.org/officeDocument/2006/relationships/image" Target="../media/image-1-18.png"/><Relationship Id="rId21" Type="http://schemas.openxmlformats.org/officeDocument/2006/relationships/image" Target="../media/image-1-21.png"/><Relationship Id="rId22" Type="http://schemas.openxmlformats.org/officeDocument/2006/relationships/image" Target="../media/image-1-21.png"/><Relationship Id="rId23" Type="http://schemas.openxmlformats.org/officeDocument/2006/relationships/image" Target="../media/image-1-21.png"/><Relationship Id="rId24" Type="http://schemas.openxmlformats.org/officeDocument/2006/relationships/image" Target="../media/image-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7.png"/><Relationship Id="rId19" Type="http://schemas.openxmlformats.org/officeDocument/2006/relationships/image" Target="../media/image-2-17.png"/><Relationship Id="rId20" Type="http://schemas.openxmlformats.org/officeDocument/2006/relationships/image" Target="../media/image-2-20.png"/><Relationship Id="rId21" Type="http://schemas.openxmlformats.org/officeDocument/2006/relationships/image" Target="../media/image-2-20.png"/><Relationship Id="rId22" Type="http://schemas.openxmlformats.org/officeDocument/2006/relationships/image" Target="../media/image-2-20.png"/><Relationship Id="rId23" Type="http://schemas.openxmlformats.org/officeDocument/2006/relationships/image" Target="../media/image-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8.png"/><Relationship Id="rId20" Type="http://schemas.openxmlformats.org/officeDocument/2006/relationships/image" Target="../media/image-3-18.png"/><Relationship Id="rId21" Type="http://schemas.openxmlformats.org/officeDocument/2006/relationships/image" Target="../media/image-3-21.png"/><Relationship Id="rId22" Type="http://schemas.openxmlformats.org/officeDocument/2006/relationships/image" Target="../media/image-3-21.png"/><Relationship Id="rId23" Type="http://schemas.openxmlformats.org/officeDocument/2006/relationships/image" Target="../media/image-3-21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7.png"/><Relationship Id="rId19" Type="http://schemas.openxmlformats.org/officeDocument/2006/relationships/image" Target="../media/image-4-17.png"/><Relationship Id="rId20" Type="http://schemas.openxmlformats.org/officeDocument/2006/relationships/image" Target="../media/image-4-20.png"/><Relationship Id="rId21" Type="http://schemas.openxmlformats.org/officeDocument/2006/relationships/image" Target="../media/image-4-20.png"/><Relationship Id="rId22" Type="http://schemas.openxmlformats.org/officeDocument/2006/relationships/image" Target="../media/image-4-20.png"/><Relationship Id="rId23" Type="http://schemas.openxmlformats.org/officeDocument/2006/relationships/image" Target="../media/image-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7.png"/><Relationship Id="rId19" Type="http://schemas.openxmlformats.org/officeDocument/2006/relationships/image" Target="../media/image-5-17.png"/><Relationship Id="rId20" Type="http://schemas.openxmlformats.org/officeDocument/2006/relationships/image" Target="../media/image-5-20.png"/><Relationship Id="rId21" Type="http://schemas.openxmlformats.org/officeDocument/2006/relationships/image" Target="../media/image-5-20.png"/><Relationship Id="rId22" Type="http://schemas.openxmlformats.org/officeDocument/2006/relationships/image" Target="../media/image-5-20.png"/><Relationship Id="rId23" Type="http://schemas.openxmlformats.org/officeDocument/2006/relationships/image" Target="../media/image-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7.png"/><Relationship Id="rId19" Type="http://schemas.openxmlformats.org/officeDocument/2006/relationships/image" Target="../media/image-6-17.png"/><Relationship Id="rId20" Type="http://schemas.openxmlformats.org/officeDocument/2006/relationships/image" Target="../media/image-6-20.png"/><Relationship Id="rId21" Type="http://schemas.openxmlformats.org/officeDocument/2006/relationships/image" Target="../media/image-6-20.png"/><Relationship Id="rId22" Type="http://schemas.openxmlformats.org/officeDocument/2006/relationships/image" Target="../media/image-6-20.png"/><Relationship Id="rId23" Type="http://schemas.openxmlformats.org/officeDocument/2006/relationships/image" Target="../media/image-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7.png"/><Relationship Id="rId19" Type="http://schemas.openxmlformats.org/officeDocument/2006/relationships/image" Target="../media/image-7-17.png"/><Relationship Id="rId20" Type="http://schemas.openxmlformats.org/officeDocument/2006/relationships/image" Target="../media/image-7-20.png"/><Relationship Id="rId21" Type="http://schemas.openxmlformats.org/officeDocument/2006/relationships/image" Target="../media/image-7-20.png"/><Relationship Id="rId22" Type="http://schemas.openxmlformats.org/officeDocument/2006/relationships/image" Target="../media/image-7-20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7.png"/><Relationship Id="rId19" Type="http://schemas.openxmlformats.org/officeDocument/2006/relationships/image" Target="../media/image-8-17.png"/><Relationship Id="rId20" Type="http://schemas.openxmlformats.org/officeDocument/2006/relationships/image" Target="../media/image-8-20.png"/><Relationship Id="rId21" Type="http://schemas.openxmlformats.org/officeDocument/2006/relationships/image" Target="../media/image-8-20.png"/><Relationship Id="rId22" Type="http://schemas.openxmlformats.org/officeDocument/2006/relationships/image" Target="../media/image-8-20.png"/><Relationship Id="rId23" Type="http://schemas.openxmlformats.org/officeDocument/2006/relationships/image" Target="../media/image-8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7.png"/><Relationship Id="rId19" Type="http://schemas.openxmlformats.org/officeDocument/2006/relationships/image" Target="../media/image-9-17.png"/><Relationship Id="rId20" Type="http://schemas.openxmlformats.org/officeDocument/2006/relationships/image" Target="../media/image-9-20.png"/><Relationship Id="rId21" Type="http://schemas.openxmlformats.org/officeDocument/2006/relationships/image" Target="../media/image-9-20.png"/><Relationship Id="rId22" Type="http://schemas.openxmlformats.org/officeDocument/2006/relationships/image" Target="../media/image-9-20.png"/><Relationship Id="rId23" Type="http://schemas.openxmlformats.org/officeDocument/2006/relationships/image" Target="../media/image-9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7.png"/><Relationship Id="rId19" Type="http://schemas.openxmlformats.org/officeDocument/2006/relationships/image" Target="../media/image-10-17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0.png"/><Relationship Id="rId22" Type="http://schemas.openxmlformats.org/officeDocument/2006/relationships/image" Target="../media/image-10-20.png"/><Relationship Id="rId23" Type="http://schemas.openxmlformats.org/officeDocument/2006/relationships/image" Target="../media/image-10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7.png"/><Relationship Id="rId19" Type="http://schemas.openxmlformats.org/officeDocument/2006/relationships/image" Target="../media/image-11-17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0.png"/><Relationship Id="rId22" Type="http://schemas.openxmlformats.org/officeDocument/2006/relationships/image" Target="../media/image-11-20.png"/><Relationship Id="rId23" Type="http://schemas.openxmlformats.org/officeDocument/2006/relationships/image" Target="../media/image-1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7.png"/><Relationship Id="rId19" Type="http://schemas.openxmlformats.org/officeDocument/2006/relationships/image" Target="../media/image-12-17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0.png"/><Relationship Id="rId22" Type="http://schemas.openxmlformats.org/officeDocument/2006/relationships/image" Target="../media/image-12-20.png"/><Relationship Id="rId23" Type="http://schemas.openxmlformats.org/officeDocument/2006/relationships/image" Target="../media/image-1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8.png"/><Relationship Id="rId20" Type="http://schemas.openxmlformats.org/officeDocument/2006/relationships/image" Target="../media/image-13-18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1.png"/><Relationship Id="rId23" Type="http://schemas.openxmlformats.org/officeDocument/2006/relationships/image" Target="../media/image-13-21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image" Target="../media/image-13-27.png"/><Relationship Id="rId28" Type="http://schemas.openxmlformats.org/officeDocument/2006/relationships/image" Target="../media/image-13-28.png"/><Relationship Id="rId29" Type="http://schemas.openxmlformats.org/officeDocument/2006/relationships/image" Target="../media/image-13-29.png"/><Relationship Id="rId30" Type="http://schemas.openxmlformats.org/officeDocument/2006/relationships/image" Target="../media/image-13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i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051560"/>
            <a:ext cx="1959429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4" name="Shape 1"/>
          <p:cNvSpPr/>
          <p:nvPr/>
        </p:nvSpPr>
        <p:spPr>
          <a:xfrm>
            <a:off x="722376" y="347472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521208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1" descr="assets/p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59229" cy="502920"/>
          </a:xfrm>
          <a:prstGeom prst="rect">
            <a:avLst/>
          </a:prstGeom>
        </p:spPr>
      </p:pic>
      <p:pic>
        <p:nvPicPr>
          <p:cNvPr id="7" name="Image 2" descr="assets/word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5455049" cy="6583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CD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usage observation — a technical deep-dive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502920" y="3017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that watches how you use your AI agent —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an AI that grades your prompting.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39496" y="4151376"/>
            <a:ext cx="905256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1" name="Shape 6"/>
          <p:cNvSpPr/>
          <p:nvPr/>
        </p:nvSpPr>
        <p:spPr>
          <a:xfrm>
            <a:off x="502920" y="4114800"/>
            <a:ext cx="905256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02920" y="4114800"/>
            <a:ext cx="905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673352" y="4151376"/>
            <a:ext cx="1220724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4" name="Shape 9"/>
          <p:cNvSpPr/>
          <p:nvPr/>
        </p:nvSpPr>
        <p:spPr>
          <a:xfrm>
            <a:off x="1636776" y="4114800"/>
            <a:ext cx="1220724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636776" y="4114800"/>
            <a:ext cx="1220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~3.6K LOC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122676" y="4151376"/>
            <a:ext cx="1115568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7" name="Shape 12"/>
          <p:cNvSpPr/>
          <p:nvPr/>
        </p:nvSpPr>
        <p:spPr>
          <a:xfrm>
            <a:off x="3086100" y="4114800"/>
            <a:ext cx="1115568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086100" y="411480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TESTS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466844" y="4151376"/>
            <a:ext cx="1325880" cy="475488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20" name="Shape 15"/>
          <p:cNvSpPr/>
          <p:nvPr/>
        </p:nvSpPr>
        <p:spPr>
          <a:xfrm>
            <a:off x="4430268" y="4114800"/>
            <a:ext cx="1325880" cy="475488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30268" y="411480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NPM DEPS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0292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the pi coding agent · @earendil-works/pi-coding-agent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0292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github.com/aryan-rajoria/nano-super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966960" y="5257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232838"/>
          </a:solidFill>
          <a:ln/>
        </p:spPr>
      </p:sp>
      <p:sp>
        <p:nvSpPr>
          <p:cNvPr id="26" name="Shape 21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7" name="Shape 22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8" name="Shape 23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12141B"/>
          </a:solidFill>
          <a:ln/>
        </p:spPr>
      </p:sp>
      <p:pic>
        <p:nvPicPr>
          <p:cNvPr id="29" name="sunmoon" descr="assets/m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30" name="skyline" descr="assets/skyline_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31" name="cloud1" descr="assets/cloud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32" name="cloud2" descr="assets/cloud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33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34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pic>
        <p:nvPicPr>
          <p:cNvPr id="35" name="sign1" descr="assets/sign_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36" name="sign2" descr="assets/sign_nocoff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37" name="bush" descr="assets/b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38" name="sign3" descr="assets/sign_clos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39" name="cactus" descr="assets/cactu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40" name="rock" descr="assets/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41" name="man_runA" descr="assets/man_run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42" name="man_runB" descr="assets/man_run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43" name="man_jump" descr="assets/man_jum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44" name="man_idle" descr="assets/man_id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45" name="heartF1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46" name="heartF2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47" name="heartF3" descr="assets/heart_ful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48" name="heartE1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49" name="heartE2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0" name="heartE3" descr="assets/heart_empt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1" name="scoretag" descr="assets/score_night_0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52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53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4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1:00</a:t>
            </a:r>
            <a:endParaRPr lang="en-US" sz="950" dirty="0"/>
          </a:p>
        </p:txBody>
      </p:sp>
      <p:sp>
        <p:nvSpPr>
          <p:cNvPr id="55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011680" cy="182880"/>
          </a:xfrm>
          <a:prstGeom prst="rect">
            <a:avLst/>
          </a:prstGeom>
        </p:spPr>
      </p:pic>
      <p:pic>
        <p:nvPicPr>
          <p:cNvPr id="6" name="Image 1" descr="assets/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4415246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5544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 works all day.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never see how.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02920" y="3063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 sessions live and die inside one terminal. Nothing answers: what did it do, what did it cost, and which of my prompts caused the rework?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53212" y="4439412"/>
            <a:ext cx="4206240" cy="1143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hape 6"/>
          <p:cNvSpPr/>
          <p:nvPr/>
        </p:nvSpPr>
        <p:spPr>
          <a:xfrm>
            <a:off x="502920" y="4389120"/>
            <a:ext cx="4206240" cy="1143000"/>
          </a:xfrm>
          <a:prstGeom prst="rect">
            <a:avLst/>
          </a:prstGeom>
          <a:solidFill>
            <a:srgbClr val="E7EEF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498848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1874520" y="45902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cross-project analytics ship with the pi agent — the usage data is created every day, then discarded.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99532" y="1421892"/>
            <a:ext cx="6336792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hape 10"/>
          <p:cNvSpPr/>
          <p:nvPr/>
        </p:nvSpPr>
        <p:spPr>
          <a:xfrm>
            <a:off x="5349240" y="1371600"/>
            <a:ext cx="6336792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0" y="1673352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5989320" y="16276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sessions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89320" y="189280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project keeps its own history — no aggregate view of prompts, tools or turns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669280" y="2322576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669280" y="2450592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6"/>
          <p:cNvSpPr/>
          <p:nvPr/>
        </p:nvSpPr>
        <p:spPr>
          <a:xfrm>
            <a:off x="5989320" y="2404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failures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989320" y="267004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powershell tool wraps failed commands in exit-0 output — errors pass silently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669280" y="3099816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69280" y="322783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0"/>
          <p:cNvSpPr/>
          <p:nvPr/>
        </p:nvSpPr>
        <p:spPr>
          <a:xfrm>
            <a:off x="5989320" y="31821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Unreviewed habits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989320" y="344728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re-reads their own prompts, so bad habits compound across sessions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669280" y="3877056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69280" y="4005072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8" name="Text 24"/>
          <p:cNvSpPr/>
          <p:nvPr/>
        </p:nvSpPr>
        <p:spPr>
          <a:xfrm>
            <a:off x="5989320" y="39593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by hindsight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989320" y="4224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drift is noticed only after the wasted turns it produced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669280" y="4654296"/>
            <a:ext cx="566928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69280" y="4782312"/>
            <a:ext cx="137160" cy="1371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2" name="Text 28"/>
          <p:cNvSpPr/>
          <p:nvPr/>
        </p:nvSpPr>
        <p:spPr>
          <a:xfrm>
            <a:off x="5989320" y="47365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Invisible spend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989320" y="50017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and $ per model, per project are never totaled — cost is a feeling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35" name="Shape 31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hape 33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38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39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40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41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42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44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45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46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47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48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49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50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51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2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3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4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55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56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57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8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9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0" name="scoretag" descr="assets/score_day_0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61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62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3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950" dirty="0"/>
          </a:p>
        </p:txBody>
      </p:sp>
      <p:sp>
        <p:nvSpPr>
          <p:cNvPr id="64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6" name="Image 1" descr="assets/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independent parts, one shared data dir.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53212" y="1677924"/>
            <a:ext cx="5166360" cy="2743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627632"/>
            <a:ext cx="5166360" cy="2743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pic>
        <p:nvPicPr>
          <p:cNvPr id="10" name="Image 2" descr="assets/pi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55648"/>
            <a:ext cx="269332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17922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pi/  —  nano-super-pi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77724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 extensions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77240" y="248716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monitor — logs every session from every project into one central dir: prompts, tool calls, results, turns, tokens, cost.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77240" y="336499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/research command — 6-stage deep research (RTV + PDR) on a task; submits the brief as context.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806440" y="2978658"/>
            <a:ext cx="50292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hape 11"/>
          <p:cNvSpPr/>
          <p:nvPr/>
        </p:nvSpPr>
        <p:spPr>
          <a:xfrm>
            <a:off x="6309360" y="289407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hape 12"/>
          <p:cNvSpPr/>
          <p:nvPr/>
        </p:nvSpPr>
        <p:spPr>
          <a:xfrm>
            <a:off x="6309360" y="301294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2953512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Text 14"/>
          <p:cNvSpPr/>
          <p:nvPr/>
        </p:nvSpPr>
        <p:spPr>
          <a:xfrm>
            <a:off x="5742432" y="32186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542532" y="1677924"/>
            <a:ext cx="5193792" cy="2743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1627632"/>
            <a:ext cx="5193792" cy="2743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66560" y="179222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dashboard/  —  observation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766560" y="2121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analytics, zero deps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766560" y="24871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over those logs — tool health, prompt mix, drift root causes, tokens &amp; cost per session/model/project.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766560" y="336499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enrichment — a headless pi run classifies prompts and coaches your habits on every ended session.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53212" y="4622292"/>
            <a:ext cx="7498080" cy="9601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7" name="Shape 22"/>
          <p:cNvSpPr/>
          <p:nvPr/>
        </p:nvSpPr>
        <p:spPr>
          <a:xfrm>
            <a:off x="502920" y="4572000"/>
            <a:ext cx="7498080" cy="960120"/>
          </a:xfrm>
          <a:prstGeom prst="rect">
            <a:avLst/>
          </a:prstGeom>
          <a:solidFill>
            <a:srgbClr val="1B1D22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22960" y="4718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 install ./pi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22960" y="5047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EE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dashboard/server.js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394960" y="4718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http://127.0.0.1:3131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394960" y="5047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npm install — Node stdlib only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417052" y="4622292"/>
            <a:ext cx="3319272" cy="9601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8"/>
          <p:cNvSpPr/>
          <p:nvPr/>
        </p:nvSpPr>
        <p:spPr>
          <a:xfrm>
            <a:off x="8366760" y="4572000"/>
            <a:ext cx="3319272" cy="96012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641080" y="47183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CENTRAL DIR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641080" y="4956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~/.pi/agent/logs</a:t>
            </a:r>
            <a:endParaRPr lang="en-US" sz="1350" dirty="0"/>
          </a:p>
        </p:txBody>
      </p:sp>
      <p:sp>
        <p:nvSpPr>
          <p:cNvPr id="36" name="Text 31"/>
          <p:cNvSpPr/>
          <p:nvPr/>
        </p:nvSpPr>
        <p:spPr>
          <a:xfrm>
            <a:off x="8641080" y="52486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project writes here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38" name="Shape 33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Shape 34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hape 35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41" name="sunmoon" descr="assets/su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42" name="skyline" descr="assets/skyline_d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43" name="cloud1" descr="assets/cloud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44" name="cloud2" descr="assets/cloud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45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47" name="sign1" descr="assets/sign_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48" name="sign2" descr="assets/sign_nocoff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49" name="bush" descr="assets/bus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50" name="sign3" descr="assets/sign_clos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51" name="cactus" descr="assets/cactu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52" name="rock" descr="assets/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53" name="man_runA" descr="assets/man_run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54" name="man_runB" descr="assets/man_run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5" name="man_jump" descr="assets/man_jum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6" name="man_idle" descr="assets/man_id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7" name="heartF1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58" name="heartF2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59" name="heartF3" descr="assets/heart_ful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60" name="heartE1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1" name="heartE2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2" name="heartE3" descr="assets/heart_empt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3" name="scoretag" descr="assets/score_day_0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64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65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6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67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3422469" cy="182880"/>
          </a:xfrm>
          <a:prstGeom prst="rect">
            <a:avLst/>
          </a:prstGeom>
        </p:spPr>
      </p:pic>
      <p:pic>
        <p:nvPicPr>
          <p:cNvPr id="6" name="Image 1" descr="assets/t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3212" y="1421892"/>
            <a:ext cx="5257800" cy="41605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1371600"/>
            <a:ext cx="5257800" cy="416052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1554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lifecycle hooks → 1 line each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77240" y="197510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1" name="Text 7"/>
          <p:cNvSpPr/>
          <p:nvPr/>
        </p:nvSpPr>
        <p:spPr>
          <a:xfrm>
            <a:off x="1005840" y="19385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session_meta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17520" y="195224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project, model, mode — the header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7240" y="2377440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4" name="Text 10"/>
          <p:cNvSpPr/>
          <p:nvPr/>
        </p:nvSpPr>
        <p:spPr>
          <a:xfrm>
            <a:off x="1005840" y="23408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23545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reason: quit · reload · new · resume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77240" y="2779776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" y="27432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model_change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017520" y="275691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mid-session model switches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77240" y="3182112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0" name="Text 16"/>
          <p:cNvSpPr/>
          <p:nvPr/>
        </p:nvSpPr>
        <p:spPr>
          <a:xfrm>
            <a:off x="1005840" y="314553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user_prompt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017520" y="31592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image count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77240" y="3584448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3" name="Text 19"/>
          <p:cNvSpPr/>
          <p:nvPr/>
        </p:nvSpPr>
        <p:spPr>
          <a:xfrm>
            <a:off x="1005840" y="35478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017520" y="35615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name + args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77240" y="3986784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6" name="Text 22"/>
          <p:cNvSpPr/>
          <p:nvPr/>
        </p:nvSpPr>
        <p:spPr>
          <a:xfrm>
            <a:off x="1005840" y="39502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017520" y="3963924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ok/error · durationMs · payload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77240" y="4389120"/>
            <a:ext cx="91440" cy="9144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9" name="Text 25"/>
          <p:cNvSpPr/>
          <p:nvPr/>
        </p:nvSpPr>
        <p:spPr>
          <a:xfrm>
            <a:off x="1005840" y="43525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assistant_message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017520" y="43662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· tokens · $ cost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77240" y="4846320"/>
            <a:ext cx="470916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7240" y="49743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~/.pi/agent/logs/&lt;sessionId&gt;.jsonl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77240" y="52486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central dir · every project · ts + sessionId on every event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085332" y="1421892"/>
            <a:ext cx="2724912" cy="1280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6035040" y="1371600"/>
            <a:ext cx="2724912" cy="1280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63640" y="1591056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Text 33"/>
          <p:cNvSpPr/>
          <p:nvPr/>
        </p:nvSpPr>
        <p:spPr>
          <a:xfrm>
            <a:off x="649224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mkdir once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263640" y="1828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first write only — it sits on the agent's hot path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956548" y="1421892"/>
            <a:ext cx="2724912" cy="1280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hape 36"/>
          <p:cNvSpPr/>
          <p:nvPr/>
        </p:nvSpPr>
        <p:spPr>
          <a:xfrm>
            <a:off x="8906256" y="1371600"/>
            <a:ext cx="2724912" cy="1280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134856" y="1591056"/>
            <a:ext cx="109728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38"/>
          <p:cNvSpPr/>
          <p:nvPr/>
        </p:nvSpPr>
        <p:spPr>
          <a:xfrm>
            <a:off x="9363456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append / event</a:t>
            </a:r>
            <a:endParaRPr lang="en-US" sz="1250" dirty="0"/>
          </a:p>
        </p:txBody>
      </p:sp>
      <p:sp>
        <p:nvSpPr>
          <p:cNvPr id="43" name="Text 39"/>
          <p:cNvSpPr/>
          <p:nvPr/>
        </p:nvSpPr>
        <p:spPr>
          <a:xfrm>
            <a:off x="9134856" y="182880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appendFileSync — one JSONL line, no queues, no extra calls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085332" y="2866644"/>
            <a:ext cx="2724912" cy="1280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6035040" y="2816352"/>
            <a:ext cx="2724912" cy="1280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263640" y="3035808"/>
            <a:ext cx="109728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3"/>
          <p:cNvSpPr/>
          <p:nvPr/>
        </p:nvSpPr>
        <p:spPr>
          <a:xfrm>
            <a:off x="6492240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/ catch everything</a:t>
            </a:r>
            <a:endParaRPr lang="en-US" sz="1250" dirty="0"/>
          </a:p>
        </p:txBody>
      </p:sp>
      <p:sp>
        <p:nvSpPr>
          <p:cNvPr id="48" name="Text 44"/>
          <p:cNvSpPr/>
          <p:nvPr/>
        </p:nvSpPr>
        <p:spPr>
          <a:xfrm>
            <a:off x="6263640" y="327355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“Monitoring must never break pi.” failures are swallowed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8956548" y="2866644"/>
            <a:ext cx="2724912" cy="1280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hape 46"/>
          <p:cNvSpPr/>
          <p:nvPr/>
        </p:nvSpPr>
        <p:spPr>
          <a:xfrm>
            <a:off x="8906256" y="2816352"/>
            <a:ext cx="2724912" cy="12801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9134856" y="3035808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48"/>
          <p:cNvSpPr/>
          <p:nvPr/>
        </p:nvSpPr>
        <p:spPr>
          <a:xfrm>
            <a:off x="9363456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200K truncation</a:t>
            </a:r>
            <a:endParaRPr lang="en-US" sz="1250" dirty="0"/>
          </a:p>
        </p:txBody>
      </p:sp>
      <p:sp>
        <p:nvSpPr>
          <p:cNvPr id="53" name="Text 49"/>
          <p:cNvSpPr/>
          <p:nvPr/>
        </p:nvSpPr>
        <p:spPr>
          <a:xfrm>
            <a:off x="9134856" y="327355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pathological payloads (base64 images) cannot blow up the log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6085332" y="4329684"/>
            <a:ext cx="5650992" cy="125272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hape 51"/>
          <p:cNvSpPr/>
          <p:nvPr/>
        </p:nvSpPr>
        <p:spPr>
          <a:xfrm>
            <a:off x="6035040" y="4279392"/>
            <a:ext cx="5650992" cy="1252728"/>
          </a:xfrm>
          <a:prstGeom prst="rect">
            <a:avLst/>
          </a:prstGeom>
          <a:solidFill>
            <a:srgbClr val="EFE9FB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309360" y="44256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FEEDBACK-LOOP GUARD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6309360" y="46817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monitor no-ops when PI_DASHBOARD_ENRICHMENT is set — that's the dashboard's own headless pi run. Logging it would create sessions that trigger further enrichment: an infinite loop, prevented by one env var.</a:t>
            </a:r>
            <a:endParaRPr lang="en-US" sz="1100" dirty="0"/>
          </a:p>
        </p:txBody>
      </p:sp>
      <p:sp>
        <p:nvSpPr>
          <p:cNvPr id="58" name="Shape 54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59" name="Shape 55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hape 56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Shape 57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62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63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64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65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66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7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68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69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70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71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72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73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74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75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6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7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8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79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80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81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2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3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4" name="scoretag" descr="assets/score_day_04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85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86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7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88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638697" cy="182880"/>
          </a:xfrm>
          <a:prstGeom prst="rect">
            <a:avLst/>
          </a:prstGeom>
        </p:spPr>
      </p:pic>
      <p:pic>
        <p:nvPicPr>
          <p:cNvPr id="6" name="Image 1" descr="assets/t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5637929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3212" y="1421892"/>
            <a:ext cx="3154680" cy="2286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1371600"/>
            <a:ext cx="3154680" cy="228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LOG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31520" y="1792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&lt;id&gt;.jsonl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58952" y="2130552"/>
            <a:ext cx="1190549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2" name="Shape 8"/>
          <p:cNvSpPr/>
          <p:nvPr/>
        </p:nvSpPr>
        <p:spPr>
          <a:xfrm>
            <a:off x="731520" y="2103120"/>
            <a:ext cx="1190549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103120"/>
            <a:ext cx="1190549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schemaVersion 1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31520" y="250545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event types — 7 monitor + 5 research_*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event = one line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+ sessionId on all of them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567428" y="1421892"/>
            <a:ext cx="3154680" cy="2286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6" name="Shape 12"/>
          <p:cNvSpPr/>
          <p:nvPr/>
        </p:nvSpPr>
        <p:spPr>
          <a:xfrm>
            <a:off x="4517136" y="1371600"/>
            <a:ext cx="3154680" cy="228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45736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45736" y="1792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&lt;id&gt;.analysis.json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73168" y="2130552"/>
            <a:ext cx="1190549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4745736" y="2103120"/>
            <a:ext cx="1190549" cy="296545"/>
          </a:xfrm>
          <a:prstGeom prst="rect">
            <a:avLst/>
          </a:prstGeom>
          <a:solidFill>
            <a:srgbClr val="E0F2F7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45736" y="2103120"/>
            <a:ext cx="1190549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schemaVersion 2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4745736" y="250545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· wastedTurns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prompt classes · drift root causes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 + soft failures · phases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coach — 8 habit tags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581644" y="1421892"/>
            <a:ext cx="3154680" cy="22860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hape 20"/>
          <p:cNvSpPr/>
          <p:nvPr/>
        </p:nvSpPr>
        <p:spPr>
          <a:xfrm>
            <a:off x="8531352" y="1371600"/>
            <a:ext cx="3154680" cy="228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759952" y="15361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DIGEST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759952" y="17922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.enrich/&lt;id&gt;.input.md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787384" y="2130552"/>
            <a:ext cx="848563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hape 24"/>
          <p:cNvSpPr/>
          <p:nvPr/>
        </p:nvSpPr>
        <p:spPr>
          <a:xfrm>
            <a:off x="8759952" y="2103120"/>
            <a:ext cx="848563" cy="296545"/>
          </a:xfrm>
          <a:prstGeom prst="rect">
            <a:avLst/>
          </a:prstGeom>
          <a:solidFill>
            <a:srgbClr val="EFE9FB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8759952" y="2103120"/>
            <a:ext cx="848563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only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8759952" y="250545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numbered markdown, 30K-char budget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[N] == raw JSONL line N</a:t>
            </a:r>
            <a:endParaRPr lang="en-US" sz="8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 model actually reads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3712464" y="2219706"/>
            <a:ext cx="6583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hape 28"/>
          <p:cNvSpPr/>
          <p:nvPr/>
        </p:nvSpPr>
        <p:spPr>
          <a:xfrm>
            <a:off x="4370832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4370832" y="22539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4462272" y="219456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7726680" y="2219706"/>
            <a:ext cx="65836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8385048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7" name="Shape 33"/>
          <p:cNvSpPr/>
          <p:nvPr/>
        </p:nvSpPr>
        <p:spPr>
          <a:xfrm>
            <a:off x="8385048" y="2253996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hape 34"/>
          <p:cNvSpPr/>
          <p:nvPr/>
        </p:nvSpPr>
        <p:spPr>
          <a:xfrm>
            <a:off x="8476488" y="2194560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9" name="Text 35"/>
          <p:cNvSpPr/>
          <p:nvPr/>
        </p:nvSpPr>
        <p:spPr>
          <a:xfrm>
            <a:off x="3657600" y="2377440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7671816" y="2377440"/>
            <a:ext cx="859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 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glm-5.3-flash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02920" y="37673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share one key — &lt;sessionId&gt; — and every AI finding cites event [N], traceable to a raw log line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53212" y="4119372"/>
            <a:ext cx="11183112" cy="14630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hape 39"/>
          <p:cNvSpPr/>
          <p:nvPr/>
        </p:nvSpPr>
        <p:spPr>
          <a:xfrm>
            <a:off x="502920" y="4069080"/>
            <a:ext cx="11183112" cy="146304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77240" y="4224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RUNS LINK IN AS SESSIONS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804672" y="4654296"/>
            <a:ext cx="1078992" cy="457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hape 42"/>
          <p:cNvSpPr/>
          <p:nvPr/>
        </p:nvSpPr>
        <p:spPr>
          <a:xfrm>
            <a:off x="777240" y="4626864"/>
            <a:ext cx="107899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77240" y="46268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A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2039112" y="4654296"/>
            <a:ext cx="1078992" cy="457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hape 45"/>
          <p:cNvSpPr/>
          <p:nvPr/>
        </p:nvSpPr>
        <p:spPr>
          <a:xfrm>
            <a:off x="2011680" y="4626864"/>
            <a:ext cx="107899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011680" y="46268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B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3273552" y="4654296"/>
            <a:ext cx="1078992" cy="457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hape 48"/>
          <p:cNvSpPr/>
          <p:nvPr/>
        </p:nvSpPr>
        <p:spPr>
          <a:xfrm>
            <a:off x="3246120" y="4626864"/>
            <a:ext cx="107899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246120" y="46268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C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4507992" y="4654296"/>
            <a:ext cx="1078992" cy="457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5" name="Shape 51"/>
          <p:cNvSpPr/>
          <p:nvPr/>
        </p:nvSpPr>
        <p:spPr>
          <a:xfrm>
            <a:off x="4480560" y="4626864"/>
            <a:ext cx="1078992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480560" y="4626864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5852160" y="4834890"/>
            <a:ext cx="3657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hape 54"/>
          <p:cNvSpPr/>
          <p:nvPr/>
        </p:nvSpPr>
        <p:spPr>
          <a:xfrm>
            <a:off x="6217920" y="4750308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Shape 55"/>
          <p:cNvSpPr/>
          <p:nvPr/>
        </p:nvSpPr>
        <p:spPr>
          <a:xfrm>
            <a:off x="6217920" y="4869180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hape 56"/>
          <p:cNvSpPr/>
          <p:nvPr/>
        </p:nvSpPr>
        <p:spPr>
          <a:xfrm>
            <a:off x="6309360" y="4809744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1" name="Text 57"/>
          <p:cNvSpPr/>
          <p:nvPr/>
        </p:nvSpPr>
        <p:spPr>
          <a:xfrm>
            <a:off x="6446520" y="46268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research_start.streamSessionIds maps A/B/C in solution order · research_pdr.refineSessionId links the PDR run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normal sessions — each gets its own replayable timeline in the dashboard</a:t>
            </a:r>
            <a:endParaRPr lang="en-US" sz="1050" dirty="0"/>
          </a:p>
        </p:txBody>
      </p:sp>
      <p:sp>
        <p:nvSpPr>
          <p:cNvPr id="62" name="Text 58"/>
          <p:cNvSpPr/>
          <p:nvPr/>
        </p:nvSpPr>
        <p:spPr>
          <a:xfrm>
            <a:off x="777240" y="537667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 are versioned on both sides — bump on breaking change, readers support old + new logs side by side</a:t>
            </a:r>
            <a:endParaRPr lang="en-US" sz="1050" dirty="0"/>
          </a:p>
        </p:txBody>
      </p:sp>
      <p:sp>
        <p:nvSpPr>
          <p:cNvPr id="63" name="Shape 59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64" name="Shape 60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5" name="Shape 61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6" name="Shape 62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67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68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69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70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71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73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74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75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76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77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78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79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80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81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82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83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84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85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86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7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8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9" name="scoretag" descr="assets/score_day_05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90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91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92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93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268174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3212" y="1421892"/>
            <a:ext cx="2606040" cy="2697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1371600"/>
            <a:ext cx="2606040" cy="2697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0352" y="163677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1609344"/>
            <a:ext cx="384048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4440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18928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lib/parse.js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31520" y="22860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aggregates every session — cache keyed on mtime+size, so months of logs stay fast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31520" y="3383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soft-fail regexes catch exit-0 failures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122676" y="1780794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7" name="Shape 13"/>
          <p:cNvSpPr/>
          <p:nvPr/>
        </p:nvSpPr>
        <p:spPr>
          <a:xfrm>
            <a:off x="3259836" y="169621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hape 14"/>
          <p:cNvSpPr/>
          <p:nvPr/>
        </p:nvSpPr>
        <p:spPr>
          <a:xfrm>
            <a:off x="3259836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9" name="Shape 15"/>
          <p:cNvSpPr/>
          <p:nvPr/>
        </p:nvSpPr>
        <p:spPr>
          <a:xfrm>
            <a:off x="3351276" y="175564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3415284" y="1421892"/>
            <a:ext cx="2606040" cy="2697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1" name="Shape 17"/>
          <p:cNvSpPr/>
          <p:nvPr/>
        </p:nvSpPr>
        <p:spPr>
          <a:xfrm>
            <a:off x="3364992" y="1371600"/>
            <a:ext cx="2606040" cy="2697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92424" y="163677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3" name="Shape 19"/>
          <p:cNvSpPr/>
          <p:nvPr/>
        </p:nvSpPr>
        <p:spPr>
          <a:xfrm>
            <a:off x="3593592" y="1609344"/>
            <a:ext cx="384048" cy="3840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0"/>
          <p:cNvSpPr/>
          <p:nvPr/>
        </p:nvSpPr>
        <p:spPr>
          <a:xfrm>
            <a:off x="3593592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096512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096512" y="18928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server.js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93592" y="22860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node:http stdlib · 5 API endpoints · bound to 127.0.0.1:3131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93592" y="3383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/ sessions / detail / analyze / status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984748" y="1780794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hape 26"/>
          <p:cNvSpPr/>
          <p:nvPr/>
        </p:nvSpPr>
        <p:spPr>
          <a:xfrm>
            <a:off x="6121908" y="169621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1" name="Shape 27"/>
          <p:cNvSpPr/>
          <p:nvPr/>
        </p:nvSpPr>
        <p:spPr>
          <a:xfrm>
            <a:off x="6121908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hape 28"/>
          <p:cNvSpPr/>
          <p:nvPr/>
        </p:nvSpPr>
        <p:spPr>
          <a:xfrm>
            <a:off x="6213348" y="175564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6277356" y="1421892"/>
            <a:ext cx="2606040" cy="2697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6227064" y="1371600"/>
            <a:ext cx="2606040" cy="2697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54496" y="163677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6" name="Shape 32"/>
          <p:cNvSpPr/>
          <p:nvPr/>
        </p:nvSpPr>
        <p:spPr>
          <a:xfrm>
            <a:off x="6455664" y="1609344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3"/>
          <p:cNvSpPr/>
          <p:nvPr/>
        </p:nvSpPr>
        <p:spPr>
          <a:xfrm>
            <a:off x="6455664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958584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958584" y="18928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lib/enrich.js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55664" y="22860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pi writes analysis JSON through the harness — never a direct API call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455664" y="3383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serialized: one enrichment run at a time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8846820" y="1780794"/>
            <a:ext cx="137160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3" name="Shape 39"/>
          <p:cNvSpPr/>
          <p:nvPr/>
        </p:nvSpPr>
        <p:spPr>
          <a:xfrm>
            <a:off x="8983980" y="169621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hape 40"/>
          <p:cNvSpPr/>
          <p:nvPr/>
        </p:nvSpPr>
        <p:spPr>
          <a:xfrm>
            <a:off x="8983980" y="181508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9075420" y="175564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6" name="Shape 42"/>
          <p:cNvSpPr/>
          <p:nvPr/>
        </p:nvSpPr>
        <p:spPr>
          <a:xfrm>
            <a:off x="9139428" y="1421892"/>
            <a:ext cx="2606040" cy="26974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7" name="Shape 43"/>
          <p:cNvSpPr/>
          <p:nvPr/>
        </p:nvSpPr>
        <p:spPr>
          <a:xfrm>
            <a:off x="9089136" y="1371600"/>
            <a:ext cx="2606040" cy="269748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116568" y="1636776"/>
            <a:ext cx="384048" cy="3840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hape 45"/>
          <p:cNvSpPr/>
          <p:nvPr/>
        </p:nvSpPr>
        <p:spPr>
          <a:xfrm>
            <a:off x="9317736" y="1609344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0" name="Text 46"/>
          <p:cNvSpPr/>
          <p:nvPr/>
        </p:nvSpPr>
        <p:spPr>
          <a:xfrm>
            <a:off x="9317736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51" name="Text 47"/>
          <p:cNvSpPr/>
          <p:nvPr/>
        </p:nvSpPr>
        <p:spPr>
          <a:xfrm>
            <a:off x="9820656" y="1618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9820656" y="18928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 SPA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9317736" y="22860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single-file app, no build step · vendored Chart.js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9317736" y="33832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auto-refresh every 15 s while visible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553212" y="4302252"/>
            <a:ext cx="11183112" cy="12801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Shape 52"/>
          <p:cNvSpPr/>
          <p:nvPr/>
        </p:nvSpPr>
        <p:spPr>
          <a:xfrm>
            <a:off x="502920" y="4251960"/>
            <a:ext cx="11183112" cy="128016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777240" y="4480560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8" name="Text 54"/>
          <p:cNvSpPr/>
          <p:nvPr/>
        </p:nvSpPr>
        <p:spPr>
          <a:xfrm>
            <a:off x="1024128" y="4425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WATCHER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1024128" y="471830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the log dir every 5 s. A session auto-analyzes once its log goes quiet: 60 s after a clean quit, 10 min after reload/new/resume — chains keep writing the same file, so they wait longer.</a:t>
            </a:r>
            <a:endParaRPr lang="en-US" sz="1150" dirty="0"/>
          </a:p>
        </p:txBody>
      </p:sp>
      <p:sp>
        <p:nvSpPr>
          <p:cNvPr id="60" name="Shape 56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61" name="Shape 57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2" name="Shape 58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3" name="Shape 59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64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65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66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67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68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70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71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72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73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74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75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76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77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8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9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80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81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82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83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4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5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86" name="scoretag" descr="assets/score_day_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87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88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9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90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8490857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3212" y="142189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137160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0352" y="161848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0" name="Shape 6"/>
          <p:cNvSpPr/>
          <p:nvPr/>
        </p:nvSpPr>
        <p:spPr>
          <a:xfrm>
            <a:off x="722376" y="159105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1" name="Text 7"/>
          <p:cNvSpPr/>
          <p:nvPr/>
        </p:nvSpPr>
        <p:spPr>
          <a:xfrm>
            <a:off x="722376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16152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3209544" y="1618488"/>
            <a:ext cx="574975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4" name="Shape 10"/>
          <p:cNvSpPr/>
          <p:nvPr/>
        </p:nvSpPr>
        <p:spPr>
          <a:xfrm>
            <a:off x="3182112" y="1591056"/>
            <a:ext cx="574975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82112" y="1591056"/>
            <a:ext cx="574975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call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22376" y="208483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LLM call drafts 3 distinct candidate approaches — A, B, C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38828" y="142189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18" name="Shape 14"/>
          <p:cNvSpPr/>
          <p:nvPr/>
        </p:nvSpPr>
        <p:spPr>
          <a:xfrm>
            <a:off x="4288536" y="137160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15968" y="161848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4507992" y="159105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1" name="Text 17"/>
          <p:cNvSpPr/>
          <p:nvPr/>
        </p:nvSpPr>
        <p:spPr>
          <a:xfrm>
            <a:off x="4507992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001768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6995160" y="1618488"/>
            <a:ext cx="574975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4" name="Shape 20"/>
          <p:cNvSpPr/>
          <p:nvPr/>
        </p:nvSpPr>
        <p:spPr>
          <a:xfrm>
            <a:off x="6967728" y="1591056"/>
            <a:ext cx="574975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67728" y="1591056"/>
            <a:ext cx="574975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runs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507992" y="208483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parallel headless pi sessions research inside your repo — read + powershell, read-only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124444" y="142189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8" name="Shape 24"/>
          <p:cNvSpPr/>
          <p:nvPr/>
        </p:nvSpPr>
        <p:spPr>
          <a:xfrm>
            <a:off x="8074152" y="137160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101584" y="161848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0" name="Shape 26"/>
          <p:cNvSpPr/>
          <p:nvPr/>
        </p:nvSpPr>
        <p:spPr>
          <a:xfrm>
            <a:off x="8293608" y="159105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1" name="Text 27"/>
          <p:cNvSpPr/>
          <p:nvPr/>
        </p:nvSpPr>
        <p:spPr>
          <a:xfrm>
            <a:off x="8293608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787384" y="1609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DISTILL</a:t>
            </a:r>
            <a:endParaRPr lang="en-US" sz="1450" dirty="0"/>
          </a:p>
        </p:txBody>
      </p:sp>
      <p:sp>
        <p:nvSpPr>
          <p:cNvPr id="33" name="Shape 29"/>
          <p:cNvSpPr/>
          <p:nvPr/>
        </p:nvSpPr>
        <p:spPr>
          <a:xfrm>
            <a:off x="10780776" y="1618488"/>
            <a:ext cx="643372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10753344" y="1591056"/>
            <a:ext cx="643372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0753344" y="1591056"/>
            <a:ext cx="643372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calls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8293608" y="208483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brief compressed to a structured summary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53212" y="306781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8" name="Shape 34"/>
          <p:cNvSpPr/>
          <p:nvPr/>
        </p:nvSpPr>
        <p:spPr>
          <a:xfrm>
            <a:off x="502920" y="301752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30352" y="326440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hape 36"/>
          <p:cNvSpPr/>
          <p:nvPr/>
        </p:nvSpPr>
        <p:spPr>
          <a:xfrm>
            <a:off x="722376" y="323697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1" name="Text 37"/>
          <p:cNvSpPr/>
          <p:nvPr/>
        </p:nvSpPr>
        <p:spPr>
          <a:xfrm>
            <a:off x="72237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1216152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RTV</a:t>
            </a:r>
            <a:endParaRPr lang="en-US" sz="1450" dirty="0"/>
          </a:p>
        </p:txBody>
      </p:sp>
      <p:sp>
        <p:nvSpPr>
          <p:cNvPr id="43" name="Shape 39"/>
          <p:cNvSpPr/>
          <p:nvPr/>
        </p:nvSpPr>
        <p:spPr>
          <a:xfrm>
            <a:off x="3209544" y="3264408"/>
            <a:ext cx="643372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hape 40"/>
          <p:cNvSpPr/>
          <p:nvPr/>
        </p:nvSpPr>
        <p:spPr>
          <a:xfrm>
            <a:off x="3182112" y="3236976"/>
            <a:ext cx="643372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182112" y="3236976"/>
            <a:ext cx="643372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votes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722376" y="373075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round-robin pairs, 3 judge votes each — majority wins the tournament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4338828" y="306781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Shape 44"/>
          <p:cNvSpPr/>
          <p:nvPr/>
        </p:nvSpPr>
        <p:spPr>
          <a:xfrm>
            <a:off x="4288536" y="301752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315968" y="326440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hape 46"/>
          <p:cNvSpPr/>
          <p:nvPr/>
        </p:nvSpPr>
        <p:spPr>
          <a:xfrm>
            <a:off x="4507992" y="323697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51" name="Text 47"/>
          <p:cNvSpPr/>
          <p:nvPr/>
        </p:nvSpPr>
        <p:spPr>
          <a:xfrm>
            <a:off x="4507992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5001768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PDR</a:t>
            </a:r>
            <a:endParaRPr lang="en-US" sz="1450" dirty="0"/>
          </a:p>
        </p:txBody>
      </p:sp>
      <p:sp>
        <p:nvSpPr>
          <p:cNvPr id="53" name="Shape 49"/>
          <p:cNvSpPr/>
          <p:nvPr/>
        </p:nvSpPr>
        <p:spPr>
          <a:xfrm>
            <a:off x="6995160" y="3264408"/>
            <a:ext cx="506578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4" name="Shape 50"/>
          <p:cNvSpPr/>
          <p:nvPr/>
        </p:nvSpPr>
        <p:spPr>
          <a:xfrm>
            <a:off x="6967728" y="3236976"/>
            <a:ext cx="506578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967728" y="3236976"/>
            <a:ext cx="506578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run</a:t>
            </a:r>
            <a:endParaRPr lang="en-US" sz="850" dirty="0"/>
          </a:p>
        </p:txBody>
      </p:sp>
      <p:sp>
        <p:nvSpPr>
          <p:cNvPr id="56" name="Text 52"/>
          <p:cNvSpPr/>
          <p:nvPr/>
        </p:nvSpPr>
        <p:spPr>
          <a:xfrm>
            <a:off x="4507992" y="373075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refine session: winner summary + losers' risks → final brief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8124444" y="3067812"/>
            <a:ext cx="3611880" cy="1508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8" name="Shape 54"/>
          <p:cNvSpPr/>
          <p:nvPr/>
        </p:nvSpPr>
        <p:spPr>
          <a:xfrm>
            <a:off x="8074152" y="3017520"/>
            <a:ext cx="3611880" cy="150876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8101584" y="3264408"/>
            <a:ext cx="365760" cy="3657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0" name="Shape 56"/>
          <p:cNvSpPr/>
          <p:nvPr/>
        </p:nvSpPr>
        <p:spPr>
          <a:xfrm>
            <a:off x="8293608" y="3236976"/>
            <a:ext cx="365760" cy="3657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1" name="Text 57"/>
          <p:cNvSpPr/>
          <p:nvPr/>
        </p:nvSpPr>
        <p:spPr>
          <a:xfrm>
            <a:off x="8293608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8787384" y="3255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450" dirty="0"/>
          </a:p>
        </p:txBody>
      </p:sp>
      <p:sp>
        <p:nvSpPr>
          <p:cNvPr id="63" name="Shape 59"/>
          <p:cNvSpPr/>
          <p:nvPr/>
        </p:nvSpPr>
        <p:spPr>
          <a:xfrm>
            <a:off x="10780776" y="3264408"/>
            <a:ext cx="438180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4" name="Shape 60"/>
          <p:cNvSpPr/>
          <p:nvPr/>
        </p:nvSpPr>
        <p:spPr>
          <a:xfrm>
            <a:off x="10753344" y="3236976"/>
            <a:ext cx="438180" cy="296545"/>
          </a:xfrm>
          <a:prstGeom prst="rect">
            <a:avLst/>
          </a:prstGeom>
          <a:solidFill>
            <a:srgbClr val="E7EEFD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10753344" y="3236976"/>
            <a:ext cx="438180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850" dirty="0"/>
          </a:p>
        </p:txBody>
      </p:sp>
      <p:sp>
        <p:nvSpPr>
          <p:cNvPr id="66" name="Text 62"/>
          <p:cNvSpPr/>
          <p:nvPr/>
        </p:nvSpPr>
        <p:spPr>
          <a:xfrm>
            <a:off x="8293608" y="3730752"/>
            <a:ext cx="31729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 injected into your session as context — the agent executes the task</a:t>
            </a:r>
            <a:endParaRPr lang="en-US" sz="1050" dirty="0"/>
          </a:p>
        </p:txBody>
      </p:sp>
      <p:sp>
        <p:nvSpPr>
          <p:cNvPr id="67" name="Shape 63"/>
          <p:cNvSpPr/>
          <p:nvPr/>
        </p:nvSpPr>
        <p:spPr>
          <a:xfrm>
            <a:off x="4123944" y="2100834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8" name="Shape 64"/>
          <p:cNvSpPr/>
          <p:nvPr/>
        </p:nvSpPr>
        <p:spPr>
          <a:xfrm>
            <a:off x="4187952" y="20162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69" name="Shape 65"/>
          <p:cNvSpPr/>
          <p:nvPr/>
        </p:nvSpPr>
        <p:spPr>
          <a:xfrm>
            <a:off x="4187952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0" name="Shape 66"/>
          <p:cNvSpPr/>
          <p:nvPr/>
        </p:nvSpPr>
        <p:spPr>
          <a:xfrm>
            <a:off x="4279392" y="20756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1" name="Shape 67"/>
          <p:cNvSpPr/>
          <p:nvPr/>
        </p:nvSpPr>
        <p:spPr>
          <a:xfrm>
            <a:off x="7909560" y="2100834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2" name="Shape 68"/>
          <p:cNvSpPr/>
          <p:nvPr/>
        </p:nvSpPr>
        <p:spPr>
          <a:xfrm>
            <a:off x="7973568" y="201625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3" name="Shape 69"/>
          <p:cNvSpPr/>
          <p:nvPr/>
        </p:nvSpPr>
        <p:spPr>
          <a:xfrm>
            <a:off x="7973568" y="213512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4" name="Shape 70"/>
          <p:cNvSpPr/>
          <p:nvPr/>
        </p:nvSpPr>
        <p:spPr>
          <a:xfrm>
            <a:off x="8065008" y="207568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5" name="Shape 71"/>
          <p:cNvSpPr/>
          <p:nvPr/>
        </p:nvSpPr>
        <p:spPr>
          <a:xfrm>
            <a:off x="4123944" y="3746754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6" name="Shape 72"/>
          <p:cNvSpPr/>
          <p:nvPr/>
        </p:nvSpPr>
        <p:spPr>
          <a:xfrm>
            <a:off x="4187952" y="366217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7" name="Shape 73"/>
          <p:cNvSpPr/>
          <p:nvPr/>
        </p:nvSpPr>
        <p:spPr>
          <a:xfrm>
            <a:off x="4187952" y="378104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8" name="Shape 74"/>
          <p:cNvSpPr/>
          <p:nvPr/>
        </p:nvSpPr>
        <p:spPr>
          <a:xfrm>
            <a:off x="4279392" y="372160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79" name="Shape 75"/>
          <p:cNvSpPr/>
          <p:nvPr/>
        </p:nvSpPr>
        <p:spPr>
          <a:xfrm>
            <a:off x="7909560" y="3746754"/>
            <a:ext cx="64008" cy="4114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0" name="Shape 76"/>
          <p:cNvSpPr/>
          <p:nvPr/>
        </p:nvSpPr>
        <p:spPr>
          <a:xfrm>
            <a:off x="7973568" y="3662172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1" name="Shape 77"/>
          <p:cNvSpPr/>
          <p:nvPr/>
        </p:nvSpPr>
        <p:spPr>
          <a:xfrm>
            <a:off x="7973568" y="3781044"/>
            <a:ext cx="9144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2" name="Shape 78"/>
          <p:cNvSpPr/>
          <p:nvPr/>
        </p:nvSpPr>
        <p:spPr>
          <a:xfrm>
            <a:off x="8065008" y="3721608"/>
            <a:ext cx="45720" cy="914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3" name="Shape 79"/>
          <p:cNvSpPr/>
          <p:nvPr/>
        </p:nvSpPr>
        <p:spPr>
          <a:xfrm>
            <a:off x="553212" y="4759452"/>
            <a:ext cx="11183112" cy="82296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4" name="Shape 80"/>
          <p:cNvSpPr/>
          <p:nvPr/>
        </p:nvSpPr>
        <p:spPr>
          <a:xfrm>
            <a:off x="502920" y="4709160"/>
            <a:ext cx="11183112" cy="822960"/>
          </a:xfrm>
          <a:prstGeom prst="rect">
            <a:avLst/>
          </a:prstGeom>
          <a:solidFill>
            <a:srgbClr val="FBEEDD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777240" y="4882896"/>
            <a:ext cx="118872" cy="1188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6" name="Text 82"/>
          <p:cNvSpPr/>
          <p:nvPr/>
        </p:nvSpPr>
        <p:spPr>
          <a:xfrm>
            <a:off x="1005840" y="48097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SURVIVOR LOGIC —</a:t>
            </a:r>
            <a:endParaRPr lang="en-US" sz="1100" dirty="0"/>
          </a:p>
        </p:txBody>
      </p:sp>
      <p:sp>
        <p:nvSpPr>
          <p:cNvPr id="87" name="Text 83"/>
          <p:cNvSpPr/>
          <p:nvPr/>
        </p:nvSpPr>
        <p:spPr>
          <a:xfrm>
            <a:off x="2788920" y="48280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that fail or hit the 10-minute cap are dropped; RTV proceeds over survivors, ≥ 2 required. “One lost vote must not sink the tournament.”</a:t>
            </a:r>
            <a:endParaRPr lang="en-US" sz="1100" dirty="0"/>
          </a:p>
        </p:txBody>
      </p:sp>
      <p:sp>
        <p:nvSpPr>
          <p:cNvPr id="88" name="Shape 84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89" name="Shape 85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0" name="Shape 86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1" name="Shape 87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92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93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94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95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96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7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98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99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100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101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102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103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104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105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106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107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108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109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110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111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112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113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114" name="scoretag" descr="assets/score_day_07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115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116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17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</a:t>
            </a:r>
            <a:endParaRPr lang="en-US" sz="950" dirty="0"/>
          </a:p>
        </p:txBody>
      </p:sp>
      <p:sp>
        <p:nvSpPr>
          <p:cNvPr id="118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795451" cy="182880"/>
          </a:xfrm>
          <a:prstGeom prst="rect">
            <a:avLst/>
          </a:prstGeom>
        </p:spPr>
      </p:pic>
      <p:pic>
        <p:nvPicPr>
          <p:cNvPr id="6" name="Image 1" descr="assets/t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43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“Same shape, agent-scale.” — research.ts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53212" y="1650492"/>
            <a:ext cx="5806440" cy="388620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9" name="Shape 5"/>
          <p:cNvSpPr/>
          <p:nvPr/>
        </p:nvSpPr>
        <p:spPr>
          <a:xfrm>
            <a:off x="502920" y="1600200"/>
            <a:ext cx="5806440" cy="388620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1783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246120" y="17830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09160" y="1783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F6F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NANO-SUPER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77240" y="2121408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rollouts  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46120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343400" y="2267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709160" y="2267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(cfg 2–5)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77240" y="2871216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77240" y="3017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 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24612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343400" y="3017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709160" y="30175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77240" y="3621024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724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votes / pair  V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246120" y="37673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343400" y="37673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709160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(1 per lens)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777240" y="4370832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77240" y="4517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246120" y="45171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PDR loop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343400" y="45171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709160" y="45171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F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PDR pass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7240" y="5349240"/>
            <a:ext cx="5257800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679692" y="1650492"/>
            <a:ext cx="5056632" cy="12070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5" name="Shape 31"/>
          <p:cNvSpPr/>
          <p:nvPr/>
        </p:nvSpPr>
        <p:spPr>
          <a:xfrm>
            <a:off x="6629400" y="1600200"/>
            <a:ext cx="5056632" cy="120700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03720" y="1828800"/>
            <a:ext cx="109728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7" name="Text 33"/>
          <p:cNvSpPr/>
          <p:nvPr/>
        </p:nvSpPr>
        <p:spPr>
          <a:xfrm>
            <a:off x="7132320" y="17647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Lens-diverse votes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903720" y="207568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 3 votes judges a different lens — pragmatism · risk · effort. “So the V votes are not V copies of the same bias.”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679692" y="2976372"/>
            <a:ext cx="5056632" cy="12070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Shape 36"/>
          <p:cNvSpPr/>
          <p:nvPr/>
        </p:nvSpPr>
        <p:spPr>
          <a:xfrm>
            <a:off x="6629400" y="2926080"/>
            <a:ext cx="5056632" cy="120700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03720" y="3154680"/>
            <a:ext cx="109728" cy="1097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2" name="Text 38"/>
          <p:cNvSpPr/>
          <p:nvPr/>
        </p:nvSpPr>
        <p:spPr>
          <a:xfrm>
            <a:off x="7132320" y="30906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see summaries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6903720" y="340156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tournament runs over distilled briefs, not raw trajectories — judge prompts stay ~2K tokens.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6679692" y="4302252"/>
            <a:ext cx="5056632" cy="1207008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5" name="Shape 41"/>
          <p:cNvSpPr/>
          <p:nvPr/>
        </p:nvSpPr>
        <p:spPr>
          <a:xfrm>
            <a:off x="6629400" y="4251960"/>
            <a:ext cx="5056632" cy="1207008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03720" y="4480560"/>
            <a:ext cx="109728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3"/>
          <p:cNvSpPr/>
          <p:nvPr/>
        </p:nvSpPr>
        <p:spPr>
          <a:xfrm>
            <a:off x="71323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Cycles &amp; fallbacks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6903720" y="472744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A&gt;B&gt;C&gt;A Condorcet ties resolved by one ranking call; if PDR refine fails, the winning brief is submitted anyway.</a:t>
            </a:r>
            <a:endParaRPr lang="en-US" sz="1050" dirty="0"/>
          </a:p>
        </p:txBody>
      </p:sp>
      <p:sp>
        <p:nvSpPr>
          <p:cNvPr id="49" name="Text 45"/>
          <p:cNvSpPr/>
          <p:nvPr/>
        </p:nvSpPr>
        <p:spPr>
          <a:xfrm>
            <a:off x="502920" y="548640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arXiv:2604.16529 — “Scaling Test-Time Compute for Agentic Coding” · adapted in pi/extensions/research.ts + pi/lib/tournament.js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51" name="Shape 47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2" name="Shape 48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3" name="Shape 49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54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55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56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57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58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9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60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61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62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63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64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65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66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67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68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69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70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71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72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73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4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5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6" name="scoretag" descr="assets/score_day_08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77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78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79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80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698171" cy="182880"/>
          </a:xfrm>
          <a:prstGeom prst="rect">
            <a:avLst/>
          </a:prstGeom>
        </p:spPr>
      </p:pic>
      <p:pic>
        <p:nvPicPr>
          <p:cNvPr id="6" name="Image 1" descr="assets/t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453051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472184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" name="Text 4"/>
          <p:cNvSpPr/>
          <p:nvPr/>
        </p:nvSpPr>
        <p:spPr>
          <a:xfrm>
            <a:off x="813816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dependencies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13816" y="17099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server, SPA and tests all run on the Node stdlib — “no npm install” is the install step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45352" y="1472184"/>
            <a:ext cx="137160" cy="1371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7"/>
          <p:cNvSpPr/>
          <p:nvPr/>
        </p:nvSpPr>
        <p:spPr>
          <a:xfrm>
            <a:off x="6556248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Versioned schemas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56248" y="17099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v1, analyses v2 — bump on breaking change; readers support old + new side by side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2496312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813816" y="2441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Feedback-loop guard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13816" y="27340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PI_DASHBOARD_ENRICHMENT no-ops the monitor so enrichment never logs itself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45352" y="2496312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3"/>
          <p:cNvSpPr/>
          <p:nvPr/>
        </p:nvSpPr>
        <p:spPr>
          <a:xfrm>
            <a:off x="6556248" y="2441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break pi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56248" y="27340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monitor write wrapped in try/catch — failures swallowed by design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" y="3520440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6"/>
          <p:cNvSpPr/>
          <p:nvPr/>
        </p:nvSpPr>
        <p:spPr>
          <a:xfrm>
            <a:off x="813816" y="3465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200K truncation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13816" y="37581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pathologies and giant payloads cannot blow up the log files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45352" y="3520440"/>
            <a:ext cx="13716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19"/>
          <p:cNvSpPr/>
          <p:nvPr/>
        </p:nvSpPr>
        <p:spPr>
          <a:xfrm>
            <a:off x="6556248" y="3465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stdin: “ignore”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56248" y="37581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pi's print mode waits for stdin EOF when piped — an open pipe hangs the whole run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02920" y="4544568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26" name="Text 22"/>
          <p:cNvSpPr/>
          <p:nvPr/>
        </p:nvSpPr>
        <p:spPr>
          <a:xfrm>
            <a:off x="813816" y="4489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 via the harness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813816" y="4782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runs through headless pi — never a direct z.ai API call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245352" y="4544568"/>
            <a:ext cx="137160" cy="1371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5"/>
          <p:cNvSpPr/>
          <p:nvPr/>
        </p:nvSpPr>
        <p:spPr>
          <a:xfrm>
            <a:off x="6556248" y="44897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“Trust the codebase”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556248" y="4782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submitted brief ends: where it conflicts with the code, trust the code and adapt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32" name="Shape 28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3" name="Shape 29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4" name="Shape 30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35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36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37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38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39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0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41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42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43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44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45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46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47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48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49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0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1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52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53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54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5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6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57" name="scoretag" descr="assets/score_day_09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58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59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0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61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2952206" cy="182880"/>
          </a:xfrm>
          <a:prstGeom prst="rect">
            <a:avLst/>
          </a:prstGeom>
        </p:spPr>
      </p:pic>
      <p:pic>
        <p:nvPicPr>
          <p:cNvPr id="6" name="Image 1" descr="assets/t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6860613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3212" y="1421892"/>
            <a:ext cx="3520440" cy="30632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8" name="Shape 4"/>
          <p:cNvSpPr/>
          <p:nvPr/>
        </p:nvSpPr>
        <p:spPr>
          <a:xfrm>
            <a:off x="502920" y="1371600"/>
            <a:ext cx="3520440" cy="30632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8952" y="1572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58952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E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append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58952" y="2377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event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58952" y="2706624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8952" y="2907792"/>
            <a:ext cx="82296" cy="8229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4" name="Text 10"/>
          <p:cNvSpPr/>
          <p:nvPr/>
        </p:nvSpPr>
        <p:spPr>
          <a:xfrm>
            <a:off x="941832" y="2834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sync appendFileSync — no queues, no extra LLM calls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58952" y="3410712"/>
            <a:ext cx="82296" cy="8229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6" name="Text 12"/>
          <p:cNvSpPr/>
          <p:nvPr/>
        </p:nvSpPr>
        <p:spPr>
          <a:xfrm>
            <a:off x="941832" y="3337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overhead is a design guarantee: mkdir once, try/catch always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58952" y="3913632"/>
            <a:ext cx="82296" cy="82296"/>
          </a:xfrm>
          <a:prstGeom prst="rect">
            <a:avLst/>
          </a:prstGeom>
          <a:solidFill>
            <a:srgbClr val="E7EEFD"/>
          </a:solidFill>
          <a:ln/>
        </p:spPr>
      </p:sp>
      <p:sp>
        <p:nvSpPr>
          <p:cNvPr id="18" name="Text 14"/>
          <p:cNvSpPr/>
          <p:nvPr/>
        </p:nvSpPr>
        <p:spPr>
          <a:xfrm>
            <a:off x="941832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honesty: the repo claims no latency benchmarks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375404" y="1421892"/>
            <a:ext cx="3520440" cy="30632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4325112" y="1371600"/>
            <a:ext cx="3520440" cy="30632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81144" y="1572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/RESEARCH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81144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EE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 min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4581144" y="2377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to end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81144" y="2706624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81144" y="2907792"/>
            <a:ext cx="82296" cy="8229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26" name="Text 22"/>
          <p:cNvSpPr/>
          <p:nvPr/>
        </p:nvSpPr>
        <p:spPr>
          <a:xfrm>
            <a:off x="4764024" y="2834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pi runs — 3 parallel streams + 1 refine — plus ~14 short LLM calls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81144" y="3410712"/>
            <a:ext cx="82296" cy="8229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28" name="Text 24"/>
          <p:cNvSpPr/>
          <p:nvPr/>
        </p:nvSpPr>
        <p:spPr>
          <a:xfrm>
            <a:off x="4764024" y="3337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fixture: 6m 25s including one stream timed out and dropped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581144" y="3913632"/>
            <a:ext cx="82296" cy="82296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0" name="Text 26"/>
          <p:cNvSpPr/>
          <p:nvPr/>
        </p:nvSpPr>
        <p:spPr>
          <a:xfrm>
            <a:off x="4764024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10-minute cap per stream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8197596" y="1421892"/>
            <a:ext cx="3520440" cy="306324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2" name="Shape 28"/>
          <p:cNvSpPr/>
          <p:nvPr/>
        </p:nvSpPr>
        <p:spPr>
          <a:xfrm>
            <a:off x="8147304" y="1371600"/>
            <a:ext cx="3520440" cy="3063240"/>
          </a:xfrm>
          <a:prstGeom prst="rect">
            <a:avLst/>
          </a:prstGeom>
          <a:solidFill>
            <a:srgbClr val="FFFFFF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403336" y="1572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ENRICHMENT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8403336" y="182880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5F5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$0.000049</a:t>
            </a:r>
            <a:endParaRPr lang="en-US" sz="3000" dirty="0"/>
          </a:p>
        </p:txBody>
      </p:sp>
      <p:sp>
        <p:nvSpPr>
          <p:cNvPr id="35" name="Text 31"/>
          <p:cNvSpPr/>
          <p:nvPr/>
        </p:nvSpPr>
        <p:spPr>
          <a:xfrm>
            <a:off x="8403336" y="23774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turn, measured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8403336" y="2706624"/>
            <a:ext cx="3008376" cy="0"/>
          </a:xfrm>
          <a:prstGeom prst="line">
            <a:avLst/>
          </a:prstGeom>
          <a:noFill/>
          <a:ln w="9525">
            <a:solidFill>
              <a:srgbClr val="E3E1DA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403336" y="2907792"/>
            <a:ext cx="82296" cy="8229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38" name="Text 34"/>
          <p:cNvSpPr/>
          <p:nvPr/>
        </p:nvSpPr>
        <p:spPr>
          <a:xfrm>
            <a:off x="8586216" y="28346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zai/glm-5.3-flash via headless pi — a real logged turn cost $0.000049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403336" y="3410712"/>
            <a:ext cx="82296" cy="8229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40" name="Text 36"/>
          <p:cNvSpPr/>
          <p:nvPr/>
        </p:nvSpPr>
        <p:spPr>
          <a:xfrm>
            <a:off x="8586216" y="3337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5-minute timeout × 2 attempts, then the session stays unanalyzed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403336" y="3913632"/>
            <a:ext cx="82296" cy="82296"/>
          </a:xfrm>
          <a:prstGeom prst="rect">
            <a:avLst/>
          </a:prstGeom>
          <a:solidFill>
            <a:srgbClr val="E5F5EA"/>
          </a:solidFill>
          <a:ln/>
        </p:spPr>
      </p:sp>
      <p:sp>
        <p:nvSpPr>
          <p:cNvPr id="42" name="Text 38"/>
          <p:cNvSpPr/>
          <p:nvPr/>
        </p:nvSpPr>
        <p:spPr>
          <a:xfrm>
            <a:off x="8586216" y="3840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serialized: one enrichment at a time, fires 60 s after session end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553212" y="4622292"/>
            <a:ext cx="11183112" cy="96012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4" name="Shape 40"/>
          <p:cNvSpPr/>
          <p:nvPr/>
        </p:nvSpPr>
        <p:spPr>
          <a:xfrm>
            <a:off x="502920" y="4572000"/>
            <a:ext cx="11183112" cy="960120"/>
          </a:xfrm>
          <a:prstGeom prst="rect">
            <a:avLst/>
          </a:prstGeom>
          <a:solidFill>
            <a:srgbClr val="EFEF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77240" y="47000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ITSELF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777240" y="493776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 cache keyed on mtime+size — unchanged logs are read once per server run, so months of sessions stay fast · watcher wakes every 5 s · SPA refreshes every 15 s</a:t>
            </a:r>
            <a:endParaRPr lang="en-US" sz="10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Figures: README.md · pi/README.md · dashboard/test/fixtures/research-session.jsonl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48" name="Shape 44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9" name="Shape 45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0" name="Shape 46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51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52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53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54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55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56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57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58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59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60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61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62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63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64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65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66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67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68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69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70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1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2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73" name="scoretag" descr="assets/score_day_10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74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75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76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77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k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1541417" cy="182880"/>
          </a:xfrm>
          <a:prstGeom prst="rect">
            <a:avLst/>
          </a:prstGeom>
        </p:spPr>
      </p:pic>
      <p:pic>
        <p:nvPicPr>
          <p:cNvPr id="6" name="Image 1" descr="assets/t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7675735" cy="4754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1472184"/>
            <a:ext cx="137160" cy="13716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8" name="Text 4"/>
          <p:cNvSpPr/>
          <p:nvPr/>
        </p:nvSpPr>
        <p:spPr>
          <a:xfrm>
            <a:off x="832104" y="1417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KPI cards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32104" y="17099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· tool calls · hard errors · suspected soft failures · correction vs info steers · tokens · cost · analyzed N/M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02920" y="2459736"/>
            <a:ext cx="137160" cy="1371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7"/>
          <p:cNvSpPr/>
          <p:nvPr/>
        </p:nvSpPr>
        <p:spPr>
          <a:xfrm>
            <a:off x="832104" y="2404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charts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32104" y="26974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sessions/day, tool distribution, tool health, median duration, tokens &amp; cost, prompts-per-session drift proxy, drift roots, failure roots, habits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" y="3447288"/>
            <a:ext cx="137160" cy="137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0"/>
          <p:cNvSpPr/>
          <p:nvPr/>
        </p:nvSpPr>
        <p:spPr>
          <a:xfrm>
            <a:off x="832104" y="339242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Soft-failure forensics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32104" y="368503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regex families catch “not recognized”-class failures that exit 0 — flagged “suspected” until the model confirms a root cause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4434840"/>
            <a:ext cx="13716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3"/>
          <p:cNvSpPr/>
          <p:nvPr/>
        </p:nvSpPr>
        <p:spPr>
          <a:xfrm>
            <a:off x="832104" y="43799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coach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832104" y="46725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habit tags with counts and suggested rewrites — your prompting habits, named and tallied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542532" y="1421892"/>
            <a:ext cx="5193792" cy="4069080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0" name="Shape 16"/>
          <p:cNvSpPr/>
          <p:nvPr/>
        </p:nvSpPr>
        <p:spPr>
          <a:xfrm>
            <a:off x="6492240" y="1371600"/>
            <a:ext cx="5193792" cy="4069080"/>
          </a:xfrm>
          <a:prstGeom prst="rect">
            <a:avLst/>
          </a:prstGeom>
          <a:solidFill>
            <a:srgbClr val="E5F5EA"/>
          </a:solidFill>
          <a:ln w="28575">
            <a:solidFill>
              <a:srgbClr val="1B1D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93992" y="1600200"/>
            <a:ext cx="2558491" cy="29654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22" name="Shape 18"/>
          <p:cNvSpPr/>
          <p:nvPr/>
        </p:nvSpPr>
        <p:spPr>
          <a:xfrm>
            <a:off x="6766560" y="1572768"/>
            <a:ext cx="2558491" cy="29654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66560" y="1572768"/>
            <a:ext cx="2558491" cy="296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RUN — STEERING TEST, 3 PROMPTS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6720840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5400" dirty="0"/>
          </a:p>
        </p:txBody>
      </p:sp>
      <p:sp>
        <p:nvSpPr>
          <p:cNvPr id="25" name="Text 21"/>
          <p:cNvSpPr/>
          <p:nvPr/>
        </p:nvSpPr>
        <p:spPr>
          <a:xfrm>
            <a:off x="7863840" y="21214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wasted turns —</a:t>
            </a:r>
            <a:endParaRPr lang="en-US" sz="13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counted, not felt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784848" y="2916936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3"/>
          <p:cNvSpPr/>
          <p:nvPr/>
        </p:nvSpPr>
        <p:spPr>
          <a:xfrm>
            <a:off x="6986016" y="2880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detour priced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412480" y="28895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correction cost 5 turns · 4 tool calls · 30 s — detourCost, per prompt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784848" y="3520440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6"/>
          <p:cNvSpPr/>
          <p:nvPr/>
        </p:nvSpPr>
        <p:spPr>
          <a:xfrm>
            <a:off x="6986016" y="3483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drift rooted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412480" y="34930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prompt_ambiguity, backed by 6 cited event indexes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784848" y="4123944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29"/>
          <p:cNvSpPr/>
          <p:nvPr/>
        </p:nvSpPr>
        <p:spPr>
          <a:xfrm>
            <a:off x="6986016" y="40873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 verdict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412480" y="40965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suggested rewrites — tagged ambiguity, missing_constraint, unstated_preference, wrong_scope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784848" y="4727448"/>
            <a:ext cx="9144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2"/>
          <p:cNvSpPr/>
          <p:nvPr/>
        </p:nvSpPr>
        <p:spPr>
          <a:xfrm>
            <a:off x="6986016" y="46908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412480" y="47000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D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finding cites event [N] → the exact raw log line, replayable in the UI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502920" y="5349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C60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Prompting becomes numbers: which corrections cost turns, which habits recur.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E3ECF9"/>
          </a:solidFill>
          <a:ln/>
        </p:spPr>
      </p:sp>
      <p:sp>
        <p:nvSpPr>
          <p:cNvPr id="40" name="Shape 36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1" name="Shape 37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2" name="Shape 38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D8D1C2"/>
          </a:solidFill>
          <a:ln/>
        </p:spPr>
      </p:sp>
      <p:pic>
        <p:nvPicPr>
          <p:cNvPr id="43" name="sunmoon" descr="assets/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44" name="skyline" descr="assets/skyline_d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45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46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47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48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1B1D22"/>
          </a:solidFill>
          <a:ln/>
        </p:spPr>
      </p:sp>
      <p:pic>
        <p:nvPicPr>
          <p:cNvPr id="49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50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51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52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53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54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55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56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7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8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59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60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61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62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3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4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65" name="scoretag" descr="assets/score_day_11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66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FFFFFF"/>
          </a:solidFill>
          <a:ln w="19050">
            <a:solidFill>
              <a:srgbClr val="1B1D22"/>
            </a:solidFill>
            <a:prstDash val="solid"/>
          </a:ln>
        </p:spPr>
      </p:sp>
      <p:sp>
        <p:nvSpPr>
          <p:cNvPr id="67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68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4:00</a:t>
            </a:r>
            <a:endParaRPr lang="en-US" sz="950" dirty="0"/>
          </a:p>
        </p:txBody>
      </p:sp>
      <p:sp>
        <p:nvSpPr>
          <p:cNvPr id="69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5" name="Image 0" descr="assets/t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7268174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1848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55448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Zero-dependency, end to 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193852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server, SPA, and tests on the Node stdlib — 63 tests in 4 suites, zero npm installs to run or to test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734056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700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closes on itself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3054096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watches your agent, and an AI grades the prompts — with a guard so enrichment never enriches itself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84962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7856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by design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416966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“suspected” until confirmed · versioned on both sides · the brief defers to the codebase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9496" y="4837176"/>
            <a:ext cx="11183112" cy="640080"/>
          </a:xfrm>
          <a:prstGeom prst="rect">
            <a:avLst/>
          </a:prstGeom>
          <a:solidFill>
            <a:srgbClr val="05060A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" y="4800600"/>
            <a:ext cx="11183112" cy="640080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800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v0.1.0 · single-user · localhost-only · no latency benchmarks yet — the honest limits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21040" y="4800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github.com/aryan-rajoria/nano-super</a:t>
            </a:r>
            <a:endParaRPr lang="en-US" sz="1100" dirty="0"/>
          </a:p>
        </p:txBody>
      </p:sp>
      <p:pic>
        <p:nvPicPr>
          <p:cNvPr id="19" name="Image 1" descr="assets/p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554480"/>
            <a:ext cx="1045029" cy="146304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232838"/>
          </a:solidFill>
          <a:ln/>
        </p:spPr>
      </p:sp>
      <p:sp>
        <p:nvSpPr>
          <p:cNvPr id="21" name="Shape 17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2" name="Shape 18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3" name="Shape 19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12141B"/>
          </a:solidFill>
          <a:ln/>
        </p:spPr>
      </p:sp>
      <p:pic>
        <p:nvPicPr>
          <p:cNvPr id="24" name="sunmoon" descr="assets/mo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25" name="skyline" descr="assets/skyline_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26" name="cloud1" descr="assets/cloud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27" name="cloud2" descr="assets/cloud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28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9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pic>
        <p:nvPicPr>
          <p:cNvPr id="30" name="sign1" descr="assets/sign_coffe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797" y="6096305"/>
            <a:ext cx="1457325" cy="457200"/>
          </a:xfrm>
          <a:prstGeom prst="rect">
            <a:avLst/>
          </a:prstGeom>
        </p:spPr>
      </p:pic>
      <p:pic>
        <p:nvPicPr>
          <p:cNvPr id="31" name="sign2" descr="assets/sign_no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805" y="6096305"/>
            <a:ext cx="1628775" cy="457200"/>
          </a:xfrm>
          <a:prstGeom prst="rect">
            <a:avLst/>
          </a:prstGeom>
        </p:spPr>
      </p:pic>
      <p:pic>
        <p:nvPicPr>
          <p:cNvPr id="32" name="bush" descr="assets/bush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203" y="6381598"/>
            <a:ext cx="237744" cy="142646"/>
          </a:xfrm>
          <a:prstGeom prst="rect">
            <a:avLst/>
          </a:prstGeom>
        </p:spPr>
      </p:pic>
      <p:pic>
        <p:nvPicPr>
          <p:cNvPr id="33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34" name="cactus" descr="assets/cactu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35" name="rock" descr="assets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36" name="man_runA" descr="assets/man_run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37" name="man_runB" descr="assets/man_runB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38" name="man_jump" descr="assets/man_jump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39" name="man_idle" descr="assets/man_id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40" name="heartF1" descr="assets/heart_ful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41" name="heartF2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42" name="heartF3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43" name="heartE1" descr="assets/heart_empty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44" name="heartE2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45" name="heartE3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46" name="scoretag" descr="assets/score_night_1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47" name="timerframe"/>
          <p:cNvSpPr/>
          <p:nvPr/>
        </p:nvSpPr>
        <p:spPr>
          <a:xfrm>
            <a:off x="9499702" y="5892394"/>
            <a:ext cx="2540203" cy="152705"/>
          </a:xfrm>
          <a:prstGeom prst="rect">
            <a:avLst/>
          </a:prstGeom>
          <a:solidFill>
            <a:srgbClr val="24272F"/>
          </a:solidFill>
          <a:ln w="19050">
            <a:solidFill>
              <a:srgbClr val="3C414C"/>
            </a:solidFill>
            <a:prstDash val="solid"/>
          </a:ln>
        </p:spPr>
      </p:sp>
      <p:sp>
        <p:nvSpPr>
          <p:cNvPr id="48" name="timerbar"/>
          <p:cNvSpPr/>
          <p:nvPr/>
        </p:nvSpPr>
        <p:spPr>
          <a:xfrm>
            <a:off x="9525305" y="5917997"/>
            <a:ext cx="2488997" cy="10149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49" name="timetext"/>
          <p:cNvSpPr/>
          <p:nvPr/>
        </p:nvSpPr>
        <p:spPr>
          <a:xfrm>
            <a:off x="8738006" y="5892394"/>
            <a:ext cx="71140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9E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950" dirty="0"/>
          </a:p>
        </p:txBody>
      </p:sp>
      <p:sp>
        <p:nvSpPr>
          <p:cNvPr id="50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11128" y="384048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57784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230368"/>
            <a:ext cx="146304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" y="5230368"/>
            <a:ext cx="146304" cy="146304"/>
          </a:xfrm>
          <a:prstGeom prst="rect">
            <a:avLst/>
          </a:prstGeom>
          <a:solidFill>
            <a:srgbClr val="7CB0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404104"/>
            <a:ext cx="146304" cy="146304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8" name="Image 0" descr="assets/ty_ki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4117413" cy="146304"/>
          </a:xfrm>
          <a:prstGeom prst="rect">
            <a:avLst/>
          </a:prstGeom>
        </p:spPr>
      </p:pic>
      <p:pic>
        <p:nvPicPr>
          <p:cNvPr id="9" name="Image 1" descr="assets/ty_tit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947442" cy="1069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EB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Questions, issues, and coffee tips are all welcome.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0292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C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github.com/aryan-rajoria/nano-super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HEARTS · 13 SLIDES · 1 COFFEE</a:t>
            </a:r>
            <a:endParaRPr lang="en-US" sz="1300" dirty="0"/>
          </a:p>
        </p:txBody>
      </p:sp>
      <p:pic>
        <p:nvPicPr>
          <p:cNvPr id="13" name="Image 2" descr="assets/p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234440"/>
            <a:ext cx="1240971" cy="17373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5689397"/>
            <a:ext cx="12188952" cy="864108"/>
          </a:xfrm>
          <a:prstGeom prst="rect">
            <a:avLst/>
          </a:prstGeom>
          <a:solidFill>
            <a:srgbClr val="232838"/>
          </a:solidFill>
          <a:ln/>
        </p:spPr>
      </p:sp>
      <p:sp>
        <p:nvSpPr>
          <p:cNvPr id="15" name="Shape 10"/>
          <p:cNvSpPr/>
          <p:nvPr/>
        </p:nvSpPr>
        <p:spPr>
          <a:xfrm>
            <a:off x="0" y="5689397"/>
            <a:ext cx="12188952" cy="25603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16" name="Shape 11"/>
          <p:cNvSpPr/>
          <p:nvPr/>
        </p:nvSpPr>
        <p:spPr>
          <a:xfrm>
            <a:off x="0" y="6553505"/>
            <a:ext cx="12188952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17" name="Shape 12"/>
          <p:cNvSpPr/>
          <p:nvPr/>
        </p:nvSpPr>
        <p:spPr>
          <a:xfrm>
            <a:off x="0" y="6590995"/>
            <a:ext cx="12188952" cy="267005"/>
          </a:xfrm>
          <a:prstGeom prst="rect">
            <a:avLst/>
          </a:prstGeom>
          <a:solidFill>
            <a:srgbClr val="12141B"/>
          </a:solidFill>
          <a:ln/>
        </p:spPr>
      </p:sp>
      <p:pic>
        <p:nvPicPr>
          <p:cNvPr id="18" name="sunmoon" descr="assets/m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5740603"/>
            <a:ext cx="256946" cy="256946"/>
          </a:xfrm>
          <a:prstGeom prst="rect">
            <a:avLst/>
          </a:prstGeom>
        </p:spPr>
      </p:pic>
      <p:pic>
        <p:nvPicPr>
          <p:cNvPr id="19" name="skyline" descr="assets/skyline_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1797" y="6096305"/>
            <a:ext cx="24384000" cy="457200"/>
          </a:xfrm>
          <a:prstGeom prst="rect">
            <a:avLst/>
          </a:prstGeom>
        </p:spPr>
      </p:pic>
      <p:pic>
        <p:nvPicPr>
          <p:cNvPr id="20" name="cloud1" descr="assets/cloud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5715000"/>
            <a:ext cx="456468" cy="190195"/>
          </a:xfrm>
          <a:prstGeom prst="rect">
            <a:avLst/>
          </a:prstGeom>
        </p:spPr>
      </p:pic>
      <p:pic>
        <p:nvPicPr>
          <p:cNvPr id="21" name="cloud2" descr="assets/cloud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5803697"/>
            <a:ext cx="381762" cy="152705"/>
          </a:xfrm>
          <a:prstGeom prst="rect">
            <a:avLst/>
          </a:prstGeom>
        </p:spPr>
      </p:pic>
      <p:sp>
        <p:nvSpPr>
          <p:cNvPr id="22" name="mark1"/>
          <p:cNvSpPr/>
          <p:nvPr/>
        </p:nvSpPr>
        <p:spPr>
          <a:xfrm>
            <a:off x="761695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sp>
        <p:nvSpPr>
          <p:cNvPr id="23" name="mark2"/>
          <p:cNvSpPr/>
          <p:nvPr/>
        </p:nvSpPr>
        <p:spPr>
          <a:xfrm>
            <a:off x="6858000" y="6629400"/>
            <a:ext cx="177394" cy="38405"/>
          </a:xfrm>
          <a:prstGeom prst="rect">
            <a:avLst/>
          </a:prstGeom>
          <a:solidFill>
            <a:srgbClr val="3C414C"/>
          </a:solidFill>
          <a:ln/>
        </p:spPr>
      </p:sp>
      <p:pic>
        <p:nvPicPr>
          <p:cNvPr id="24" name="sign1" descr="assets/sign_coffe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43200" y="6096305"/>
            <a:ext cx="1457325" cy="457200"/>
          </a:xfrm>
          <a:prstGeom prst="rect">
            <a:avLst/>
          </a:prstGeom>
        </p:spPr>
      </p:pic>
      <p:pic>
        <p:nvPicPr>
          <p:cNvPr id="25" name="sign2" descr="assets/sign_nocoffe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743200" y="6096305"/>
            <a:ext cx="1628775" cy="457200"/>
          </a:xfrm>
          <a:prstGeom prst="rect">
            <a:avLst/>
          </a:prstGeom>
        </p:spPr>
      </p:pic>
      <p:pic>
        <p:nvPicPr>
          <p:cNvPr id="26" name="sign3" descr="assets/sign_clos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743200" y="6096305"/>
            <a:ext cx="1114425" cy="457200"/>
          </a:xfrm>
          <a:prstGeom prst="rect">
            <a:avLst/>
          </a:prstGeom>
        </p:spPr>
      </p:pic>
      <p:pic>
        <p:nvPicPr>
          <p:cNvPr id="27" name="bush" descr="assets/bush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43200" y="6381598"/>
            <a:ext cx="237744" cy="142646"/>
          </a:xfrm>
          <a:prstGeom prst="rect">
            <a:avLst/>
          </a:prstGeom>
        </p:spPr>
      </p:pic>
      <p:pic>
        <p:nvPicPr>
          <p:cNvPr id="28" name="cactus" descr="assets/cactu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43200" y="6268212"/>
            <a:ext cx="228600" cy="285750"/>
          </a:xfrm>
          <a:prstGeom prst="rect">
            <a:avLst/>
          </a:prstGeom>
        </p:spPr>
      </p:pic>
      <p:pic>
        <p:nvPicPr>
          <p:cNvPr id="29" name="rock" descr="assets/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43200" y="6410858"/>
            <a:ext cx="285293" cy="142646"/>
          </a:xfrm>
          <a:prstGeom prst="rect">
            <a:avLst/>
          </a:prstGeom>
        </p:spPr>
      </p:pic>
      <p:pic>
        <p:nvPicPr>
          <p:cNvPr id="30" name="man_runA" descr="assets/man_run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04695" y="5982005"/>
            <a:ext cx="342900" cy="571500"/>
          </a:xfrm>
          <a:prstGeom prst="rect">
            <a:avLst/>
          </a:prstGeom>
        </p:spPr>
      </p:pic>
      <p:pic>
        <p:nvPicPr>
          <p:cNvPr id="31" name="man_runB" descr="assets/man_runB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32" name="man_jump" descr="assets/man_jump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33" name="man_idle" descr="assets/man_idl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743200" y="5982005"/>
            <a:ext cx="342900" cy="571500"/>
          </a:xfrm>
          <a:prstGeom prst="rect">
            <a:avLst/>
          </a:prstGeom>
        </p:spPr>
      </p:pic>
      <p:pic>
        <p:nvPicPr>
          <p:cNvPr id="34" name="heartF1" descr="assets/heart_full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24844" y="5702198"/>
            <a:ext cx="200025" cy="171450"/>
          </a:xfrm>
          <a:prstGeom prst="rect">
            <a:avLst/>
          </a:prstGeom>
        </p:spPr>
      </p:pic>
      <p:pic>
        <p:nvPicPr>
          <p:cNvPr id="35" name="heartF2" descr="assets/heart_ful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82705" y="5702198"/>
            <a:ext cx="200025" cy="171450"/>
          </a:xfrm>
          <a:prstGeom prst="rect">
            <a:avLst/>
          </a:prstGeom>
        </p:spPr>
      </p:pic>
      <p:pic>
        <p:nvPicPr>
          <p:cNvPr id="36" name="heartF3" descr="assets/heart_full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39651" y="5702198"/>
            <a:ext cx="200025" cy="171450"/>
          </a:xfrm>
          <a:prstGeom prst="rect">
            <a:avLst/>
          </a:prstGeom>
        </p:spPr>
      </p:pic>
      <p:pic>
        <p:nvPicPr>
          <p:cNvPr id="37" name="heartE1" descr="assets/heart_empty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38" name="heartE2" descr="assets/heart_empt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39" name="heartE3" descr="assets/heart_empty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-2743200" y="5702198"/>
            <a:ext cx="200025" cy="171450"/>
          </a:xfrm>
          <a:prstGeom prst="rect">
            <a:avLst/>
          </a:prstGeom>
        </p:spPr>
      </p:pic>
      <p:pic>
        <p:nvPicPr>
          <p:cNvPr id="40" name="scoretag" descr="assets/score_night_13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705" y="5702198"/>
            <a:ext cx="1239665" cy="133502"/>
          </a:xfrm>
          <a:prstGeom prst="rect">
            <a:avLst/>
          </a:prstGeom>
        </p:spPr>
      </p:pic>
      <p:sp>
        <p:nvSpPr>
          <p:cNvPr id="41" name="cfgTime"/>
          <p:cNvSpPr/>
          <p:nvPr/>
        </p:nvSpPr>
        <p:spPr>
          <a:xfrm>
            <a:off x="-822960" y="182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800" dirty="0"/>
          </a:p>
        </p:txBody>
      </p:sp>
      <p:pic>
        <p:nvPicPr>
          <p:cNvPr id="42" name="machine" descr="assets/machine_off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32797" y="5924398"/>
            <a:ext cx="571500" cy="628650"/>
          </a:xfrm>
          <a:prstGeom prst="rect">
            <a:avLst/>
          </a:prstGeom>
        </p:spPr>
      </p:pic>
      <p:pic>
        <p:nvPicPr>
          <p:cNvPr id="43" name="machine_on" descr="assets/machine_on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2743200" y="5924398"/>
            <a:ext cx="571500" cy="628650"/>
          </a:xfrm>
          <a:prstGeom prst="rect">
            <a:avLst/>
          </a:prstGeom>
        </p:spPr>
      </p:pic>
      <p:pic>
        <p:nvPicPr>
          <p:cNvPr id="44" name="machine_done" descr="assets/machine_don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-2743200" y="5924398"/>
            <a:ext cx="571500" cy="628650"/>
          </a:xfrm>
          <a:prstGeom prst="rect">
            <a:avLst/>
          </a:prstGeom>
        </p:spPr>
      </p:pic>
      <p:pic>
        <p:nvPicPr>
          <p:cNvPr id="45" name="steam" descr="assets/steam1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-2743200" y="5760720"/>
            <a:ext cx="142646" cy="142646"/>
          </a:xfrm>
          <a:prstGeom prst="rect">
            <a:avLst/>
          </a:prstGeom>
        </p:spPr>
      </p:pic>
      <p:pic>
        <p:nvPicPr>
          <p:cNvPr id="46" name="steam2" descr="assets/steam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-2743200" y="5760720"/>
            <a:ext cx="142646" cy="142646"/>
          </a:xfrm>
          <a:prstGeom prst="rect">
            <a:avLst/>
          </a:prstGeom>
        </p:spPr>
      </p:pic>
      <p:pic>
        <p:nvPicPr>
          <p:cNvPr id="47" name="coffeetext" descr="assets/coffee_acquir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-5486400" y="5468112"/>
            <a:ext cx="5086350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nano-super — pi usage observation (coffee quest edition)</dc:title>
  <dc:subject>PptxGenJS Presentation</dc:subject>
  <dc:creator>aryan-rajoria</dc:creator>
  <cp:lastModifiedBy>aryan-rajoria</cp:lastModifiedBy>
  <cp:revision>1</cp:revision>
  <dcterms:created xsi:type="dcterms:W3CDTF">2026-10-11T01:19:25Z</dcterms:created>
  <dcterms:modified xsi:type="dcterms:W3CDTF">2026-10-11T01:19:25Z</dcterms:modified>
</cp:coreProperties>
</file>