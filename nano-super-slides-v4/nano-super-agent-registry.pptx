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Thesis: register a coding-agent artifact once, target all four harnesses. All numbers from the 8-file verified corpus (2026-10-16). Dark v1-style cover: white bitmap title, BLUE voxel runner + the four harness skill-cubes right, 4 mono stat chips.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fragmentation matrix: artifact type x harness -&gt; where it lives. No unified registry exists (verified whitespace). Quote from the .agents/ convention debate.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v2.1.302. Richest surface. Programmatic registry path = publish a git repo with .claude-plugin/marketplace.json; claude plugin list --available --json is machine-readable.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Codex rust-v0.163.0. Adopted Agent Skills + agent-plugins. Strongest hook discipline: plugin hooks skipped until reviewed; plugins with hooks barred from the public directory.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OpenCode 2.0.x. The v2 HTTP skills catalog (index.json, versioned cache) is a pull-based, file-level registry protocol — any static host is a registry. This is the surface agentreg emits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 1.3.0. The cleanest 'don't build a registry' precedent: pi.dev/packages is an npm index. Registry publishes content-only packages (no scripts) to kill the npm postinstall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Standards: Agent Skills (46 clients, all four harnesses) vs Agent Plugins v1.0.0 (TSC without Anthropic; only Codex of ours). AGENTS.md + MCP under Linux Foundation AAIF. Claude declined .agents/ (not_planned #66352).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 art: six registries, each a slice — skills-only, one-harness, or mcp-only. Anthropic's own claude.com marketplace (341 plugins) is Claude-only too. The whitespace: all artifact types x all four harnesses.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Security: 36.82% flawed (Snyk, 3,984 sampled) / 7.6% ClawHub malicious-pattern / 80% Skill-Inject ASR / 157 of 98,380 confirmed malicious — all removed on disclosure, so takedown works. Day-1 ladder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design: MCP-Registry-style thin verified index + agentreg CLI that emits native formats into all four harnesses. Data flow publish → verify → scan → seal → index → install → lock. Principles P1-P8 from design-unified-registry.md.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record, four emissions. Dual-emit for Claude (ignores .agents/), OpenCode v1/v2 key sniffing, Codex trust gating surfaced never auto-trusted, Pi content-only npm mirror. agentreg.lock is the differentiator no harness 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v0 MVP by 2027-01 (skills+MCP x 4 harnesses, OIDC/DNS-TXT, scan gate, lockfile, 4 catalogs, read-only API). v1 adapters + reputation + federation. v2 signing/SLSA. Governance: neutral TSC, AAIF donation as v1 exit.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Closer: REGISTRY BREWING — doubles as the game slide. Voxel vending machine (flat redraw of v3 m03) brews; BLUE voxel runner; four skill-cube collectibles (C/K/O/P per harness accent); HUD hearts + timer chip. Banner 'ONE REGISTRY · EVERY AGENT' and machineCup start hidden offslide — the game engine reveals them. cfgTime/cfgScale parked at x -0.9 (v3 convention). Bet skills+MCP now, plugins next, lockfile+trust tiers are the wedge.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3.png"/><Relationship Id="rId5" Type="http://schemas.openxmlformats.org/officeDocument/2006/relationships/image" Target="../media/image-13-3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1_vx1_v1"/>
          <p:cNvSpPr/>
          <p:nvPr/>
        </p:nvSpPr>
        <p:spPr>
          <a:xfrm>
            <a:off x="548640" y="347472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4" name="s1_vx1_v2"/>
          <p:cNvSpPr/>
          <p:nvPr/>
        </p:nvSpPr>
        <p:spPr>
          <a:xfrm>
            <a:off x="722376" y="347472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1_vx1_v3"/>
          <p:cNvSpPr/>
          <p:nvPr/>
        </p:nvSpPr>
        <p:spPr>
          <a:xfrm>
            <a:off x="548640" y="521208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1_vx2_v1"/>
          <p:cNvSpPr/>
          <p:nvPr/>
        </p:nvSpPr>
        <p:spPr>
          <a:xfrm>
            <a:off x="11155680" y="5943600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1_vx2_v2"/>
          <p:cNvSpPr/>
          <p:nvPr/>
        </p:nvSpPr>
        <p:spPr>
          <a:xfrm>
            <a:off x="11329416" y="5943600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8" name="s1_vx2_v3"/>
          <p:cNvSpPr/>
          <p:nvPr/>
        </p:nvSpPr>
        <p:spPr>
          <a:xfrm>
            <a:off x="11155680" y="6117336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9" name="s1_kick" descr="assets/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68680"/>
            <a:ext cx="2325189" cy="182880"/>
          </a:xfrm>
          <a:prstGeom prst="rect">
            <a:avLst/>
          </a:prstGeom>
        </p:spPr>
      </p:pic>
      <p:pic>
        <p:nvPicPr>
          <p:cNvPr id="10" name="s1_title1" descr="assets/c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603966" cy="603504"/>
          </a:xfrm>
          <a:prstGeom prst="rect">
            <a:avLst/>
          </a:prstGeom>
        </p:spPr>
      </p:pic>
      <p:pic>
        <p:nvPicPr>
          <p:cNvPr id="11" name="s1_title2" descr="assets/ct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57400"/>
            <a:ext cx="7155833" cy="603504"/>
          </a:xfrm>
          <a:prstGeom prst="rect">
            <a:avLst/>
          </a:prstGeom>
        </p:spPr>
      </p:pic>
      <p:sp>
        <p:nvSpPr>
          <p:cNvPr id="12" name="s1_sub"/>
          <p:cNvSpPr/>
          <p:nvPr/>
        </p:nvSpPr>
        <p:spPr>
          <a:xfrm>
            <a:off x="50292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C9CD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verified index for coding-agent artifacts.</a:t>
            </a:r>
            <a:endParaRPr lang="en-US" sz="1900" dirty="0"/>
          </a:p>
        </p:txBody>
      </p:sp>
      <p:sp>
        <p:nvSpPr>
          <p:cNvPr id="13" name="s1_desc"/>
          <p:cNvSpPr/>
          <p:nvPr/>
        </p:nvSpPr>
        <p:spPr>
          <a:xfrm>
            <a:off x="502920" y="352044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a skill, mcp server, agent, command, hook or theme once — verify, scan, seal —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install it on claude code, codex, opencode and pi.</a:t>
            </a:r>
            <a:endParaRPr lang="en-US" sz="1450" dirty="0"/>
          </a:p>
        </p:txBody>
      </p:sp>
      <p:sp>
        <p:nvSpPr>
          <p:cNvPr id="14" name="s1_chip0_sh"/>
          <p:cNvSpPr/>
          <p:nvPr/>
        </p:nvSpPr>
        <p:spPr>
          <a:xfrm>
            <a:off x="539496" y="4608576"/>
            <a:ext cx="1431036" cy="475488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15" name="s1_chip0"/>
          <p:cNvSpPr/>
          <p:nvPr/>
        </p:nvSpPr>
        <p:spPr>
          <a:xfrm>
            <a:off x="502920" y="4572000"/>
            <a:ext cx="1431036" cy="475488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16" name="s1_chip0_t"/>
          <p:cNvSpPr/>
          <p:nvPr/>
        </p:nvSpPr>
        <p:spPr>
          <a:xfrm>
            <a:off x="502920" y="4572000"/>
            <a:ext cx="14310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HARNESSES</a:t>
            </a:r>
            <a:endParaRPr lang="en-US" sz="1200" dirty="0"/>
          </a:p>
        </p:txBody>
      </p:sp>
      <p:sp>
        <p:nvSpPr>
          <p:cNvPr id="17" name="s1_chip1_sh"/>
          <p:cNvSpPr/>
          <p:nvPr/>
        </p:nvSpPr>
        <p:spPr>
          <a:xfrm>
            <a:off x="2199132" y="4608576"/>
            <a:ext cx="1325880" cy="475488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18" name="s1_chip1"/>
          <p:cNvSpPr/>
          <p:nvPr/>
        </p:nvSpPr>
        <p:spPr>
          <a:xfrm>
            <a:off x="2162556" y="4572000"/>
            <a:ext cx="1325880" cy="475488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19" name="s1_chip1_t"/>
          <p:cNvSpPr/>
          <p:nvPr/>
        </p:nvSpPr>
        <p:spPr>
          <a:xfrm>
            <a:off x="2162556" y="45720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SURFACES</a:t>
            </a:r>
            <a:endParaRPr lang="en-US" sz="1200" dirty="0"/>
          </a:p>
        </p:txBody>
      </p:sp>
      <p:sp>
        <p:nvSpPr>
          <p:cNvPr id="20" name="s1_chip2_sh"/>
          <p:cNvSpPr/>
          <p:nvPr/>
        </p:nvSpPr>
        <p:spPr>
          <a:xfrm>
            <a:off x="3753612" y="4608576"/>
            <a:ext cx="1325880" cy="475488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21" name="s1_chip2"/>
          <p:cNvSpPr/>
          <p:nvPr/>
        </p:nvSpPr>
        <p:spPr>
          <a:xfrm>
            <a:off x="3717036" y="4572000"/>
            <a:ext cx="1325880" cy="475488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22" name="s1_chip2_t"/>
          <p:cNvSpPr/>
          <p:nvPr/>
        </p:nvSpPr>
        <p:spPr>
          <a:xfrm>
            <a:off x="3717036" y="45720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CLIENTS</a:t>
            </a:r>
            <a:endParaRPr lang="en-US" sz="1200" dirty="0"/>
          </a:p>
        </p:txBody>
      </p:sp>
      <p:sp>
        <p:nvSpPr>
          <p:cNvPr id="23" name="s1_chip3_sh"/>
          <p:cNvSpPr/>
          <p:nvPr/>
        </p:nvSpPr>
        <p:spPr>
          <a:xfrm>
            <a:off x="5308092" y="4608576"/>
            <a:ext cx="1325880" cy="475488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24" name="s1_chip3"/>
          <p:cNvSpPr/>
          <p:nvPr/>
        </p:nvSpPr>
        <p:spPr>
          <a:xfrm>
            <a:off x="5271516" y="4572000"/>
            <a:ext cx="1325880" cy="475488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25" name="s1_chip3_t"/>
          <p:cNvSpPr/>
          <p:nvPr/>
        </p:nvSpPr>
        <p:spPr>
          <a:xfrm>
            <a:off x="5271516" y="45720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REGISTRY</a:t>
            </a:r>
            <a:endParaRPr lang="en-US" sz="1200" dirty="0"/>
          </a:p>
        </p:txBody>
      </p:sp>
      <p:sp>
        <p:nvSpPr>
          <p:cNvPr id="26" name="s1_src"/>
          <p:cNvSpPr/>
          <p:nvPr/>
        </p:nvSpPr>
        <p:spPr>
          <a:xfrm>
            <a:off x="502920" y="5349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8-file corpus — claude-code · codex · opencode · pi · cross-spec-standards · prior-art-registries · security-trust-model · design (all verified 2026-10-16)</a:t>
            </a:r>
            <a:endParaRPr lang="en-US" sz="1000" dirty="0"/>
          </a:p>
        </p:txBody>
      </p:sp>
      <p:pic>
        <p:nvPicPr>
          <p:cNvPr id="27" name="s1_runner" descr="assets/runn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2011680"/>
            <a:ext cx="1767840" cy="2651760"/>
          </a:xfrm>
          <a:prstGeom prst="rect">
            <a:avLst/>
          </a:prstGeom>
        </p:spPr>
      </p:pic>
      <p:pic>
        <p:nvPicPr>
          <p:cNvPr id="28" name="s1_cube0" descr="assets/cube_clau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4892040"/>
            <a:ext cx="384048" cy="384048"/>
          </a:xfrm>
          <a:prstGeom prst="rect">
            <a:avLst/>
          </a:prstGeom>
        </p:spPr>
      </p:pic>
      <p:pic>
        <p:nvPicPr>
          <p:cNvPr id="29" name="s1_cube1" descr="assets/cube_codex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4892040"/>
            <a:ext cx="384048" cy="384048"/>
          </a:xfrm>
          <a:prstGeom prst="rect">
            <a:avLst/>
          </a:prstGeom>
        </p:spPr>
      </p:pic>
      <p:pic>
        <p:nvPicPr>
          <p:cNvPr id="30" name="s1_cube2" descr="assets/cube_openco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040" y="4892040"/>
            <a:ext cx="384048" cy="384048"/>
          </a:xfrm>
          <a:prstGeom prst="rect">
            <a:avLst/>
          </a:prstGeom>
        </p:spPr>
      </p:pic>
      <p:pic>
        <p:nvPicPr>
          <p:cNvPr id="31" name="s1_cube3" descr="assets/cube_pi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84280" y="4892040"/>
            <a:ext cx="384048" cy="384048"/>
          </a:xfrm>
          <a:prstGeom prst="rect">
            <a:avLst/>
          </a:prstGeom>
        </p:spPr>
      </p:pic>
      <p:sp>
        <p:nvSpPr>
          <p:cNvPr id="32" name="s1_repo"/>
          <p:cNvSpPr/>
          <p:nvPr/>
        </p:nvSpPr>
        <p:spPr>
          <a:xfrm>
            <a:off x="502920" y="6355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github.com/aryan-rajoria/agents-unified-registry</a:t>
            </a:r>
            <a:endParaRPr lang="en-US" sz="1100" dirty="0"/>
          </a:p>
        </p:txBody>
      </p:sp>
      <p:sp>
        <p:nvSpPr>
          <p:cNvPr id="33" name="s1_date"/>
          <p:cNvSpPr/>
          <p:nvPr/>
        </p:nvSpPr>
        <p:spPr>
          <a:xfrm>
            <a:off x="9966960" y="6355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_kick" descr="assets/k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4206240" cy="182880"/>
          </a:xfrm>
          <a:prstGeom prst="rect">
            <a:avLst/>
          </a:prstGeom>
        </p:spPr>
      </p:pic>
      <p:pic>
        <p:nvPicPr>
          <p:cNvPr id="6" name="s2_title" descr="assets/t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7675735" cy="475488"/>
          </a:xfrm>
          <a:prstGeom prst="rect">
            <a:avLst/>
          </a:prstGeom>
        </p:spPr>
      </p:pic>
      <p:sp>
        <p:nvSpPr>
          <p:cNvPr id="7" name="s2_spec"/>
          <p:cNvSpPr/>
          <p:nvPr/>
        </p:nvSpPr>
        <p:spPr>
          <a:xfrm>
            <a:off x="502920" y="1216152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coding harnesses × 6+ artifact types × distinct paths, manifests and clis — same job, a different answer in every cell</a:t>
            </a:r>
            <a:endParaRPr lang="en-US" sz="1100" dirty="0"/>
          </a:p>
        </p:txBody>
      </p:sp>
      <p:sp>
        <p:nvSpPr>
          <p:cNvPr id="8" name="s2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en-US" sz="950" dirty="0"/>
          </a:p>
        </p:txBody>
      </p:sp>
      <p:sp>
        <p:nvSpPr>
          <p:cNvPr id="10" name="s2_gap_sh"/>
          <p:cNvSpPr/>
          <p:nvPr/>
        </p:nvSpPr>
        <p:spPr>
          <a:xfrm>
            <a:off x="553212" y="1677924"/>
            <a:ext cx="2743200" cy="35661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2_gap"/>
          <p:cNvSpPr/>
          <p:nvPr/>
        </p:nvSpPr>
        <p:spPr>
          <a:xfrm>
            <a:off x="502920" y="1627632"/>
            <a:ext cx="2743200" cy="356616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2_gap_band"/>
          <p:cNvSpPr/>
          <p:nvPr/>
        </p:nvSpPr>
        <p:spPr>
          <a:xfrm>
            <a:off x="777240" y="18288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GAP</a:t>
            </a:r>
            <a:endParaRPr lang="en-US" sz="1050" dirty="0"/>
          </a:p>
        </p:txBody>
      </p:sp>
      <p:sp>
        <p:nvSpPr>
          <p:cNvPr id="13" name="s2_gap_n1"/>
          <p:cNvSpPr/>
          <p:nvPr/>
        </p:nvSpPr>
        <p:spPr>
          <a:xfrm>
            <a:off x="731520" y="202996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6000" dirty="0"/>
          </a:p>
        </p:txBody>
      </p:sp>
      <p:sp>
        <p:nvSpPr>
          <p:cNvPr id="14" name="s2_gap_d1"/>
          <p:cNvSpPr/>
          <p:nvPr/>
        </p:nvSpPr>
        <p:spPr>
          <a:xfrm>
            <a:off x="777240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surfaces — 4 harnesses × 6 artifact types where one artifact could live</a:t>
            </a:r>
            <a:endParaRPr lang="en-US" sz="1050" dirty="0"/>
          </a:p>
        </p:txBody>
      </p:sp>
      <p:sp>
        <p:nvSpPr>
          <p:cNvPr id="15" name="s2_gap_hr"/>
          <p:cNvSpPr/>
          <p:nvPr/>
        </p:nvSpPr>
        <p:spPr>
          <a:xfrm>
            <a:off x="777240" y="3712464"/>
            <a:ext cx="21031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6" name="s2_gap_n2"/>
          <p:cNvSpPr/>
          <p:nvPr/>
        </p:nvSpPr>
        <p:spPr>
          <a:xfrm>
            <a:off x="731520" y="376732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s2_gap_d2"/>
          <p:cNvSpPr/>
          <p:nvPr/>
        </p:nvSpPr>
        <p:spPr>
          <a:xfrm>
            <a:off x="1417320" y="38587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registries cover them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whitespace verified 2026-10-16</a:t>
            </a:r>
            <a:endParaRPr lang="en-US" sz="1050" dirty="0"/>
          </a:p>
        </p:txBody>
      </p:sp>
      <p:sp>
        <p:nvSpPr>
          <p:cNvPr id="18" name="s2_gap_note"/>
          <p:cNvSpPr/>
          <p:nvPr/>
        </p:nvSpPr>
        <p:spPr>
          <a:xfrm>
            <a:off x="777240" y="4617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× 6 = 24</a:t>
            </a:r>
            <a:endParaRPr lang="en-US" sz="1050" dirty="0"/>
          </a:p>
        </p:txBody>
      </p:sp>
      <p:sp>
        <p:nvSpPr>
          <p:cNvPr id="19" name="s2_mx_sh"/>
          <p:cNvSpPr/>
          <p:nvPr/>
        </p:nvSpPr>
        <p:spPr>
          <a:xfrm>
            <a:off x="3479292" y="1677924"/>
            <a:ext cx="8257032" cy="35661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0" name="s2_mx"/>
          <p:cNvSpPr/>
          <p:nvPr/>
        </p:nvSpPr>
        <p:spPr>
          <a:xfrm>
            <a:off x="3429000" y="1627632"/>
            <a:ext cx="8257032" cy="35661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1" name="s2_mx_ch0"/>
          <p:cNvSpPr/>
          <p:nvPr/>
        </p:nvSpPr>
        <p:spPr>
          <a:xfrm>
            <a:off x="3685032" y="18105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</a:t>
            </a:r>
            <a:endParaRPr lang="en-US" sz="850" dirty="0"/>
          </a:p>
        </p:txBody>
      </p:sp>
      <p:sp>
        <p:nvSpPr>
          <p:cNvPr id="22" name="s2_mx_ch1"/>
          <p:cNvSpPr/>
          <p:nvPr/>
        </p:nvSpPr>
        <p:spPr>
          <a:xfrm>
            <a:off x="4828032" y="18105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850" dirty="0"/>
          </a:p>
        </p:txBody>
      </p:sp>
      <p:sp>
        <p:nvSpPr>
          <p:cNvPr id="23" name="s2_mx_ch2"/>
          <p:cNvSpPr/>
          <p:nvPr/>
        </p:nvSpPr>
        <p:spPr>
          <a:xfrm>
            <a:off x="6473952" y="18105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850" dirty="0"/>
          </a:p>
        </p:txBody>
      </p:sp>
      <p:sp>
        <p:nvSpPr>
          <p:cNvPr id="24" name="s2_mx_ch3"/>
          <p:cNvSpPr/>
          <p:nvPr/>
        </p:nvSpPr>
        <p:spPr>
          <a:xfrm>
            <a:off x="8119872" y="18105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850" dirty="0"/>
          </a:p>
        </p:txBody>
      </p:sp>
      <p:sp>
        <p:nvSpPr>
          <p:cNvPr id="25" name="s2_mx_ch4"/>
          <p:cNvSpPr/>
          <p:nvPr/>
        </p:nvSpPr>
        <p:spPr>
          <a:xfrm>
            <a:off x="9765792" y="181051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850" dirty="0"/>
          </a:p>
        </p:txBody>
      </p:sp>
      <p:sp>
        <p:nvSpPr>
          <p:cNvPr id="26" name="s2_mx_hr0"/>
          <p:cNvSpPr/>
          <p:nvPr/>
        </p:nvSpPr>
        <p:spPr>
          <a:xfrm>
            <a:off x="3685032" y="2103120"/>
            <a:ext cx="7744968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2_mx_r0c0"/>
          <p:cNvSpPr/>
          <p:nvPr/>
        </p:nvSpPr>
        <p:spPr>
          <a:xfrm>
            <a:off x="3685032" y="2103120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850" dirty="0"/>
          </a:p>
        </p:txBody>
      </p:sp>
      <p:sp>
        <p:nvSpPr>
          <p:cNvPr id="28" name="s2_mx_r0c1"/>
          <p:cNvSpPr/>
          <p:nvPr/>
        </p:nvSpPr>
        <p:spPr>
          <a:xfrm>
            <a:off x="4828032" y="210312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</a:t>
            </a:r>
            <a:endParaRPr lang="en-US" sz="850" dirty="0"/>
          </a:p>
        </p:txBody>
      </p:sp>
      <p:sp>
        <p:nvSpPr>
          <p:cNvPr id="29" name="s2_mx_r0c2"/>
          <p:cNvSpPr/>
          <p:nvPr/>
        </p:nvSpPr>
        <p:spPr>
          <a:xfrm>
            <a:off x="6473952" y="210312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</a:t>
            </a:r>
            <a:endParaRPr lang="en-US" sz="850" dirty="0"/>
          </a:p>
        </p:txBody>
      </p:sp>
      <p:sp>
        <p:nvSpPr>
          <p:cNvPr id="30" name="s2_mx_r0c3"/>
          <p:cNvSpPr/>
          <p:nvPr/>
        </p:nvSpPr>
        <p:spPr>
          <a:xfrm>
            <a:off x="8119872" y="210312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.opencode+.agents+.claude</a:t>
            </a:r>
            <a:endParaRPr lang="en-US" sz="850" dirty="0"/>
          </a:p>
        </p:txBody>
      </p:sp>
      <p:sp>
        <p:nvSpPr>
          <p:cNvPr id="31" name="s2_mx_r0c4"/>
          <p:cNvSpPr/>
          <p:nvPr/>
        </p:nvSpPr>
        <p:spPr>
          <a:xfrm>
            <a:off x="9765792" y="2103120"/>
            <a:ext cx="16642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~/.agents/skills</a:t>
            </a:r>
            <a:endParaRPr lang="en-US" sz="850" dirty="0"/>
          </a:p>
        </p:txBody>
      </p:sp>
      <p:sp>
        <p:nvSpPr>
          <p:cNvPr id="32" name="s2_mx_hr1"/>
          <p:cNvSpPr/>
          <p:nvPr/>
        </p:nvSpPr>
        <p:spPr>
          <a:xfrm>
            <a:off x="3685032" y="2587752"/>
            <a:ext cx="7744968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3" name="s2_mx_r1c0"/>
          <p:cNvSpPr/>
          <p:nvPr/>
        </p:nvSpPr>
        <p:spPr>
          <a:xfrm>
            <a:off x="3685032" y="2587752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SERVERS</a:t>
            </a:r>
            <a:endParaRPr lang="en-US" sz="850" dirty="0"/>
          </a:p>
        </p:txBody>
      </p:sp>
      <p:sp>
        <p:nvSpPr>
          <p:cNvPr id="34" name="s2_mx_r1c1"/>
          <p:cNvSpPr/>
          <p:nvPr/>
        </p:nvSpPr>
        <p:spPr>
          <a:xfrm>
            <a:off x="4828032" y="2587752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~/.claude.json mcpServers</a:t>
            </a:r>
            <a:endParaRPr lang="en-US" sz="850" dirty="0"/>
          </a:p>
        </p:txBody>
      </p:sp>
      <p:sp>
        <p:nvSpPr>
          <p:cNvPr id="35" name="s2_mx_r1c2"/>
          <p:cNvSpPr/>
          <p:nvPr/>
        </p:nvSpPr>
        <p:spPr>
          <a:xfrm>
            <a:off x="6473952" y="2587752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[mcp_servers] config.toml</a:t>
            </a:r>
            <a:endParaRPr lang="en-US" sz="850" dirty="0"/>
          </a:p>
        </p:txBody>
      </p:sp>
      <p:sp>
        <p:nvSpPr>
          <p:cNvPr id="36" name="s2_mx_r1c3"/>
          <p:cNvSpPr/>
          <p:nvPr/>
        </p:nvSpPr>
        <p:spPr>
          <a:xfrm>
            <a:off x="8119872" y="2587752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mcp.servers.&lt;n&gt; (v2 json)</a:t>
            </a:r>
            <a:endParaRPr lang="en-US" sz="850" dirty="0"/>
          </a:p>
        </p:txBody>
      </p:sp>
      <p:sp>
        <p:nvSpPr>
          <p:cNvPr id="37" name="s2_mx_r1c4"/>
          <p:cNvSpPr/>
          <p:nvPr/>
        </p:nvSpPr>
        <p:spPr>
          <a:xfrm>
            <a:off x="9765792" y="2587752"/>
            <a:ext cx="16642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mcp.json claude-shape</a:t>
            </a:r>
            <a:endParaRPr lang="en-US" sz="850" dirty="0"/>
          </a:p>
        </p:txBody>
      </p:sp>
      <p:sp>
        <p:nvSpPr>
          <p:cNvPr id="38" name="s2_mx_hr2"/>
          <p:cNvSpPr/>
          <p:nvPr/>
        </p:nvSpPr>
        <p:spPr>
          <a:xfrm>
            <a:off x="3685032" y="3072384"/>
            <a:ext cx="7744968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9" name="s2_mx_r2c0"/>
          <p:cNvSpPr/>
          <p:nvPr/>
        </p:nvSpPr>
        <p:spPr>
          <a:xfrm>
            <a:off x="3685032" y="3072384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SUBAGENTS</a:t>
            </a:r>
            <a:endParaRPr lang="en-US" sz="850" dirty="0"/>
          </a:p>
        </p:txBody>
      </p:sp>
      <p:sp>
        <p:nvSpPr>
          <p:cNvPr id="40" name="s2_mx_r2c1"/>
          <p:cNvSpPr/>
          <p:nvPr/>
        </p:nvSpPr>
        <p:spPr>
          <a:xfrm>
            <a:off x="4828032" y="3072384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.claude/agents/*.md</a:t>
            </a:r>
            <a:endParaRPr lang="en-US" sz="850" dirty="0"/>
          </a:p>
        </p:txBody>
      </p:sp>
      <p:sp>
        <p:nvSpPr>
          <p:cNvPr id="41" name="s2_mx_r2c2"/>
          <p:cNvSpPr/>
          <p:nvPr/>
        </p:nvSpPr>
        <p:spPr>
          <a:xfrm>
            <a:off x="6473952" y="3072384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.codex/agents/*.toml</a:t>
            </a:r>
            <a:endParaRPr lang="en-US" sz="850" dirty="0"/>
          </a:p>
        </p:txBody>
      </p:sp>
      <p:sp>
        <p:nvSpPr>
          <p:cNvPr id="42" name="s2_mx_r2c3"/>
          <p:cNvSpPr/>
          <p:nvPr/>
        </p:nvSpPr>
        <p:spPr>
          <a:xfrm>
            <a:off x="8119872" y="3072384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.opencode/agents/*.md</a:t>
            </a:r>
            <a:endParaRPr lang="en-US" sz="850" dirty="0"/>
          </a:p>
        </p:txBody>
      </p:sp>
      <p:sp>
        <p:nvSpPr>
          <p:cNvPr id="43" name="s2_mx_r2c4"/>
          <p:cNvSpPr/>
          <p:nvPr/>
        </p:nvSpPr>
        <p:spPr>
          <a:xfrm>
            <a:off x="9765792" y="3072384"/>
            <a:ext cx="16642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.pi/agents + example ext</a:t>
            </a:r>
            <a:endParaRPr lang="en-US" sz="850" dirty="0"/>
          </a:p>
        </p:txBody>
      </p:sp>
      <p:sp>
        <p:nvSpPr>
          <p:cNvPr id="44" name="s2_mx_hr3"/>
          <p:cNvSpPr/>
          <p:nvPr/>
        </p:nvSpPr>
        <p:spPr>
          <a:xfrm>
            <a:off x="3685032" y="3557016"/>
            <a:ext cx="7744968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2_mx_r3c0"/>
          <p:cNvSpPr/>
          <p:nvPr/>
        </p:nvSpPr>
        <p:spPr>
          <a:xfrm>
            <a:off x="3685032" y="3557016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</a:t>
            </a:r>
            <a:endParaRPr lang="en-US" sz="850" dirty="0"/>
          </a:p>
        </p:txBody>
      </p:sp>
      <p:sp>
        <p:nvSpPr>
          <p:cNvPr id="46" name="s2_mx_r3c1"/>
          <p:cNvSpPr/>
          <p:nvPr/>
        </p:nvSpPr>
        <p:spPr>
          <a:xfrm>
            <a:off x="4828032" y="3557016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hooks · 30+ events</a:t>
            </a:r>
            <a:endParaRPr lang="en-US" sz="850" dirty="0"/>
          </a:p>
        </p:txBody>
      </p:sp>
      <p:sp>
        <p:nvSpPr>
          <p:cNvPr id="47" name="s2_mx_r3c2"/>
          <p:cNvSpPr/>
          <p:nvPr/>
        </p:nvSpPr>
        <p:spPr>
          <a:xfrm>
            <a:off x="6473952" y="3557016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hooks.json · 12 events</a:t>
            </a:r>
            <a:endParaRPr lang="en-US" sz="850" dirty="0"/>
          </a:p>
        </p:txBody>
      </p:sp>
      <p:sp>
        <p:nvSpPr>
          <p:cNvPr id="48" name="s2_mx_r3c3"/>
          <p:cNvSpPr/>
          <p:nvPr/>
        </p:nvSpPr>
        <p:spPr>
          <a:xfrm>
            <a:off x="8119872" y="3557016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plugin (adapter)</a:t>
            </a:r>
            <a:endParaRPr lang="en-US" sz="850" dirty="0"/>
          </a:p>
        </p:txBody>
      </p:sp>
      <p:sp>
        <p:nvSpPr>
          <p:cNvPr id="49" name="s2_mx_r3c4"/>
          <p:cNvSpPr/>
          <p:nvPr/>
        </p:nvSpPr>
        <p:spPr>
          <a:xfrm>
            <a:off x="9765792" y="3557016"/>
            <a:ext cx="16642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extension (adapter)</a:t>
            </a:r>
            <a:endParaRPr lang="en-US" sz="850" dirty="0"/>
          </a:p>
        </p:txBody>
      </p:sp>
      <p:sp>
        <p:nvSpPr>
          <p:cNvPr id="50" name="s2_mx_hr4"/>
          <p:cNvSpPr/>
          <p:nvPr/>
        </p:nvSpPr>
        <p:spPr>
          <a:xfrm>
            <a:off x="3685032" y="4041648"/>
            <a:ext cx="7744968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2_mx_r4c0"/>
          <p:cNvSpPr/>
          <p:nvPr/>
        </p:nvSpPr>
        <p:spPr>
          <a:xfrm>
            <a:off x="3685032" y="4041648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</a:t>
            </a:r>
            <a:endParaRPr lang="en-US" sz="850" dirty="0"/>
          </a:p>
        </p:txBody>
      </p:sp>
      <p:sp>
        <p:nvSpPr>
          <p:cNvPr id="52" name="s2_mx_r4c1"/>
          <p:cNvSpPr/>
          <p:nvPr/>
        </p:nvSpPr>
        <p:spPr>
          <a:xfrm>
            <a:off x="4828032" y="4041648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.claude/commands legacy</a:t>
            </a:r>
            <a:endParaRPr lang="en-US" sz="850" dirty="0"/>
          </a:p>
        </p:txBody>
      </p:sp>
      <p:sp>
        <p:nvSpPr>
          <p:cNvPr id="53" name="s2_mx_r4c2"/>
          <p:cNvSpPr/>
          <p:nvPr/>
        </p:nvSpPr>
        <p:spPr>
          <a:xfrm>
            <a:off x="6473952" y="4041648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~/.codex/prompts deprecated</a:t>
            </a:r>
            <a:endParaRPr lang="en-US" sz="850" dirty="0"/>
          </a:p>
        </p:txBody>
      </p:sp>
      <p:sp>
        <p:nvSpPr>
          <p:cNvPr id="54" name="s2_mx_r4c3"/>
          <p:cNvSpPr/>
          <p:nvPr/>
        </p:nvSpPr>
        <p:spPr>
          <a:xfrm>
            <a:off x="8119872" y="4041648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.opencode/commands</a:t>
            </a:r>
            <a:endParaRPr lang="en-US" sz="850" dirty="0"/>
          </a:p>
        </p:txBody>
      </p:sp>
      <p:sp>
        <p:nvSpPr>
          <p:cNvPr id="55" name="s2_mx_r4c4"/>
          <p:cNvSpPr/>
          <p:nvPr/>
        </p:nvSpPr>
        <p:spPr>
          <a:xfrm>
            <a:off x="9765792" y="4041648"/>
            <a:ext cx="16642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~/.pi/agent/prompts</a:t>
            </a:r>
            <a:endParaRPr lang="en-US" sz="850" dirty="0"/>
          </a:p>
        </p:txBody>
      </p:sp>
      <p:sp>
        <p:nvSpPr>
          <p:cNvPr id="56" name="s2_mx_hr5"/>
          <p:cNvSpPr/>
          <p:nvPr/>
        </p:nvSpPr>
        <p:spPr>
          <a:xfrm>
            <a:off x="3685032" y="4526280"/>
            <a:ext cx="7744968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7" name="s2_mx_r5c0"/>
          <p:cNvSpPr/>
          <p:nvPr/>
        </p:nvSpPr>
        <p:spPr>
          <a:xfrm>
            <a:off x="3685032" y="4526280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THEMES</a:t>
            </a:r>
            <a:endParaRPr lang="en-US" sz="850" dirty="0"/>
          </a:p>
        </p:txBody>
      </p:sp>
      <p:sp>
        <p:nvSpPr>
          <p:cNvPr id="58" name="s2_mx_r5c1"/>
          <p:cNvSpPr/>
          <p:nvPr/>
        </p:nvSpPr>
        <p:spPr>
          <a:xfrm>
            <a:off x="4828032" y="452628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 themes/*.json</a:t>
            </a:r>
            <a:endParaRPr lang="en-US" sz="850" dirty="0"/>
          </a:p>
        </p:txBody>
      </p:sp>
      <p:sp>
        <p:nvSpPr>
          <p:cNvPr id="59" name="s2_mx_r5c2"/>
          <p:cNvSpPr/>
          <p:nvPr/>
        </p:nvSpPr>
        <p:spPr>
          <a:xfrm>
            <a:off x="6473952" y="452628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 — no surface</a:t>
            </a:r>
            <a:endParaRPr lang="en-US" sz="850" dirty="0"/>
          </a:p>
        </p:txBody>
      </p:sp>
      <p:sp>
        <p:nvSpPr>
          <p:cNvPr id="60" name="s2_mx_r5c3"/>
          <p:cNvSpPr/>
          <p:nvPr/>
        </p:nvSpPr>
        <p:spPr>
          <a:xfrm>
            <a:off x="8119872" y="452628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.opencode/themes</a:t>
            </a:r>
            <a:endParaRPr lang="en-US" sz="850" dirty="0"/>
          </a:p>
        </p:txBody>
      </p:sp>
      <p:sp>
        <p:nvSpPr>
          <p:cNvPr id="61" name="s2_mx_r5c4"/>
          <p:cNvSpPr/>
          <p:nvPr/>
        </p:nvSpPr>
        <p:spPr>
          <a:xfrm>
            <a:off x="9765792" y="4526280"/>
            <a:ext cx="16642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~/.pi/agent/themes</a:t>
            </a:r>
            <a:endParaRPr lang="en-US" sz="850" dirty="0"/>
          </a:p>
        </p:txBody>
      </p:sp>
      <p:sp>
        <p:nvSpPr>
          <p:cNvPr id="62" name="s2_mx_hr6"/>
          <p:cNvSpPr/>
          <p:nvPr/>
        </p:nvSpPr>
        <p:spPr>
          <a:xfrm>
            <a:off x="3685032" y="5010912"/>
            <a:ext cx="7744968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63" name="s2_cost_sh"/>
          <p:cNvSpPr/>
          <p:nvPr/>
        </p:nvSpPr>
        <p:spPr>
          <a:xfrm>
            <a:off x="553212" y="5399532"/>
            <a:ext cx="11183112" cy="10241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4" name="s2_cost"/>
          <p:cNvSpPr/>
          <p:nvPr/>
        </p:nvSpPr>
        <p:spPr>
          <a:xfrm>
            <a:off x="502920" y="5349240"/>
            <a:ext cx="11183112" cy="1024128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5" name="s2_quote"/>
          <p:cNvSpPr/>
          <p:nvPr/>
        </p:nvSpPr>
        <p:spPr>
          <a:xfrm>
            <a:off x="777240" y="54681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“the spec unified us, the paths divided us” — community, jan 2026</a:t>
            </a:r>
            <a:endParaRPr lang="en-US" sz="1100" dirty="0"/>
          </a:p>
        </p:txBody>
      </p:sp>
      <p:sp>
        <p:nvSpPr>
          <p:cNvPr id="66" name="s2_cost_t"/>
          <p:cNvSpPr/>
          <p:nvPr/>
        </p:nvSpPr>
        <p:spPr>
          <a:xfrm>
            <a:off x="777240" y="574243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fragmentation cost: one publisher writes 4 manifests, 4 install paths, 4 trust models for every artifact · every consumer re-derives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safe to install · nothing registers all types across all four (prior-art scan, 2026-10-16)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3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3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3_kick" descr="assets/k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79223" cy="182880"/>
          </a:xfrm>
          <a:prstGeom prst="rect">
            <a:avLst/>
          </a:prstGeom>
        </p:spPr>
      </p:pic>
      <p:pic>
        <p:nvPicPr>
          <p:cNvPr id="6" name="s3_title" descr="assets/t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8898418" cy="475488"/>
          </a:xfrm>
          <a:prstGeom prst="rect">
            <a:avLst/>
          </a:prstGeom>
        </p:spPr>
      </p:pic>
      <p:sp>
        <p:nvSpPr>
          <p:cNvPr id="7" name="s3_spec"/>
          <p:cNvSpPr/>
          <p:nvPr/>
        </p:nvSpPr>
        <p:spPr>
          <a:xfrm>
            <a:off x="502920" y="1216152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 · npm @anthropic-ai/claude-code · richest surface of the four — and the only one with plugin marketplaces</a:t>
            </a:r>
            <a:endParaRPr lang="en-US" sz="1100" dirty="0"/>
          </a:p>
        </p:txBody>
      </p:sp>
      <p:sp>
        <p:nvSpPr>
          <p:cNvPr id="8" name="s3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</a:t>
            </a:r>
            <a:endParaRPr lang="en-US" sz="950" dirty="0"/>
          </a:p>
        </p:txBody>
      </p:sp>
      <p:sp>
        <p:nvSpPr>
          <p:cNvPr id="10" name="s3_id_sh"/>
          <p:cNvSpPr/>
          <p:nvPr/>
        </p:nvSpPr>
        <p:spPr>
          <a:xfrm>
            <a:off x="553212" y="1677924"/>
            <a:ext cx="5806440" cy="21488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3_id"/>
          <p:cNvSpPr/>
          <p:nvPr/>
        </p:nvSpPr>
        <p:spPr>
          <a:xfrm>
            <a:off x="502920" y="1627632"/>
            <a:ext cx="5806440" cy="2148840"/>
          </a:xfrm>
          <a:prstGeom prst="rect">
            <a:avLst/>
          </a:prstGeom>
          <a:solidFill>
            <a:srgbClr val="FBEED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3_id_band"/>
          <p:cNvSpPr/>
          <p:nvPr/>
        </p:nvSpPr>
        <p:spPr>
          <a:xfrm>
            <a:off x="777240" y="181051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 CARD — CLAUDE CODE</a:t>
            </a:r>
            <a:endParaRPr lang="en-US" sz="1050" dirty="0"/>
          </a:p>
        </p:txBody>
      </p:sp>
      <p:sp>
        <p:nvSpPr>
          <p:cNvPr id="13" name="s3_idkv_k0"/>
          <p:cNvSpPr/>
          <p:nvPr/>
        </p:nvSpPr>
        <p:spPr>
          <a:xfrm>
            <a:off x="777240" y="20848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vendor</a:t>
            </a:r>
            <a:endParaRPr lang="en-US" sz="950" dirty="0"/>
          </a:p>
        </p:txBody>
      </p:sp>
      <p:sp>
        <p:nvSpPr>
          <p:cNvPr id="14" name="s3_idkv_v0"/>
          <p:cNvSpPr/>
          <p:nvPr/>
        </p:nvSpPr>
        <p:spPr>
          <a:xfrm>
            <a:off x="1828800" y="20848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</a:t>
            </a:r>
            <a:endParaRPr lang="en-US" sz="900" dirty="0"/>
          </a:p>
        </p:txBody>
      </p:sp>
      <p:sp>
        <p:nvSpPr>
          <p:cNvPr id="15" name="s3_idkv_hr0"/>
          <p:cNvSpPr/>
          <p:nvPr/>
        </p:nvSpPr>
        <p:spPr>
          <a:xfrm>
            <a:off x="777240" y="2468880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6" name="s3_idkv_k1"/>
          <p:cNvSpPr/>
          <p:nvPr/>
        </p:nvSpPr>
        <p:spPr>
          <a:xfrm>
            <a:off x="777240" y="24688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950" dirty="0"/>
          </a:p>
        </p:txBody>
      </p:sp>
      <p:sp>
        <p:nvSpPr>
          <p:cNvPr id="17" name="s3_idkv_v1"/>
          <p:cNvSpPr/>
          <p:nvPr/>
        </p:nvSpPr>
        <p:spPr>
          <a:xfrm>
            <a:off x="1828800" y="24688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v2.1.302 (npm latest, 2026-10-16)</a:t>
            </a:r>
            <a:endParaRPr lang="en-US" sz="900" dirty="0"/>
          </a:p>
        </p:txBody>
      </p:sp>
      <p:sp>
        <p:nvSpPr>
          <p:cNvPr id="18" name="s3_idkv_hr1"/>
          <p:cNvSpPr/>
          <p:nvPr/>
        </p:nvSpPr>
        <p:spPr>
          <a:xfrm>
            <a:off x="777240" y="2852928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9" name="s3_idkv_k2"/>
          <p:cNvSpPr/>
          <p:nvPr/>
        </p:nvSpPr>
        <p:spPr>
          <a:xfrm>
            <a:off x="777240" y="28529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root</a:t>
            </a:r>
            <a:endParaRPr lang="en-US" sz="950" dirty="0"/>
          </a:p>
        </p:txBody>
      </p:sp>
      <p:sp>
        <p:nvSpPr>
          <p:cNvPr id="20" name="s3_idkv_v2"/>
          <p:cNvSpPr/>
          <p:nvPr/>
        </p:nvSpPr>
        <p:spPr>
          <a:xfrm>
            <a:off x="1828800" y="28529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 (settings.json + ~/.claude.json)</a:t>
            </a:r>
            <a:endParaRPr lang="en-US" sz="900" dirty="0"/>
          </a:p>
        </p:txBody>
      </p:sp>
      <p:sp>
        <p:nvSpPr>
          <p:cNvPr id="21" name="s3_idkv_hr2"/>
          <p:cNvSpPr/>
          <p:nvPr/>
        </p:nvSpPr>
        <p:spPr>
          <a:xfrm>
            <a:off x="777240" y="3236976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2" name="s3_idkv_k3"/>
          <p:cNvSpPr/>
          <p:nvPr/>
        </p:nvSpPr>
        <p:spPr>
          <a:xfrm>
            <a:off x="777240" y="323697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bundle</a:t>
            </a:r>
            <a:endParaRPr lang="en-US" sz="950" dirty="0"/>
          </a:p>
        </p:txBody>
      </p:sp>
      <p:sp>
        <p:nvSpPr>
          <p:cNvPr id="23" name="s3_idkv_v3"/>
          <p:cNvSpPr/>
          <p:nvPr/>
        </p:nvSpPr>
        <p:spPr>
          <a:xfrm>
            <a:off x="1828800" y="32369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 format — .claude-plugin/plugin.json</a:t>
            </a:r>
            <a:endParaRPr lang="en-US" sz="900" dirty="0"/>
          </a:p>
        </p:txBody>
      </p:sp>
      <p:sp>
        <p:nvSpPr>
          <p:cNvPr id="24" name="s3_hero_sh"/>
          <p:cNvSpPr/>
          <p:nvPr/>
        </p:nvSpPr>
        <p:spPr>
          <a:xfrm>
            <a:off x="6588252" y="1677924"/>
            <a:ext cx="5148072" cy="21488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5" name="s3_hero"/>
          <p:cNvSpPr/>
          <p:nvPr/>
        </p:nvSpPr>
        <p:spPr>
          <a:xfrm>
            <a:off x="6537960" y="1627632"/>
            <a:ext cx="5148072" cy="21488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pic>
        <p:nvPicPr>
          <p:cNvPr id="26" name="s3_cube" descr="assets/cube_clau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1847088"/>
            <a:ext cx="548640" cy="548640"/>
          </a:xfrm>
          <a:prstGeom prst="rect">
            <a:avLst/>
          </a:prstGeom>
        </p:spPr>
      </p:pic>
      <p:sp>
        <p:nvSpPr>
          <p:cNvPr id="27" name="s3_hero_n"/>
          <p:cNvSpPr/>
          <p:nvPr/>
        </p:nvSpPr>
        <p:spPr>
          <a:xfrm>
            <a:off x="6812280" y="18105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30+</a:t>
            </a:r>
            <a:endParaRPr lang="en-US" sz="4600" dirty="0"/>
          </a:p>
        </p:txBody>
      </p:sp>
      <p:sp>
        <p:nvSpPr>
          <p:cNvPr id="28" name="s3_hero_l"/>
          <p:cNvSpPr/>
          <p:nvPr/>
        </p:nvSpPr>
        <p:spPr>
          <a:xfrm>
            <a:off x="6812280" y="27249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 EVENTS · ALL SCOPES MERGE</a:t>
            </a:r>
            <a:endParaRPr lang="en-US" sz="1150" dirty="0"/>
          </a:p>
        </p:txBody>
      </p:sp>
      <p:sp>
        <p:nvSpPr>
          <p:cNvPr id="29" name="s3_hero_d"/>
          <p:cNvSpPr/>
          <p:nvPr/>
        </p:nvSpPr>
        <p:spPr>
          <a:xfrm>
            <a:off x="6812280" y="29992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 hooks fire 30+ lifecycle events; every scope's hooks merge into one chain</a:t>
            </a:r>
            <a:endParaRPr lang="en-US" sz="1000" dirty="0"/>
          </a:p>
        </p:txBody>
      </p:sp>
      <p:sp>
        <p:nvSpPr>
          <p:cNvPr id="30" name="s3_sf_sh"/>
          <p:cNvSpPr/>
          <p:nvPr/>
        </p:nvSpPr>
        <p:spPr>
          <a:xfrm>
            <a:off x="553212" y="4000500"/>
            <a:ext cx="6812280" cy="22128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3_sf"/>
          <p:cNvSpPr/>
          <p:nvPr/>
        </p:nvSpPr>
        <p:spPr>
          <a:xfrm>
            <a:off x="502920" y="3950208"/>
            <a:ext cx="6812280" cy="2212848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2" name="s3_sf_band"/>
          <p:cNvSpPr/>
          <p:nvPr/>
        </p:nvSpPr>
        <p:spPr>
          <a:xfrm>
            <a:off x="777240" y="41148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SURFACES</a:t>
            </a:r>
            <a:endParaRPr lang="en-US" sz="1000" dirty="0"/>
          </a:p>
        </p:txBody>
      </p:sp>
      <p:sp>
        <p:nvSpPr>
          <p:cNvPr id="33" name="s3_sf_b0"/>
          <p:cNvSpPr/>
          <p:nvPr/>
        </p:nvSpPr>
        <p:spPr>
          <a:xfrm>
            <a:off x="777240" y="4498848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s3_sf_k0"/>
          <p:cNvSpPr/>
          <p:nvPr/>
        </p:nvSpPr>
        <p:spPr>
          <a:xfrm>
            <a:off x="1005840" y="4407408"/>
            <a:ext cx="12344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950" dirty="0"/>
          </a:p>
        </p:txBody>
      </p:sp>
      <p:sp>
        <p:nvSpPr>
          <p:cNvPr id="35" name="s3_sf_v0"/>
          <p:cNvSpPr/>
          <p:nvPr/>
        </p:nvSpPr>
        <p:spPr>
          <a:xfrm>
            <a:off x="2240280" y="4407408"/>
            <a:ext cx="4892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~/.claude/skills/&lt;n&gt;/ · .claude/skills/</a:t>
            </a:r>
            <a:endParaRPr lang="en-US" sz="900" dirty="0"/>
          </a:p>
        </p:txBody>
      </p:sp>
      <p:sp>
        <p:nvSpPr>
          <p:cNvPr id="36" name="s3_sf_hr0"/>
          <p:cNvSpPr/>
          <p:nvPr/>
        </p:nvSpPr>
        <p:spPr>
          <a:xfrm>
            <a:off x="777240" y="4741164"/>
            <a:ext cx="6217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7" name="s3_sf_b1"/>
          <p:cNvSpPr/>
          <p:nvPr/>
        </p:nvSpPr>
        <p:spPr>
          <a:xfrm>
            <a:off x="777240" y="4832604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s3_sf_k1"/>
          <p:cNvSpPr/>
          <p:nvPr/>
        </p:nvSpPr>
        <p:spPr>
          <a:xfrm>
            <a:off x="1005840" y="4741164"/>
            <a:ext cx="12344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subagents</a:t>
            </a:r>
            <a:endParaRPr lang="en-US" sz="950" dirty="0"/>
          </a:p>
        </p:txBody>
      </p:sp>
      <p:sp>
        <p:nvSpPr>
          <p:cNvPr id="39" name="s3_sf_v1"/>
          <p:cNvSpPr/>
          <p:nvPr/>
        </p:nvSpPr>
        <p:spPr>
          <a:xfrm>
            <a:off x="2240280" y="4741164"/>
            <a:ext cx="4892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.claude/agents/*.md — yaml frontmatter</a:t>
            </a:r>
            <a:endParaRPr lang="en-US" sz="900" dirty="0"/>
          </a:p>
        </p:txBody>
      </p:sp>
      <p:sp>
        <p:nvSpPr>
          <p:cNvPr id="40" name="s3_sf_hr1"/>
          <p:cNvSpPr/>
          <p:nvPr/>
        </p:nvSpPr>
        <p:spPr>
          <a:xfrm>
            <a:off x="777240" y="5074920"/>
            <a:ext cx="6217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1" name="s3_sf_b2"/>
          <p:cNvSpPr/>
          <p:nvPr/>
        </p:nvSpPr>
        <p:spPr>
          <a:xfrm>
            <a:off x="777240" y="5166360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s3_sf_k2"/>
          <p:cNvSpPr/>
          <p:nvPr/>
        </p:nvSpPr>
        <p:spPr>
          <a:xfrm>
            <a:off x="1005840" y="5074920"/>
            <a:ext cx="12344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</a:t>
            </a:r>
            <a:endParaRPr lang="en-US" sz="950" dirty="0"/>
          </a:p>
        </p:txBody>
      </p:sp>
      <p:sp>
        <p:nvSpPr>
          <p:cNvPr id="43" name="s3_sf_v2"/>
          <p:cNvSpPr/>
          <p:nvPr/>
        </p:nvSpPr>
        <p:spPr>
          <a:xfrm>
            <a:off x="2240280" y="5074920"/>
            <a:ext cx="4892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hooks — 30+ events, all scopes merge</a:t>
            </a:r>
            <a:endParaRPr lang="en-US" sz="900" dirty="0"/>
          </a:p>
        </p:txBody>
      </p:sp>
      <p:sp>
        <p:nvSpPr>
          <p:cNvPr id="44" name="s3_sf_hr2"/>
          <p:cNvSpPr/>
          <p:nvPr/>
        </p:nvSpPr>
        <p:spPr>
          <a:xfrm>
            <a:off x="777240" y="5408676"/>
            <a:ext cx="6217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3_sf_b3"/>
          <p:cNvSpPr/>
          <p:nvPr/>
        </p:nvSpPr>
        <p:spPr>
          <a:xfrm>
            <a:off x="777240" y="5500116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6" name="s3_sf_k3"/>
          <p:cNvSpPr/>
          <p:nvPr/>
        </p:nvSpPr>
        <p:spPr>
          <a:xfrm>
            <a:off x="1005840" y="5408676"/>
            <a:ext cx="12344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</a:t>
            </a:r>
            <a:endParaRPr lang="en-US" sz="950" dirty="0"/>
          </a:p>
        </p:txBody>
      </p:sp>
      <p:sp>
        <p:nvSpPr>
          <p:cNvPr id="47" name="s3_sf_v3"/>
          <p:cNvSpPr/>
          <p:nvPr/>
        </p:nvSpPr>
        <p:spPr>
          <a:xfrm>
            <a:off x="2240280" y="5408676"/>
            <a:ext cx="4892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.claude-plugin/plugin.json + marketplace.json</a:t>
            </a:r>
            <a:endParaRPr lang="en-US" sz="900" dirty="0"/>
          </a:p>
        </p:txBody>
      </p:sp>
      <p:sp>
        <p:nvSpPr>
          <p:cNvPr id="48" name="s3_sf_hr3"/>
          <p:cNvSpPr/>
          <p:nvPr/>
        </p:nvSpPr>
        <p:spPr>
          <a:xfrm>
            <a:off x="777240" y="5742432"/>
            <a:ext cx="6217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9" name="s3_sf_b4"/>
          <p:cNvSpPr/>
          <p:nvPr/>
        </p:nvSpPr>
        <p:spPr>
          <a:xfrm>
            <a:off x="777240" y="5833872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0" name="s3_sf_k4"/>
          <p:cNvSpPr/>
          <p:nvPr/>
        </p:nvSpPr>
        <p:spPr>
          <a:xfrm>
            <a:off x="1005840" y="5742432"/>
            <a:ext cx="12344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endParaRPr lang="en-US" sz="950" dirty="0"/>
          </a:p>
        </p:txBody>
      </p:sp>
      <p:sp>
        <p:nvSpPr>
          <p:cNvPr id="51" name="s3_sf_v4"/>
          <p:cNvSpPr/>
          <p:nvPr/>
        </p:nvSpPr>
        <p:spPr>
          <a:xfrm>
            <a:off x="2240280" y="5742432"/>
            <a:ext cx="4892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plugin install &lt;n&gt;@&lt;mp&gt; --json -y</a:t>
            </a:r>
            <a:endParaRPr lang="en-US" sz="900" dirty="0"/>
          </a:p>
        </p:txBody>
      </p:sp>
      <p:sp>
        <p:nvSpPr>
          <p:cNvPr id="52" name="s3_sp_sh"/>
          <p:cNvSpPr/>
          <p:nvPr/>
        </p:nvSpPr>
        <p:spPr>
          <a:xfrm>
            <a:off x="7548372" y="4000500"/>
            <a:ext cx="4187952" cy="22128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3" name="s3_sp"/>
          <p:cNvSpPr/>
          <p:nvPr/>
        </p:nvSpPr>
        <p:spPr>
          <a:xfrm>
            <a:off x="7498080" y="3950208"/>
            <a:ext cx="4187952" cy="2212848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4" name="s3_sp_band"/>
          <p:cNvSpPr/>
          <p:nvPr/>
        </p:nvSpPr>
        <p:spPr>
          <a:xfrm>
            <a:off x="7772400" y="41148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SURPRISE</a:t>
            </a:r>
            <a:endParaRPr lang="en-US" sz="1000" dirty="0"/>
          </a:p>
        </p:txBody>
      </p:sp>
      <p:sp>
        <p:nvSpPr>
          <p:cNvPr id="55" name="s3_sp_t"/>
          <p:cNvSpPr/>
          <p:nvPr/>
        </p:nvSpPr>
        <p:spPr>
          <a:xfrm>
            <a:off x="7772400" y="4407408"/>
            <a:ext cx="36393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Marketplaces are git repos — 7 source kinds (github / url / git-subdir / npm / archive / command), no hosted api.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source: install scripts never run — the safe channel for npm-hosted claude payloads.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4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4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4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4_kick" descr="assets/k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79223" cy="182880"/>
          </a:xfrm>
          <a:prstGeom prst="rect">
            <a:avLst/>
          </a:prstGeom>
        </p:spPr>
      </p:pic>
      <p:pic>
        <p:nvPicPr>
          <p:cNvPr id="6" name="s4_title" descr="assets/t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8490857" cy="475488"/>
          </a:xfrm>
          <a:prstGeom prst="rect">
            <a:avLst/>
          </a:prstGeom>
        </p:spPr>
      </p:pic>
      <p:sp>
        <p:nvSpPr>
          <p:cNvPr id="7" name="s4_spec"/>
          <p:cNvSpPr/>
          <p:nvPr/>
        </p:nvSpPr>
        <p:spPr>
          <a:xfrm>
            <a:off x="502920" y="1216152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 · rust binary, apache-2.0, ~130k stars · toml config, agents.md native — and the trust-gated one</a:t>
            </a:r>
            <a:endParaRPr lang="en-US" sz="1100" dirty="0"/>
          </a:p>
        </p:txBody>
      </p:sp>
      <p:sp>
        <p:nvSpPr>
          <p:cNvPr id="8" name="s4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en-US" sz="950" dirty="0"/>
          </a:p>
        </p:txBody>
      </p:sp>
      <p:sp>
        <p:nvSpPr>
          <p:cNvPr id="10" name="s4_id_sh"/>
          <p:cNvSpPr/>
          <p:nvPr/>
        </p:nvSpPr>
        <p:spPr>
          <a:xfrm>
            <a:off x="553212" y="1677924"/>
            <a:ext cx="5806440" cy="21488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4_id"/>
          <p:cNvSpPr/>
          <p:nvPr/>
        </p:nvSpPr>
        <p:spPr>
          <a:xfrm>
            <a:off x="502920" y="1627632"/>
            <a:ext cx="5806440" cy="2148840"/>
          </a:xfrm>
          <a:prstGeom prst="rect">
            <a:avLst/>
          </a:prstGeom>
          <a:solidFill>
            <a:srgbClr val="E5F5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4_id_band"/>
          <p:cNvSpPr/>
          <p:nvPr/>
        </p:nvSpPr>
        <p:spPr>
          <a:xfrm>
            <a:off x="777240" y="181051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 CARD — CODEX</a:t>
            </a:r>
            <a:endParaRPr lang="en-US" sz="1050" dirty="0"/>
          </a:p>
        </p:txBody>
      </p:sp>
      <p:sp>
        <p:nvSpPr>
          <p:cNvPr id="13" name="s4_idkv_k0"/>
          <p:cNvSpPr/>
          <p:nvPr/>
        </p:nvSpPr>
        <p:spPr>
          <a:xfrm>
            <a:off x="777240" y="20848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vendor</a:t>
            </a:r>
            <a:endParaRPr lang="en-US" sz="950" dirty="0"/>
          </a:p>
        </p:txBody>
      </p:sp>
      <p:sp>
        <p:nvSpPr>
          <p:cNvPr id="14" name="s4_idkv_v0"/>
          <p:cNvSpPr/>
          <p:nvPr/>
        </p:nvSpPr>
        <p:spPr>
          <a:xfrm>
            <a:off x="1828800" y="20848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endParaRPr lang="en-US" sz="900" dirty="0"/>
          </a:p>
        </p:txBody>
      </p:sp>
      <p:sp>
        <p:nvSpPr>
          <p:cNvPr id="15" name="s4_idkv_hr0"/>
          <p:cNvSpPr/>
          <p:nvPr/>
        </p:nvSpPr>
        <p:spPr>
          <a:xfrm>
            <a:off x="777240" y="2468880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6" name="s4_idkv_k1"/>
          <p:cNvSpPr/>
          <p:nvPr/>
        </p:nvSpPr>
        <p:spPr>
          <a:xfrm>
            <a:off x="777240" y="24688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950" dirty="0"/>
          </a:p>
        </p:txBody>
      </p:sp>
      <p:sp>
        <p:nvSpPr>
          <p:cNvPr id="17" name="s4_idkv_v1"/>
          <p:cNvSpPr/>
          <p:nvPr/>
        </p:nvSpPr>
        <p:spPr>
          <a:xfrm>
            <a:off x="1828800" y="24688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rust-v0.163.0 (stable 2026-10-15)</a:t>
            </a:r>
            <a:endParaRPr lang="en-US" sz="900" dirty="0"/>
          </a:p>
        </p:txBody>
      </p:sp>
      <p:sp>
        <p:nvSpPr>
          <p:cNvPr id="18" name="s4_idkv_hr1"/>
          <p:cNvSpPr/>
          <p:nvPr/>
        </p:nvSpPr>
        <p:spPr>
          <a:xfrm>
            <a:off x="777240" y="2852928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9" name="s4_idkv_k2"/>
          <p:cNvSpPr/>
          <p:nvPr/>
        </p:nvSpPr>
        <p:spPr>
          <a:xfrm>
            <a:off x="777240" y="28529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root</a:t>
            </a:r>
            <a:endParaRPr lang="en-US" sz="950" dirty="0"/>
          </a:p>
        </p:txBody>
      </p:sp>
      <p:sp>
        <p:nvSpPr>
          <p:cNvPr id="20" name="s4_idkv_v2"/>
          <p:cNvSpPr/>
          <p:nvPr/>
        </p:nvSpPr>
        <p:spPr>
          <a:xfrm>
            <a:off x="1828800" y="28529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~/.codex/ (config.toml — toml everywhere)</a:t>
            </a:r>
            <a:endParaRPr lang="en-US" sz="900" dirty="0"/>
          </a:p>
        </p:txBody>
      </p:sp>
      <p:sp>
        <p:nvSpPr>
          <p:cNvPr id="21" name="s4_idkv_hr2"/>
          <p:cNvSpPr/>
          <p:nvPr/>
        </p:nvSpPr>
        <p:spPr>
          <a:xfrm>
            <a:off x="777240" y="3236976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2" name="s4_idkv_k3"/>
          <p:cNvSpPr/>
          <p:nvPr/>
        </p:nvSpPr>
        <p:spPr>
          <a:xfrm>
            <a:off x="777240" y="323697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bundle</a:t>
            </a:r>
            <a:endParaRPr lang="en-US" sz="950" dirty="0"/>
          </a:p>
        </p:txBody>
      </p:sp>
      <p:sp>
        <p:nvSpPr>
          <p:cNvPr id="23" name="s4_idkv_v3"/>
          <p:cNvSpPr/>
          <p:nvPr/>
        </p:nvSpPr>
        <p:spPr>
          <a:xfrm>
            <a:off x="1828800" y="32369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agent-plugins 1.0.0 — only consumer of our 4</a:t>
            </a:r>
            <a:endParaRPr lang="en-US" sz="900" dirty="0"/>
          </a:p>
        </p:txBody>
      </p:sp>
      <p:sp>
        <p:nvSpPr>
          <p:cNvPr id="24" name="s4_hero_sh"/>
          <p:cNvSpPr/>
          <p:nvPr/>
        </p:nvSpPr>
        <p:spPr>
          <a:xfrm>
            <a:off x="6588252" y="1677924"/>
            <a:ext cx="5148072" cy="21488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5" name="s4_hero"/>
          <p:cNvSpPr/>
          <p:nvPr/>
        </p:nvSpPr>
        <p:spPr>
          <a:xfrm>
            <a:off x="6537960" y="1627632"/>
            <a:ext cx="5148072" cy="21488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pic>
        <p:nvPicPr>
          <p:cNvPr id="26" name="s4_cube" descr="assets/cube_code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1847088"/>
            <a:ext cx="548640" cy="548640"/>
          </a:xfrm>
          <a:prstGeom prst="rect">
            <a:avLst/>
          </a:prstGeom>
        </p:spPr>
      </p:pic>
      <p:sp>
        <p:nvSpPr>
          <p:cNvPr id="27" name="s4_hero_n"/>
          <p:cNvSpPr/>
          <p:nvPr/>
        </p:nvSpPr>
        <p:spPr>
          <a:xfrm>
            <a:off x="6812280" y="18105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~130K</a:t>
            </a:r>
            <a:endParaRPr lang="en-US" sz="4600" dirty="0"/>
          </a:p>
        </p:txBody>
      </p:sp>
      <p:sp>
        <p:nvSpPr>
          <p:cNvPr id="28" name="s4_hero_l"/>
          <p:cNvSpPr/>
          <p:nvPr/>
        </p:nvSpPr>
        <p:spPr>
          <a:xfrm>
            <a:off x="6812280" y="27249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STARS · RUST BINARY</a:t>
            </a:r>
            <a:endParaRPr lang="en-US" sz="1150" dirty="0"/>
          </a:p>
        </p:txBody>
      </p:sp>
      <p:sp>
        <p:nvSpPr>
          <p:cNvPr id="29" name="s4_hero_d"/>
          <p:cNvSpPr/>
          <p:nvPr/>
        </p:nvSpPr>
        <p:spPr>
          <a:xfrm>
            <a:off x="6812280" y="29992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apache-2.0 rust cli; agents.md native, toml config end to end</a:t>
            </a:r>
            <a:endParaRPr lang="en-US" sz="1000" dirty="0"/>
          </a:p>
        </p:txBody>
      </p:sp>
      <p:sp>
        <p:nvSpPr>
          <p:cNvPr id="30" name="s4_sf_sh"/>
          <p:cNvSpPr/>
          <p:nvPr/>
        </p:nvSpPr>
        <p:spPr>
          <a:xfrm>
            <a:off x="553212" y="4000500"/>
            <a:ext cx="6812280" cy="22128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4_sf"/>
          <p:cNvSpPr/>
          <p:nvPr/>
        </p:nvSpPr>
        <p:spPr>
          <a:xfrm>
            <a:off x="502920" y="3950208"/>
            <a:ext cx="6812280" cy="2212848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2" name="s4_sf_band"/>
          <p:cNvSpPr/>
          <p:nvPr/>
        </p:nvSpPr>
        <p:spPr>
          <a:xfrm>
            <a:off x="777240" y="41148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SURFACES</a:t>
            </a:r>
            <a:endParaRPr lang="en-US" sz="1000" dirty="0"/>
          </a:p>
        </p:txBody>
      </p:sp>
      <p:sp>
        <p:nvSpPr>
          <p:cNvPr id="33" name="s4_sf_b0"/>
          <p:cNvSpPr/>
          <p:nvPr/>
        </p:nvSpPr>
        <p:spPr>
          <a:xfrm>
            <a:off x="777240" y="4498848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4" name="s4_sf_k0"/>
          <p:cNvSpPr/>
          <p:nvPr/>
        </p:nvSpPr>
        <p:spPr>
          <a:xfrm>
            <a:off x="1005840" y="4407408"/>
            <a:ext cx="12344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950" dirty="0"/>
          </a:p>
        </p:txBody>
      </p:sp>
      <p:sp>
        <p:nvSpPr>
          <p:cNvPr id="35" name="s4_sf_v0"/>
          <p:cNvSpPr/>
          <p:nvPr/>
        </p:nvSpPr>
        <p:spPr>
          <a:xfrm>
            <a:off x="2240280" y="4407408"/>
            <a:ext cx="4892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 · ~/.agents/skills (symlinks ok)</a:t>
            </a:r>
            <a:endParaRPr lang="en-US" sz="900" dirty="0"/>
          </a:p>
        </p:txBody>
      </p:sp>
      <p:sp>
        <p:nvSpPr>
          <p:cNvPr id="36" name="s4_sf_hr0"/>
          <p:cNvSpPr/>
          <p:nvPr/>
        </p:nvSpPr>
        <p:spPr>
          <a:xfrm>
            <a:off x="777240" y="4741164"/>
            <a:ext cx="6217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7" name="s4_sf_b1"/>
          <p:cNvSpPr/>
          <p:nvPr/>
        </p:nvSpPr>
        <p:spPr>
          <a:xfrm>
            <a:off x="777240" y="4832604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s4_sf_k1"/>
          <p:cNvSpPr/>
          <p:nvPr/>
        </p:nvSpPr>
        <p:spPr>
          <a:xfrm>
            <a:off x="1005840" y="4741164"/>
            <a:ext cx="12344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950" dirty="0"/>
          </a:p>
        </p:txBody>
      </p:sp>
      <p:sp>
        <p:nvSpPr>
          <p:cNvPr id="39" name="s4_sf_v1"/>
          <p:cNvSpPr/>
          <p:nvPr/>
        </p:nvSpPr>
        <p:spPr>
          <a:xfrm>
            <a:off x="2240280" y="4741164"/>
            <a:ext cx="4892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[mcp_servers.&lt;id&gt;] — codex mcp add &lt;name&gt;</a:t>
            </a:r>
            <a:endParaRPr lang="en-US" sz="900" dirty="0"/>
          </a:p>
        </p:txBody>
      </p:sp>
      <p:sp>
        <p:nvSpPr>
          <p:cNvPr id="40" name="s4_sf_hr1"/>
          <p:cNvSpPr/>
          <p:nvPr/>
        </p:nvSpPr>
        <p:spPr>
          <a:xfrm>
            <a:off x="777240" y="5074920"/>
            <a:ext cx="6217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1" name="s4_sf_b2"/>
          <p:cNvSpPr/>
          <p:nvPr/>
        </p:nvSpPr>
        <p:spPr>
          <a:xfrm>
            <a:off x="777240" y="5166360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4_sf_k2"/>
          <p:cNvSpPr/>
          <p:nvPr/>
        </p:nvSpPr>
        <p:spPr>
          <a:xfrm>
            <a:off x="1005840" y="5074920"/>
            <a:ext cx="12344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</a:t>
            </a:r>
            <a:endParaRPr lang="en-US" sz="950" dirty="0"/>
          </a:p>
        </p:txBody>
      </p:sp>
      <p:sp>
        <p:nvSpPr>
          <p:cNvPr id="43" name="s4_sf_v2"/>
          <p:cNvSpPr/>
          <p:nvPr/>
        </p:nvSpPr>
        <p:spPr>
          <a:xfrm>
            <a:off x="2240280" y="5074920"/>
            <a:ext cx="4892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plugin.json + .codex-plugin/ + extensions.com.openai</a:t>
            </a:r>
            <a:endParaRPr lang="en-US" sz="900" dirty="0"/>
          </a:p>
        </p:txBody>
      </p:sp>
      <p:sp>
        <p:nvSpPr>
          <p:cNvPr id="44" name="s4_sf_hr2"/>
          <p:cNvSpPr/>
          <p:nvPr/>
        </p:nvSpPr>
        <p:spPr>
          <a:xfrm>
            <a:off x="777240" y="5408676"/>
            <a:ext cx="6217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4_sf_b3"/>
          <p:cNvSpPr/>
          <p:nvPr/>
        </p:nvSpPr>
        <p:spPr>
          <a:xfrm>
            <a:off x="777240" y="5500116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s4_sf_k3"/>
          <p:cNvSpPr/>
          <p:nvPr/>
        </p:nvSpPr>
        <p:spPr>
          <a:xfrm>
            <a:off x="1005840" y="5408676"/>
            <a:ext cx="12344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marketplace</a:t>
            </a:r>
            <a:endParaRPr lang="en-US" sz="950" dirty="0"/>
          </a:p>
        </p:txBody>
      </p:sp>
      <p:sp>
        <p:nvSpPr>
          <p:cNvPr id="47" name="s4_sf_v3"/>
          <p:cNvSpPr/>
          <p:nvPr/>
        </p:nvSpPr>
        <p:spPr>
          <a:xfrm>
            <a:off x="2240280" y="5408676"/>
            <a:ext cx="4892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.agents/plugins/marketplace.json (4 source kinds)</a:t>
            </a:r>
            <a:endParaRPr lang="en-US" sz="900" dirty="0"/>
          </a:p>
        </p:txBody>
      </p:sp>
      <p:sp>
        <p:nvSpPr>
          <p:cNvPr id="48" name="s4_sf_hr3"/>
          <p:cNvSpPr/>
          <p:nvPr/>
        </p:nvSpPr>
        <p:spPr>
          <a:xfrm>
            <a:off x="777240" y="5742432"/>
            <a:ext cx="6217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9" name="s4_sf_b4"/>
          <p:cNvSpPr/>
          <p:nvPr/>
        </p:nvSpPr>
        <p:spPr>
          <a:xfrm>
            <a:off x="777240" y="5833872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0" name="s4_sf_k4"/>
          <p:cNvSpPr/>
          <p:nvPr/>
        </p:nvSpPr>
        <p:spPr>
          <a:xfrm>
            <a:off x="1005840" y="5742432"/>
            <a:ext cx="12344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subagents</a:t>
            </a:r>
            <a:endParaRPr lang="en-US" sz="950" dirty="0"/>
          </a:p>
        </p:txBody>
      </p:sp>
      <p:sp>
        <p:nvSpPr>
          <p:cNvPr id="51" name="s4_sf_v4"/>
          <p:cNvSpPr/>
          <p:nvPr/>
        </p:nvSpPr>
        <p:spPr>
          <a:xfrm>
            <a:off x="2240280" y="5742432"/>
            <a:ext cx="4892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.codex/agents/*.toml — name, description, instr.</a:t>
            </a:r>
            <a:endParaRPr lang="en-US" sz="900" dirty="0"/>
          </a:p>
        </p:txBody>
      </p:sp>
      <p:sp>
        <p:nvSpPr>
          <p:cNvPr id="52" name="s4_sp_sh"/>
          <p:cNvSpPr/>
          <p:nvPr/>
        </p:nvSpPr>
        <p:spPr>
          <a:xfrm>
            <a:off x="7548372" y="4000500"/>
            <a:ext cx="4187952" cy="22128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3" name="s4_sp"/>
          <p:cNvSpPr/>
          <p:nvPr/>
        </p:nvSpPr>
        <p:spPr>
          <a:xfrm>
            <a:off x="7498080" y="3950208"/>
            <a:ext cx="4187952" cy="2212848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4" name="s4_sp_band"/>
          <p:cNvSpPr/>
          <p:nvPr/>
        </p:nvSpPr>
        <p:spPr>
          <a:xfrm>
            <a:off x="7772400" y="41148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SURPRISE</a:t>
            </a:r>
            <a:endParaRPr lang="en-US" sz="1000" dirty="0"/>
          </a:p>
        </p:txBody>
      </p:sp>
      <p:sp>
        <p:nvSpPr>
          <p:cNvPr id="55" name="s4_sp_t"/>
          <p:cNvSpPr/>
          <p:nvPr/>
        </p:nvSpPr>
        <p:spPr>
          <a:xfrm>
            <a:off x="7772400" y="4407408"/>
            <a:ext cx="36393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hooks.json is claude-shape compatible (12 events, honors CLAUDE_PLUGIN_ROOT) — and project .codex/ layers stay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inert until [projects."&lt;path&gt;"] trust_level = "trusted"; plugin hooks wait for explicit user review.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5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5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5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5_kick" descr="assets/k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79223" cy="182880"/>
          </a:xfrm>
          <a:prstGeom prst="rect">
            <a:avLst/>
          </a:prstGeom>
        </p:spPr>
      </p:pic>
      <p:pic>
        <p:nvPicPr>
          <p:cNvPr id="6" name="s5_title" descr="assets/t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8490857" cy="475488"/>
          </a:xfrm>
          <a:prstGeom prst="rect">
            <a:avLst/>
          </a:prstGeom>
        </p:spPr>
      </p:pic>
      <p:sp>
        <p:nvSpPr>
          <p:cNvPr id="7" name="s5_spec"/>
          <p:cNvSpPr/>
          <p:nvPr/>
        </p:nvSpPr>
        <p:spPr>
          <a:xfrm>
            <a:off x="502920" y="1216152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anomaly (ex-sst) · ~214k stars · reads three skill dirs natively — and ships the most registry-ready surface of all four</a:t>
            </a:r>
            <a:endParaRPr lang="en-US" sz="1100" dirty="0"/>
          </a:p>
        </p:txBody>
      </p:sp>
      <p:sp>
        <p:nvSpPr>
          <p:cNvPr id="8" name="s5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en-US" sz="950" dirty="0"/>
          </a:p>
        </p:txBody>
      </p:sp>
      <p:sp>
        <p:nvSpPr>
          <p:cNvPr id="10" name="s5_id_sh"/>
          <p:cNvSpPr/>
          <p:nvPr/>
        </p:nvSpPr>
        <p:spPr>
          <a:xfrm>
            <a:off x="553212" y="1677924"/>
            <a:ext cx="5806440" cy="21488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5_id"/>
          <p:cNvSpPr/>
          <p:nvPr/>
        </p:nvSpPr>
        <p:spPr>
          <a:xfrm>
            <a:off x="502920" y="1627632"/>
            <a:ext cx="5806440" cy="214884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5_id_band"/>
          <p:cNvSpPr/>
          <p:nvPr/>
        </p:nvSpPr>
        <p:spPr>
          <a:xfrm>
            <a:off x="777240" y="181051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 CARD — OPENCODE</a:t>
            </a:r>
            <a:endParaRPr lang="en-US" sz="1050" dirty="0"/>
          </a:p>
        </p:txBody>
      </p:sp>
      <p:sp>
        <p:nvSpPr>
          <p:cNvPr id="13" name="s5_idkv_k0"/>
          <p:cNvSpPr/>
          <p:nvPr/>
        </p:nvSpPr>
        <p:spPr>
          <a:xfrm>
            <a:off x="777240" y="20848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vendor</a:t>
            </a:r>
            <a:endParaRPr lang="en-US" sz="950" dirty="0"/>
          </a:p>
        </p:txBody>
      </p:sp>
      <p:sp>
        <p:nvSpPr>
          <p:cNvPr id="14" name="s5_idkv_v0"/>
          <p:cNvSpPr/>
          <p:nvPr/>
        </p:nvSpPr>
        <p:spPr>
          <a:xfrm>
            <a:off x="1828800" y="20848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 (ex-sst; charm fork renamed jan 2026)</a:t>
            </a:r>
            <a:endParaRPr lang="en-US" sz="900" dirty="0"/>
          </a:p>
        </p:txBody>
      </p:sp>
      <p:sp>
        <p:nvSpPr>
          <p:cNvPr id="15" name="s5_idkv_hr0"/>
          <p:cNvSpPr/>
          <p:nvPr/>
        </p:nvSpPr>
        <p:spPr>
          <a:xfrm>
            <a:off x="777240" y="2468880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6" name="s5_idkv_k1"/>
          <p:cNvSpPr/>
          <p:nvPr/>
        </p:nvSpPr>
        <p:spPr>
          <a:xfrm>
            <a:off x="777240" y="24688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950" dirty="0"/>
          </a:p>
        </p:txBody>
      </p:sp>
      <p:sp>
        <p:nvSpPr>
          <p:cNvPr id="17" name="s5_idkv_v1"/>
          <p:cNvSpPr/>
          <p:nvPr/>
        </p:nvSpPr>
        <p:spPr>
          <a:xfrm>
            <a:off x="1828800" y="24688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2.0.x (v2.0.32, 2026-10-16)</a:t>
            </a:r>
            <a:endParaRPr lang="en-US" sz="900" dirty="0"/>
          </a:p>
        </p:txBody>
      </p:sp>
      <p:sp>
        <p:nvSpPr>
          <p:cNvPr id="18" name="s5_idkv_hr1"/>
          <p:cNvSpPr/>
          <p:nvPr/>
        </p:nvSpPr>
        <p:spPr>
          <a:xfrm>
            <a:off x="777240" y="2852928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9" name="s5_idkv_k2"/>
          <p:cNvSpPr/>
          <p:nvPr/>
        </p:nvSpPr>
        <p:spPr>
          <a:xfrm>
            <a:off x="777240" y="28529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root</a:t>
            </a:r>
            <a:endParaRPr lang="en-US" sz="950" dirty="0"/>
          </a:p>
        </p:txBody>
      </p:sp>
      <p:sp>
        <p:nvSpPr>
          <p:cNvPr id="20" name="s5_idkv_v2"/>
          <p:cNvSpPr/>
          <p:nvPr/>
        </p:nvSpPr>
        <p:spPr>
          <a:xfrm>
            <a:off x="1828800" y="28529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opencode.json / .opencode/ (jsonc)</a:t>
            </a:r>
            <a:endParaRPr lang="en-US" sz="900" dirty="0"/>
          </a:p>
        </p:txBody>
      </p:sp>
      <p:sp>
        <p:nvSpPr>
          <p:cNvPr id="21" name="s5_idkv_hr2"/>
          <p:cNvSpPr/>
          <p:nvPr/>
        </p:nvSpPr>
        <p:spPr>
          <a:xfrm>
            <a:off x="777240" y="3236976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2" name="s5_idkv_k3"/>
          <p:cNvSpPr/>
          <p:nvPr/>
        </p:nvSpPr>
        <p:spPr>
          <a:xfrm>
            <a:off x="777240" y="323697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bundle</a:t>
            </a:r>
            <a:endParaRPr lang="en-US" sz="950" dirty="0"/>
          </a:p>
        </p:txBody>
      </p:sp>
      <p:sp>
        <p:nvSpPr>
          <p:cNvPr id="23" name="s5_idkv_v3"/>
          <p:cNvSpPr/>
          <p:nvPr/>
        </p:nvSpPr>
        <p:spPr>
          <a:xfrm>
            <a:off x="1828800" y="32369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bundle — npm ts plugins (v1/v2 break)</a:t>
            </a:r>
            <a:endParaRPr lang="en-US" sz="900" dirty="0"/>
          </a:p>
        </p:txBody>
      </p:sp>
      <p:sp>
        <p:nvSpPr>
          <p:cNvPr id="24" name="s5_hero_sh"/>
          <p:cNvSpPr/>
          <p:nvPr/>
        </p:nvSpPr>
        <p:spPr>
          <a:xfrm>
            <a:off x="6588252" y="1677924"/>
            <a:ext cx="5148072" cy="21488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5" name="s5_hero"/>
          <p:cNvSpPr/>
          <p:nvPr/>
        </p:nvSpPr>
        <p:spPr>
          <a:xfrm>
            <a:off x="6537960" y="1627632"/>
            <a:ext cx="5148072" cy="21488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pic>
        <p:nvPicPr>
          <p:cNvPr id="26" name="s5_cube" descr="assets/cube_open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1847088"/>
            <a:ext cx="548640" cy="548640"/>
          </a:xfrm>
          <a:prstGeom prst="rect">
            <a:avLst/>
          </a:prstGeom>
        </p:spPr>
      </p:pic>
      <p:sp>
        <p:nvSpPr>
          <p:cNvPr id="27" name="s5_hero_n"/>
          <p:cNvSpPr/>
          <p:nvPr/>
        </p:nvSpPr>
        <p:spPr>
          <a:xfrm>
            <a:off x="6812280" y="18105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~214K</a:t>
            </a:r>
            <a:endParaRPr lang="en-US" sz="4600" dirty="0"/>
          </a:p>
        </p:txBody>
      </p:sp>
      <p:sp>
        <p:nvSpPr>
          <p:cNvPr id="28" name="s5_hero_l"/>
          <p:cNvSpPr/>
          <p:nvPr/>
        </p:nvSpPr>
        <p:spPr>
          <a:xfrm>
            <a:off x="6812280" y="27249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STARS · 3 NATIVE SKILL DIRS</a:t>
            </a:r>
            <a:endParaRPr lang="en-US" sz="1150" dirty="0"/>
          </a:p>
        </p:txBody>
      </p:sp>
      <p:sp>
        <p:nvSpPr>
          <p:cNvPr id="29" name="s5_hero_d"/>
          <p:cNvSpPr/>
          <p:nvPr/>
        </p:nvSpPr>
        <p:spPr>
          <a:xfrm>
            <a:off x="6812280" y="29992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.opencode/, .agents/ and .claude/ skill dirs natively — most registry-ready surface</a:t>
            </a:r>
            <a:endParaRPr lang="en-US" sz="1000" dirty="0"/>
          </a:p>
        </p:txBody>
      </p:sp>
      <p:sp>
        <p:nvSpPr>
          <p:cNvPr id="30" name="s5_sf_sh"/>
          <p:cNvSpPr/>
          <p:nvPr/>
        </p:nvSpPr>
        <p:spPr>
          <a:xfrm>
            <a:off x="553212" y="4000500"/>
            <a:ext cx="6812280" cy="22128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5_sf"/>
          <p:cNvSpPr/>
          <p:nvPr/>
        </p:nvSpPr>
        <p:spPr>
          <a:xfrm>
            <a:off x="502920" y="3950208"/>
            <a:ext cx="6812280" cy="2212848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2" name="s5_sf_band"/>
          <p:cNvSpPr/>
          <p:nvPr/>
        </p:nvSpPr>
        <p:spPr>
          <a:xfrm>
            <a:off x="777240" y="41148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SURFACES</a:t>
            </a:r>
            <a:endParaRPr lang="en-US" sz="1000" dirty="0"/>
          </a:p>
        </p:txBody>
      </p:sp>
      <p:sp>
        <p:nvSpPr>
          <p:cNvPr id="33" name="s5_sf_b0"/>
          <p:cNvSpPr/>
          <p:nvPr/>
        </p:nvSpPr>
        <p:spPr>
          <a:xfrm>
            <a:off x="777240" y="4498848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4" name="s5_sf_k0"/>
          <p:cNvSpPr/>
          <p:nvPr/>
        </p:nvSpPr>
        <p:spPr>
          <a:xfrm>
            <a:off x="1005840" y="4407408"/>
            <a:ext cx="12344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950" dirty="0"/>
          </a:p>
        </p:txBody>
      </p:sp>
      <p:sp>
        <p:nvSpPr>
          <p:cNvPr id="35" name="s5_sf_v0"/>
          <p:cNvSpPr/>
          <p:nvPr/>
        </p:nvSpPr>
        <p:spPr>
          <a:xfrm>
            <a:off x="2240280" y="4407408"/>
            <a:ext cx="4892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.opencode/skills · .agents/skills · .claude/skills</a:t>
            </a:r>
            <a:endParaRPr lang="en-US" sz="900" dirty="0"/>
          </a:p>
        </p:txBody>
      </p:sp>
      <p:sp>
        <p:nvSpPr>
          <p:cNvPr id="36" name="s5_sf_hr0"/>
          <p:cNvSpPr/>
          <p:nvPr/>
        </p:nvSpPr>
        <p:spPr>
          <a:xfrm>
            <a:off x="777240" y="4741164"/>
            <a:ext cx="6217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7" name="s5_sf_b1"/>
          <p:cNvSpPr/>
          <p:nvPr/>
        </p:nvSpPr>
        <p:spPr>
          <a:xfrm>
            <a:off x="777240" y="4832604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5_sf_k1"/>
          <p:cNvSpPr/>
          <p:nvPr/>
        </p:nvSpPr>
        <p:spPr>
          <a:xfrm>
            <a:off x="1005840" y="4741164"/>
            <a:ext cx="12344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</a:t>
            </a:r>
            <a:endParaRPr lang="en-US" sz="950" dirty="0"/>
          </a:p>
        </p:txBody>
      </p:sp>
      <p:sp>
        <p:nvSpPr>
          <p:cNvPr id="39" name="s5_sf_v1"/>
          <p:cNvSpPr/>
          <p:nvPr/>
        </p:nvSpPr>
        <p:spPr>
          <a:xfrm>
            <a:off x="2240280" y="4741164"/>
            <a:ext cx="4892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skills: [url] → index.json (v2 http)</a:t>
            </a:r>
            <a:endParaRPr lang="en-US" sz="900" dirty="0"/>
          </a:p>
        </p:txBody>
      </p:sp>
      <p:sp>
        <p:nvSpPr>
          <p:cNvPr id="40" name="s5_sf_hr1"/>
          <p:cNvSpPr/>
          <p:nvPr/>
        </p:nvSpPr>
        <p:spPr>
          <a:xfrm>
            <a:off x="777240" y="5074920"/>
            <a:ext cx="6217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1" name="s5_sf_b2"/>
          <p:cNvSpPr/>
          <p:nvPr/>
        </p:nvSpPr>
        <p:spPr>
          <a:xfrm>
            <a:off x="777240" y="516636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42" name="s5_sf_k2"/>
          <p:cNvSpPr/>
          <p:nvPr/>
        </p:nvSpPr>
        <p:spPr>
          <a:xfrm>
            <a:off x="1005840" y="5074920"/>
            <a:ext cx="12344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</a:t>
            </a:r>
            <a:endParaRPr lang="en-US" sz="950" dirty="0"/>
          </a:p>
        </p:txBody>
      </p:sp>
      <p:sp>
        <p:nvSpPr>
          <p:cNvPr id="43" name="s5_sf_v2"/>
          <p:cNvSpPr/>
          <p:nvPr/>
        </p:nvSpPr>
        <p:spPr>
          <a:xfrm>
            <a:off x="2240280" y="5074920"/>
            <a:ext cx="4892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plugin add pkg@ver (npm · git · path)</a:t>
            </a:r>
            <a:endParaRPr lang="en-US" sz="900" dirty="0"/>
          </a:p>
        </p:txBody>
      </p:sp>
      <p:sp>
        <p:nvSpPr>
          <p:cNvPr id="44" name="s5_sf_hr2"/>
          <p:cNvSpPr/>
          <p:nvPr/>
        </p:nvSpPr>
        <p:spPr>
          <a:xfrm>
            <a:off x="777240" y="5408676"/>
            <a:ext cx="6217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5_sf_b3"/>
          <p:cNvSpPr/>
          <p:nvPr/>
        </p:nvSpPr>
        <p:spPr>
          <a:xfrm>
            <a:off x="777240" y="5500116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46" name="s5_sf_k3"/>
          <p:cNvSpPr/>
          <p:nvPr/>
        </p:nvSpPr>
        <p:spPr>
          <a:xfrm>
            <a:off x="1005840" y="5408676"/>
            <a:ext cx="12344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950" dirty="0"/>
          </a:p>
        </p:txBody>
      </p:sp>
      <p:sp>
        <p:nvSpPr>
          <p:cNvPr id="47" name="s5_sf_v3"/>
          <p:cNvSpPr/>
          <p:nvPr/>
        </p:nvSpPr>
        <p:spPr>
          <a:xfrm>
            <a:off x="2240280" y="5408676"/>
            <a:ext cx="4892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mcp add &lt;n&gt; --scope user|project</a:t>
            </a:r>
            <a:endParaRPr lang="en-US" sz="900" dirty="0"/>
          </a:p>
        </p:txBody>
      </p:sp>
      <p:sp>
        <p:nvSpPr>
          <p:cNvPr id="48" name="s5_sf_hr3"/>
          <p:cNvSpPr/>
          <p:nvPr/>
        </p:nvSpPr>
        <p:spPr>
          <a:xfrm>
            <a:off x="777240" y="5742432"/>
            <a:ext cx="6217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9" name="s5_sf_b4"/>
          <p:cNvSpPr/>
          <p:nvPr/>
        </p:nvSpPr>
        <p:spPr>
          <a:xfrm>
            <a:off x="777240" y="5833872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50" name="s5_sf_k4"/>
          <p:cNvSpPr/>
          <p:nvPr/>
        </p:nvSpPr>
        <p:spPr>
          <a:xfrm>
            <a:off x="1005840" y="5742432"/>
            <a:ext cx="12344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themes</a:t>
            </a:r>
            <a:endParaRPr lang="en-US" sz="950" dirty="0"/>
          </a:p>
        </p:txBody>
      </p:sp>
      <p:sp>
        <p:nvSpPr>
          <p:cNvPr id="51" name="s5_sf_v4"/>
          <p:cNvSpPr/>
          <p:nvPr/>
        </p:nvSpPr>
        <p:spPr>
          <a:xfrm>
            <a:off x="2240280" y="5742432"/>
            <a:ext cx="4892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.opencode/themes/&lt;n&gt;.json (filename = name)</a:t>
            </a:r>
            <a:endParaRPr lang="en-US" sz="900" dirty="0"/>
          </a:p>
        </p:txBody>
      </p:sp>
      <p:sp>
        <p:nvSpPr>
          <p:cNvPr id="52" name="s5_sp_sh"/>
          <p:cNvSpPr/>
          <p:nvPr/>
        </p:nvSpPr>
        <p:spPr>
          <a:xfrm>
            <a:off x="7548372" y="4000500"/>
            <a:ext cx="4187952" cy="22128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3" name="s5_sp"/>
          <p:cNvSpPr/>
          <p:nvPr/>
        </p:nvSpPr>
        <p:spPr>
          <a:xfrm>
            <a:off x="7498080" y="3950208"/>
            <a:ext cx="4187952" cy="2212848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4" name="s5_sp_band"/>
          <p:cNvSpPr/>
          <p:nvPr/>
        </p:nvSpPr>
        <p:spPr>
          <a:xfrm>
            <a:off x="7772400" y="41148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SURPRISE</a:t>
            </a:r>
            <a:endParaRPr lang="en-US" sz="1000" dirty="0"/>
          </a:p>
        </p:txBody>
      </p:sp>
      <p:sp>
        <p:nvSpPr>
          <p:cNvPr id="55" name="s5_sp_t"/>
          <p:cNvSpPr/>
          <p:nvPr/>
        </p:nvSpPr>
        <p:spPr>
          <a:xfrm>
            <a:off x="7772400" y="4407408"/>
            <a:ext cx="36393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 plugins do not work in 2.0 (mcp.&lt;n&gt; vs mcp.servers.&lt;n&gt;, plugin vs plugins) — emitters must sniff versions.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official marketplace: aggregators ocx, awesome-opencode and opencode.cafe fill the gap.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6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6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6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6_kick" descr="assets/k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79223" cy="182880"/>
          </a:xfrm>
          <a:prstGeom prst="rect">
            <a:avLst/>
          </a:prstGeom>
        </p:spPr>
      </p:pic>
      <p:pic>
        <p:nvPicPr>
          <p:cNvPr id="6" name="s6_title" descr="assets/t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7675735" cy="475488"/>
          </a:xfrm>
          <a:prstGeom prst="rect">
            <a:avLst/>
          </a:prstGeom>
        </p:spPr>
      </p:pic>
      <p:sp>
        <p:nvSpPr>
          <p:cNvPr id="7" name="s6_spec"/>
          <p:cNvSpPr/>
          <p:nvPr/>
        </p:nvSpPr>
        <p:spPr>
          <a:xfrm>
            <a:off x="502920" y="1216152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earendil-works (mario zechner, co-maint armin ronacher) · minimal core — extensions replace plugins, hooks and tools</a:t>
            </a:r>
            <a:endParaRPr lang="en-US" sz="1100" dirty="0"/>
          </a:p>
        </p:txBody>
      </p:sp>
      <p:sp>
        <p:nvSpPr>
          <p:cNvPr id="8" name="s6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en-US" sz="950" dirty="0"/>
          </a:p>
        </p:txBody>
      </p:sp>
      <p:sp>
        <p:nvSpPr>
          <p:cNvPr id="10" name="s6_id_sh"/>
          <p:cNvSpPr/>
          <p:nvPr/>
        </p:nvSpPr>
        <p:spPr>
          <a:xfrm>
            <a:off x="553212" y="1677924"/>
            <a:ext cx="5806440" cy="21488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6_id"/>
          <p:cNvSpPr/>
          <p:nvPr/>
        </p:nvSpPr>
        <p:spPr>
          <a:xfrm>
            <a:off x="502920" y="1627632"/>
            <a:ext cx="5806440" cy="2148840"/>
          </a:xfrm>
          <a:prstGeom prst="rect">
            <a:avLst/>
          </a:prstGeom>
          <a:solidFill>
            <a:srgbClr val="EFE9FB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6_id_band"/>
          <p:cNvSpPr/>
          <p:nvPr/>
        </p:nvSpPr>
        <p:spPr>
          <a:xfrm>
            <a:off x="777240" y="181051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 CARD — PI</a:t>
            </a:r>
            <a:endParaRPr lang="en-US" sz="1050" dirty="0"/>
          </a:p>
        </p:txBody>
      </p:sp>
      <p:sp>
        <p:nvSpPr>
          <p:cNvPr id="13" name="s6_idkv_k0"/>
          <p:cNvSpPr/>
          <p:nvPr/>
        </p:nvSpPr>
        <p:spPr>
          <a:xfrm>
            <a:off x="777240" y="20848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vendor</a:t>
            </a:r>
            <a:endParaRPr lang="en-US" sz="950" dirty="0"/>
          </a:p>
        </p:txBody>
      </p:sp>
      <p:sp>
        <p:nvSpPr>
          <p:cNvPr id="14" name="s6_idkv_v0"/>
          <p:cNvSpPr/>
          <p:nvPr/>
        </p:nvSpPr>
        <p:spPr>
          <a:xfrm>
            <a:off x="1828800" y="20848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earendil-works (mario zechner + ronacher)</a:t>
            </a:r>
            <a:endParaRPr lang="en-US" sz="900" dirty="0"/>
          </a:p>
        </p:txBody>
      </p:sp>
      <p:sp>
        <p:nvSpPr>
          <p:cNvPr id="15" name="s6_idkv_hr0"/>
          <p:cNvSpPr/>
          <p:nvPr/>
        </p:nvSpPr>
        <p:spPr>
          <a:xfrm>
            <a:off x="777240" y="2468880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6" name="s6_idkv_k1"/>
          <p:cNvSpPr/>
          <p:nvPr/>
        </p:nvSpPr>
        <p:spPr>
          <a:xfrm>
            <a:off x="777240" y="24688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950" dirty="0"/>
          </a:p>
        </p:txBody>
      </p:sp>
      <p:sp>
        <p:nvSpPr>
          <p:cNvPr id="17" name="s6_idkv_v1"/>
          <p:cNvSpPr/>
          <p:nvPr/>
        </p:nvSpPr>
        <p:spPr>
          <a:xfrm>
            <a:off x="1828800" y="24688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1.3.0 (2026-10-15)</a:t>
            </a:r>
            <a:endParaRPr lang="en-US" sz="900" dirty="0"/>
          </a:p>
        </p:txBody>
      </p:sp>
      <p:sp>
        <p:nvSpPr>
          <p:cNvPr id="18" name="s6_idkv_hr1"/>
          <p:cNvSpPr/>
          <p:nvPr/>
        </p:nvSpPr>
        <p:spPr>
          <a:xfrm>
            <a:off x="777240" y="2852928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9" name="s6_idkv_k2"/>
          <p:cNvSpPr/>
          <p:nvPr/>
        </p:nvSpPr>
        <p:spPr>
          <a:xfrm>
            <a:off x="777240" y="28529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root</a:t>
            </a:r>
            <a:endParaRPr lang="en-US" sz="950" dirty="0"/>
          </a:p>
        </p:txBody>
      </p:sp>
      <p:sp>
        <p:nvSpPr>
          <p:cNvPr id="20" name="s6_idkv_v2"/>
          <p:cNvSpPr/>
          <p:nvPr/>
        </p:nvSpPr>
        <p:spPr>
          <a:xfrm>
            <a:off x="1828800" y="28529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 (skills, extensions, mcp.json)</a:t>
            </a:r>
            <a:endParaRPr lang="en-US" sz="900" dirty="0"/>
          </a:p>
        </p:txBody>
      </p:sp>
      <p:sp>
        <p:nvSpPr>
          <p:cNvPr id="21" name="s6_idkv_hr2"/>
          <p:cNvSpPr/>
          <p:nvPr/>
        </p:nvSpPr>
        <p:spPr>
          <a:xfrm>
            <a:off x="777240" y="3236976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2" name="s6_idkv_k3"/>
          <p:cNvSpPr/>
          <p:nvPr/>
        </p:nvSpPr>
        <p:spPr>
          <a:xfrm>
            <a:off x="777240" y="323697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bundle</a:t>
            </a:r>
            <a:endParaRPr lang="en-US" sz="950" dirty="0"/>
          </a:p>
        </p:txBody>
      </p:sp>
      <p:sp>
        <p:nvSpPr>
          <p:cNvPr id="23" name="s6_idkv_v3"/>
          <p:cNvSpPr/>
          <p:nvPr/>
        </p:nvSpPr>
        <p:spPr>
          <a:xfrm>
            <a:off x="1828800" y="32369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bundle — npm package + pi key</a:t>
            </a:r>
            <a:endParaRPr lang="en-US" sz="900" dirty="0"/>
          </a:p>
        </p:txBody>
      </p:sp>
      <p:sp>
        <p:nvSpPr>
          <p:cNvPr id="24" name="s6_hero_sh"/>
          <p:cNvSpPr/>
          <p:nvPr/>
        </p:nvSpPr>
        <p:spPr>
          <a:xfrm>
            <a:off x="6588252" y="1677924"/>
            <a:ext cx="5148072" cy="21488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5" name="s6_hero"/>
          <p:cNvSpPr/>
          <p:nvPr/>
        </p:nvSpPr>
        <p:spPr>
          <a:xfrm>
            <a:off x="6537960" y="1627632"/>
            <a:ext cx="5148072" cy="21488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pic>
        <p:nvPicPr>
          <p:cNvPr id="26" name="s6_cube" descr="assets/cube_p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1847088"/>
            <a:ext cx="548640" cy="548640"/>
          </a:xfrm>
          <a:prstGeom prst="rect">
            <a:avLst/>
          </a:prstGeom>
        </p:spPr>
      </p:pic>
      <p:sp>
        <p:nvSpPr>
          <p:cNvPr id="27" name="s6_hero_n"/>
          <p:cNvSpPr/>
          <p:nvPr/>
        </p:nvSpPr>
        <p:spPr>
          <a:xfrm>
            <a:off x="6812280" y="18105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5,361</a:t>
            </a:r>
            <a:endParaRPr lang="en-US" sz="4600" dirty="0"/>
          </a:p>
        </p:txBody>
      </p:sp>
      <p:sp>
        <p:nvSpPr>
          <p:cNvPr id="28" name="s6_hero_l"/>
          <p:cNvSpPr/>
          <p:nvPr/>
        </p:nvSpPr>
        <p:spPr>
          <a:xfrm>
            <a:off x="6812280" y="27249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PACKAGES ON PI.DEV</a:t>
            </a:r>
            <a:endParaRPr lang="en-US" sz="1150" dirty="0"/>
          </a:p>
        </p:txBody>
      </p:sp>
      <p:sp>
        <p:nvSpPr>
          <p:cNvPr id="29" name="s6_hero_d"/>
          <p:cNvSpPr/>
          <p:nvPr/>
        </p:nvSpPr>
        <p:spPr>
          <a:xfrm>
            <a:off x="6812280" y="29992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IS the registry — zero-friction publishing; top package 1.6M downloads/mo</a:t>
            </a:r>
            <a:endParaRPr lang="en-US" sz="1000" dirty="0"/>
          </a:p>
        </p:txBody>
      </p:sp>
      <p:sp>
        <p:nvSpPr>
          <p:cNvPr id="30" name="s6_sf_sh"/>
          <p:cNvSpPr/>
          <p:nvPr/>
        </p:nvSpPr>
        <p:spPr>
          <a:xfrm>
            <a:off x="553212" y="4000500"/>
            <a:ext cx="6812280" cy="22128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6_sf"/>
          <p:cNvSpPr/>
          <p:nvPr/>
        </p:nvSpPr>
        <p:spPr>
          <a:xfrm>
            <a:off x="502920" y="3950208"/>
            <a:ext cx="6812280" cy="2212848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2" name="s6_sf_band"/>
          <p:cNvSpPr/>
          <p:nvPr/>
        </p:nvSpPr>
        <p:spPr>
          <a:xfrm>
            <a:off x="777240" y="41148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SURFACES</a:t>
            </a:r>
            <a:endParaRPr lang="en-US" sz="1000" dirty="0"/>
          </a:p>
        </p:txBody>
      </p:sp>
      <p:sp>
        <p:nvSpPr>
          <p:cNvPr id="33" name="s6_sf_b0"/>
          <p:cNvSpPr/>
          <p:nvPr/>
        </p:nvSpPr>
        <p:spPr>
          <a:xfrm>
            <a:off x="777240" y="4498848"/>
            <a:ext cx="100584" cy="1005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s6_sf_k0"/>
          <p:cNvSpPr/>
          <p:nvPr/>
        </p:nvSpPr>
        <p:spPr>
          <a:xfrm>
            <a:off x="1005840" y="4407408"/>
            <a:ext cx="12344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950" dirty="0"/>
          </a:p>
        </p:txBody>
      </p:sp>
      <p:sp>
        <p:nvSpPr>
          <p:cNvPr id="35" name="s6_sf_v0"/>
          <p:cNvSpPr/>
          <p:nvPr/>
        </p:nvSpPr>
        <p:spPr>
          <a:xfrm>
            <a:off x="2240280" y="4407408"/>
            <a:ext cx="4892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~/.pi/agent/skills · ~/.agents/skills</a:t>
            </a:r>
            <a:endParaRPr lang="en-US" sz="900" dirty="0"/>
          </a:p>
        </p:txBody>
      </p:sp>
      <p:sp>
        <p:nvSpPr>
          <p:cNvPr id="36" name="s6_sf_hr0"/>
          <p:cNvSpPr/>
          <p:nvPr/>
        </p:nvSpPr>
        <p:spPr>
          <a:xfrm>
            <a:off x="777240" y="4741164"/>
            <a:ext cx="6217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7" name="s6_sf_b1"/>
          <p:cNvSpPr/>
          <p:nvPr/>
        </p:nvSpPr>
        <p:spPr>
          <a:xfrm>
            <a:off x="777240" y="4832604"/>
            <a:ext cx="100584" cy="1005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s6_sf_k1"/>
          <p:cNvSpPr/>
          <p:nvPr/>
        </p:nvSpPr>
        <p:spPr>
          <a:xfrm>
            <a:off x="1005840" y="4741164"/>
            <a:ext cx="12344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extensions</a:t>
            </a:r>
            <a:endParaRPr lang="en-US" sz="950" dirty="0"/>
          </a:p>
        </p:txBody>
      </p:sp>
      <p:sp>
        <p:nvSpPr>
          <p:cNvPr id="39" name="s6_sf_v1"/>
          <p:cNvSpPr/>
          <p:nvPr/>
        </p:nvSpPr>
        <p:spPr>
          <a:xfrm>
            <a:off x="2240280" y="4741164"/>
            <a:ext cx="4892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in-process — tools, commands, hooks, providers</a:t>
            </a:r>
            <a:endParaRPr lang="en-US" sz="900" dirty="0"/>
          </a:p>
        </p:txBody>
      </p:sp>
      <p:sp>
        <p:nvSpPr>
          <p:cNvPr id="40" name="s6_sf_hr1"/>
          <p:cNvSpPr/>
          <p:nvPr/>
        </p:nvSpPr>
        <p:spPr>
          <a:xfrm>
            <a:off x="777240" y="5074920"/>
            <a:ext cx="6217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1" name="s6_sf_b2"/>
          <p:cNvSpPr/>
          <p:nvPr/>
        </p:nvSpPr>
        <p:spPr>
          <a:xfrm>
            <a:off x="777240" y="5166360"/>
            <a:ext cx="100584" cy="1005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2" name="s6_sf_k2"/>
          <p:cNvSpPr/>
          <p:nvPr/>
        </p:nvSpPr>
        <p:spPr>
          <a:xfrm>
            <a:off x="1005840" y="5074920"/>
            <a:ext cx="12344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</a:t>
            </a:r>
            <a:endParaRPr lang="en-US" sz="950" dirty="0"/>
          </a:p>
        </p:txBody>
      </p:sp>
      <p:sp>
        <p:nvSpPr>
          <p:cNvPr id="43" name="s6_sf_v2"/>
          <p:cNvSpPr/>
          <p:nvPr/>
        </p:nvSpPr>
        <p:spPr>
          <a:xfrm>
            <a:off x="2240280" y="5074920"/>
            <a:ext cx="4892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 + pi key + keyword pi-package</a:t>
            </a:r>
            <a:endParaRPr lang="en-US" sz="900" dirty="0"/>
          </a:p>
        </p:txBody>
      </p:sp>
      <p:sp>
        <p:nvSpPr>
          <p:cNvPr id="44" name="s6_sf_hr2"/>
          <p:cNvSpPr/>
          <p:nvPr/>
        </p:nvSpPr>
        <p:spPr>
          <a:xfrm>
            <a:off x="777240" y="5408676"/>
            <a:ext cx="6217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6_sf_b3"/>
          <p:cNvSpPr/>
          <p:nvPr/>
        </p:nvSpPr>
        <p:spPr>
          <a:xfrm>
            <a:off x="777240" y="5500116"/>
            <a:ext cx="100584" cy="1005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6" name="s6_sf_k3"/>
          <p:cNvSpPr/>
          <p:nvPr/>
        </p:nvSpPr>
        <p:spPr>
          <a:xfrm>
            <a:off x="1005840" y="5408676"/>
            <a:ext cx="12344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endParaRPr lang="en-US" sz="950" dirty="0"/>
          </a:p>
        </p:txBody>
      </p:sp>
      <p:sp>
        <p:nvSpPr>
          <p:cNvPr id="47" name="s6_sf_v3"/>
          <p:cNvSpPr/>
          <p:nvPr/>
        </p:nvSpPr>
        <p:spPr>
          <a:xfrm>
            <a:off x="2240280" y="5408676"/>
            <a:ext cx="4892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install npm:@scope/pkg@1.0.0 (exact pin)</a:t>
            </a:r>
            <a:endParaRPr lang="en-US" sz="900" dirty="0"/>
          </a:p>
        </p:txBody>
      </p:sp>
      <p:sp>
        <p:nvSpPr>
          <p:cNvPr id="48" name="s6_sf_hr3"/>
          <p:cNvSpPr/>
          <p:nvPr/>
        </p:nvSpPr>
        <p:spPr>
          <a:xfrm>
            <a:off x="777240" y="5742432"/>
            <a:ext cx="6217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9" name="s6_sf_b4"/>
          <p:cNvSpPr/>
          <p:nvPr/>
        </p:nvSpPr>
        <p:spPr>
          <a:xfrm>
            <a:off x="777240" y="5833872"/>
            <a:ext cx="100584" cy="1005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0" name="s6_sf_k4"/>
          <p:cNvSpPr/>
          <p:nvPr/>
        </p:nvSpPr>
        <p:spPr>
          <a:xfrm>
            <a:off x="1005840" y="5742432"/>
            <a:ext cx="12344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gallery</a:t>
            </a:r>
            <a:endParaRPr lang="en-US" sz="950" dirty="0"/>
          </a:p>
        </p:txBody>
      </p:sp>
      <p:sp>
        <p:nvSpPr>
          <p:cNvPr id="51" name="s6_sf_v4"/>
          <p:cNvSpPr/>
          <p:nvPr/>
        </p:nvSpPr>
        <p:spPr>
          <a:xfrm>
            <a:off x="2240280" y="5742432"/>
            <a:ext cx="4892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pi.dev/packages — 5,361 (2026-10-16)</a:t>
            </a:r>
            <a:endParaRPr lang="en-US" sz="900" dirty="0"/>
          </a:p>
        </p:txBody>
      </p:sp>
      <p:sp>
        <p:nvSpPr>
          <p:cNvPr id="52" name="s6_sp_sh"/>
          <p:cNvSpPr/>
          <p:nvPr/>
        </p:nvSpPr>
        <p:spPr>
          <a:xfrm>
            <a:off x="7548372" y="4000500"/>
            <a:ext cx="4187952" cy="22128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3" name="s6_sp"/>
          <p:cNvSpPr/>
          <p:nvPr/>
        </p:nvSpPr>
        <p:spPr>
          <a:xfrm>
            <a:off x="7498080" y="3950208"/>
            <a:ext cx="4187952" cy="2212848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4" name="s6_sp_band"/>
          <p:cNvSpPr/>
          <p:nvPr/>
        </p:nvSpPr>
        <p:spPr>
          <a:xfrm>
            <a:off x="7772400" y="41148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SURPRISE</a:t>
            </a:r>
            <a:endParaRPr lang="en-US" sz="1000" dirty="0"/>
          </a:p>
        </p:txBody>
      </p:sp>
      <p:sp>
        <p:nvSpPr>
          <p:cNvPr id="55" name="s6_sp_t"/>
          <p:cNvSpPr/>
          <p:nvPr/>
        </p:nvSpPr>
        <p:spPr>
          <a:xfrm>
            <a:off x="7772400" y="4407408"/>
            <a:ext cx="36393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IS the registry — zero-friction publishing, top package 1.6M downloads/mo; but .agents/skills ancestors load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un-gated (verified in source) and 0.19's ~/.claude + ~/.codex readers were dropped when .agents landed (0.54.0).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7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7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7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7_kick" descr="assets/k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2952206" cy="182880"/>
          </a:xfrm>
          <a:prstGeom prst="rect">
            <a:avLst/>
          </a:prstGeom>
        </p:spPr>
      </p:pic>
      <p:pic>
        <p:nvPicPr>
          <p:cNvPr id="6" name="s7_title" descr="assets/t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10121102" cy="475488"/>
          </a:xfrm>
          <a:prstGeom prst="rect">
            <a:avLst/>
          </a:prstGeom>
        </p:spPr>
      </p:pic>
      <p:sp>
        <p:nvSpPr>
          <p:cNvPr id="7" name="s7_spec"/>
          <p:cNvSpPr/>
          <p:nvPr/>
        </p:nvSpPr>
        <p:spPr>
          <a:xfrm>
            <a:off x="502920" y="1216152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bundle specs, no shared steward — anthropic's formats (SKILL.md, mcp.json) live inside agent plugins, yet claude code consumes neither</a:t>
            </a:r>
            <a:endParaRPr lang="en-US" sz="1100" dirty="0"/>
          </a:p>
        </p:txBody>
      </p:sp>
      <p:sp>
        <p:nvSpPr>
          <p:cNvPr id="8" name="s7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</a:t>
            </a:r>
            <a:endParaRPr lang="en-US" sz="950" dirty="0"/>
          </a:p>
        </p:txBody>
      </p:sp>
      <p:sp>
        <p:nvSpPr>
          <p:cNvPr id="10" name="s7_sk_sh"/>
          <p:cNvSpPr/>
          <p:nvPr/>
        </p:nvSpPr>
        <p:spPr>
          <a:xfrm>
            <a:off x="553212" y="1677924"/>
            <a:ext cx="5486400" cy="2377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7_sk"/>
          <p:cNvSpPr/>
          <p:nvPr/>
        </p:nvSpPr>
        <p:spPr>
          <a:xfrm>
            <a:off x="502920" y="1627632"/>
            <a:ext cx="5486400" cy="237744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7_sk_band"/>
          <p:cNvSpPr/>
          <p:nvPr/>
        </p:nvSpPr>
        <p:spPr>
          <a:xfrm>
            <a:off x="777240" y="179222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SKILLS — AGENTSKILLS.IO</a:t>
            </a:r>
            <a:endParaRPr lang="en-US" sz="1050" dirty="0"/>
          </a:p>
        </p:txBody>
      </p:sp>
      <p:sp>
        <p:nvSpPr>
          <p:cNvPr id="13" name="s7_sk_n"/>
          <p:cNvSpPr/>
          <p:nvPr/>
        </p:nvSpPr>
        <p:spPr>
          <a:xfrm>
            <a:off x="731520" y="199339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4600" dirty="0"/>
          </a:p>
        </p:txBody>
      </p:sp>
      <p:sp>
        <p:nvSpPr>
          <p:cNvPr id="14" name="s7_sk_l"/>
          <p:cNvSpPr/>
          <p:nvPr/>
        </p:nvSpPr>
        <p:spPr>
          <a:xfrm>
            <a:off x="2103120" y="21214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 showcased — all four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harnesses on the list</a:t>
            </a:r>
            <a:endParaRPr lang="en-US" sz="1150" dirty="0"/>
          </a:p>
        </p:txBody>
      </p:sp>
      <p:sp>
        <p:nvSpPr>
          <p:cNvPr id="15" name="s7_sk_d"/>
          <p:cNvSpPr/>
          <p:nvPr/>
        </p:nvSpPr>
        <p:spPr>
          <a:xfrm>
            <a:off x="2103120" y="2743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counted 2026-10-16 · unversioned living spec — zero tags · anthropic-donated 2025-12-16</a:t>
            </a:r>
            <a:endParaRPr lang="en-US" sz="900" dirty="0"/>
          </a:p>
        </p:txBody>
      </p:sp>
      <p:sp>
        <p:nvSpPr>
          <p:cNvPr id="16" name="s7_sk_hr"/>
          <p:cNvSpPr/>
          <p:nvPr/>
        </p:nvSpPr>
        <p:spPr>
          <a:xfrm>
            <a:off x="777240" y="3310128"/>
            <a:ext cx="493776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7" name="s7_sk_f"/>
          <p:cNvSpPr/>
          <p:nvPr/>
        </p:nvSpPr>
        <p:spPr>
          <a:xfrm>
            <a:off x="777240" y="340156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fields · 2 required (name, description) · metadata map = extension channel</a:t>
            </a:r>
            <a:endParaRPr lang="en-US" sz="1000" dirty="0"/>
          </a:p>
        </p:txBody>
      </p:sp>
      <p:sp>
        <p:nvSpPr>
          <p:cNvPr id="18" name="s7_vs_sh"/>
          <p:cNvSpPr/>
          <p:nvPr/>
        </p:nvSpPr>
        <p:spPr>
          <a:xfrm>
            <a:off x="5961888" y="2679192"/>
            <a:ext cx="329184" cy="329184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9" name="s7_vs"/>
          <p:cNvSpPr/>
          <p:nvPr/>
        </p:nvSpPr>
        <p:spPr>
          <a:xfrm>
            <a:off x="5934456" y="2651760"/>
            <a:ext cx="329184" cy="329184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0" name="s7_vs_t"/>
          <p:cNvSpPr/>
          <p:nvPr/>
        </p:nvSpPr>
        <p:spPr>
          <a:xfrm>
            <a:off x="5934456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</a:t>
            </a:r>
            <a:endParaRPr lang="en-US" sz="1300" dirty="0"/>
          </a:p>
        </p:txBody>
      </p:sp>
      <p:sp>
        <p:nvSpPr>
          <p:cNvPr id="21" name="s7_pl_sh"/>
          <p:cNvSpPr/>
          <p:nvPr/>
        </p:nvSpPr>
        <p:spPr>
          <a:xfrm>
            <a:off x="6249924" y="1677924"/>
            <a:ext cx="5486400" cy="2377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2" name="s7_pl"/>
          <p:cNvSpPr/>
          <p:nvPr/>
        </p:nvSpPr>
        <p:spPr>
          <a:xfrm>
            <a:off x="6199632" y="1627632"/>
            <a:ext cx="5486400" cy="2377440"/>
          </a:xfrm>
          <a:prstGeom prst="rect">
            <a:avLst/>
          </a:prstGeom>
          <a:solidFill>
            <a:srgbClr val="E5F5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3" name="s7_pl_band"/>
          <p:cNvSpPr/>
          <p:nvPr/>
        </p:nvSpPr>
        <p:spPr>
          <a:xfrm>
            <a:off x="6473952" y="179222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PLUGINS — AGENT-PLUGINS.ORG</a:t>
            </a:r>
            <a:endParaRPr lang="en-US" sz="1050" dirty="0"/>
          </a:p>
        </p:txBody>
      </p:sp>
      <p:sp>
        <p:nvSpPr>
          <p:cNvPr id="24" name="s7_pl_n"/>
          <p:cNvSpPr/>
          <p:nvPr/>
        </p:nvSpPr>
        <p:spPr>
          <a:xfrm>
            <a:off x="6400800" y="1993392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4600" dirty="0"/>
          </a:p>
        </p:txBody>
      </p:sp>
      <p:sp>
        <p:nvSpPr>
          <p:cNvPr id="25" name="s7_pl_l"/>
          <p:cNvSpPr/>
          <p:nvPr/>
        </p:nvSpPr>
        <p:spPr>
          <a:xfrm>
            <a:off x="7406640" y="21214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compatible clients — of our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four, only codex</a:t>
            </a:r>
            <a:endParaRPr lang="en-US" sz="1150" dirty="0"/>
          </a:p>
        </p:txBody>
      </p:sp>
      <p:sp>
        <p:nvSpPr>
          <p:cNvPr id="26" name="s7_pl_d"/>
          <p:cNvSpPr/>
          <p:nvPr/>
        </p:nvSpPr>
        <p:spPr>
          <a:xfrm>
            <a:off x="7406640" y="2743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v1.0.0 · 2026-08-06 · closed 9-field plugin.json · skills + mcp only</a:t>
            </a:r>
            <a:endParaRPr lang="en-US" sz="900" dirty="0"/>
          </a:p>
        </p:txBody>
      </p:sp>
      <p:sp>
        <p:nvSpPr>
          <p:cNvPr id="27" name="s7_pl_hr"/>
          <p:cNvSpPr/>
          <p:nvPr/>
        </p:nvSpPr>
        <p:spPr>
          <a:xfrm>
            <a:off x="6473952" y="3310128"/>
            <a:ext cx="493776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7_pl_f"/>
          <p:cNvSpPr/>
          <p:nvPr/>
        </p:nvSpPr>
        <p:spPr>
          <a:xfrm>
            <a:off x="6473952" y="340156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tsc: amazon · cursor · microsoft · openai · vercel — anthropic absent</a:t>
            </a:r>
            <a:endParaRPr lang="en-US" sz="1000" dirty="0"/>
          </a:p>
        </p:txBody>
      </p:sp>
      <p:sp>
        <p:nvSpPr>
          <p:cNvPr id="29" name="s7_adj_sh"/>
          <p:cNvSpPr/>
          <p:nvPr/>
        </p:nvSpPr>
        <p:spPr>
          <a:xfrm>
            <a:off x="553212" y="4210812"/>
            <a:ext cx="11183112" cy="120700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0" name="s7_adj"/>
          <p:cNvSpPr/>
          <p:nvPr/>
        </p:nvSpPr>
        <p:spPr>
          <a:xfrm>
            <a:off x="502920" y="4160520"/>
            <a:ext cx="11183112" cy="1207008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1" name="s7_adj_band"/>
          <p:cNvSpPr/>
          <p:nvPr/>
        </p:nvSpPr>
        <p:spPr>
          <a:xfrm>
            <a:off x="777240" y="430682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ADJACENT STANDARDS</a:t>
            </a:r>
            <a:endParaRPr lang="en-US" sz="1000" dirty="0"/>
          </a:p>
        </p:txBody>
      </p:sp>
      <p:sp>
        <p:nvSpPr>
          <p:cNvPr id="32" name="s7_adjkv_k0"/>
          <p:cNvSpPr/>
          <p:nvPr/>
        </p:nvSpPr>
        <p:spPr>
          <a:xfrm>
            <a:off x="777240" y="457200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950" dirty="0"/>
          </a:p>
        </p:txBody>
      </p:sp>
      <p:sp>
        <p:nvSpPr>
          <p:cNvPr id="33" name="s7_adjkv_v0"/>
          <p:cNvSpPr/>
          <p:nvPr/>
        </p:nvSpPr>
        <p:spPr>
          <a:xfrm>
            <a:off x="2240280" y="457200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foundation aaif (mcp + agents.md donated 2025-12-09)</a:t>
            </a:r>
            <a:endParaRPr lang="en-US" sz="900" dirty="0"/>
          </a:p>
        </p:txBody>
      </p:sp>
      <p:sp>
        <p:nvSpPr>
          <p:cNvPr id="34" name="s7_adjkv_hr0"/>
          <p:cNvSpPr/>
          <p:nvPr/>
        </p:nvSpPr>
        <p:spPr>
          <a:xfrm>
            <a:off x="777240" y="4818888"/>
            <a:ext cx="106070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5" name="s7_adjkv_k1"/>
          <p:cNvSpPr/>
          <p:nvPr/>
        </p:nvSpPr>
        <p:spPr>
          <a:xfrm>
            <a:off x="777240" y="481888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registry</a:t>
            </a:r>
            <a:endParaRPr lang="en-US" sz="950" dirty="0"/>
          </a:p>
        </p:txBody>
      </p:sp>
      <p:sp>
        <p:nvSpPr>
          <p:cNvPr id="36" name="s7_adjkv_v1"/>
          <p:cNvSpPr/>
          <p:nvPr/>
        </p:nvSpPr>
        <p:spPr>
          <a:xfrm>
            <a:off x="2240280" y="4818888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preview · metadata-only server.json · ~9,652 servers · openapi federation</a:t>
            </a:r>
            <a:endParaRPr lang="en-US" sz="900" dirty="0"/>
          </a:p>
        </p:txBody>
      </p:sp>
      <p:sp>
        <p:nvSpPr>
          <p:cNvPr id="37" name="s7_adjkv_hr1"/>
          <p:cNvSpPr/>
          <p:nvPr/>
        </p:nvSpPr>
        <p:spPr>
          <a:xfrm>
            <a:off x="777240" y="5065776"/>
            <a:ext cx="106070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8" name="s7_adjkv_k2"/>
          <p:cNvSpPr/>
          <p:nvPr/>
        </p:nvSpPr>
        <p:spPr>
          <a:xfrm>
            <a:off x="777240" y="506577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 dir</a:t>
            </a:r>
            <a:endParaRPr lang="en-US" sz="950" dirty="0"/>
          </a:p>
        </p:txBody>
      </p:sp>
      <p:sp>
        <p:nvSpPr>
          <p:cNvPr id="39" name="s7_adjkv_v2"/>
          <p:cNvSpPr/>
          <p:nvPr/>
        </p:nvSpPr>
        <p:spPr>
          <a:xfrm>
            <a:off x="2240280" y="5065776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unratified — claude declined: issue #66352 not_planned 2026-07-16</a:t>
            </a:r>
            <a:endParaRPr lang="en-US" sz="900" dirty="0"/>
          </a:p>
        </p:txBody>
      </p:sp>
      <p:sp>
        <p:nvSpPr>
          <p:cNvPr id="40" name="s7_pr_sh"/>
          <p:cNvSpPr/>
          <p:nvPr/>
        </p:nvSpPr>
        <p:spPr>
          <a:xfrm>
            <a:off x="553212" y="5582412"/>
            <a:ext cx="11183112" cy="8686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1" name="s7_pr"/>
          <p:cNvSpPr/>
          <p:nvPr/>
        </p:nvSpPr>
        <p:spPr>
          <a:xfrm>
            <a:off x="502920" y="5532120"/>
            <a:ext cx="11183112" cy="868680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2" name="s7_press"/>
          <p:cNvSpPr/>
          <p:nvPr/>
        </p:nvSpPr>
        <p:spPr>
          <a:xfrm>
            <a:off x="777240" y="561441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press, aug 2026: “anthropic defined the standards inside agent plugins. so why isn't it in?”</a:t>
            </a:r>
            <a:endParaRPr lang="en-US" sz="1000" dirty="0"/>
          </a:p>
        </p:txBody>
      </p:sp>
      <p:sp>
        <p:nvSpPr>
          <p:cNvPr id="43" name="s7_verdict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 verdict: emit spec-pure name+description (+ namespaced metadata keys), keep vendor extras in overlays — a spec-pure skill works in all four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harnesses today. keep claude's .claude-plugin/ and codex's marketplace.json separate.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8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8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8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8_kick" descr="assets/k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2481943" cy="182880"/>
          </a:xfrm>
          <a:prstGeom prst="rect">
            <a:avLst/>
          </a:prstGeom>
        </p:spPr>
      </p:pic>
      <p:pic>
        <p:nvPicPr>
          <p:cNvPr id="6" name="s8_title" descr="assets/t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9713541" cy="475488"/>
          </a:xfrm>
          <a:prstGeom prst="rect">
            <a:avLst/>
          </a:prstGeom>
        </p:spPr>
      </p:pic>
      <p:sp>
        <p:nvSpPr>
          <p:cNvPr id="7" name="s8_spec"/>
          <p:cNvSpPr/>
          <p:nvPr/>
        </p:nvSpPr>
        <p:spPr>
          <a:xfrm>
            <a:off x="502920" y="1216152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registries already run at scale — each covers a slice of the problem; none covers all artifact types × all four harnesses</a:t>
            </a:r>
            <a:endParaRPr lang="en-US" sz="1100" dirty="0"/>
          </a:p>
        </p:txBody>
      </p:sp>
      <p:sp>
        <p:nvSpPr>
          <p:cNvPr id="8" name="s8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en-US" sz="950" dirty="0"/>
          </a:p>
        </p:txBody>
      </p:sp>
      <p:sp>
        <p:nvSpPr>
          <p:cNvPr id="10" name="s8_tb_sh"/>
          <p:cNvSpPr/>
          <p:nvPr/>
        </p:nvSpPr>
        <p:spPr>
          <a:xfrm>
            <a:off x="553212" y="1677924"/>
            <a:ext cx="7178040" cy="35661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8_tb"/>
          <p:cNvSpPr/>
          <p:nvPr/>
        </p:nvSpPr>
        <p:spPr>
          <a:xfrm>
            <a:off x="502920" y="1627632"/>
            <a:ext cx="7178040" cy="35661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8_tb_ch0"/>
          <p:cNvSpPr/>
          <p:nvPr/>
        </p:nvSpPr>
        <p:spPr>
          <a:xfrm>
            <a:off x="777240" y="18105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</a:t>
            </a:r>
            <a:endParaRPr lang="en-US" sz="850" dirty="0"/>
          </a:p>
        </p:txBody>
      </p:sp>
      <p:sp>
        <p:nvSpPr>
          <p:cNvPr id="13" name="s8_tb_ch1"/>
          <p:cNvSpPr/>
          <p:nvPr/>
        </p:nvSpPr>
        <p:spPr>
          <a:xfrm>
            <a:off x="2148840" y="181051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</a:t>
            </a:r>
            <a:endParaRPr lang="en-US" sz="850" dirty="0"/>
          </a:p>
        </p:txBody>
      </p:sp>
      <p:sp>
        <p:nvSpPr>
          <p:cNvPr id="14" name="s8_tb_ch2"/>
          <p:cNvSpPr/>
          <p:nvPr/>
        </p:nvSpPr>
        <p:spPr>
          <a:xfrm>
            <a:off x="3017520" y="18105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</a:t>
            </a:r>
            <a:endParaRPr lang="en-US" sz="850" dirty="0"/>
          </a:p>
        </p:txBody>
      </p:sp>
      <p:sp>
        <p:nvSpPr>
          <p:cNvPr id="15" name="s8_tb_ch3"/>
          <p:cNvSpPr/>
          <p:nvPr/>
        </p:nvSpPr>
        <p:spPr>
          <a:xfrm>
            <a:off x="4069080" y="18105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</a:t>
            </a:r>
            <a:endParaRPr lang="en-US" sz="850" dirty="0"/>
          </a:p>
        </p:txBody>
      </p:sp>
      <p:sp>
        <p:nvSpPr>
          <p:cNvPr id="16" name="s8_tb_ch4"/>
          <p:cNvSpPr/>
          <p:nvPr/>
        </p:nvSpPr>
        <p:spPr>
          <a:xfrm>
            <a:off x="5074920" y="1810512"/>
            <a:ext cx="236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</a:t>
            </a:r>
            <a:endParaRPr lang="en-US" sz="850" dirty="0"/>
          </a:p>
        </p:txBody>
      </p:sp>
      <p:sp>
        <p:nvSpPr>
          <p:cNvPr id="17" name="s8_tb_hr0"/>
          <p:cNvSpPr/>
          <p:nvPr/>
        </p:nvSpPr>
        <p:spPr>
          <a:xfrm>
            <a:off x="777240" y="2103120"/>
            <a:ext cx="666597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8_tb_r0c0"/>
          <p:cNvSpPr/>
          <p:nvPr/>
        </p:nvSpPr>
        <p:spPr>
          <a:xfrm>
            <a:off x="777240" y="2103120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skills.sh / vercel</a:t>
            </a:r>
            <a:endParaRPr lang="en-US" sz="850" dirty="0"/>
          </a:p>
        </p:txBody>
      </p:sp>
      <p:sp>
        <p:nvSpPr>
          <p:cNvPr id="19" name="s8_tb_r0c1"/>
          <p:cNvSpPr/>
          <p:nvPr/>
        </p:nvSpPr>
        <p:spPr>
          <a:xfrm>
            <a:off x="2148840" y="2103120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~80 agents</a:t>
            </a:r>
            <a:endParaRPr lang="en-US" sz="850" dirty="0"/>
          </a:p>
        </p:txBody>
      </p:sp>
      <p:sp>
        <p:nvSpPr>
          <p:cNvPr id="20" name="s8_tb_r0c2"/>
          <p:cNvSpPr/>
          <p:nvPr/>
        </p:nvSpPr>
        <p:spPr>
          <a:xfrm>
            <a:off x="3017520" y="2103120"/>
            <a:ext cx="1051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 only</a:t>
            </a:r>
            <a:endParaRPr lang="en-US" sz="850" dirty="0"/>
          </a:p>
        </p:txBody>
      </p:sp>
      <p:sp>
        <p:nvSpPr>
          <p:cNvPr id="21" name="s8_tb_r0c3"/>
          <p:cNvSpPr/>
          <p:nvPr/>
        </p:nvSpPr>
        <p:spPr>
          <a:xfrm>
            <a:off x="4069080" y="2103120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symlink installs</a:t>
            </a:r>
            <a:endParaRPr lang="en-US" sz="850" dirty="0"/>
          </a:p>
        </p:txBody>
      </p:sp>
      <p:sp>
        <p:nvSpPr>
          <p:cNvPr id="22" name="s8_tb_r0c4"/>
          <p:cNvSpPr/>
          <p:nvPr/>
        </p:nvSpPr>
        <p:spPr>
          <a:xfrm>
            <a:off x="5074920" y="2103120"/>
            <a:ext cx="23682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35.3k stars · top skill 3.9M installs</a:t>
            </a:r>
            <a:endParaRPr lang="en-US" sz="850" dirty="0"/>
          </a:p>
        </p:txBody>
      </p:sp>
      <p:sp>
        <p:nvSpPr>
          <p:cNvPr id="23" name="s8_tb_hr1"/>
          <p:cNvSpPr/>
          <p:nvPr/>
        </p:nvSpPr>
        <p:spPr>
          <a:xfrm>
            <a:off x="777240" y="2587752"/>
            <a:ext cx="666597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8_tb_r1c0"/>
          <p:cNvSpPr/>
          <p:nvPr/>
        </p:nvSpPr>
        <p:spPr>
          <a:xfrm>
            <a:off x="777240" y="2587752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clawhub / openclaw</a:t>
            </a:r>
            <a:endParaRPr lang="en-US" sz="850" dirty="0"/>
          </a:p>
        </p:txBody>
      </p:sp>
      <p:sp>
        <p:nvSpPr>
          <p:cNvPr id="25" name="s8_tb_r1c1"/>
          <p:cNvSpPr/>
          <p:nvPr/>
        </p:nvSpPr>
        <p:spPr>
          <a:xfrm>
            <a:off x="2148840" y="2587752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only</a:t>
            </a:r>
            <a:endParaRPr lang="en-US" sz="850" dirty="0"/>
          </a:p>
        </p:txBody>
      </p:sp>
      <p:sp>
        <p:nvSpPr>
          <p:cNvPr id="26" name="s8_tb_r1c2"/>
          <p:cNvSpPr/>
          <p:nvPr/>
        </p:nvSpPr>
        <p:spPr>
          <a:xfrm>
            <a:off x="3017520" y="2587752"/>
            <a:ext cx="1051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 + packages</a:t>
            </a:r>
            <a:endParaRPr lang="en-US" sz="850" dirty="0"/>
          </a:p>
        </p:txBody>
      </p:sp>
      <p:sp>
        <p:nvSpPr>
          <p:cNvPr id="27" name="s8_tb_r1c3"/>
          <p:cNvSpPr/>
          <p:nvPr/>
        </p:nvSpPr>
        <p:spPr>
          <a:xfrm>
            <a:off x="4069080" y="2587752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hosted npm-like</a:t>
            </a:r>
            <a:endParaRPr lang="en-US" sz="850" dirty="0"/>
          </a:p>
        </p:txBody>
      </p:sp>
      <p:sp>
        <p:nvSpPr>
          <p:cNvPr id="28" name="s8_tb_r1c4"/>
          <p:cNvSpPr/>
          <p:nvPr/>
        </p:nvSpPr>
        <p:spPr>
          <a:xfrm>
            <a:off x="5074920" y="2587752"/>
            <a:ext cx="23682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2,371 of 31,371 flagged (7.6%)</a:t>
            </a:r>
            <a:endParaRPr lang="en-US" sz="850" dirty="0"/>
          </a:p>
        </p:txBody>
      </p:sp>
      <p:sp>
        <p:nvSpPr>
          <p:cNvPr id="29" name="s8_tb_hr2"/>
          <p:cNvSpPr/>
          <p:nvPr/>
        </p:nvSpPr>
        <p:spPr>
          <a:xfrm>
            <a:off x="777240" y="3072384"/>
            <a:ext cx="666597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8_tb_r2c0"/>
          <p:cNvSpPr/>
          <p:nvPr/>
        </p:nvSpPr>
        <p:spPr>
          <a:xfrm>
            <a:off x="777240" y="3072384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claude-plugins.dev</a:t>
            </a:r>
            <a:endParaRPr lang="en-US" sz="850" dirty="0"/>
          </a:p>
        </p:txBody>
      </p:sp>
      <p:sp>
        <p:nvSpPr>
          <p:cNvPr id="31" name="s8_tb_r2c1"/>
          <p:cNvSpPr/>
          <p:nvPr/>
        </p:nvSpPr>
        <p:spPr>
          <a:xfrm>
            <a:off x="2148840" y="3072384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only</a:t>
            </a:r>
            <a:endParaRPr lang="en-US" sz="850" dirty="0"/>
          </a:p>
        </p:txBody>
      </p:sp>
      <p:sp>
        <p:nvSpPr>
          <p:cNvPr id="32" name="s8_tb_r2c2"/>
          <p:cNvSpPr/>
          <p:nvPr/>
        </p:nvSpPr>
        <p:spPr>
          <a:xfrm>
            <a:off x="3017520" y="3072384"/>
            <a:ext cx="1051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 + skills</a:t>
            </a:r>
            <a:endParaRPr lang="en-US" sz="850" dirty="0"/>
          </a:p>
        </p:txBody>
      </p:sp>
      <p:sp>
        <p:nvSpPr>
          <p:cNvPr id="33" name="s8_tb_r2c3"/>
          <p:cNvSpPr/>
          <p:nvPr/>
        </p:nvSpPr>
        <p:spPr>
          <a:xfrm>
            <a:off x="4069080" y="307238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index</a:t>
            </a:r>
            <a:endParaRPr lang="en-US" sz="850" dirty="0"/>
          </a:p>
        </p:txBody>
      </p:sp>
      <p:sp>
        <p:nvSpPr>
          <p:cNvPr id="34" name="s8_tb_r2c4"/>
          <p:cNvSpPr/>
          <p:nvPr/>
        </p:nvSpPr>
        <p:spPr>
          <a:xfrm>
            <a:off x="5074920" y="3072384"/>
            <a:ext cx="23682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11,989 plugins · 63,065 skills</a:t>
            </a:r>
            <a:endParaRPr lang="en-US" sz="850" dirty="0"/>
          </a:p>
        </p:txBody>
      </p:sp>
      <p:sp>
        <p:nvSpPr>
          <p:cNvPr id="35" name="s8_tb_hr3"/>
          <p:cNvSpPr/>
          <p:nvPr/>
        </p:nvSpPr>
        <p:spPr>
          <a:xfrm>
            <a:off x="777240" y="3557016"/>
            <a:ext cx="666597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6" name="s8_tb_r3c0"/>
          <p:cNvSpPr/>
          <p:nvPr/>
        </p:nvSpPr>
        <p:spPr>
          <a:xfrm>
            <a:off x="777240" y="3557016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pi.dev/packages</a:t>
            </a:r>
            <a:endParaRPr lang="en-US" sz="850" dirty="0"/>
          </a:p>
        </p:txBody>
      </p:sp>
      <p:sp>
        <p:nvSpPr>
          <p:cNvPr id="37" name="s8_tb_r3c1"/>
          <p:cNvSpPr/>
          <p:nvPr/>
        </p:nvSpPr>
        <p:spPr>
          <a:xfrm>
            <a:off x="2148840" y="3557016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only</a:t>
            </a:r>
            <a:endParaRPr lang="en-US" sz="850" dirty="0"/>
          </a:p>
        </p:txBody>
      </p:sp>
      <p:sp>
        <p:nvSpPr>
          <p:cNvPr id="38" name="s8_tb_r3c2"/>
          <p:cNvSpPr/>
          <p:nvPr/>
        </p:nvSpPr>
        <p:spPr>
          <a:xfrm>
            <a:off x="3017520" y="3557016"/>
            <a:ext cx="1051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ext/skill/theme/prompt</a:t>
            </a:r>
            <a:endParaRPr lang="en-US" sz="850" dirty="0"/>
          </a:p>
        </p:txBody>
      </p:sp>
      <p:sp>
        <p:nvSpPr>
          <p:cNvPr id="39" name="s8_tb_r3c3"/>
          <p:cNvSpPr/>
          <p:nvPr/>
        </p:nvSpPr>
        <p:spPr>
          <a:xfrm>
            <a:off x="4069080" y="3557016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index</a:t>
            </a:r>
            <a:endParaRPr lang="en-US" sz="850" dirty="0"/>
          </a:p>
        </p:txBody>
      </p:sp>
      <p:sp>
        <p:nvSpPr>
          <p:cNvPr id="40" name="s8_tb_r3c4"/>
          <p:cNvSpPr/>
          <p:nvPr/>
        </p:nvSpPr>
        <p:spPr>
          <a:xfrm>
            <a:off x="5074920" y="3557016"/>
            <a:ext cx="23682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5,361 packages · top 1.6M dl/mo</a:t>
            </a:r>
            <a:endParaRPr lang="en-US" sz="850" dirty="0"/>
          </a:p>
        </p:txBody>
      </p:sp>
      <p:sp>
        <p:nvSpPr>
          <p:cNvPr id="41" name="s8_tb_hr4"/>
          <p:cNvSpPr/>
          <p:nvPr/>
        </p:nvSpPr>
        <p:spPr>
          <a:xfrm>
            <a:off x="777240" y="4041648"/>
            <a:ext cx="666597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2" name="s8_tb_r4c0"/>
          <p:cNvSpPr/>
          <p:nvPr/>
        </p:nvSpPr>
        <p:spPr>
          <a:xfrm>
            <a:off x="777240" y="4041648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v2 catalog</a:t>
            </a:r>
            <a:endParaRPr lang="en-US" sz="850" dirty="0"/>
          </a:p>
        </p:txBody>
      </p:sp>
      <p:sp>
        <p:nvSpPr>
          <p:cNvPr id="43" name="s8_tb_r4c1"/>
          <p:cNvSpPr/>
          <p:nvPr/>
        </p:nvSpPr>
        <p:spPr>
          <a:xfrm>
            <a:off x="2148840" y="4041648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</a:t>
            </a:r>
            <a:endParaRPr lang="en-US" sz="850" dirty="0"/>
          </a:p>
        </p:txBody>
      </p:sp>
      <p:sp>
        <p:nvSpPr>
          <p:cNvPr id="44" name="s8_tb_r4c2"/>
          <p:cNvSpPr/>
          <p:nvPr/>
        </p:nvSpPr>
        <p:spPr>
          <a:xfrm>
            <a:off x="3017520" y="4041648"/>
            <a:ext cx="1051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850" dirty="0"/>
          </a:p>
        </p:txBody>
      </p:sp>
      <p:sp>
        <p:nvSpPr>
          <p:cNvPr id="45" name="s8_tb_r4c3"/>
          <p:cNvSpPr/>
          <p:nvPr/>
        </p:nvSpPr>
        <p:spPr>
          <a:xfrm>
            <a:off x="4069080" y="4041648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index.json</a:t>
            </a:r>
            <a:endParaRPr lang="en-US" sz="850" dirty="0"/>
          </a:p>
        </p:txBody>
      </p:sp>
      <p:sp>
        <p:nvSpPr>
          <p:cNvPr id="46" name="s8_tb_r4c4"/>
          <p:cNvSpPr/>
          <p:nvPr/>
        </p:nvSpPr>
        <p:spPr>
          <a:xfrm>
            <a:off x="5074920" y="4041648"/>
            <a:ext cx="23682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versioned cache — most registry-ready</a:t>
            </a:r>
            <a:endParaRPr lang="en-US" sz="850" dirty="0"/>
          </a:p>
        </p:txBody>
      </p:sp>
      <p:sp>
        <p:nvSpPr>
          <p:cNvPr id="47" name="s8_tb_hr5"/>
          <p:cNvSpPr/>
          <p:nvPr/>
        </p:nvSpPr>
        <p:spPr>
          <a:xfrm>
            <a:off x="777240" y="4526280"/>
            <a:ext cx="666597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8_tb_r5c0"/>
          <p:cNvSpPr/>
          <p:nvPr/>
        </p:nvSpPr>
        <p:spPr>
          <a:xfrm>
            <a:off x="777240" y="4526280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registry (official)</a:t>
            </a:r>
            <a:endParaRPr lang="en-US" sz="850" dirty="0"/>
          </a:p>
        </p:txBody>
      </p:sp>
      <p:sp>
        <p:nvSpPr>
          <p:cNvPr id="49" name="s8_tb_r5c1"/>
          <p:cNvSpPr/>
          <p:nvPr/>
        </p:nvSpPr>
        <p:spPr>
          <a:xfrm>
            <a:off x="2148840" y="4526280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 mcp client</a:t>
            </a:r>
            <a:endParaRPr lang="en-US" sz="850" dirty="0"/>
          </a:p>
        </p:txBody>
      </p:sp>
      <p:sp>
        <p:nvSpPr>
          <p:cNvPr id="50" name="s8_tb_r5c2"/>
          <p:cNvSpPr/>
          <p:nvPr/>
        </p:nvSpPr>
        <p:spPr>
          <a:xfrm>
            <a:off x="3017520" y="4526280"/>
            <a:ext cx="1051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servers</a:t>
            </a:r>
            <a:endParaRPr lang="en-US" sz="850" dirty="0"/>
          </a:p>
        </p:txBody>
      </p:sp>
      <p:sp>
        <p:nvSpPr>
          <p:cNvPr id="51" name="s8_tb_r5c3"/>
          <p:cNvSpPr/>
          <p:nvPr/>
        </p:nvSpPr>
        <p:spPr>
          <a:xfrm>
            <a:off x="4069080" y="4526280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metadata-only</a:t>
            </a:r>
            <a:endParaRPr lang="en-US" sz="850" dirty="0"/>
          </a:p>
        </p:txBody>
      </p:sp>
      <p:sp>
        <p:nvSpPr>
          <p:cNvPr id="52" name="s8_tb_r5c4"/>
          <p:cNvSpPr/>
          <p:nvPr/>
        </p:nvSpPr>
        <p:spPr>
          <a:xfrm>
            <a:off x="5074920" y="4526280"/>
            <a:ext cx="23682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~9,652 servers · dns/github verify</a:t>
            </a:r>
            <a:endParaRPr lang="en-US" sz="850" dirty="0"/>
          </a:p>
        </p:txBody>
      </p:sp>
      <p:sp>
        <p:nvSpPr>
          <p:cNvPr id="53" name="s8_tb_hr6"/>
          <p:cNvSpPr/>
          <p:nvPr/>
        </p:nvSpPr>
        <p:spPr>
          <a:xfrm>
            <a:off x="777240" y="5010912"/>
            <a:ext cx="666597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8_k0_sh"/>
          <p:cNvSpPr/>
          <p:nvPr/>
        </p:nvSpPr>
        <p:spPr>
          <a:xfrm>
            <a:off x="7914132" y="1677924"/>
            <a:ext cx="3822192" cy="8229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5" name="s8_k0"/>
          <p:cNvSpPr/>
          <p:nvPr/>
        </p:nvSpPr>
        <p:spPr>
          <a:xfrm>
            <a:off x="7863840" y="1627632"/>
            <a:ext cx="3822192" cy="8229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6" name="s8_k0_n"/>
          <p:cNvSpPr/>
          <p:nvPr/>
        </p:nvSpPr>
        <p:spPr>
          <a:xfrm>
            <a:off x="8092440" y="1700784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35.3K</a:t>
            </a:r>
            <a:endParaRPr lang="en-US" sz="2600" dirty="0"/>
          </a:p>
        </p:txBody>
      </p:sp>
      <p:sp>
        <p:nvSpPr>
          <p:cNvPr id="57" name="s8_k0_l"/>
          <p:cNvSpPr/>
          <p:nvPr/>
        </p:nvSpPr>
        <p:spPr>
          <a:xfrm>
            <a:off x="9555480" y="17922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spc="1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STARS · SKILLS.SH / VERCEL</a:t>
            </a:r>
            <a:endParaRPr lang="en-US" sz="850" dirty="0"/>
          </a:p>
        </p:txBody>
      </p:sp>
      <p:sp>
        <p:nvSpPr>
          <p:cNvPr id="58" name="s8_k1_sh"/>
          <p:cNvSpPr/>
          <p:nvPr/>
        </p:nvSpPr>
        <p:spPr>
          <a:xfrm>
            <a:off x="7914132" y="2592324"/>
            <a:ext cx="3822192" cy="8229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9" name="s8_k1"/>
          <p:cNvSpPr/>
          <p:nvPr/>
        </p:nvSpPr>
        <p:spPr>
          <a:xfrm>
            <a:off x="7863840" y="2542032"/>
            <a:ext cx="3822192" cy="8229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0" name="s8_k1_n"/>
          <p:cNvSpPr/>
          <p:nvPr/>
        </p:nvSpPr>
        <p:spPr>
          <a:xfrm>
            <a:off x="8092440" y="2615184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63,065</a:t>
            </a:r>
            <a:endParaRPr lang="en-US" sz="2600" dirty="0"/>
          </a:p>
        </p:txBody>
      </p:sp>
      <p:sp>
        <p:nvSpPr>
          <p:cNvPr id="61" name="s8_k1_l"/>
          <p:cNvSpPr/>
          <p:nvPr/>
        </p:nvSpPr>
        <p:spPr>
          <a:xfrm>
            <a:off x="9555480" y="27066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spc="1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 INDEXED · CLAUDE-PLUGINS.DEV</a:t>
            </a:r>
            <a:endParaRPr lang="en-US" sz="850" dirty="0"/>
          </a:p>
        </p:txBody>
      </p:sp>
      <p:sp>
        <p:nvSpPr>
          <p:cNvPr id="62" name="s8_k2_sh"/>
          <p:cNvSpPr/>
          <p:nvPr/>
        </p:nvSpPr>
        <p:spPr>
          <a:xfrm>
            <a:off x="7914132" y="3506724"/>
            <a:ext cx="3822192" cy="8229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3" name="s8_k2"/>
          <p:cNvSpPr/>
          <p:nvPr/>
        </p:nvSpPr>
        <p:spPr>
          <a:xfrm>
            <a:off x="7863840" y="3456432"/>
            <a:ext cx="3822192" cy="8229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4" name="s8_k2_n"/>
          <p:cNvSpPr/>
          <p:nvPr/>
        </p:nvSpPr>
        <p:spPr>
          <a:xfrm>
            <a:off x="8092440" y="3529584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1.6M</a:t>
            </a:r>
            <a:endParaRPr lang="en-US" sz="2600" dirty="0"/>
          </a:p>
        </p:txBody>
      </p:sp>
      <p:sp>
        <p:nvSpPr>
          <p:cNvPr id="65" name="s8_k2_l"/>
          <p:cNvSpPr/>
          <p:nvPr/>
        </p:nvSpPr>
        <p:spPr>
          <a:xfrm>
            <a:off x="9555480" y="36210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spc="1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DL/MO · PI.DEV TOP PACKAGE</a:t>
            </a:r>
            <a:endParaRPr lang="en-US" sz="850" dirty="0"/>
          </a:p>
        </p:txBody>
      </p:sp>
      <p:sp>
        <p:nvSpPr>
          <p:cNvPr id="66" name="s8_k3_sh"/>
          <p:cNvSpPr/>
          <p:nvPr/>
        </p:nvSpPr>
        <p:spPr>
          <a:xfrm>
            <a:off x="7914132" y="4421124"/>
            <a:ext cx="3822192" cy="8229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7" name="s8_k3"/>
          <p:cNvSpPr/>
          <p:nvPr/>
        </p:nvSpPr>
        <p:spPr>
          <a:xfrm>
            <a:off x="7863840" y="4370832"/>
            <a:ext cx="3822192" cy="8229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8" name="s8_k3_n"/>
          <p:cNvSpPr/>
          <p:nvPr/>
        </p:nvSpPr>
        <p:spPr>
          <a:xfrm>
            <a:off x="8092440" y="4443984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9,652</a:t>
            </a:r>
            <a:endParaRPr lang="en-US" sz="2600" dirty="0"/>
          </a:p>
        </p:txBody>
      </p:sp>
      <p:sp>
        <p:nvSpPr>
          <p:cNvPr id="69" name="s8_k3_l"/>
          <p:cNvSpPr/>
          <p:nvPr/>
        </p:nvSpPr>
        <p:spPr>
          <a:xfrm>
            <a:off x="9555480" y="45354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spc="1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SERVERS · OFFICIAL REGISTRY</a:t>
            </a:r>
            <a:endParaRPr lang="en-US" sz="850" dirty="0"/>
          </a:p>
        </p:txBody>
      </p:sp>
      <p:sp>
        <p:nvSpPr>
          <p:cNvPr id="70" name="s8_gap_sh"/>
          <p:cNvSpPr/>
          <p:nvPr/>
        </p:nvSpPr>
        <p:spPr>
          <a:xfrm>
            <a:off x="553212" y="5399532"/>
            <a:ext cx="11183112" cy="10241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1" name="s8_gap"/>
          <p:cNvSpPr/>
          <p:nvPr/>
        </p:nvSpPr>
        <p:spPr>
          <a:xfrm>
            <a:off x="502920" y="5349240"/>
            <a:ext cx="11183112" cy="1024128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72" name="s8_gap_t"/>
          <p:cNvSpPr/>
          <p:nvPr/>
        </p:nvSpPr>
        <p:spPr>
          <a:xfrm>
            <a:off x="777240" y="5458968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gap: nobody = all artifact types × all 4 harnesses — whitespace verified 2026-10-16</a:t>
            </a:r>
            <a:endParaRPr lang="en-US" sz="1100" dirty="0"/>
          </a:p>
        </p:txBody>
      </p:sp>
      <p:sp>
        <p:nvSpPr>
          <p:cNvPr id="73" name="s8_less"/>
          <p:cNvSpPr/>
          <p:nvPr/>
        </p:nvSpPr>
        <p:spPr>
          <a:xfrm>
            <a:off x="777240" y="572414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lessons: index beats host (mcp registry) · vendor-run wins reach (skills.sh: 35.3k stars in 9 months) · scale without scanning = debt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(clawhub: 1,184 skills pulled in clawhavoc) · skills-only tools left plugins, mcp and hooks unsolved.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9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9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9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9_kick" descr="assets/k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422469" cy="182880"/>
          </a:xfrm>
          <a:prstGeom prst="rect">
            <a:avLst/>
          </a:prstGeom>
        </p:spPr>
      </p:pic>
      <p:pic>
        <p:nvPicPr>
          <p:cNvPr id="6" name="s9_title" descr="assets/t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5230368" cy="475488"/>
          </a:xfrm>
          <a:prstGeom prst="rect">
            <a:avLst/>
          </a:prstGeom>
        </p:spPr>
      </p:pic>
      <p:sp>
        <p:nvSpPr>
          <p:cNvPr id="7" name="s9_spec"/>
          <p:cNvSpPr/>
          <p:nvPr/>
        </p:nvSpPr>
        <p:spPr>
          <a:xfrm>
            <a:off x="502920" y="1216152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 are untrusted instructions + code — the 2026 attack corpus is measured, so the registry's trust model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a day-1 input, not an afterthought</a:t>
            </a:r>
            <a:endParaRPr lang="en-US" sz="1100" dirty="0"/>
          </a:p>
        </p:txBody>
      </p:sp>
      <p:sp>
        <p:nvSpPr>
          <p:cNvPr id="8" name="s9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en-US" sz="950" dirty="0"/>
          </a:p>
        </p:txBody>
      </p:sp>
      <p:sp>
        <p:nvSpPr>
          <p:cNvPr id="10" name="s9_hero_sh"/>
          <p:cNvSpPr/>
          <p:nvPr/>
        </p:nvSpPr>
        <p:spPr>
          <a:xfrm>
            <a:off x="553212" y="1879092"/>
            <a:ext cx="4206240" cy="20116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9_hero"/>
          <p:cNvSpPr/>
          <p:nvPr/>
        </p:nvSpPr>
        <p:spPr>
          <a:xfrm>
            <a:off x="502920" y="1828800"/>
            <a:ext cx="4206240" cy="2011680"/>
          </a:xfrm>
          <a:prstGeom prst="rect">
            <a:avLst/>
          </a:prstGeom>
          <a:solidFill>
            <a:srgbClr val="FBE5E5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9_hero_band"/>
          <p:cNvSpPr/>
          <p:nvPr/>
        </p:nvSpPr>
        <p:spPr>
          <a:xfrm>
            <a:off x="777240" y="19933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2026 NUMBERS</a:t>
            </a:r>
            <a:endParaRPr lang="en-US" sz="1050" dirty="0"/>
          </a:p>
        </p:txBody>
      </p:sp>
      <p:sp>
        <p:nvSpPr>
          <p:cNvPr id="13" name="s9_hero_n"/>
          <p:cNvSpPr/>
          <p:nvPr/>
        </p:nvSpPr>
        <p:spPr>
          <a:xfrm>
            <a:off x="731520" y="217627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36.82%</a:t>
            </a:r>
            <a:endParaRPr lang="en-US" sz="5400" dirty="0"/>
          </a:p>
        </p:txBody>
      </p:sp>
      <p:sp>
        <p:nvSpPr>
          <p:cNvPr id="14" name="s9_hero_d"/>
          <p:cNvSpPr/>
          <p:nvPr/>
        </p:nvSpPr>
        <p:spPr>
          <a:xfrm>
            <a:off x="777240" y="318211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3,984 sampled skills flawed — 13.4% (534) critical,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76 confirmed malicious (snyk toxicskills, 2026-02-05)</a:t>
            </a:r>
            <a:endParaRPr lang="en-US" sz="950" dirty="0"/>
          </a:p>
        </p:txBody>
      </p:sp>
      <p:sp>
        <p:nvSpPr>
          <p:cNvPr id="15" name="s9_st0_sh"/>
          <p:cNvSpPr/>
          <p:nvPr/>
        </p:nvSpPr>
        <p:spPr>
          <a:xfrm>
            <a:off x="553212" y="4000500"/>
            <a:ext cx="6793992" cy="621792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9_st0"/>
          <p:cNvSpPr/>
          <p:nvPr/>
        </p:nvSpPr>
        <p:spPr>
          <a:xfrm>
            <a:off x="502920" y="3950208"/>
            <a:ext cx="6793992" cy="621792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7" name="s9_st0_n"/>
          <p:cNvSpPr/>
          <p:nvPr/>
        </p:nvSpPr>
        <p:spPr>
          <a:xfrm>
            <a:off x="731520" y="399592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7.6%</a:t>
            </a:r>
            <a:endParaRPr lang="en-US" sz="2200" dirty="0"/>
          </a:p>
        </p:txBody>
      </p:sp>
      <p:sp>
        <p:nvSpPr>
          <p:cNvPr id="18" name="s9_st0_d"/>
          <p:cNvSpPr/>
          <p:nvPr/>
        </p:nvSpPr>
        <p:spPr>
          <a:xfrm>
            <a:off x="1828800" y="4005072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clawhub malicious-pattern rate — 2,371 of 31,371 skills (independent full-registry audit)</a:t>
            </a:r>
            <a:endParaRPr lang="en-US" sz="900" dirty="0"/>
          </a:p>
        </p:txBody>
      </p:sp>
      <p:sp>
        <p:nvSpPr>
          <p:cNvPr id="19" name="s9_st1_sh"/>
          <p:cNvSpPr/>
          <p:nvPr/>
        </p:nvSpPr>
        <p:spPr>
          <a:xfrm>
            <a:off x="553212" y="4677156"/>
            <a:ext cx="6793992" cy="621792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0" name="s9_st1"/>
          <p:cNvSpPr/>
          <p:nvPr/>
        </p:nvSpPr>
        <p:spPr>
          <a:xfrm>
            <a:off x="502920" y="4626864"/>
            <a:ext cx="6793992" cy="621792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1" name="s9_st1_n"/>
          <p:cNvSpPr/>
          <p:nvPr/>
        </p:nvSpPr>
        <p:spPr>
          <a:xfrm>
            <a:off x="731520" y="467258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</a:t>
            </a:r>
            <a:endParaRPr lang="en-US" sz="2200" dirty="0"/>
          </a:p>
        </p:txBody>
      </p:sp>
      <p:sp>
        <p:nvSpPr>
          <p:cNvPr id="22" name="s9_st1_d"/>
          <p:cNvSpPr/>
          <p:nvPr/>
        </p:nvSpPr>
        <p:spPr>
          <a:xfrm>
            <a:off x="1828800" y="4681728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 success rate of skill-file injections on frontier models (skill-inject benchmark, arxiv 2602.20156)</a:t>
            </a:r>
            <a:endParaRPr lang="en-US" sz="900" dirty="0"/>
          </a:p>
        </p:txBody>
      </p:sp>
      <p:sp>
        <p:nvSpPr>
          <p:cNvPr id="23" name="s9_st2_sh"/>
          <p:cNvSpPr/>
          <p:nvPr/>
        </p:nvSpPr>
        <p:spPr>
          <a:xfrm>
            <a:off x="553212" y="5353812"/>
            <a:ext cx="6793992" cy="621792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4" name="s9_st2"/>
          <p:cNvSpPr/>
          <p:nvPr/>
        </p:nvSpPr>
        <p:spPr>
          <a:xfrm>
            <a:off x="502920" y="5303520"/>
            <a:ext cx="6793992" cy="621792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5" name="s9_st2_n"/>
          <p:cNvSpPr/>
          <p:nvPr/>
        </p:nvSpPr>
        <p:spPr>
          <a:xfrm>
            <a:off x="731520" y="534924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</a:t>
            </a:r>
            <a:endParaRPr lang="en-US" sz="2200" dirty="0"/>
          </a:p>
        </p:txBody>
      </p:sp>
      <p:sp>
        <p:nvSpPr>
          <p:cNvPr id="26" name="s9_st2_d"/>
          <p:cNvSpPr/>
          <p:nvPr/>
        </p:nvSpPr>
        <p:spPr>
          <a:xfrm>
            <a:off x="1828800" y="5358384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 malicious of 98,380 skills — one actor &gt; 50%; 100% removed after disclosure (arxiv 2602.06547)</a:t>
            </a:r>
            <a:endParaRPr lang="en-US" sz="900" dirty="0"/>
          </a:p>
        </p:txBody>
      </p:sp>
      <p:sp>
        <p:nvSpPr>
          <p:cNvPr id="27" name="s9_lad_sh"/>
          <p:cNvSpPr/>
          <p:nvPr/>
        </p:nvSpPr>
        <p:spPr>
          <a:xfrm>
            <a:off x="7621524" y="1879092"/>
            <a:ext cx="4114800" cy="4096512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8" name="s9_lad"/>
          <p:cNvSpPr/>
          <p:nvPr/>
        </p:nvSpPr>
        <p:spPr>
          <a:xfrm>
            <a:off x="7571232" y="1828800"/>
            <a:ext cx="4114800" cy="4096512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9" name="s9_lad_band"/>
          <p:cNvSpPr/>
          <p:nvPr/>
        </p:nvSpPr>
        <p:spPr>
          <a:xfrm>
            <a:off x="7845552" y="20116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DAY-1 TRUST LADDER</a:t>
            </a:r>
            <a:endParaRPr lang="en-US" sz="1050" dirty="0"/>
          </a:p>
        </p:txBody>
      </p:sp>
      <p:sp>
        <p:nvSpPr>
          <p:cNvPr id="30" name="s9_lad_b0_sh"/>
          <p:cNvSpPr/>
          <p:nvPr/>
        </p:nvSpPr>
        <p:spPr>
          <a:xfrm>
            <a:off x="7872984" y="2368296"/>
            <a:ext cx="365760" cy="3657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9_lad_b0"/>
          <p:cNvSpPr/>
          <p:nvPr/>
        </p:nvSpPr>
        <p:spPr>
          <a:xfrm>
            <a:off x="7845552" y="2340864"/>
            <a:ext cx="365760" cy="3657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2" name="s9_lad_b0_t"/>
          <p:cNvSpPr/>
          <p:nvPr/>
        </p:nvSpPr>
        <p:spPr>
          <a:xfrm>
            <a:off x="7845552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33" name="s9_lad_t0"/>
          <p:cNvSpPr/>
          <p:nvPr/>
        </p:nvSpPr>
        <p:spPr>
          <a:xfrm>
            <a:off x="8357616" y="23042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namespace verification — github oidc / dns-txt</a:t>
            </a:r>
            <a:endParaRPr lang="en-US" sz="1000" dirty="0"/>
          </a:p>
        </p:txBody>
      </p:sp>
      <p:sp>
        <p:nvSpPr>
          <p:cNvPr id="34" name="s9_lad_hr0"/>
          <p:cNvSpPr/>
          <p:nvPr/>
        </p:nvSpPr>
        <p:spPr>
          <a:xfrm>
            <a:off x="7845552" y="2871216"/>
            <a:ext cx="356616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5" name="s9_lad_b1_sh"/>
          <p:cNvSpPr/>
          <p:nvPr/>
        </p:nvSpPr>
        <p:spPr>
          <a:xfrm>
            <a:off x="7872984" y="3044952"/>
            <a:ext cx="365760" cy="3657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9_lad_b1"/>
          <p:cNvSpPr/>
          <p:nvPr/>
        </p:nvSpPr>
        <p:spPr>
          <a:xfrm>
            <a:off x="7845552" y="3017520"/>
            <a:ext cx="365760" cy="3657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7" name="s9_lad_b1_t"/>
          <p:cNvSpPr/>
          <p:nvPr/>
        </p:nvSpPr>
        <p:spPr>
          <a:xfrm>
            <a:off x="7845552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38" name="s9_lad_t1"/>
          <p:cNvSpPr/>
          <p:nvPr/>
        </p:nvSpPr>
        <p:spPr>
          <a:xfrm>
            <a:off x="8357616" y="29809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publish-time scan gate — static + llm + mcp-scan</a:t>
            </a:r>
            <a:endParaRPr lang="en-US" sz="1000" dirty="0"/>
          </a:p>
        </p:txBody>
      </p:sp>
      <p:sp>
        <p:nvSpPr>
          <p:cNvPr id="39" name="s9_lad_hr1"/>
          <p:cNvSpPr/>
          <p:nvPr/>
        </p:nvSpPr>
        <p:spPr>
          <a:xfrm>
            <a:off x="7845552" y="3547872"/>
            <a:ext cx="356616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0" name="s9_lad_b2_sh"/>
          <p:cNvSpPr/>
          <p:nvPr/>
        </p:nvSpPr>
        <p:spPr>
          <a:xfrm>
            <a:off x="7872984" y="3721608"/>
            <a:ext cx="365760" cy="3657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1" name="s9_lad_b2"/>
          <p:cNvSpPr/>
          <p:nvPr/>
        </p:nvSpPr>
        <p:spPr>
          <a:xfrm>
            <a:off x="7845552" y="3694176"/>
            <a:ext cx="365760" cy="3657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42" name="s9_lad_b2_t"/>
          <p:cNvSpPr/>
          <p:nvPr/>
        </p:nvSpPr>
        <p:spPr>
          <a:xfrm>
            <a:off x="7845552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43" name="s9_lad_t2"/>
          <p:cNvSpPr/>
          <p:nvPr/>
        </p:nvSpPr>
        <p:spPr>
          <a:xfrm>
            <a:off x="8357616" y="3657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hashed versions + diff on every bump</a:t>
            </a:r>
            <a:endParaRPr lang="en-US" sz="1000" dirty="0"/>
          </a:p>
        </p:txBody>
      </p:sp>
      <p:sp>
        <p:nvSpPr>
          <p:cNvPr id="44" name="s9_lad_hr2"/>
          <p:cNvSpPr/>
          <p:nvPr/>
        </p:nvSpPr>
        <p:spPr>
          <a:xfrm>
            <a:off x="7845552" y="4224528"/>
            <a:ext cx="356616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9_lad_b3_sh"/>
          <p:cNvSpPr/>
          <p:nvPr/>
        </p:nvSpPr>
        <p:spPr>
          <a:xfrm>
            <a:off x="7872984" y="4398264"/>
            <a:ext cx="365760" cy="3657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6" name="s9_lad_b3"/>
          <p:cNvSpPr/>
          <p:nvPr/>
        </p:nvSpPr>
        <p:spPr>
          <a:xfrm>
            <a:off x="7845552" y="4370832"/>
            <a:ext cx="365760" cy="3657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47" name="s9_lad_b3_t"/>
          <p:cNvSpPr/>
          <p:nvPr/>
        </p:nvSpPr>
        <p:spPr>
          <a:xfrm>
            <a:off x="7845552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48" name="s9_lad_t3"/>
          <p:cNvSpPr/>
          <p:nvPr/>
        </p:nvSpPr>
        <p:spPr>
          <a:xfrm>
            <a:off x="8357616" y="433425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agentreg.lock — urn → version → sha256 → targets</a:t>
            </a:r>
            <a:endParaRPr lang="en-US" sz="1000" dirty="0"/>
          </a:p>
        </p:txBody>
      </p:sp>
      <p:sp>
        <p:nvSpPr>
          <p:cNvPr id="49" name="s9_lad_hr3"/>
          <p:cNvSpPr/>
          <p:nvPr/>
        </p:nvSpPr>
        <p:spPr>
          <a:xfrm>
            <a:off x="7845552" y="4901184"/>
            <a:ext cx="356616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0" name="s9_lad_b4_sh"/>
          <p:cNvSpPr/>
          <p:nvPr/>
        </p:nvSpPr>
        <p:spPr>
          <a:xfrm>
            <a:off x="7872984" y="5074920"/>
            <a:ext cx="365760" cy="3657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1" name="s9_lad_b4"/>
          <p:cNvSpPr/>
          <p:nvPr/>
        </p:nvSpPr>
        <p:spPr>
          <a:xfrm>
            <a:off x="7845552" y="5047488"/>
            <a:ext cx="365760" cy="3657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52" name="s9_lad_b4_t"/>
          <p:cNvSpPr/>
          <p:nvPr/>
        </p:nvSpPr>
        <p:spPr>
          <a:xfrm>
            <a:off x="7845552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53" name="s9_lad_t4"/>
          <p:cNvSpPr/>
          <p:nvPr/>
        </p:nvSpPr>
        <p:spPr>
          <a:xfrm>
            <a:off x="8357616" y="501091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tiers by type — hooks / mcp = review tier</a:t>
            </a:r>
            <a:endParaRPr lang="en-US" sz="1000" dirty="0"/>
          </a:p>
        </p:txBody>
      </p:sp>
      <p:sp>
        <p:nvSpPr>
          <p:cNvPr id="54" name="s9_warn"/>
          <p:cNvSpPr/>
          <p:nvPr/>
        </p:nvSpPr>
        <p:spPr>
          <a:xfrm>
            <a:off x="502920" y="6053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scanning is necessary, never sufficient: unit 42 found 5 evasive skills that beat virustotal + clawscan (one padded a readme to 22 MB to blow scanner size limits).</a:t>
            </a:r>
            <a:endParaRPr lang="en-US" sz="8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badges say scanned/warn — never “safe”. the agent is the postinstall script (datadog: !cmd runs pre-injection).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0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0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0_kick" descr="assets/k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265714" cy="182880"/>
          </a:xfrm>
          <a:prstGeom prst="rect">
            <a:avLst/>
          </a:prstGeom>
        </p:spPr>
      </p:pic>
      <p:pic>
        <p:nvPicPr>
          <p:cNvPr id="6" name="s10_title" descr="assets/t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7268174" cy="475488"/>
          </a:xfrm>
          <a:prstGeom prst="rect">
            <a:avLst/>
          </a:prstGeom>
        </p:spPr>
      </p:pic>
      <p:sp>
        <p:nvSpPr>
          <p:cNvPr id="7" name="s10_spec"/>
          <p:cNvSpPr/>
          <p:nvPr/>
        </p:nvSpPr>
        <p:spPr>
          <a:xfrm>
            <a:off x="502920" y="1216152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a (recommended): thin verified index + agentreg emitter cli — records are metadata + hashes pointing at git/npm, never hosted code</a:t>
            </a:r>
            <a:endParaRPr lang="en-US" sz="1100" dirty="0"/>
          </a:p>
        </p:txBody>
      </p:sp>
      <p:sp>
        <p:nvSpPr>
          <p:cNvPr id="8" name="s10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950" dirty="0"/>
          </a:p>
        </p:txBody>
      </p:sp>
      <p:sp>
        <p:nvSpPr>
          <p:cNvPr id="10" name="s10_f0_sh"/>
          <p:cNvSpPr/>
          <p:nvPr/>
        </p:nvSpPr>
        <p:spPr>
          <a:xfrm>
            <a:off x="530352" y="1691640"/>
            <a:ext cx="727862" cy="3327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10_f0"/>
          <p:cNvSpPr/>
          <p:nvPr/>
        </p:nvSpPr>
        <p:spPr>
          <a:xfrm>
            <a:off x="502920" y="1664208"/>
            <a:ext cx="727862" cy="332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12" name="s10_f0_t"/>
          <p:cNvSpPr/>
          <p:nvPr/>
        </p:nvSpPr>
        <p:spPr>
          <a:xfrm>
            <a:off x="502920" y="1664208"/>
            <a:ext cx="727862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</a:t>
            </a:r>
            <a:endParaRPr lang="en-US" sz="1000" dirty="0"/>
          </a:p>
        </p:txBody>
      </p:sp>
      <p:sp>
        <p:nvSpPr>
          <p:cNvPr id="13" name="s10_fa0_shaft"/>
          <p:cNvSpPr/>
          <p:nvPr/>
        </p:nvSpPr>
        <p:spPr>
          <a:xfrm>
            <a:off x="1340510" y="1835658"/>
            <a:ext cx="201168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4" name="s10_fa0_h1"/>
          <p:cNvSpPr/>
          <p:nvPr/>
        </p:nvSpPr>
        <p:spPr>
          <a:xfrm>
            <a:off x="1541678" y="175107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" name="s10_fa0_h2"/>
          <p:cNvSpPr/>
          <p:nvPr/>
        </p:nvSpPr>
        <p:spPr>
          <a:xfrm>
            <a:off x="1541678" y="1869948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10_fa0_tip"/>
          <p:cNvSpPr/>
          <p:nvPr/>
        </p:nvSpPr>
        <p:spPr>
          <a:xfrm>
            <a:off x="1633118" y="1810512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7" name="s10_f1_sh"/>
          <p:cNvSpPr/>
          <p:nvPr/>
        </p:nvSpPr>
        <p:spPr>
          <a:xfrm>
            <a:off x="1770278" y="1691640"/>
            <a:ext cx="647395" cy="3327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8" name="s10_f1"/>
          <p:cNvSpPr/>
          <p:nvPr/>
        </p:nvSpPr>
        <p:spPr>
          <a:xfrm>
            <a:off x="1742846" y="1664208"/>
            <a:ext cx="647395" cy="332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19" name="s10_f1_t"/>
          <p:cNvSpPr/>
          <p:nvPr/>
        </p:nvSpPr>
        <p:spPr>
          <a:xfrm>
            <a:off x="1742846" y="1664208"/>
            <a:ext cx="647395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1000" dirty="0"/>
          </a:p>
        </p:txBody>
      </p:sp>
      <p:sp>
        <p:nvSpPr>
          <p:cNvPr id="20" name="s10_fa1_shaft"/>
          <p:cNvSpPr/>
          <p:nvPr/>
        </p:nvSpPr>
        <p:spPr>
          <a:xfrm>
            <a:off x="2499970" y="1835658"/>
            <a:ext cx="201168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s10_fa1_h1"/>
          <p:cNvSpPr/>
          <p:nvPr/>
        </p:nvSpPr>
        <p:spPr>
          <a:xfrm>
            <a:off x="2701138" y="175107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2" name="s10_fa1_h2"/>
          <p:cNvSpPr/>
          <p:nvPr/>
        </p:nvSpPr>
        <p:spPr>
          <a:xfrm>
            <a:off x="2701138" y="1869948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3" name="s10_fa1_tip"/>
          <p:cNvSpPr/>
          <p:nvPr/>
        </p:nvSpPr>
        <p:spPr>
          <a:xfrm>
            <a:off x="2792578" y="1810512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4" name="s10_f2_sh"/>
          <p:cNvSpPr/>
          <p:nvPr/>
        </p:nvSpPr>
        <p:spPr>
          <a:xfrm>
            <a:off x="2929738" y="1691640"/>
            <a:ext cx="486461" cy="3327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5" name="s10_f2"/>
          <p:cNvSpPr/>
          <p:nvPr/>
        </p:nvSpPr>
        <p:spPr>
          <a:xfrm>
            <a:off x="2902306" y="1664208"/>
            <a:ext cx="486461" cy="332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26" name="s10_f2_t"/>
          <p:cNvSpPr/>
          <p:nvPr/>
        </p:nvSpPr>
        <p:spPr>
          <a:xfrm>
            <a:off x="2902306" y="1664208"/>
            <a:ext cx="486461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</a:t>
            </a:r>
            <a:endParaRPr lang="en-US" sz="1000" dirty="0"/>
          </a:p>
        </p:txBody>
      </p:sp>
      <p:sp>
        <p:nvSpPr>
          <p:cNvPr id="27" name="s10_fa2_shaft"/>
          <p:cNvSpPr/>
          <p:nvPr/>
        </p:nvSpPr>
        <p:spPr>
          <a:xfrm>
            <a:off x="3498494" y="1835658"/>
            <a:ext cx="201168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8" name="s10_fa2_h1"/>
          <p:cNvSpPr/>
          <p:nvPr/>
        </p:nvSpPr>
        <p:spPr>
          <a:xfrm>
            <a:off x="3699662" y="175107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9" name="s10_fa2_h2"/>
          <p:cNvSpPr/>
          <p:nvPr/>
        </p:nvSpPr>
        <p:spPr>
          <a:xfrm>
            <a:off x="3699662" y="1869948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0" name="s10_fa2_tip"/>
          <p:cNvSpPr/>
          <p:nvPr/>
        </p:nvSpPr>
        <p:spPr>
          <a:xfrm>
            <a:off x="3791102" y="1810512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10_f3_sh"/>
          <p:cNvSpPr/>
          <p:nvPr/>
        </p:nvSpPr>
        <p:spPr>
          <a:xfrm>
            <a:off x="3928262" y="1691640"/>
            <a:ext cx="486461" cy="3327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2" name="s10_f3"/>
          <p:cNvSpPr/>
          <p:nvPr/>
        </p:nvSpPr>
        <p:spPr>
          <a:xfrm>
            <a:off x="3900830" y="1664208"/>
            <a:ext cx="486461" cy="332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33" name="s10_f3_t"/>
          <p:cNvSpPr/>
          <p:nvPr/>
        </p:nvSpPr>
        <p:spPr>
          <a:xfrm>
            <a:off x="3900830" y="1664208"/>
            <a:ext cx="486461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SEAL</a:t>
            </a:r>
            <a:endParaRPr lang="en-US" sz="1000" dirty="0"/>
          </a:p>
        </p:txBody>
      </p:sp>
      <p:sp>
        <p:nvSpPr>
          <p:cNvPr id="34" name="s10_fa3_shaft"/>
          <p:cNvSpPr/>
          <p:nvPr/>
        </p:nvSpPr>
        <p:spPr>
          <a:xfrm>
            <a:off x="4497019" y="1835658"/>
            <a:ext cx="201168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5" name="s10_fa3_h1"/>
          <p:cNvSpPr/>
          <p:nvPr/>
        </p:nvSpPr>
        <p:spPr>
          <a:xfrm>
            <a:off x="4698187" y="175107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10_fa3_h2"/>
          <p:cNvSpPr/>
          <p:nvPr/>
        </p:nvSpPr>
        <p:spPr>
          <a:xfrm>
            <a:off x="4698187" y="1869948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7" name="s10_fa3_tip"/>
          <p:cNvSpPr/>
          <p:nvPr/>
        </p:nvSpPr>
        <p:spPr>
          <a:xfrm>
            <a:off x="4789627" y="1810512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8" name="s10_f4_sh"/>
          <p:cNvSpPr/>
          <p:nvPr/>
        </p:nvSpPr>
        <p:spPr>
          <a:xfrm>
            <a:off x="4926787" y="1691640"/>
            <a:ext cx="566928" cy="3327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9" name="s10_f4"/>
          <p:cNvSpPr/>
          <p:nvPr/>
        </p:nvSpPr>
        <p:spPr>
          <a:xfrm>
            <a:off x="4899355" y="1664208"/>
            <a:ext cx="566928" cy="332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40" name="s10_f4_t"/>
          <p:cNvSpPr/>
          <p:nvPr/>
        </p:nvSpPr>
        <p:spPr>
          <a:xfrm>
            <a:off x="4899355" y="1664208"/>
            <a:ext cx="566928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endParaRPr lang="en-US" sz="1000" dirty="0"/>
          </a:p>
        </p:txBody>
      </p:sp>
      <p:sp>
        <p:nvSpPr>
          <p:cNvPr id="41" name="s10_fa4_shaft"/>
          <p:cNvSpPr/>
          <p:nvPr/>
        </p:nvSpPr>
        <p:spPr>
          <a:xfrm>
            <a:off x="5576011" y="1835658"/>
            <a:ext cx="201168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2" name="s10_fa4_h1"/>
          <p:cNvSpPr/>
          <p:nvPr/>
        </p:nvSpPr>
        <p:spPr>
          <a:xfrm>
            <a:off x="5777179" y="175107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3" name="s10_fa4_h2"/>
          <p:cNvSpPr/>
          <p:nvPr/>
        </p:nvSpPr>
        <p:spPr>
          <a:xfrm>
            <a:off x="5777179" y="1869948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4" name="s10_fa4_tip"/>
          <p:cNvSpPr/>
          <p:nvPr/>
        </p:nvSpPr>
        <p:spPr>
          <a:xfrm>
            <a:off x="5868619" y="1810512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5" name="s10_f5_sh"/>
          <p:cNvSpPr/>
          <p:nvPr/>
        </p:nvSpPr>
        <p:spPr>
          <a:xfrm>
            <a:off x="6005779" y="1691640"/>
            <a:ext cx="727862" cy="3327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6" name="s10_f5"/>
          <p:cNvSpPr/>
          <p:nvPr/>
        </p:nvSpPr>
        <p:spPr>
          <a:xfrm>
            <a:off x="5978347" y="1664208"/>
            <a:ext cx="727862" cy="332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47" name="s10_f5_t"/>
          <p:cNvSpPr/>
          <p:nvPr/>
        </p:nvSpPr>
        <p:spPr>
          <a:xfrm>
            <a:off x="5978347" y="1664208"/>
            <a:ext cx="727862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endParaRPr lang="en-US" sz="1000" dirty="0"/>
          </a:p>
        </p:txBody>
      </p:sp>
      <p:sp>
        <p:nvSpPr>
          <p:cNvPr id="48" name="s10_fa5_shaft"/>
          <p:cNvSpPr/>
          <p:nvPr/>
        </p:nvSpPr>
        <p:spPr>
          <a:xfrm>
            <a:off x="6815938" y="1835658"/>
            <a:ext cx="201168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9" name="s10_fa5_h1"/>
          <p:cNvSpPr/>
          <p:nvPr/>
        </p:nvSpPr>
        <p:spPr>
          <a:xfrm>
            <a:off x="7017106" y="175107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0" name="s10_fa5_h2"/>
          <p:cNvSpPr/>
          <p:nvPr/>
        </p:nvSpPr>
        <p:spPr>
          <a:xfrm>
            <a:off x="7017106" y="1869948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1" name="s10_fa5_tip"/>
          <p:cNvSpPr/>
          <p:nvPr/>
        </p:nvSpPr>
        <p:spPr>
          <a:xfrm>
            <a:off x="7108546" y="1810512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2" name="s10_f6_sh"/>
          <p:cNvSpPr/>
          <p:nvPr/>
        </p:nvSpPr>
        <p:spPr>
          <a:xfrm>
            <a:off x="7245706" y="1691640"/>
            <a:ext cx="486461" cy="3327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3" name="s10_f6"/>
          <p:cNvSpPr/>
          <p:nvPr/>
        </p:nvSpPr>
        <p:spPr>
          <a:xfrm>
            <a:off x="7218274" y="1664208"/>
            <a:ext cx="486461" cy="332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54" name="s10_f6_t"/>
          <p:cNvSpPr/>
          <p:nvPr/>
        </p:nvSpPr>
        <p:spPr>
          <a:xfrm>
            <a:off x="7218274" y="1664208"/>
            <a:ext cx="486461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</a:t>
            </a:r>
            <a:endParaRPr lang="en-US" sz="1000" dirty="0"/>
          </a:p>
        </p:txBody>
      </p:sp>
      <p:sp>
        <p:nvSpPr>
          <p:cNvPr id="55" name="s10_pipe_sh"/>
          <p:cNvSpPr/>
          <p:nvPr/>
        </p:nvSpPr>
        <p:spPr>
          <a:xfrm>
            <a:off x="553212" y="2382012"/>
            <a:ext cx="6812280" cy="27432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6" name="s10_pipe"/>
          <p:cNvSpPr/>
          <p:nvPr/>
        </p:nvSpPr>
        <p:spPr>
          <a:xfrm>
            <a:off x="502920" y="2331720"/>
            <a:ext cx="6812280" cy="27432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7" name="s10_pipe_band"/>
          <p:cNvSpPr/>
          <p:nvPr/>
        </p:nvSpPr>
        <p:spPr>
          <a:xfrm>
            <a:off x="777240" y="249631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PIPELINE</a:t>
            </a:r>
            <a:endParaRPr lang="en-US" sz="1000" dirty="0"/>
          </a:p>
        </p:txBody>
      </p:sp>
      <p:sp>
        <p:nvSpPr>
          <p:cNvPr id="58" name="s10_kv_k0"/>
          <p:cNvSpPr/>
          <p:nvPr/>
        </p:nvSpPr>
        <p:spPr>
          <a:xfrm>
            <a:off x="777240" y="2788920"/>
            <a:ext cx="868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</a:t>
            </a:r>
            <a:endParaRPr lang="en-US" sz="950" dirty="0"/>
          </a:p>
        </p:txBody>
      </p:sp>
      <p:sp>
        <p:nvSpPr>
          <p:cNvPr id="59" name="s10_kv_v0"/>
          <p:cNvSpPr/>
          <p:nvPr/>
        </p:nvSpPr>
        <p:spPr>
          <a:xfrm>
            <a:off x="1645920" y="2788920"/>
            <a:ext cx="5349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agentreg publish — github oidc identity, never a pr</a:t>
            </a:r>
            <a:endParaRPr lang="en-US" sz="900" dirty="0"/>
          </a:p>
        </p:txBody>
      </p:sp>
      <p:sp>
        <p:nvSpPr>
          <p:cNvPr id="60" name="s10_kv_hr0"/>
          <p:cNvSpPr/>
          <p:nvPr/>
        </p:nvSpPr>
        <p:spPr>
          <a:xfrm>
            <a:off x="777240" y="3140964"/>
            <a:ext cx="6217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61" name="s10_kv_k1"/>
          <p:cNvSpPr/>
          <p:nvPr/>
        </p:nvSpPr>
        <p:spPr>
          <a:xfrm>
            <a:off x="777240" y="3140964"/>
            <a:ext cx="868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950" dirty="0"/>
          </a:p>
        </p:txBody>
      </p:sp>
      <p:sp>
        <p:nvSpPr>
          <p:cNvPr id="62" name="s10_kv_v1"/>
          <p:cNvSpPr/>
          <p:nvPr/>
        </p:nvSpPr>
        <p:spPr>
          <a:xfrm>
            <a:off x="1645920" y="3140964"/>
            <a:ext cx="5349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io.github.* (oauth) · dns-txt for custom</a:t>
            </a:r>
            <a:endParaRPr lang="en-US" sz="900" dirty="0"/>
          </a:p>
        </p:txBody>
      </p:sp>
      <p:sp>
        <p:nvSpPr>
          <p:cNvPr id="63" name="s10_kv_hr1"/>
          <p:cNvSpPr/>
          <p:nvPr/>
        </p:nvSpPr>
        <p:spPr>
          <a:xfrm>
            <a:off x="777240" y="3493008"/>
            <a:ext cx="6217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64" name="s10_kv_k2"/>
          <p:cNvSpPr/>
          <p:nvPr/>
        </p:nvSpPr>
        <p:spPr>
          <a:xfrm>
            <a:off x="777240" y="3493008"/>
            <a:ext cx="868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</a:t>
            </a:r>
            <a:endParaRPr lang="en-US" sz="950" dirty="0"/>
          </a:p>
        </p:txBody>
      </p:sp>
      <p:sp>
        <p:nvSpPr>
          <p:cNvPr id="65" name="s10_kv_v2"/>
          <p:cNvSpPr/>
          <p:nvPr/>
        </p:nvSpPr>
        <p:spPr>
          <a:xfrm>
            <a:off x="1645920" y="3493008"/>
            <a:ext cx="5349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rules + llm review + mcp-scan · fail = unlisted</a:t>
            </a:r>
            <a:endParaRPr lang="en-US" sz="900" dirty="0"/>
          </a:p>
        </p:txBody>
      </p:sp>
      <p:sp>
        <p:nvSpPr>
          <p:cNvPr id="66" name="s10_kv_hr2"/>
          <p:cNvSpPr/>
          <p:nvPr/>
        </p:nvSpPr>
        <p:spPr>
          <a:xfrm>
            <a:off x="777240" y="3845052"/>
            <a:ext cx="6217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67" name="s10_kv_k3"/>
          <p:cNvSpPr/>
          <p:nvPr/>
        </p:nvSpPr>
        <p:spPr>
          <a:xfrm>
            <a:off x="777240" y="3845052"/>
            <a:ext cx="868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seal</a:t>
            </a:r>
            <a:endParaRPr lang="en-US" sz="950" dirty="0"/>
          </a:p>
        </p:txBody>
      </p:sp>
      <p:sp>
        <p:nvSpPr>
          <p:cNvPr id="68" name="s10_kv_v3"/>
          <p:cNvSpPr/>
          <p:nvPr/>
        </p:nvSpPr>
        <p:spPr>
          <a:xfrm>
            <a:off x="1645920" y="3845052"/>
            <a:ext cx="5349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sha256 · immutable versions · re-scan + diff on bump</a:t>
            </a:r>
            <a:endParaRPr lang="en-US" sz="900" dirty="0"/>
          </a:p>
        </p:txBody>
      </p:sp>
      <p:sp>
        <p:nvSpPr>
          <p:cNvPr id="69" name="s10_kv_hr3"/>
          <p:cNvSpPr/>
          <p:nvPr/>
        </p:nvSpPr>
        <p:spPr>
          <a:xfrm>
            <a:off x="777240" y="4197096"/>
            <a:ext cx="6217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0" name="s10_kv_k4"/>
          <p:cNvSpPr/>
          <p:nvPr/>
        </p:nvSpPr>
        <p:spPr>
          <a:xfrm>
            <a:off x="777240" y="4197096"/>
            <a:ext cx="868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endParaRPr lang="en-US" sz="950" dirty="0"/>
          </a:p>
        </p:txBody>
      </p:sp>
      <p:sp>
        <p:nvSpPr>
          <p:cNvPr id="71" name="s10_kv_v4"/>
          <p:cNvSpPr/>
          <p:nvPr/>
        </p:nvSpPr>
        <p:spPr>
          <a:xfrm>
            <a:off x="1645920" y="4197096"/>
            <a:ext cx="5349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+ badges — emit 4 native catalogs + npm mirror</a:t>
            </a:r>
            <a:endParaRPr lang="en-US" sz="900" dirty="0"/>
          </a:p>
        </p:txBody>
      </p:sp>
      <p:sp>
        <p:nvSpPr>
          <p:cNvPr id="72" name="s10_kv_hr4"/>
          <p:cNvSpPr/>
          <p:nvPr/>
        </p:nvSpPr>
        <p:spPr>
          <a:xfrm>
            <a:off x="777240" y="4549140"/>
            <a:ext cx="6217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3" name="s10_kv_k5"/>
          <p:cNvSpPr/>
          <p:nvPr/>
        </p:nvSpPr>
        <p:spPr>
          <a:xfrm>
            <a:off x="777240" y="4549140"/>
            <a:ext cx="868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endParaRPr lang="en-US" sz="950" dirty="0"/>
          </a:p>
        </p:txBody>
      </p:sp>
      <p:sp>
        <p:nvSpPr>
          <p:cNvPr id="74" name="s10_kv_v5"/>
          <p:cNvSpPr/>
          <p:nvPr/>
        </p:nvSpPr>
        <p:spPr>
          <a:xfrm>
            <a:off x="1645920" y="4549140"/>
            <a:ext cx="5349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copy-drops + native clis — never-execute installer</a:t>
            </a:r>
            <a:endParaRPr lang="en-US" sz="900" dirty="0"/>
          </a:p>
        </p:txBody>
      </p:sp>
      <p:sp>
        <p:nvSpPr>
          <p:cNvPr id="75" name="s10_pr_sh"/>
          <p:cNvSpPr/>
          <p:nvPr/>
        </p:nvSpPr>
        <p:spPr>
          <a:xfrm>
            <a:off x="7548372" y="2382012"/>
            <a:ext cx="4187952" cy="27432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6" name="s10_pr"/>
          <p:cNvSpPr/>
          <p:nvPr/>
        </p:nvSpPr>
        <p:spPr>
          <a:xfrm>
            <a:off x="7498080" y="2331720"/>
            <a:ext cx="4187952" cy="274320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77" name="s10_pr_band"/>
          <p:cNvSpPr/>
          <p:nvPr/>
        </p:nvSpPr>
        <p:spPr>
          <a:xfrm>
            <a:off x="7772400" y="24963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PRINCIPLES</a:t>
            </a:r>
            <a:endParaRPr lang="en-US" sz="1000" dirty="0"/>
          </a:p>
        </p:txBody>
      </p:sp>
      <p:sp>
        <p:nvSpPr>
          <p:cNvPr id="78" name="s10_pr_b0"/>
          <p:cNvSpPr/>
          <p:nvPr/>
        </p:nvSpPr>
        <p:spPr>
          <a:xfrm>
            <a:off x="7772400" y="2839212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79" name="s10_pr_t0"/>
          <p:cNvSpPr/>
          <p:nvPr/>
        </p:nvSpPr>
        <p:spPr>
          <a:xfrm>
            <a:off x="7936992" y="27980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 index, don't host</a:t>
            </a:r>
            <a:endParaRPr lang="en-US" sz="950" dirty="0"/>
          </a:p>
        </p:txBody>
      </p:sp>
      <p:sp>
        <p:nvSpPr>
          <p:cNvPr id="80" name="s10_pr_b1"/>
          <p:cNvSpPr/>
          <p:nvPr/>
        </p:nvSpPr>
        <p:spPr>
          <a:xfrm>
            <a:off x="7772400" y="3118104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81" name="s10_pr_t1"/>
          <p:cNvSpPr/>
          <p:nvPr/>
        </p:nvSpPr>
        <p:spPr>
          <a:xfrm>
            <a:off x="7936992" y="30769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p2 emit native formats, never invent a 4th path</a:t>
            </a:r>
            <a:endParaRPr lang="en-US" sz="950" dirty="0"/>
          </a:p>
        </p:txBody>
      </p:sp>
      <p:sp>
        <p:nvSpPr>
          <p:cNvPr id="82" name="s10_pr_b2"/>
          <p:cNvSpPr/>
          <p:nvPr/>
        </p:nvSpPr>
        <p:spPr>
          <a:xfrm>
            <a:off x="7772400" y="3396996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83" name="s10_pr_t2"/>
          <p:cNvSpPr/>
          <p:nvPr/>
        </p:nvSpPr>
        <p:spPr>
          <a:xfrm>
            <a:off x="7936992" y="33558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p3 trust tiers day 1</a:t>
            </a:r>
            <a:endParaRPr lang="en-US" sz="950" dirty="0"/>
          </a:p>
        </p:txBody>
      </p:sp>
      <p:sp>
        <p:nvSpPr>
          <p:cNvPr id="84" name="s10_pr_b3"/>
          <p:cNvSpPr/>
          <p:nvPr/>
        </p:nvSpPr>
        <p:spPr>
          <a:xfrm>
            <a:off x="7772400" y="3675888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85" name="s10_pr_t3"/>
          <p:cNvSpPr/>
          <p:nvPr/>
        </p:nvSpPr>
        <p:spPr>
          <a:xfrm>
            <a:off x="7936992" y="36347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p4 never-execute installer</a:t>
            </a:r>
            <a:endParaRPr lang="en-US" sz="950" dirty="0"/>
          </a:p>
        </p:txBody>
      </p:sp>
      <p:sp>
        <p:nvSpPr>
          <p:cNvPr id="86" name="s10_pr_b4"/>
          <p:cNvSpPr/>
          <p:nvPr/>
        </p:nvSpPr>
        <p:spPr>
          <a:xfrm>
            <a:off x="7772400" y="3954780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87" name="s10_pr_t4"/>
          <p:cNvSpPr/>
          <p:nvPr/>
        </p:nvSpPr>
        <p:spPr>
          <a:xfrm>
            <a:off x="7936992" y="39136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p5 spec-pure core, vendor extras in overlays</a:t>
            </a:r>
            <a:endParaRPr lang="en-US" sz="950" dirty="0"/>
          </a:p>
        </p:txBody>
      </p:sp>
      <p:sp>
        <p:nvSpPr>
          <p:cNvPr id="88" name="s10_pr_b5"/>
          <p:cNvSpPr/>
          <p:nvPr/>
        </p:nvSpPr>
        <p:spPr>
          <a:xfrm>
            <a:off x="7772400" y="4233672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89" name="s10_pr_t5"/>
          <p:cNvSpPr/>
          <p:nvPr/>
        </p:nvSpPr>
        <p:spPr>
          <a:xfrm>
            <a:off x="7936992" y="41925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p6 copy &gt; symlink</a:t>
            </a:r>
            <a:endParaRPr lang="en-US" sz="950" dirty="0"/>
          </a:p>
        </p:txBody>
      </p:sp>
      <p:sp>
        <p:nvSpPr>
          <p:cNvPr id="90" name="s10_pr_b6"/>
          <p:cNvSpPr/>
          <p:nvPr/>
        </p:nvSpPr>
        <p:spPr>
          <a:xfrm>
            <a:off x="7772400" y="4512564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91" name="s10_pr_t6"/>
          <p:cNvSpPr/>
          <p:nvPr/>
        </p:nvSpPr>
        <p:spPr>
          <a:xfrm>
            <a:off x="7936992" y="44714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p7 immutable versions + cross-harness lockfile</a:t>
            </a:r>
            <a:endParaRPr lang="en-US" sz="950" dirty="0"/>
          </a:p>
        </p:txBody>
      </p:sp>
      <p:sp>
        <p:nvSpPr>
          <p:cNvPr id="92" name="s10_pr_b7"/>
          <p:cNvSpPr/>
          <p:nvPr/>
        </p:nvSpPr>
        <p:spPr>
          <a:xfrm>
            <a:off x="7772400" y="4791456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93" name="s10_pr_t7"/>
          <p:cNvSpPr/>
          <p:nvPr/>
        </p:nvSpPr>
        <p:spPr>
          <a:xfrm>
            <a:off x="7936992" y="47503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p8 delegate scanning</a:t>
            </a:r>
            <a:endParaRPr lang="en-US" sz="950" dirty="0"/>
          </a:p>
        </p:txBody>
      </p:sp>
      <p:sp>
        <p:nvSpPr>
          <p:cNvPr id="94" name="s10_opt_sh"/>
          <p:cNvSpPr/>
          <p:nvPr/>
        </p:nvSpPr>
        <p:spPr>
          <a:xfrm>
            <a:off x="553212" y="5308092"/>
            <a:ext cx="11183112" cy="10515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5" name="s10_opt"/>
          <p:cNvSpPr/>
          <p:nvPr/>
        </p:nvSpPr>
        <p:spPr>
          <a:xfrm>
            <a:off x="502920" y="5257800"/>
            <a:ext cx="11183112" cy="1051560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96" name="s10_opt_band"/>
          <p:cNvSpPr/>
          <p:nvPr/>
        </p:nvSpPr>
        <p:spPr>
          <a:xfrm>
            <a:off x="777240" y="53949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FOLDED IN, NOT BUILT TWICE</a:t>
            </a:r>
            <a:endParaRPr lang="en-US" sz="1000" dirty="0"/>
          </a:p>
        </p:txBody>
      </p:sp>
      <p:sp>
        <p:nvSpPr>
          <p:cNvPr id="97" name="s10_opt_t"/>
          <p:cNvSpPr/>
          <p:nvPr/>
        </p:nvSpPr>
        <p:spPr>
          <a:xfrm>
            <a:off x="777240" y="565099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b (federation of native marketplaces) becomes a distribution channel inside a · option c (npm-centric, pi model) becomes the npm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mirror — pi reach for free, without inheriting npm typosquat risk. evidence-derived: every principle traces to a slide above.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1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1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1_kick" descr="assets/k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108960" cy="182880"/>
          </a:xfrm>
          <a:prstGeom prst="rect">
            <a:avLst/>
          </a:prstGeom>
        </p:spPr>
      </p:pic>
      <p:pic>
        <p:nvPicPr>
          <p:cNvPr id="6" name="s11_title" descr="assets/t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9713541" cy="475488"/>
          </a:xfrm>
          <a:prstGeom prst="rect">
            <a:avLst/>
          </a:prstGeom>
        </p:spPr>
      </p:pic>
      <p:sp>
        <p:nvSpPr>
          <p:cNvPr id="7" name="s11_spec"/>
          <p:cNvSpPr/>
          <p:nvPr/>
        </p:nvSpPr>
        <p:spPr>
          <a:xfrm>
            <a:off x="502920" y="1216152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agentreg install io.github.acme/pdf-report-writer@1.4.2 — one canonical record, four native emissions</a:t>
            </a:r>
            <a:endParaRPr lang="en-US" sz="1100" dirty="0"/>
          </a:p>
        </p:txBody>
      </p:sp>
      <p:sp>
        <p:nvSpPr>
          <p:cNvPr id="8" name="s11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950" dirty="0"/>
          </a:p>
        </p:txBody>
      </p:sp>
      <p:sp>
        <p:nvSpPr>
          <p:cNvPr id="10" name="s11_e0_sh"/>
          <p:cNvSpPr/>
          <p:nvPr/>
        </p:nvSpPr>
        <p:spPr>
          <a:xfrm>
            <a:off x="553212" y="1677924"/>
            <a:ext cx="2724912" cy="22128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11_e0"/>
          <p:cNvSpPr/>
          <p:nvPr/>
        </p:nvSpPr>
        <p:spPr>
          <a:xfrm>
            <a:off x="502920" y="1627632"/>
            <a:ext cx="2724912" cy="2212848"/>
          </a:xfrm>
          <a:prstGeom prst="rect">
            <a:avLst/>
          </a:prstGeom>
          <a:solidFill>
            <a:srgbClr val="FBEEDD"/>
          </a:solidFill>
          <a:ln w="28575">
            <a:solidFill>
              <a:srgbClr val="1B1D22"/>
            </a:solidFill>
            <a:prstDash val="solid"/>
          </a:ln>
        </p:spPr>
      </p:sp>
      <p:pic>
        <p:nvPicPr>
          <p:cNvPr id="12" name="s11_cube0" descr="assets/cube_clau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475488" cy="475488"/>
          </a:xfrm>
          <a:prstGeom prst="rect">
            <a:avLst/>
          </a:prstGeom>
        </p:spPr>
      </p:pic>
      <p:sp>
        <p:nvSpPr>
          <p:cNvPr id="13" name="s11_e0_band"/>
          <p:cNvSpPr/>
          <p:nvPr/>
        </p:nvSpPr>
        <p:spPr>
          <a:xfrm>
            <a:off x="1371600" y="19385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950" dirty="0"/>
          </a:p>
        </p:txBody>
      </p:sp>
      <p:sp>
        <p:nvSpPr>
          <p:cNvPr id="14" name="s11_e0_hr"/>
          <p:cNvSpPr/>
          <p:nvPr/>
        </p:nvSpPr>
        <p:spPr>
          <a:xfrm>
            <a:off x="731520" y="2487168"/>
            <a:ext cx="22677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5" name="s11_e0_t"/>
          <p:cNvSpPr/>
          <p:nvPr/>
        </p:nvSpPr>
        <p:spPr>
          <a:xfrm>
            <a:off x="731520" y="2606040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dir → ~/.claude/skills/ + emit .claude-plugin/ marketplace repo</a:t>
            </a:r>
            <a:endParaRPr lang="en-US" sz="900" dirty="0"/>
          </a:p>
        </p:txBody>
      </p:sp>
      <p:sp>
        <p:nvSpPr>
          <p:cNvPr id="16" name="s11_e1_sh"/>
          <p:cNvSpPr/>
          <p:nvPr/>
        </p:nvSpPr>
        <p:spPr>
          <a:xfrm>
            <a:off x="3369564" y="1677924"/>
            <a:ext cx="2724912" cy="22128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7" name="s11_e1"/>
          <p:cNvSpPr/>
          <p:nvPr/>
        </p:nvSpPr>
        <p:spPr>
          <a:xfrm>
            <a:off x="3319272" y="1627632"/>
            <a:ext cx="2724912" cy="2212848"/>
          </a:xfrm>
          <a:prstGeom prst="rect">
            <a:avLst/>
          </a:prstGeom>
          <a:solidFill>
            <a:srgbClr val="E5F5EA"/>
          </a:solidFill>
          <a:ln w="28575">
            <a:solidFill>
              <a:srgbClr val="1B1D22"/>
            </a:solidFill>
            <a:prstDash val="solid"/>
          </a:ln>
        </p:spPr>
      </p:sp>
      <p:pic>
        <p:nvPicPr>
          <p:cNvPr id="18" name="s11_cube1" descr="assets/cube_code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1828800"/>
            <a:ext cx="475488" cy="475488"/>
          </a:xfrm>
          <a:prstGeom prst="rect">
            <a:avLst/>
          </a:prstGeom>
        </p:spPr>
      </p:pic>
      <p:sp>
        <p:nvSpPr>
          <p:cNvPr id="19" name="s11_e1_band"/>
          <p:cNvSpPr/>
          <p:nvPr/>
        </p:nvSpPr>
        <p:spPr>
          <a:xfrm>
            <a:off x="4187952" y="19385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950" dirty="0"/>
          </a:p>
        </p:txBody>
      </p:sp>
      <p:sp>
        <p:nvSpPr>
          <p:cNvPr id="20" name="s11_e1_hr"/>
          <p:cNvSpPr/>
          <p:nvPr/>
        </p:nvSpPr>
        <p:spPr>
          <a:xfrm>
            <a:off x="3547872" y="2487168"/>
            <a:ext cx="22677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11_e1_t"/>
          <p:cNvSpPr/>
          <p:nvPr/>
        </p:nvSpPr>
        <p:spPr>
          <a:xfrm>
            <a:off x="3547872" y="2606040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dir → ~/.agents/skills/ + .agents/plugins/marketplace.json entry</a:t>
            </a:r>
            <a:endParaRPr lang="en-US" sz="900" dirty="0"/>
          </a:p>
        </p:txBody>
      </p:sp>
      <p:sp>
        <p:nvSpPr>
          <p:cNvPr id="22" name="s11_e2_sh"/>
          <p:cNvSpPr/>
          <p:nvPr/>
        </p:nvSpPr>
        <p:spPr>
          <a:xfrm>
            <a:off x="6185916" y="1677924"/>
            <a:ext cx="2724912" cy="22128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3" name="s11_e2"/>
          <p:cNvSpPr/>
          <p:nvPr/>
        </p:nvSpPr>
        <p:spPr>
          <a:xfrm>
            <a:off x="6135624" y="1627632"/>
            <a:ext cx="2724912" cy="2212848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pic>
        <p:nvPicPr>
          <p:cNvPr id="24" name="s11_cube2" descr="assets/cube_open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828800"/>
            <a:ext cx="475488" cy="475488"/>
          </a:xfrm>
          <a:prstGeom prst="rect">
            <a:avLst/>
          </a:prstGeom>
        </p:spPr>
      </p:pic>
      <p:sp>
        <p:nvSpPr>
          <p:cNvPr id="25" name="s11_e2_band"/>
          <p:cNvSpPr/>
          <p:nvPr/>
        </p:nvSpPr>
        <p:spPr>
          <a:xfrm>
            <a:off x="7004304" y="19385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950" dirty="0"/>
          </a:p>
        </p:txBody>
      </p:sp>
      <p:sp>
        <p:nvSpPr>
          <p:cNvPr id="26" name="s11_e2_hr"/>
          <p:cNvSpPr/>
          <p:nvPr/>
        </p:nvSpPr>
        <p:spPr>
          <a:xfrm>
            <a:off x="6364224" y="2487168"/>
            <a:ext cx="22677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11_e2_t"/>
          <p:cNvSpPr/>
          <p:nvPr/>
        </p:nvSpPr>
        <p:spPr>
          <a:xfrm>
            <a:off x="6364224" y="2606040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dir → .opencode/skills/ + index.json catalog url in config skills[]</a:t>
            </a:r>
            <a:endParaRPr lang="en-US" sz="900" dirty="0"/>
          </a:p>
        </p:txBody>
      </p:sp>
      <p:sp>
        <p:nvSpPr>
          <p:cNvPr id="28" name="s11_e3_sh"/>
          <p:cNvSpPr/>
          <p:nvPr/>
        </p:nvSpPr>
        <p:spPr>
          <a:xfrm>
            <a:off x="9002268" y="1677924"/>
            <a:ext cx="2724912" cy="22128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9" name="s11_e3"/>
          <p:cNvSpPr/>
          <p:nvPr/>
        </p:nvSpPr>
        <p:spPr>
          <a:xfrm>
            <a:off x="8951976" y="1627632"/>
            <a:ext cx="2724912" cy="2212848"/>
          </a:xfrm>
          <a:prstGeom prst="rect">
            <a:avLst/>
          </a:prstGeom>
          <a:solidFill>
            <a:srgbClr val="EFE9FB"/>
          </a:solidFill>
          <a:ln w="28575">
            <a:solidFill>
              <a:srgbClr val="1B1D22"/>
            </a:solidFill>
            <a:prstDash val="solid"/>
          </a:ln>
        </p:spPr>
      </p:sp>
      <p:pic>
        <p:nvPicPr>
          <p:cNvPr id="30" name="s11_cube3" descr="assets/cube_p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76" y="1828800"/>
            <a:ext cx="475488" cy="475488"/>
          </a:xfrm>
          <a:prstGeom prst="rect">
            <a:avLst/>
          </a:prstGeom>
        </p:spPr>
      </p:pic>
      <p:sp>
        <p:nvSpPr>
          <p:cNvPr id="31" name="s11_e3_band"/>
          <p:cNvSpPr/>
          <p:nvPr/>
        </p:nvSpPr>
        <p:spPr>
          <a:xfrm>
            <a:off x="9820656" y="19385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950" dirty="0"/>
          </a:p>
        </p:txBody>
      </p:sp>
      <p:sp>
        <p:nvSpPr>
          <p:cNvPr id="32" name="s11_e3_hr"/>
          <p:cNvSpPr/>
          <p:nvPr/>
        </p:nvSpPr>
        <p:spPr>
          <a:xfrm>
            <a:off x="9180576" y="2487168"/>
            <a:ext cx="22677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3" name="s11_e3_t"/>
          <p:cNvSpPr/>
          <p:nvPr/>
        </p:nvSpPr>
        <p:spPr>
          <a:xfrm>
            <a:off x="9180576" y="2606040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install npm:@acme/pdf-report-writer@1.4.2 — content-only npm mirror</a:t>
            </a:r>
            <a:endParaRPr lang="en-US" sz="900" dirty="0"/>
          </a:p>
        </p:txBody>
      </p:sp>
      <p:sp>
        <p:nvSpPr>
          <p:cNvPr id="34" name="s11_hz_sh"/>
          <p:cNvSpPr/>
          <p:nvPr/>
        </p:nvSpPr>
        <p:spPr>
          <a:xfrm>
            <a:off x="553212" y="4119372"/>
            <a:ext cx="11183112" cy="1234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5" name="s11_hz"/>
          <p:cNvSpPr/>
          <p:nvPr/>
        </p:nvSpPr>
        <p:spPr>
          <a:xfrm>
            <a:off x="502920" y="4069080"/>
            <a:ext cx="11183112" cy="12344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6" name="s11_hz_band"/>
          <p:cNvSpPr/>
          <p:nvPr/>
        </p:nvSpPr>
        <p:spPr>
          <a:xfrm>
            <a:off x="777240" y="42153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HAZARDS THE EMITTERS OWN</a:t>
            </a:r>
            <a:endParaRPr lang="en-US" sz="1000" dirty="0"/>
          </a:p>
        </p:txBody>
      </p:sp>
      <p:sp>
        <p:nvSpPr>
          <p:cNvPr id="37" name="s11_hv_b0"/>
          <p:cNvSpPr/>
          <p:nvPr/>
        </p:nvSpPr>
        <p:spPr>
          <a:xfrm>
            <a:off x="777240" y="4526280"/>
            <a:ext cx="82296" cy="822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8" name="s11_hv_k0"/>
          <p:cNvSpPr/>
          <p:nvPr/>
        </p:nvSpPr>
        <p:spPr>
          <a:xfrm>
            <a:off x="987552" y="4498848"/>
            <a:ext cx="10396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dual-emit: claude ignores .agents/ (not_planned #66352) — always also copy into ~/.claude/skills/</a:t>
            </a:r>
            <a:endParaRPr lang="en-US" sz="950" dirty="0"/>
          </a:p>
        </p:txBody>
      </p:sp>
      <p:sp>
        <p:nvSpPr>
          <p:cNvPr id="39" name="s11_hv_hr0"/>
          <p:cNvSpPr/>
          <p:nvPr/>
        </p:nvSpPr>
        <p:spPr>
          <a:xfrm>
            <a:off x="777240" y="4745736"/>
            <a:ext cx="106070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0" name="s11_hv_b1"/>
          <p:cNvSpPr/>
          <p:nvPr/>
        </p:nvSpPr>
        <p:spPr>
          <a:xfrm>
            <a:off x="777240" y="4773168"/>
            <a:ext cx="82296" cy="822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1" name="s11_hv_k1"/>
          <p:cNvSpPr/>
          <p:nvPr/>
        </p:nvSpPr>
        <p:spPr>
          <a:xfrm>
            <a:off x="987552" y="4745736"/>
            <a:ext cx="10396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keys: version lives in 4 places: plugin.json · marketplace ref · index.json · npm semver</a:t>
            </a:r>
            <a:endParaRPr lang="en-US" sz="950" dirty="0"/>
          </a:p>
        </p:txBody>
      </p:sp>
      <p:sp>
        <p:nvSpPr>
          <p:cNvPr id="42" name="s11_hv_hr1"/>
          <p:cNvSpPr/>
          <p:nvPr/>
        </p:nvSpPr>
        <p:spPr>
          <a:xfrm>
            <a:off x="777240" y="4992624"/>
            <a:ext cx="106070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3" name="s11_hv_b2"/>
          <p:cNvSpPr/>
          <p:nvPr/>
        </p:nvSpPr>
        <p:spPr>
          <a:xfrm>
            <a:off x="777240" y="5020056"/>
            <a:ext cx="82296" cy="822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4" name="s11_hv_k2"/>
          <p:cNvSpPr/>
          <p:nvPr/>
        </p:nvSpPr>
        <p:spPr>
          <a:xfrm>
            <a:off x="987552" y="4992624"/>
            <a:ext cx="10396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codegen: hooks need generated ts plugins/extensions for opencode + pi (2 of 4)</a:t>
            </a:r>
            <a:endParaRPr lang="en-US" sz="950" dirty="0"/>
          </a:p>
        </p:txBody>
      </p:sp>
      <p:sp>
        <p:nvSpPr>
          <p:cNvPr id="45" name="s11_df_sh"/>
          <p:cNvSpPr/>
          <p:nvPr/>
        </p:nvSpPr>
        <p:spPr>
          <a:xfrm>
            <a:off x="553212" y="5518404"/>
            <a:ext cx="11183112" cy="9326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6" name="s11_df"/>
          <p:cNvSpPr/>
          <p:nvPr/>
        </p:nvSpPr>
        <p:spPr>
          <a:xfrm>
            <a:off x="502920" y="5468112"/>
            <a:ext cx="11183112" cy="932688"/>
          </a:xfrm>
          <a:prstGeom prst="rect">
            <a:avLst/>
          </a:prstGeom>
          <a:solidFill>
            <a:srgbClr val="1B1D22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7" name="s11_lock"/>
          <p:cNvSpPr/>
          <p:nvPr/>
        </p:nvSpPr>
        <p:spPr>
          <a:xfrm>
            <a:off x="777240" y="55595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EE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agentreg.lock — urn → version → sha256 → per-harness targets · no harness ships one</a:t>
            </a:r>
            <a:endParaRPr lang="en-US" sz="1250" dirty="0"/>
          </a:p>
        </p:txBody>
      </p:sp>
      <p:sp>
        <p:nvSpPr>
          <p:cNvPr id="48" name="s11_lock_d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committed like package-lock.json; agentreg update re-scans before updating — blast-radius pinning for every harness at once. bundle note: agent-plugins</a:t>
            </a:r>
            <a:endParaRPr lang="en-US" sz="8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1.0.0 is the packaging substrate + codex catalog entry; claude gets the dual .claude-plugin/ manifest.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2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2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2_kick" descr="assets/k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2795451" cy="182880"/>
          </a:xfrm>
          <a:prstGeom prst="rect">
            <a:avLst/>
          </a:prstGeom>
        </p:spPr>
      </p:pic>
      <p:pic>
        <p:nvPicPr>
          <p:cNvPr id="6" name="s12_title" descr="assets/t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5637929" cy="475488"/>
          </a:xfrm>
          <a:prstGeom prst="rect">
            <a:avLst/>
          </a:prstGeom>
        </p:spPr>
      </p:pic>
      <p:sp>
        <p:nvSpPr>
          <p:cNvPr id="7" name="s12_spec"/>
          <p:cNvSpPr/>
          <p:nvPr/>
        </p:nvSpPr>
        <p:spPr>
          <a:xfrm>
            <a:off x="502920" y="1216152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v0 cut: skills + mcp only — the two universal payloads — across all four harnesses; everything else waits behind adapters</a:t>
            </a:r>
            <a:endParaRPr lang="en-US" sz="1100" dirty="0"/>
          </a:p>
        </p:txBody>
      </p:sp>
      <p:sp>
        <p:nvSpPr>
          <p:cNvPr id="8" name="s12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950" dirty="0"/>
          </a:p>
        </p:txBody>
      </p:sp>
      <p:sp>
        <p:nvSpPr>
          <p:cNvPr id="10" name="s12_c0_sh"/>
          <p:cNvSpPr/>
          <p:nvPr/>
        </p:nvSpPr>
        <p:spPr>
          <a:xfrm>
            <a:off x="553212" y="1677924"/>
            <a:ext cx="3538728" cy="29718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12_c0"/>
          <p:cNvSpPr/>
          <p:nvPr/>
        </p:nvSpPr>
        <p:spPr>
          <a:xfrm>
            <a:off x="502920" y="1627632"/>
            <a:ext cx="3538728" cy="29718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12_b0_sh"/>
          <p:cNvSpPr/>
          <p:nvPr/>
        </p:nvSpPr>
        <p:spPr>
          <a:xfrm>
            <a:off x="758952" y="1856232"/>
            <a:ext cx="384048" cy="3840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" name="s12_b0"/>
          <p:cNvSpPr/>
          <p:nvPr/>
        </p:nvSpPr>
        <p:spPr>
          <a:xfrm>
            <a:off x="731520" y="1828800"/>
            <a:ext cx="384048" cy="3840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4" name="s12_b0_t"/>
          <p:cNvSpPr/>
          <p:nvPr/>
        </p:nvSpPr>
        <p:spPr>
          <a:xfrm>
            <a:off x="73152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</a:t>
            </a:r>
            <a:endParaRPr lang="en-US" sz="1300" dirty="0"/>
          </a:p>
        </p:txBody>
      </p:sp>
      <p:sp>
        <p:nvSpPr>
          <p:cNvPr id="15" name="s12_h0"/>
          <p:cNvSpPr/>
          <p:nvPr/>
        </p:nvSpPr>
        <p:spPr>
          <a:xfrm>
            <a:off x="1252728" y="18196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MVP</a:t>
            </a:r>
            <a:endParaRPr lang="en-US" sz="1450" dirty="0"/>
          </a:p>
        </p:txBody>
      </p:sp>
      <p:sp>
        <p:nvSpPr>
          <p:cNvPr id="16" name="s12_d0"/>
          <p:cNvSpPr/>
          <p:nvPr/>
        </p:nvSpPr>
        <p:spPr>
          <a:xfrm>
            <a:off x="1252728" y="21031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2026-11 → 2027-01</a:t>
            </a:r>
            <a:endParaRPr lang="en-US" sz="1050" dirty="0"/>
          </a:p>
        </p:txBody>
      </p:sp>
      <p:sp>
        <p:nvSpPr>
          <p:cNvPr id="17" name="s12_hr0"/>
          <p:cNvSpPr/>
          <p:nvPr/>
        </p:nvSpPr>
        <p:spPr>
          <a:xfrm>
            <a:off x="731520" y="2395728"/>
            <a:ext cx="3081528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12_c0_b0"/>
          <p:cNvSpPr/>
          <p:nvPr/>
        </p:nvSpPr>
        <p:spPr>
          <a:xfrm>
            <a:off x="731520" y="2523744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9" name="s12_c0_t0"/>
          <p:cNvSpPr/>
          <p:nvPr/>
        </p:nvSpPr>
        <p:spPr>
          <a:xfrm>
            <a:off x="905256" y="2487168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oidc + dns-txt namespaces</a:t>
            </a:r>
            <a:endParaRPr lang="en-US" sz="850" dirty="0"/>
          </a:p>
        </p:txBody>
      </p:sp>
      <p:sp>
        <p:nvSpPr>
          <p:cNvPr id="20" name="s12_c0_b1"/>
          <p:cNvSpPr/>
          <p:nvPr/>
        </p:nvSpPr>
        <p:spPr>
          <a:xfrm>
            <a:off x="731520" y="2866644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1" name="s12_c0_t1"/>
          <p:cNvSpPr/>
          <p:nvPr/>
        </p:nvSpPr>
        <p:spPr>
          <a:xfrm>
            <a:off x="905256" y="2830068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gate: static + llm + mcp-scan</a:t>
            </a:r>
            <a:endParaRPr lang="en-US" sz="850" dirty="0"/>
          </a:p>
        </p:txBody>
      </p:sp>
      <p:sp>
        <p:nvSpPr>
          <p:cNvPr id="22" name="s12_c0_b2"/>
          <p:cNvSpPr/>
          <p:nvPr/>
        </p:nvSpPr>
        <p:spPr>
          <a:xfrm>
            <a:off x="731520" y="3209544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3" name="s12_c0_t2"/>
          <p:cNvSpPr/>
          <p:nvPr/>
        </p:nvSpPr>
        <p:spPr>
          <a:xfrm>
            <a:off x="905256" y="3172968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installs + agentreg.lock</a:t>
            </a:r>
            <a:endParaRPr lang="en-US" sz="850" dirty="0"/>
          </a:p>
        </p:txBody>
      </p:sp>
      <p:sp>
        <p:nvSpPr>
          <p:cNvPr id="24" name="s12_c0_b3"/>
          <p:cNvSpPr/>
          <p:nvPr/>
        </p:nvSpPr>
        <p:spPr>
          <a:xfrm>
            <a:off x="731520" y="3552444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5" name="s12_c0_t3"/>
          <p:cNvSpPr/>
          <p:nvPr/>
        </p:nvSpPr>
        <p:spPr>
          <a:xfrm>
            <a:off x="905256" y="3515868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emitted catalogs + npm mirror</a:t>
            </a:r>
            <a:endParaRPr lang="en-US" sz="850" dirty="0"/>
          </a:p>
        </p:txBody>
      </p:sp>
      <p:sp>
        <p:nvSpPr>
          <p:cNvPr id="26" name="s12_c0_b4"/>
          <p:cNvSpPr/>
          <p:nvPr/>
        </p:nvSpPr>
        <p:spPr>
          <a:xfrm>
            <a:off x="731520" y="3895344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7" name="s12_c0_t4"/>
          <p:cNvSpPr/>
          <p:nvPr/>
        </p:nvSpPr>
        <p:spPr>
          <a:xfrm>
            <a:off x="905256" y="3858768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rest api + takedown sla</a:t>
            </a:r>
            <a:endParaRPr lang="en-US" sz="850" dirty="0"/>
          </a:p>
        </p:txBody>
      </p:sp>
      <p:sp>
        <p:nvSpPr>
          <p:cNvPr id="28" name="s12_c0_b5"/>
          <p:cNvSpPr/>
          <p:nvPr/>
        </p:nvSpPr>
        <p:spPr>
          <a:xfrm>
            <a:off x="731520" y="4238244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9" name="s12_c0_t5"/>
          <p:cNvSpPr/>
          <p:nvPr/>
        </p:nvSpPr>
        <p:spPr>
          <a:xfrm>
            <a:off x="905256" y="4201668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exit: ≥100 verified artifacts, installs proven on all 4 in ci</a:t>
            </a:r>
            <a:endParaRPr lang="en-US" sz="850" dirty="0"/>
          </a:p>
        </p:txBody>
      </p:sp>
      <p:sp>
        <p:nvSpPr>
          <p:cNvPr id="30" name="s12_c1_sh"/>
          <p:cNvSpPr/>
          <p:nvPr/>
        </p:nvSpPr>
        <p:spPr>
          <a:xfrm>
            <a:off x="4274820" y="1677924"/>
            <a:ext cx="3538728" cy="29718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12_c1"/>
          <p:cNvSpPr/>
          <p:nvPr/>
        </p:nvSpPr>
        <p:spPr>
          <a:xfrm>
            <a:off x="4224528" y="1627632"/>
            <a:ext cx="3538728" cy="29718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2" name="s12_b1_sh"/>
          <p:cNvSpPr/>
          <p:nvPr/>
        </p:nvSpPr>
        <p:spPr>
          <a:xfrm>
            <a:off x="4480560" y="1856232"/>
            <a:ext cx="384048" cy="3840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3" name="s12_b1"/>
          <p:cNvSpPr/>
          <p:nvPr/>
        </p:nvSpPr>
        <p:spPr>
          <a:xfrm>
            <a:off x="4453128" y="1828800"/>
            <a:ext cx="384048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4" name="s12_b1_t"/>
          <p:cNvSpPr/>
          <p:nvPr/>
        </p:nvSpPr>
        <p:spPr>
          <a:xfrm>
            <a:off x="445312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</a:t>
            </a:r>
            <a:endParaRPr lang="en-US" sz="1300" dirty="0"/>
          </a:p>
        </p:txBody>
      </p:sp>
      <p:sp>
        <p:nvSpPr>
          <p:cNvPr id="35" name="s12_h1"/>
          <p:cNvSpPr/>
          <p:nvPr/>
        </p:nvSpPr>
        <p:spPr>
          <a:xfrm>
            <a:off x="4974336" y="18196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ADAPTERS</a:t>
            </a:r>
            <a:endParaRPr lang="en-US" sz="1450" dirty="0"/>
          </a:p>
        </p:txBody>
      </p:sp>
      <p:sp>
        <p:nvSpPr>
          <p:cNvPr id="36" name="s12_d1"/>
          <p:cNvSpPr/>
          <p:nvPr/>
        </p:nvSpPr>
        <p:spPr>
          <a:xfrm>
            <a:off x="4974336" y="21031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2027-02 → 06</a:t>
            </a:r>
            <a:endParaRPr lang="en-US" sz="1050" dirty="0"/>
          </a:p>
        </p:txBody>
      </p:sp>
      <p:sp>
        <p:nvSpPr>
          <p:cNvPr id="37" name="s12_hr1"/>
          <p:cNvSpPr/>
          <p:nvPr/>
        </p:nvSpPr>
        <p:spPr>
          <a:xfrm>
            <a:off x="4453128" y="2395728"/>
            <a:ext cx="3081528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8" name="s12_c1_b0"/>
          <p:cNvSpPr/>
          <p:nvPr/>
        </p:nvSpPr>
        <p:spPr>
          <a:xfrm>
            <a:off x="4453128" y="2523744"/>
            <a:ext cx="82296" cy="822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s12_c1_t0"/>
          <p:cNvSpPr/>
          <p:nvPr/>
        </p:nvSpPr>
        <p:spPr>
          <a:xfrm>
            <a:off x="4626864" y="2487168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 → ts plugins / extensions</a:t>
            </a:r>
            <a:endParaRPr lang="en-US" sz="850" dirty="0"/>
          </a:p>
        </p:txBody>
      </p:sp>
      <p:sp>
        <p:nvSpPr>
          <p:cNvPr id="40" name="s12_c1_b1"/>
          <p:cNvSpPr/>
          <p:nvPr/>
        </p:nvSpPr>
        <p:spPr>
          <a:xfrm>
            <a:off x="4453128" y="2866644"/>
            <a:ext cx="82296" cy="822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1" name="s12_c1_t1"/>
          <p:cNvSpPr/>
          <p:nvPr/>
        </p:nvSpPr>
        <p:spPr>
          <a:xfrm>
            <a:off x="4626864" y="2830068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(toml + md) · commands · themes</a:t>
            </a:r>
            <a:endParaRPr lang="en-US" sz="850" dirty="0"/>
          </a:p>
        </p:txBody>
      </p:sp>
      <p:sp>
        <p:nvSpPr>
          <p:cNvPr id="42" name="s12_c1_b2"/>
          <p:cNvSpPr/>
          <p:nvPr/>
        </p:nvSpPr>
        <p:spPr>
          <a:xfrm>
            <a:off x="4453128" y="3209544"/>
            <a:ext cx="82296" cy="822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3" name="s12_c1_t2"/>
          <p:cNvSpPr/>
          <p:nvPr/>
        </p:nvSpPr>
        <p:spPr>
          <a:xfrm>
            <a:off x="4626864" y="3172968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reputation + anti-gaming</a:t>
            </a:r>
            <a:endParaRPr lang="en-US" sz="850" dirty="0"/>
          </a:p>
        </p:txBody>
      </p:sp>
      <p:sp>
        <p:nvSpPr>
          <p:cNvPr id="44" name="s12_c1_b3"/>
          <p:cNvSpPr/>
          <p:nvPr/>
        </p:nvSpPr>
        <p:spPr>
          <a:xfrm>
            <a:off x="4453128" y="3552444"/>
            <a:ext cx="82296" cy="822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s12_c1_t3"/>
          <p:cNvSpPr/>
          <p:nvPr/>
        </p:nvSpPr>
        <p:spPr>
          <a:xfrm>
            <a:off x="4626864" y="3515868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scan-on-install client hook</a:t>
            </a:r>
            <a:endParaRPr lang="en-US" sz="850" dirty="0"/>
          </a:p>
        </p:txBody>
      </p:sp>
      <p:sp>
        <p:nvSpPr>
          <p:cNvPr id="46" name="s12_c1_b4"/>
          <p:cNvSpPr/>
          <p:nvPr/>
        </p:nvSpPr>
        <p:spPr>
          <a:xfrm>
            <a:off x="4453128" y="3895344"/>
            <a:ext cx="82296" cy="822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7" name="s12_c1_t4"/>
          <p:cNvSpPr/>
          <p:nvPr/>
        </p:nvSpPr>
        <p:spPr>
          <a:xfrm>
            <a:off x="4626864" y="3858768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federation openapi (hourly pulls)</a:t>
            </a:r>
            <a:endParaRPr lang="en-US" sz="850" dirty="0"/>
          </a:p>
        </p:txBody>
      </p:sp>
      <p:sp>
        <p:nvSpPr>
          <p:cNvPr id="48" name="s12_c1_b5"/>
          <p:cNvSpPr/>
          <p:nvPr/>
        </p:nvSpPr>
        <p:spPr>
          <a:xfrm>
            <a:off x="4453128" y="4238244"/>
            <a:ext cx="82296" cy="822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9" name="s12_c1_t5"/>
          <p:cNvSpPr/>
          <p:nvPr/>
        </p:nvSpPr>
        <p:spPr>
          <a:xfrm>
            <a:off x="4626864" y="4201668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exit: ≥1,000 artifacts · ≥2 aggregators · aaif donation initiated</a:t>
            </a:r>
            <a:endParaRPr lang="en-US" sz="850" dirty="0"/>
          </a:p>
        </p:txBody>
      </p:sp>
      <p:sp>
        <p:nvSpPr>
          <p:cNvPr id="50" name="s12_c2_sh"/>
          <p:cNvSpPr/>
          <p:nvPr/>
        </p:nvSpPr>
        <p:spPr>
          <a:xfrm>
            <a:off x="7996428" y="1677924"/>
            <a:ext cx="3538728" cy="29718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1" name="s12_c2"/>
          <p:cNvSpPr/>
          <p:nvPr/>
        </p:nvSpPr>
        <p:spPr>
          <a:xfrm>
            <a:off x="7946136" y="1627632"/>
            <a:ext cx="3538728" cy="29718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2" name="s12_b2_sh"/>
          <p:cNvSpPr/>
          <p:nvPr/>
        </p:nvSpPr>
        <p:spPr>
          <a:xfrm>
            <a:off x="8202168" y="1856232"/>
            <a:ext cx="384048" cy="3840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3" name="s12_b2"/>
          <p:cNvSpPr/>
          <p:nvPr/>
        </p:nvSpPr>
        <p:spPr>
          <a:xfrm>
            <a:off x="8174736" y="1828800"/>
            <a:ext cx="384048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4" name="s12_b2_t"/>
          <p:cNvSpPr/>
          <p:nvPr/>
        </p:nvSpPr>
        <p:spPr>
          <a:xfrm>
            <a:off x="817473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</a:t>
            </a:r>
            <a:endParaRPr lang="en-US" sz="1300" dirty="0"/>
          </a:p>
        </p:txBody>
      </p:sp>
      <p:sp>
        <p:nvSpPr>
          <p:cNvPr id="55" name="s12_h2"/>
          <p:cNvSpPr/>
          <p:nvPr/>
        </p:nvSpPr>
        <p:spPr>
          <a:xfrm>
            <a:off x="8695944" y="18196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</a:t>
            </a:r>
            <a:endParaRPr lang="en-US" sz="1450" dirty="0"/>
          </a:p>
        </p:txBody>
      </p:sp>
      <p:sp>
        <p:nvSpPr>
          <p:cNvPr id="56" name="s12_d2"/>
          <p:cNvSpPr/>
          <p:nvPr/>
        </p:nvSpPr>
        <p:spPr>
          <a:xfrm>
            <a:off x="8695944" y="21031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2027-07 →</a:t>
            </a:r>
            <a:endParaRPr lang="en-US" sz="1050" dirty="0"/>
          </a:p>
        </p:txBody>
      </p:sp>
      <p:sp>
        <p:nvSpPr>
          <p:cNvPr id="57" name="s12_hr2"/>
          <p:cNvSpPr/>
          <p:nvPr/>
        </p:nvSpPr>
        <p:spPr>
          <a:xfrm>
            <a:off x="8174736" y="2395728"/>
            <a:ext cx="3081528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8" name="s12_c2_b0"/>
          <p:cNvSpPr/>
          <p:nvPr/>
        </p:nvSpPr>
        <p:spPr>
          <a:xfrm>
            <a:off x="8174736" y="2523744"/>
            <a:ext cx="82296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9" name="s12_c2_t0"/>
          <p:cNvSpPr/>
          <p:nvPr/>
        </p:nvSpPr>
        <p:spPr>
          <a:xfrm>
            <a:off x="8348472" y="2487168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sigstore signing + slsa provenance</a:t>
            </a:r>
            <a:endParaRPr lang="en-US" sz="850" dirty="0"/>
          </a:p>
        </p:txBody>
      </p:sp>
      <p:sp>
        <p:nvSpPr>
          <p:cNvPr id="60" name="s12_c2_b1"/>
          <p:cNvSpPr/>
          <p:nvPr/>
        </p:nvSpPr>
        <p:spPr>
          <a:xfrm>
            <a:off x="8174736" y="2866644"/>
            <a:ext cx="82296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1" name="s12_c2_t1"/>
          <p:cNvSpPr/>
          <p:nvPr/>
        </p:nvSpPr>
        <p:spPr>
          <a:xfrm>
            <a:off x="8348472" y="2830068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agent-plugins 1.1 alignment</a:t>
            </a:r>
            <a:endParaRPr lang="en-US" sz="850" dirty="0"/>
          </a:p>
        </p:txBody>
      </p:sp>
      <p:sp>
        <p:nvSpPr>
          <p:cNvPr id="62" name="s12_c2_b2"/>
          <p:cNvSpPr/>
          <p:nvPr/>
        </p:nvSpPr>
        <p:spPr>
          <a:xfrm>
            <a:off x="8174736" y="3209544"/>
            <a:ext cx="82296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3" name="s12_c2_t2"/>
          <p:cNvSpPr/>
          <p:nvPr/>
        </p:nvSpPr>
        <p:spPr>
          <a:xfrm>
            <a:off x="8348472" y="3172968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private mirrors</a:t>
            </a:r>
            <a:endParaRPr lang="en-US" sz="850" dirty="0"/>
          </a:p>
        </p:txBody>
      </p:sp>
      <p:sp>
        <p:nvSpPr>
          <p:cNvPr id="64" name="s12_c2_b3"/>
          <p:cNvSpPr/>
          <p:nvPr/>
        </p:nvSpPr>
        <p:spPr>
          <a:xfrm>
            <a:off x="8174736" y="3552444"/>
            <a:ext cx="82296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5" name="s12_c2_t3"/>
          <p:cNvSpPr/>
          <p:nvPr/>
        </p:nvSpPr>
        <p:spPr>
          <a:xfrm>
            <a:off x="8348472" y="3515868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tee publish pipeline</a:t>
            </a:r>
            <a:endParaRPr lang="en-US" sz="850" dirty="0"/>
          </a:p>
        </p:txBody>
      </p:sp>
      <p:sp>
        <p:nvSpPr>
          <p:cNvPr id="66" name="s12_c2_b4"/>
          <p:cNvSpPr/>
          <p:nvPr/>
        </p:nvSpPr>
        <p:spPr>
          <a:xfrm>
            <a:off x="8174736" y="3895344"/>
            <a:ext cx="82296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7" name="s12_c2_t4"/>
          <p:cNvSpPr/>
          <p:nvPr/>
        </p:nvSpPr>
        <p:spPr>
          <a:xfrm>
            <a:off x="8348472" y="3858768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federated audit sharing</a:t>
            </a:r>
            <a:endParaRPr lang="en-US" sz="850" dirty="0"/>
          </a:p>
        </p:txBody>
      </p:sp>
      <p:sp>
        <p:nvSpPr>
          <p:cNvPr id="68" name="s12_c2_b5"/>
          <p:cNvSpPr/>
          <p:nvPr/>
        </p:nvSpPr>
        <p:spPr>
          <a:xfrm>
            <a:off x="8174736" y="4238244"/>
            <a:ext cx="82296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9" name="s12_c2_t5"/>
          <p:cNvSpPr/>
          <p:nvPr/>
        </p:nvSpPr>
        <p:spPr>
          <a:xfrm>
            <a:off x="8348472" y="4201668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exit: ≥1 harness consumes signatures, spec 1.1 shipped · donation done</a:t>
            </a:r>
            <a:endParaRPr lang="en-US" sz="850" dirty="0"/>
          </a:p>
        </p:txBody>
      </p:sp>
      <p:sp>
        <p:nvSpPr>
          <p:cNvPr id="70" name="s12_gov_sh"/>
          <p:cNvSpPr/>
          <p:nvPr/>
        </p:nvSpPr>
        <p:spPr>
          <a:xfrm>
            <a:off x="553212" y="4850892"/>
            <a:ext cx="11183112" cy="65836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1" name="s12_gov"/>
          <p:cNvSpPr/>
          <p:nvPr/>
        </p:nvSpPr>
        <p:spPr>
          <a:xfrm>
            <a:off x="502920" y="4800600"/>
            <a:ext cx="11183112" cy="658368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72" name="s12_gov_band"/>
          <p:cNvSpPr/>
          <p:nvPr/>
        </p:nvSpPr>
        <p:spPr>
          <a:xfrm>
            <a:off x="777240" y="49194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73" name="s12_gov_t"/>
          <p:cNvSpPr/>
          <p:nvPr/>
        </p:nvSpPr>
        <p:spPr>
          <a:xfrm>
            <a:off x="2880360" y="48737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 vendor-neutral tsc (agent-plugins charter clone — individual seats, no vendor majority) → pre-commit to aaif donation at v1</a:t>
            </a:r>
            <a:endParaRPr lang="en-US" sz="1050" dirty="0"/>
          </a:p>
        </p:txBody>
      </p:sp>
      <p:sp>
        <p:nvSpPr>
          <p:cNvPr id="74" name="s12_bet_sh"/>
          <p:cNvSpPr/>
          <p:nvPr/>
        </p:nvSpPr>
        <p:spPr>
          <a:xfrm>
            <a:off x="553212" y="5646420"/>
            <a:ext cx="11183112" cy="7772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5" name="s12_bet"/>
          <p:cNvSpPr/>
          <p:nvPr/>
        </p:nvSpPr>
        <p:spPr>
          <a:xfrm>
            <a:off x="502920" y="5596128"/>
            <a:ext cx="11183112" cy="777240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76" name="s12_bet_t"/>
          <p:cNvSpPr/>
          <p:nvPr/>
        </p:nvSpPr>
        <p:spPr>
          <a:xfrm>
            <a:off x="777240" y="566928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 order: skills + mcp now (all-four reach today) → plugins when claude consumes (watch 1.1) → signing only when a harness verifies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signatures (none does today). risks kept open: opencode v1/v2 churn, pi 0.x→1.3 churn — version-sniffing emitters +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ci matrix against every harness release.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13_vx1_v1"/>
          <p:cNvSpPr/>
          <p:nvPr/>
        </p:nvSpPr>
        <p:spPr>
          <a:xfrm>
            <a:off x="11137392" y="384048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4" name="s13_vx1_v2"/>
          <p:cNvSpPr/>
          <p:nvPr/>
        </p:nvSpPr>
        <p:spPr>
          <a:xfrm>
            <a:off x="11311128" y="384048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13_vx1_v3"/>
          <p:cNvSpPr/>
          <p:nvPr/>
        </p:nvSpPr>
        <p:spPr>
          <a:xfrm>
            <a:off x="11137392" y="557784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13_vx2_v1"/>
          <p:cNvSpPr/>
          <p:nvPr/>
        </p:nvSpPr>
        <p:spPr>
          <a:xfrm>
            <a:off x="548640" y="5989320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13_vx2_v2"/>
          <p:cNvSpPr/>
          <p:nvPr/>
        </p:nvSpPr>
        <p:spPr>
          <a:xfrm>
            <a:off x="722376" y="5989320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8" name="s13_vx2_v3"/>
          <p:cNvSpPr/>
          <p:nvPr/>
        </p:nvSpPr>
        <p:spPr>
          <a:xfrm>
            <a:off x="548640" y="6163056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9" name="s13_kick" descr="assets/k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4519749" cy="182880"/>
          </a:xfrm>
          <a:prstGeom prst="rect">
            <a:avLst/>
          </a:prstGeom>
        </p:spPr>
      </p:pic>
      <p:pic>
        <p:nvPicPr>
          <p:cNvPr id="10" name="s13_title" descr="assets/t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6453051" cy="475488"/>
          </a:xfrm>
          <a:prstGeom prst="rect">
            <a:avLst/>
          </a:prstGeom>
        </p:spPr>
      </p:pic>
      <p:sp>
        <p:nvSpPr>
          <p:cNvPr id="11" name="s13_spec"/>
          <p:cNvSpPr/>
          <p:nvPr/>
        </p:nvSpPr>
        <p:spPr>
          <a:xfrm>
            <a:off x="502920" y="121615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wedge nobody ships: one verified index + a lockfile + trust tiers — register once, run on every agent</a:t>
            </a:r>
            <a:endParaRPr lang="en-US" sz="1100" dirty="0"/>
          </a:p>
        </p:txBody>
      </p:sp>
      <p:pic>
        <p:nvPicPr>
          <p:cNvPr id="12" name="heart1" descr="assets/he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27632"/>
            <a:ext cx="264160" cy="182880"/>
          </a:xfrm>
          <a:prstGeom prst="rect">
            <a:avLst/>
          </a:prstGeom>
        </p:spPr>
      </p:pic>
      <p:pic>
        <p:nvPicPr>
          <p:cNvPr id="13" name="heart2" descr="assets/he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7632"/>
            <a:ext cx="264160" cy="182880"/>
          </a:xfrm>
          <a:prstGeom prst="rect">
            <a:avLst/>
          </a:prstGeom>
        </p:spPr>
      </p:pic>
      <p:pic>
        <p:nvPicPr>
          <p:cNvPr id="14" name="heart3" descr="assets/he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1627632"/>
            <a:ext cx="264160" cy="182880"/>
          </a:xfrm>
          <a:prstGeom prst="rect">
            <a:avLst/>
          </a:prstGeom>
        </p:spPr>
      </p:pic>
      <p:sp>
        <p:nvSpPr>
          <p:cNvPr id="15" name="timeChip_sh"/>
          <p:cNvSpPr/>
          <p:nvPr/>
        </p:nvSpPr>
        <p:spPr>
          <a:xfrm>
            <a:off x="1499616" y="1655064"/>
            <a:ext cx="914400" cy="219456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16" name="timeChip"/>
          <p:cNvSpPr/>
          <p:nvPr/>
        </p:nvSpPr>
        <p:spPr>
          <a:xfrm>
            <a:off x="1481328" y="1636776"/>
            <a:ext cx="914400" cy="219456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17" name="timeText"/>
          <p:cNvSpPr/>
          <p:nvPr/>
        </p:nvSpPr>
        <p:spPr>
          <a:xfrm>
            <a:off x="1517904" y="163677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18" name="s13_tk0_sq"/>
          <p:cNvSpPr/>
          <p:nvPr/>
        </p:nvSpPr>
        <p:spPr>
          <a:xfrm>
            <a:off x="502920" y="2340864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19" name="s13_tk0_h"/>
          <p:cNvSpPr/>
          <p:nvPr/>
        </p:nvSpPr>
        <p:spPr>
          <a:xfrm>
            <a:off x="868680" y="228600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verified index</a:t>
            </a:r>
            <a:endParaRPr lang="en-US" sz="1550" dirty="0"/>
          </a:p>
        </p:txBody>
      </p:sp>
      <p:sp>
        <p:nvSpPr>
          <p:cNvPr id="20" name="s13_tk0_d"/>
          <p:cNvSpPr/>
          <p:nvPr/>
        </p:nvSpPr>
        <p:spPr>
          <a:xfrm>
            <a:off x="868680" y="261518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oidc + dns-txt namespaces · scan gate · sealed hashes — metadata + pointers, never hosted code</a:t>
            </a:r>
            <a:endParaRPr lang="en-US" sz="1050" dirty="0"/>
          </a:p>
        </p:txBody>
      </p:sp>
      <p:sp>
        <p:nvSpPr>
          <p:cNvPr id="21" name="s13_tk1_sq"/>
          <p:cNvSpPr/>
          <p:nvPr/>
        </p:nvSpPr>
        <p:spPr>
          <a:xfrm>
            <a:off x="502920" y="3300984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s13_tk1_h"/>
          <p:cNvSpPr/>
          <p:nvPr/>
        </p:nvSpPr>
        <p:spPr>
          <a:xfrm>
            <a:off x="868680" y="324612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agentreg.lock everywhere</a:t>
            </a:r>
            <a:endParaRPr lang="en-US" sz="1550" dirty="0"/>
          </a:p>
        </p:txBody>
      </p:sp>
      <p:sp>
        <p:nvSpPr>
          <p:cNvPr id="23" name="s13_tk1_d"/>
          <p:cNvSpPr/>
          <p:nvPr/>
        </p:nvSpPr>
        <p:spPr>
          <a:xfrm>
            <a:off x="868680" y="357530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urn → version → sha256 → per-harness targets, committed like package-lock.json</a:t>
            </a:r>
            <a:endParaRPr lang="en-US" sz="1050" dirty="0"/>
          </a:p>
        </p:txBody>
      </p:sp>
      <p:sp>
        <p:nvSpPr>
          <p:cNvPr id="24" name="s13_tk2_sq"/>
          <p:cNvSpPr/>
          <p:nvPr/>
        </p:nvSpPr>
        <p:spPr>
          <a:xfrm>
            <a:off x="502920" y="4261104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13_tk2_h"/>
          <p:cNvSpPr/>
          <p:nvPr/>
        </p:nvSpPr>
        <p:spPr>
          <a:xfrm>
            <a:off x="868680" y="4206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tiers from day 1</a:t>
            </a:r>
            <a:endParaRPr lang="en-US" sz="1550" dirty="0"/>
          </a:p>
        </p:txBody>
      </p:sp>
      <p:sp>
        <p:nvSpPr>
          <p:cNvPr id="26" name="s13_tk2_d"/>
          <p:cNvSpPr/>
          <p:nvPr/>
        </p:nvSpPr>
        <p:spPr>
          <a:xfrm>
            <a:off x="868680" y="453542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 / mcp = review tier · skills + mcp ship first, across all four harnesses</a:t>
            </a:r>
            <a:endParaRPr lang="en-US" sz="1050" dirty="0"/>
          </a:p>
        </p:txBody>
      </p:sp>
      <p:pic>
        <p:nvPicPr>
          <p:cNvPr id="27" name="machine" descr="assets/machi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160520"/>
            <a:ext cx="1033670" cy="1828800"/>
          </a:xfrm>
          <a:prstGeom prst="rect">
            <a:avLst/>
          </a:prstGeom>
        </p:spPr>
      </p:pic>
      <p:pic>
        <p:nvPicPr>
          <p:cNvPr id="28" name="runner" descr="assets/runn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4983480"/>
            <a:ext cx="670560" cy="1005840"/>
          </a:xfrm>
          <a:prstGeom prst="rect">
            <a:avLst/>
          </a:prstGeom>
        </p:spPr>
      </p:pic>
      <p:pic>
        <p:nvPicPr>
          <p:cNvPr id="29" name="art1" descr="assets/cube_claud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1680" y="5532120"/>
            <a:ext cx="320040" cy="320040"/>
          </a:xfrm>
          <a:prstGeom prst="rect">
            <a:avLst/>
          </a:prstGeom>
        </p:spPr>
      </p:pic>
      <p:pic>
        <p:nvPicPr>
          <p:cNvPr id="30" name="art2" descr="assets/cube_codex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8920" y="5532120"/>
            <a:ext cx="320040" cy="320040"/>
          </a:xfrm>
          <a:prstGeom prst="rect">
            <a:avLst/>
          </a:prstGeom>
        </p:spPr>
      </p:pic>
      <p:pic>
        <p:nvPicPr>
          <p:cNvPr id="31" name="art3" descr="assets/cube_opencod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6160" y="5532120"/>
            <a:ext cx="320040" cy="320040"/>
          </a:xfrm>
          <a:prstGeom prst="rect">
            <a:avLst/>
          </a:prstGeom>
        </p:spPr>
      </p:pic>
      <p:pic>
        <p:nvPicPr>
          <p:cNvPr id="32" name="art4" descr="assets/cube_pi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43400" y="5532120"/>
            <a:ext cx="320040" cy="320040"/>
          </a:xfrm>
          <a:prstGeom prst="rect">
            <a:avLst/>
          </a:prstGeom>
        </p:spPr>
      </p:pic>
      <p:pic>
        <p:nvPicPr>
          <p:cNvPr id="33" name="banner" descr="assets/bann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5721531" y="3657600"/>
            <a:ext cx="5264331" cy="237744"/>
          </a:xfrm>
          <a:prstGeom prst="rect">
            <a:avLst/>
          </a:prstGeom>
        </p:spPr>
      </p:pic>
      <p:pic>
        <p:nvPicPr>
          <p:cNvPr id="34" name="machineCup" descr="assets/cup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822960" y="5486400"/>
            <a:ext cx="316992" cy="237744"/>
          </a:xfrm>
          <a:prstGeom prst="rect">
            <a:avLst/>
          </a:prstGeom>
        </p:spPr>
      </p:pic>
      <p:sp>
        <p:nvSpPr>
          <p:cNvPr id="35" name="cfgTime"/>
          <p:cNvSpPr/>
          <p:nvPr/>
        </p:nvSpPr>
        <p:spPr>
          <a:xfrm>
            <a:off x="-822960" y="274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800" dirty="0"/>
          </a:p>
        </p:txBody>
      </p:sp>
      <p:sp>
        <p:nvSpPr>
          <p:cNvPr id="36" name="cfgScale"/>
          <p:cNvSpPr/>
          <p:nvPr/>
        </p:nvSpPr>
        <p:spPr>
          <a:xfrm>
            <a:off x="-822960" y="502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1.10</a:t>
            </a:r>
            <a:endParaRPr lang="en-US" sz="800" dirty="0"/>
          </a:p>
        </p:txBody>
      </p:sp>
      <p:sp>
        <p:nvSpPr>
          <p:cNvPr id="37" name="s13_src"/>
          <p:cNvSpPr/>
          <p:nvPr/>
        </p:nvSpPr>
        <p:spPr>
          <a:xfrm>
            <a:off x="502920" y="63550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8-file corpus in agents-unified-registry/ · every number verified 2026-10-16 · deck: nano-super-slides-v4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next: agentreg v0 — skills + mcp × 4 harnesses. one registry, every agent.</a:t>
            </a:r>
            <a:endParaRPr lang="en-US" sz="900" dirty="0"/>
          </a:p>
        </p:txBody>
      </p:sp>
      <p:sp>
        <p:nvSpPr>
          <p:cNvPr id="38" name="s13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Unified Agent Registry — nano-super v4</dc:title>
  <dc:subject>PptxGenJS Presentation</dc:subject>
  <dc:creator>aryan-rajoria</dc:creator>
  <cp:lastModifiedBy>aryan-rajoria</cp:lastModifiedBy>
  <cp:revision>1</cp:revision>
  <dcterms:created xsi:type="dcterms:W3CDTF">2026-10-17T05:57:52Z</dcterms:created>
  <dcterms:modified xsi:type="dcterms:W3CDTF">2026-10-17T05:57:52Z</dcterms:modified>
</cp:coreProperties>
</file>