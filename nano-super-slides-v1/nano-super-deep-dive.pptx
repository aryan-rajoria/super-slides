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nano-super v0.1.0: self-hosted observability for the pi coding agent. Two parts: a pi extension package (session monitor + /research) and a zero-dependency local dashboard. ~3,578 first-party lines, 63 tests, zero npm dependencies. This deck is the technical deep-dive: data relations, design decisions, processing time and cost, and measurable benefits.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framing: the pi coding agent logs nothing by default; usage insight dies with each terminal. Pain points from the README: per-project scatter, soft failures (exit-0 powershell wrappers), unreviewed prompting habits, drift noticed late, invisible spend. nano-super exists to make all five measurable.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at product level. Part 1: pi/ installs as the nano-super-pi package (pi install ./pi) — monitor.ts + research.ts extensions. Part 2: dashboard/ — stdlib-only HTTP server + SPA. They share exactly one thing: the JSONL event logs in ~/.pi/agent/logs. Install involves no npm install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monitor.ts (127 lines): hooks 7 pi lifecycle events, appends one JSONL line per event into &lt;sessionId&gt;.jsonl. Hot-path discipline: mkdirSync on first write only, a single appendFileSync per event, every write in try/catch ('Monitoring must never break pi'), 200k-char truncation guard, ephemeral-&lt;random&gt; ids for concurrent --no-session runs, and the PI_DASHBOARD_ENRICHMENT no-op guard against self-enrichment loops.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Entity model: one session = one &lt;id&gt;.jsonl (schemaVersion 1, 12 event types). The dashboard digests it into .enrich/&lt;id&gt;.input.md (30k-char budget; event [N] == JSONL line N), a headless pi run (zai/glm-5.3-flash) writes &lt;id&gt;.analysis.json (schemaVersion 2: outcome, wastedTurns, 5 prompt classifications, drift with root causes + cited event indexes, hard/soft failures, phases, prompt coach with 8 habit tags). Research runs emit research_* events whose streamSessionIds/refineSessionId link child sessions — every stream is itself a replayable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data flow: parse.js (mtime+size cache, regex soft-failure detection) → server.js (node:http, 5 endpoints, localhost:3131) → enrich.js (headless pi writes analyses through the harness) → no-build SPA with vendored Chart.js, 15 s auto-refresh. The watcher (server.js) scans every 5 s and triggers enrichment after quiet periods: 60 s after quit, 10 min otherwise.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research.ts (364 lines) implements the 6-stage pipeline: scout (1 call, 3 approaches) → 3 parallel headless streams (--tools read,powershell, read-only, 10-min cap, --session-id uuid) → distill → RTV tournament (3 pairs × 3 votes) → PDR refine → submit (brief as context). LLM-call math at N=3: 1 scout + 3 distill + 9 judges = 13, +1 tie-break only when needed ≈ 14 calls. Survivor logic requires ≥2 streams.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/research adapts the paper's test-time-scaling recipe: N 16→3 streams (configurable 2-5 via --researchStreams), G unchanged, V 8→3 with one lens per vote (pragmatism/risk/effort) to avoid correlated bias, one PDR pass. Extra hardening: judges see only distilled summaries (~2k tokens), tie-break ranking call resolves cycles, PDR failure falls back to the winning stream's brief (UI shows a fallback badge).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Documented design decisions, each with rationale in the README or source comments: zero-dependency stack, dual versioned schemas, the enrichment feedback-loop guard, never-break-pi try/catch, 200k truncation, the stdin ignore quirk (hit identically in enrich.js and research.ts), enrichment through the pi harness instead of direct API calls, and the honest-brief instruction. Also documented: soft failures stay 'suspected' until confirmed, and a central-dir install warning (copies in a project's .pi/extensions/ would double-log).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of observation, honestly stated. Monitor: one sync append per event — architectural guarantee, not a benchmark (the repo makes no latency claims). /research: 4 pi runs + ~14 short LLM calls, typically 2-5 minutes; the checked-in fixture ran 6m25s with one stream timing out and being dropped. Enrichment: glm-5.3-flash through headless pi, 5-min timeout × 2 attempts, serialized; real logged per-turn cost $0.000049. Dashboard: mtime+size parse cache keeps months of logs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payoff, measurable. The dashboard computes 9 KPI cards and 9 charts (6 overview + drift roots, failure roots, habits), soft-failure forensics, and the prompt coach with 8 habit tags. Evidence from a real logged steering test (logs/steer-test.analysis.json): 3 wasted turns; one correction detour priced at 5 turns / 4 tool calls / 30 s; drift rooted to prompt_ambiguity with 6 cited events; 2 coach rewrites; and every finding cites event [N] traceable to the raw JSONL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Status: v0.1.0, single-user localhost tool. Three takeaways: the zero-dependency discipline holds end to end (63 node:test cases across 4 suites); the meta-loop is closed but guarded; honesty is systemic (suspected-until-confirmed soft failures, versioned schemas, brief defers to codebase). Honest limits: no latency benchmarks yet, bound to 127.0.0.1, one user. Repo: github.com/aryan-rajoria/nano-super.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i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234440"/>
            <a:ext cx="2155371" cy="3017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47472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4" name="Shape 1"/>
          <p:cNvSpPr/>
          <p:nvPr/>
        </p:nvSpPr>
        <p:spPr>
          <a:xfrm>
            <a:off x="722376" y="347472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521208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3"/>
          <p:cNvSpPr/>
          <p:nvPr/>
        </p:nvSpPr>
        <p:spPr>
          <a:xfrm>
            <a:off x="11155680" y="5943600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hape 4"/>
          <p:cNvSpPr/>
          <p:nvPr/>
        </p:nvSpPr>
        <p:spPr>
          <a:xfrm>
            <a:off x="11329416" y="5943600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8" name="Shape 5"/>
          <p:cNvSpPr/>
          <p:nvPr/>
        </p:nvSpPr>
        <p:spPr>
          <a:xfrm>
            <a:off x="11155680" y="6117336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9" name="Image 1" descr="assets/pi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68680"/>
            <a:ext cx="404949" cy="566928"/>
          </a:xfrm>
          <a:prstGeom prst="rect">
            <a:avLst/>
          </a:prstGeom>
        </p:spPr>
      </p:pic>
      <p:pic>
        <p:nvPicPr>
          <p:cNvPr id="10" name="Image 2" descr="assets/word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800"/>
            <a:ext cx="5909637" cy="7132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292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C9CD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usage observation — a technical deep-dive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502920" y="32461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agent that watches how you use your AI agent —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an AI that grades your prompting.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39496" y="4562856"/>
            <a:ext cx="905256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14" name="Shape 9"/>
          <p:cNvSpPr/>
          <p:nvPr/>
        </p:nvSpPr>
        <p:spPr>
          <a:xfrm>
            <a:off x="502920" y="4526280"/>
            <a:ext cx="905256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02920" y="4526280"/>
            <a:ext cx="905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v0.1.0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1673352" y="4562856"/>
            <a:ext cx="1220724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17" name="Shape 12"/>
          <p:cNvSpPr/>
          <p:nvPr/>
        </p:nvSpPr>
        <p:spPr>
          <a:xfrm>
            <a:off x="1636776" y="4526280"/>
            <a:ext cx="1220724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636776" y="4526280"/>
            <a:ext cx="12207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~3.6K LOC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122676" y="4562856"/>
            <a:ext cx="1115568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20" name="Shape 15"/>
          <p:cNvSpPr/>
          <p:nvPr/>
        </p:nvSpPr>
        <p:spPr>
          <a:xfrm>
            <a:off x="3086100" y="4526280"/>
            <a:ext cx="1115568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086100" y="452628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 TESTS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466844" y="4562856"/>
            <a:ext cx="1325880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23" name="Shape 18"/>
          <p:cNvSpPr/>
          <p:nvPr/>
        </p:nvSpPr>
        <p:spPr>
          <a:xfrm>
            <a:off x="4430268" y="4526280"/>
            <a:ext cx="1325880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430268" y="45262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NPM DEPS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02920" y="5257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the pi coding agent · @earendil-works/pi-coding-agent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02920" y="6355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github.com/aryan-rajoria/nano-super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9966960" y="6355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011680" cy="182880"/>
          </a:xfrm>
          <a:prstGeom prst="rect">
            <a:avLst/>
          </a:prstGeom>
        </p:spPr>
      </p:pic>
      <p:pic>
        <p:nvPicPr>
          <p:cNvPr id="6" name="Image 1" descr="assets/t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4415246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02920" y="164592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agent works all day.</a:t>
            </a:r>
            <a:endParaRPr lang="en-US" sz="2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never see how.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502920" y="342900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sessions live and die inside one terminal. Nothing answers: what did it do, what did it cost, and which of my prompts caused the rework?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53212" y="4942332"/>
            <a:ext cx="4206240" cy="1234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hape 7"/>
          <p:cNvSpPr/>
          <p:nvPr/>
        </p:nvSpPr>
        <p:spPr>
          <a:xfrm>
            <a:off x="502920" y="4892040"/>
            <a:ext cx="4206240" cy="123444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502920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4600" dirty="0"/>
          </a:p>
        </p:txBody>
      </p:sp>
      <p:sp>
        <p:nvSpPr>
          <p:cNvPr id="13" name="Text 9"/>
          <p:cNvSpPr/>
          <p:nvPr/>
        </p:nvSpPr>
        <p:spPr>
          <a:xfrm>
            <a:off x="1874520" y="513892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cross-project analytics ship with the pi agent — the usage data is created every day, then discarded.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399532" y="1467612"/>
            <a:ext cx="6336792" cy="47091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" name="Shape 11"/>
          <p:cNvSpPr/>
          <p:nvPr/>
        </p:nvSpPr>
        <p:spPr>
          <a:xfrm>
            <a:off x="5349240" y="1417320"/>
            <a:ext cx="6336792" cy="47091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69280" y="1746504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3"/>
          <p:cNvSpPr/>
          <p:nvPr/>
        </p:nvSpPr>
        <p:spPr>
          <a:xfrm>
            <a:off x="5989320" y="1691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Scattered sessions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989320" y="198424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project keeps its own history — no aggregate view of prompts, tools or turns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0" y="2478024"/>
            <a:ext cx="56692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669280" y="2633472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7"/>
          <p:cNvSpPr/>
          <p:nvPr/>
        </p:nvSpPr>
        <p:spPr>
          <a:xfrm>
            <a:off x="5989320" y="25786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Hidden failures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5989320" y="2871216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powershell tool wraps failed commands in exit-0 output — errors pass silently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669280" y="3364992"/>
            <a:ext cx="56692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669280" y="3520440"/>
            <a:ext cx="146304" cy="1463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1"/>
          <p:cNvSpPr/>
          <p:nvPr/>
        </p:nvSpPr>
        <p:spPr>
          <a:xfrm>
            <a:off x="5989320" y="346557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Unreviewed habits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5989320" y="375818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nobody re-reads their own prompts, so bad habits compound across sessions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669280" y="4251960"/>
            <a:ext cx="56692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669280" y="4407408"/>
            <a:ext cx="146304" cy="14630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9" name="Text 25"/>
          <p:cNvSpPr/>
          <p:nvPr/>
        </p:nvSpPr>
        <p:spPr>
          <a:xfrm>
            <a:off x="5989320" y="43525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Drift by hindsight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5989320" y="4645152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drift is noticed only after the wasted turns it produced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5669280" y="5138928"/>
            <a:ext cx="56692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669280" y="5294376"/>
            <a:ext cx="146304" cy="1463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3" name="Text 29"/>
          <p:cNvSpPr/>
          <p:nvPr/>
        </p:nvSpPr>
        <p:spPr>
          <a:xfrm>
            <a:off x="5989320" y="52395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Invisible spend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5989320" y="553212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 and $ per model, per project are never totaled — cost is a feeling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1698171" cy="182880"/>
          </a:xfrm>
          <a:prstGeom prst="rect">
            <a:avLst/>
          </a:prstGeom>
        </p:spPr>
      </p:pic>
      <p:pic>
        <p:nvPicPr>
          <p:cNvPr id="6" name="Image 1" descr="assets/t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7268174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02920" y="1261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independent parts, one shared data dir.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53212" y="1787652"/>
            <a:ext cx="5166360" cy="28803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" name="Shape 6"/>
          <p:cNvSpPr/>
          <p:nvPr/>
        </p:nvSpPr>
        <p:spPr>
          <a:xfrm>
            <a:off x="502920" y="1737360"/>
            <a:ext cx="5166360" cy="28803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pic>
        <p:nvPicPr>
          <p:cNvPr id="11" name="Image 2" descr="assets/pi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874520"/>
            <a:ext cx="299258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1920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pi/  —  nano-super-pi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77240" y="2267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 extensions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777240" y="26974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monitor — logs every session from every project into one central dir: prompts, tool calls, results, turns, tokens, cost.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77240" y="36118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/research command — 6-stage deep research (RTV + PDR) on a task; submits the brief as context.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806440" y="3134106"/>
            <a:ext cx="502920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7" name="Shape 12"/>
          <p:cNvSpPr/>
          <p:nvPr/>
        </p:nvSpPr>
        <p:spPr>
          <a:xfrm>
            <a:off x="6309360" y="304952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8" name="Shape 13"/>
          <p:cNvSpPr/>
          <p:nvPr/>
        </p:nvSpPr>
        <p:spPr>
          <a:xfrm>
            <a:off x="6309360" y="316839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0" y="3108960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Text 15"/>
          <p:cNvSpPr/>
          <p:nvPr/>
        </p:nvSpPr>
        <p:spPr>
          <a:xfrm>
            <a:off x="5742432" y="34015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542532" y="1787652"/>
            <a:ext cx="5193792" cy="28803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2" name="Shape 17"/>
          <p:cNvSpPr/>
          <p:nvPr/>
        </p:nvSpPr>
        <p:spPr>
          <a:xfrm>
            <a:off x="6492240" y="1737360"/>
            <a:ext cx="5193792" cy="28803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76656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dashboard/  —  observation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766560" y="2267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analytics, zero deps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766560" y="26974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Aggregates over those logs — tool health, prompt mix, drift root causes, tokens &amp; cost per session/model/project.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766560" y="36118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enrichment — a headless pi run classifies prompts and coaches your habits on every ended session.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553212" y="5079492"/>
            <a:ext cx="7498080" cy="1143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8" name="Shape 23"/>
          <p:cNvSpPr/>
          <p:nvPr/>
        </p:nvSpPr>
        <p:spPr>
          <a:xfrm>
            <a:off x="502920" y="5029200"/>
            <a:ext cx="7498080" cy="1143000"/>
          </a:xfrm>
          <a:prstGeom prst="rect">
            <a:avLst/>
          </a:prstGeom>
          <a:solidFill>
            <a:srgbClr val="1B1D22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22960" y="5212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E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 install ./pi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822960" y="5577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EE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dashboard/server.js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539496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http://127.0.0.1:3131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5394960" y="5577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npm install — Node stdlib only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417052" y="5079492"/>
            <a:ext cx="3319272" cy="1143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4" name="Shape 29"/>
          <p:cNvSpPr/>
          <p:nvPr/>
        </p:nvSpPr>
        <p:spPr>
          <a:xfrm>
            <a:off x="8366760" y="5029200"/>
            <a:ext cx="3319272" cy="1143000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641080" y="51937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CENTRAL DIR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8641080" y="5458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~/.pi/agent/logs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8641080" y="57790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project writes here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422469" cy="182880"/>
          </a:xfrm>
          <a:prstGeom prst="rect">
            <a:avLst/>
          </a:prstGeom>
        </p:spPr>
      </p:pic>
      <p:pic>
        <p:nvPicPr>
          <p:cNvPr id="6" name="Image 1" descr="assets/t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8490857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553212" y="1421892"/>
            <a:ext cx="5257800" cy="4892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" name="Shape 5"/>
          <p:cNvSpPr/>
          <p:nvPr/>
        </p:nvSpPr>
        <p:spPr>
          <a:xfrm>
            <a:off x="502920" y="1371600"/>
            <a:ext cx="5257800" cy="48920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1572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lifecycle hooks → 1 line each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77240" y="201168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196596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session_meta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017520" y="19796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project, model, mode — the header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77240" y="246888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5" name="Text 11"/>
          <p:cNvSpPr/>
          <p:nvPr/>
        </p:nvSpPr>
        <p:spPr>
          <a:xfrm>
            <a:off x="1005840" y="242316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session_end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017520" y="24368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reason: quit · reload · new · resume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77240" y="292608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8" name="Text 14"/>
          <p:cNvSpPr/>
          <p:nvPr/>
        </p:nvSpPr>
        <p:spPr>
          <a:xfrm>
            <a:off x="1005840" y="288036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model_change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3017520" y="28940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mid-session model switches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77240" y="338328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1" name="Text 17"/>
          <p:cNvSpPr/>
          <p:nvPr/>
        </p:nvSpPr>
        <p:spPr>
          <a:xfrm>
            <a:off x="1005840" y="333756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user_prompt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3017520" y="33512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+ image count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777240" y="384048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4" name="Text 20"/>
          <p:cNvSpPr/>
          <p:nvPr/>
        </p:nvSpPr>
        <p:spPr>
          <a:xfrm>
            <a:off x="1005840" y="379476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3017520" y="38084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name + args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777240" y="429768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7" name="Text 23"/>
          <p:cNvSpPr/>
          <p:nvPr/>
        </p:nvSpPr>
        <p:spPr>
          <a:xfrm>
            <a:off x="1005840" y="425196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tool_result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3017520" y="42656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ok/error · durationMs · payload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77240" y="4754880"/>
            <a:ext cx="100584" cy="10058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0" name="Text 26"/>
          <p:cNvSpPr/>
          <p:nvPr/>
        </p:nvSpPr>
        <p:spPr>
          <a:xfrm>
            <a:off x="1005840" y="470916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assistant_message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3017520" y="47228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· tokens · $ cost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777240" y="5285232"/>
            <a:ext cx="470916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4406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~/.pi/agent/logs/&lt;sessionId&gt;.jsonl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777240" y="5742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central dir · every project · ts + sessionId on every event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6085332" y="1421892"/>
            <a:ext cx="2724912" cy="13898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hape 32"/>
          <p:cNvSpPr/>
          <p:nvPr/>
        </p:nvSpPr>
        <p:spPr>
          <a:xfrm>
            <a:off x="6035040" y="1371600"/>
            <a:ext cx="2724912" cy="138988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263640" y="1618488"/>
            <a:ext cx="118872" cy="118872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Text 34"/>
          <p:cNvSpPr/>
          <p:nvPr/>
        </p:nvSpPr>
        <p:spPr>
          <a:xfrm>
            <a:off x="6492240" y="1536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mkdir once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626364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first write only — it sits on the agent's hot path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8956548" y="1421892"/>
            <a:ext cx="2724912" cy="13898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1" name="Shape 37"/>
          <p:cNvSpPr/>
          <p:nvPr/>
        </p:nvSpPr>
        <p:spPr>
          <a:xfrm>
            <a:off x="8906256" y="1371600"/>
            <a:ext cx="2724912" cy="138988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9134856" y="1618488"/>
            <a:ext cx="118872" cy="1188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39"/>
          <p:cNvSpPr/>
          <p:nvPr/>
        </p:nvSpPr>
        <p:spPr>
          <a:xfrm>
            <a:off x="9363456" y="1536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append / event</a:t>
            </a:r>
            <a:endParaRPr lang="en-US" sz="1300" dirty="0"/>
          </a:p>
        </p:txBody>
      </p:sp>
      <p:sp>
        <p:nvSpPr>
          <p:cNvPr id="44" name="Text 40"/>
          <p:cNvSpPr/>
          <p:nvPr/>
        </p:nvSpPr>
        <p:spPr>
          <a:xfrm>
            <a:off x="9134856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appendFileSync — one JSONL line, no queues, no extra calls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6085332" y="2994660"/>
            <a:ext cx="2724912" cy="13898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6" name="Shape 42"/>
          <p:cNvSpPr/>
          <p:nvPr/>
        </p:nvSpPr>
        <p:spPr>
          <a:xfrm>
            <a:off x="6035040" y="2944368"/>
            <a:ext cx="2724912" cy="138988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6263640" y="3191256"/>
            <a:ext cx="118872" cy="118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8" name="Text 44"/>
          <p:cNvSpPr/>
          <p:nvPr/>
        </p:nvSpPr>
        <p:spPr>
          <a:xfrm>
            <a:off x="649224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/ catch everything</a:t>
            </a:r>
            <a:endParaRPr lang="en-US" sz="1300" dirty="0"/>
          </a:p>
        </p:txBody>
      </p:sp>
      <p:sp>
        <p:nvSpPr>
          <p:cNvPr id="49" name="Text 45"/>
          <p:cNvSpPr/>
          <p:nvPr/>
        </p:nvSpPr>
        <p:spPr>
          <a:xfrm>
            <a:off x="6263640" y="34472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“Monitoring must never break pi.” failures are swallowed</a:t>
            </a:r>
            <a:endParaRPr lang="en-US" sz="1050" dirty="0"/>
          </a:p>
        </p:txBody>
      </p:sp>
      <p:sp>
        <p:nvSpPr>
          <p:cNvPr id="50" name="Shape 46"/>
          <p:cNvSpPr/>
          <p:nvPr/>
        </p:nvSpPr>
        <p:spPr>
          <a:xfrm>
            <a:off x="8956548" y="2994660"/>
            <a:ext cx="2724912" cy="13898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1" name="Shape 47"/>
          <p:cNvSpPr/>
          <p:nvPr/>
        </p:nvSpPr>
        <p:spPr>
          <a:xfrm>
            <a:off x="8906256" y="2944368"/>
            <a:ext cx="2724912" cy="138988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9134856" y="3191256"/>
            <a:ext cx="118872" cy="1188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3" name="Text 49"/>
          <p:cNvSpPr/>
          <p:nvPr/>
        </p:nvSpPr>
        <p:spPr>
          <a:xfrm>
            <a:off x="9363456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200K truncation</a:t>
            </a:r>
            <a:endParaRPr lang="en-US" sz="1300" dirty="0"/>
          </a:p>
        </p:txBody>
      </p:sp>
      <p:sp>
        <p:nvSpPr>
          <p:cNvPr id="54" name="Text 50"/>
          <p:cNvSpPr/>
          <p:nvPr/>
        </p:nvSpPr>
        <p:spPr>
          <a:xfrm>
            <a:off x="9134856" y="34472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pathological payloads (base64 images) cannot blow up the log</a:t>
            </a:r>
            <a:endParaRPr lang="en-US" sz="1050" dirty="0"/>
          </a:p>
        </p:txBody>
      </p:sp>
      <p:sp>
        <p:nvSpPr>
          <p:cNvPr id="55" name="Shape 51"/>
          <p:cNvSpPr/>
          <p:nvPr/>
        </p:nvSpPr>
        <p:spPr>
          <a:xfrm>
            <a:off x="6085332" y="4759452"/>
            <a:ext cx="5650992" cy="1554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6" name="Shape 52"/>
          <p:cNvSpPr/>
          <p:nvPr/>
        </p:nvSpPr>
        <p:spPr>
          <a:xfrm>
            <a:off x="6035040" y="4709160"/>
            <a:ext cx="5650992" cy="1554480"/>
          </a:xfrm>
          <a:prstGeom prst="rect">
            <a:avLst/>
          </a:prstGeom>
          <a:solidFill>
            <a:srgbClr val="EFE9FB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6309360" y="48920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FEEDBACK-LOOP GUARD</a:t>
            </a:r>
            <a:endParaRPr lang="en-US" sz="1050" dirty="0"/>
          </a:p>
        </p:txBody>
      </p:sp>
      <p:sp>
        <p:nvSpPr>
          <p:cNvPr id="58" name="Text 54"/>
          <p:cNvSpPr/>
          <p:nvPr/>
        </p:nvSpPr>
        <p:spPr>
          <a:xfrm>
            <a:off x="6309360" y="519379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monitor no-ops when PI_DASHBOARD_ENRICHMENT is set — that's the dashboard's own headless pi run. Logging it would create sessions that trigger further enrichment: an infinite loop, prevented by one env var.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638697" cy="182880"/>
          </a:xfrm>
          <a:prstGeom prst="rect">
            <a:avLst/>
          </a:prstGeom>
        </p:spPr>
      </p:pic>
      <p:pic>
        <p:nvPicPr>
          <p:cNvPr id="6" name="Image 1" descr="assets/t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5637929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553212" y="1467612"/>
            <a:ext cx="3154680" cy="23317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" name="Shape 5"/>
          <p:cNvSpPr/>
          <p:nvPr/>
        </p:nvSpPr>
        <p:spPr>
          <a:xfrm>
            <a:off x="502920" y="1417320"/>
            <a:ext cx="3154680" cy="23317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1600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LOG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3152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&lt;id&gt;.jsonl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58952" y="2231136"/>
            <a:ext cx="1190549" cy="29654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2203704"/>
            <a:ext cx="1190549" cy="296545"/>
          </a:xfrm>
          <a:prstGeom prst="rect">
            <a:avLst/>
          </a:prstGeom>
          <a:solidFill>
            <a:srgbClr val="E7EEFD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1520" y="2203704"/>
            <a:ext cx="1190549" cy="29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schemaVersion 1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731520" y="262432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event types — 7 monitor + 5 research_*</a:t>
            </a:r>
            <a:endParaRPr lang="en-US" sz="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event = one line</a:t>
            </a:r>
            <a:endParaRPr lang="en-US" sz="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+ sessionId on all of them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67428" y="1467612"/>
            <a:ext cx="3154680" cy="23317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7" name="Shape 13"/>
          <p:cNvSpPr/>
          <p:nvPr/>
        </p:nvSpPr>
        <p:spPr>
          <a:xfrm>
            <a:off x="4517136" y="1417320"/>
            <a:ext cx="3154680" cy="23317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45736" y="1600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745736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&lt;id&gt;.analysis.json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773168" y="2231136"/>
            <a:ext cx="1190549" cy="29654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Shape 17"/>
          <p:cNvSpPr/>
          <p:nvPr/>
        </p:nvSpPr>
        <p:spPr>
          <a:xfrm>
            <a:off x="4745736" y="2203704"/>
            <a:ext cx="1190549" cy="296545"/>
          </a:xfrm>
          <a:prstGeom prst="rect">
            <a:avLst/>
          </a:prstGeom>
          <a:solidFill>
            <a:srgbClr val="E0F2F7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45736" y="2203704"/>
            <a:ext cx="1190549" cy="29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schemaVersion 2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745736" y="262432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 · wastedTurns</a:t>
            </a:r>
            <a:endParaRPr lang="en-US" sz="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prompt classes · drift root causes</a:t>
            </a:r>
            <a:endParaRPr lang="en-US" sz="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 + soft failures · phases</a:t>
            </a:r>
            <a:endParaRPr lang="en-US" sz="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coach — 8 habit tags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8581644" y="1467612"/>
            <a:ext cx="3154680" cy="23317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5" name="Shape 21"/>
          <p:cNvSpPr/>
          <p:nvPr/>
        </p:nvSpPr>
        <p:spPr>
          <a:xfrm>
            <a:off x="8531352" y="1417320"/>
            <a:ext cx="3154680" cy="23317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759952" y="1600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DIGEST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8759952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.enrich/&lt;id&gt;.input.md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8787384" y="2231136"/>
            <a:ext cx="848563" cy="29654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9" name="Shape 25"/>
          <p:cNvSpPr/>
          <p:nvPr/>
        </p:nvSpPr>
        <p:spPr>
          <a:xfrm>
            <a:off x="8759952" y="2203704"/>
            <a:ext cx="848563" cy="296545"/>
          </a:xfrm>
          <a:prstGeom prst="rect">
            <a:avLst/>
          </a:prstGeom>
          <a:solidFill>
            <a:srgbClr val="EFE9FB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759952" y="2203704"/>
            <a:ext cx="848563" cy="29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only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8759952" y="262432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numbered markdown, 30K-char budget</a:t>
            </a:r>
            <a:endParaRPr lang="en-US" sz="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[N] == raw JSONL line N</a:t>
            </a:r>
            <a:endParaRPr lang="en-US" sz="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model actually reads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712464" y="2311146"/>
            <a:ext cx="658368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3" name="Shape 29"/>
          <p:cNvSpPr/>
          <p:nvPr/>
        </p:nvSpPr>
        <p:spPr>
          <a:xfrm>
            <a:off x="4370832" y="222656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4" name="Shape 30"/>
          <p:cNvSpPr/>
          <p:nvPr/>
        </p:nvSpPr>
        <p:spPr>
          <a:xfrm>
            <a:off x="4370832" y="234543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5" name="Shape 31"/>
          <p:cNvSpPr/>
          <p:nvPr/>
        </p:nvSpPr>
        <p:spPr>
          <a:xfrm>
            <a:off x="4462272" y="2286000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hape 32"/>
          <p:cNvSpPr/>
          <p:nvPr/>
        </p:nvSpPr>
        <p:spPr>
          <a:xfrm>
            <a:off x="7726680" y="2311146"/>
            <a:ext cx="658368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7" name="Shape 33"/>
          <p:cNvSpPr/>
          <p:nvPr/>
        </p:nvSpPr>
        <p:spPr>
          <a:xfrm>
            <a:off x="8385048" y="222656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8" name="Shape 34"/>
          <p:cNvSpPr/>
          <p:nvPr/>
        </p:nvSpPr>
        <p:spPr>
          <a:xfrm>
            <a:off x="8385048" y="234543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9" name="Shape 35"/>
          <p:cNvSpPr/>
          <p:nvPr/>
        </p:nvSpPr>
        <p:spPr>
          <a:xfrm>
            <a:off x="8476488" y="2286000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Text 36"/>
          <p:cNvSpPr/>
          <p:nvPr/>
        </p:nvSpPr>
        <p:spPr>
          <a:xfrm>
            <a:off x="3657600" y="2478024"/>
            <a:ext cx="859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digest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7671816" y="2478024"/>
            <a:ext cx="859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headless pi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glm-5.3-flash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502920" y="39136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three share one key — &lt;sessionId&gt; — and every AI finding cites event [N], traceable to a raw log line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553212" y="4393692"/>
            <a:ext cx="11183112" cy="19202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4" name="Shape 40"/>
          <p:cNvSpPr/>
          <p:nvPr/>
        </p:nvSpPr>
        <p:spPr>
          <a:xfrm>
            <a:off x="502920" y="4343400"/>
            <a:ext cx="11183112" cy="1920240"/>
          </a:xfrm>
          <a:prstGeom prst="rect">
            <a:avLst/>
          </a:prstGeom>
          <a:solidFill>
            <a:srgbClr val="E5F5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77240" y="45262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RUNS LINK IN AS SESSIONS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804672" y="4983480"/>
            <a:ext cx="1078992" cy="4754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7" name="Shape 43"/>
          <p:cNvSpPr/>
          <p:nvPr/>
        </p:nvSpPr>
        <p:spPr>
          <a:xfrm>
            <a:off x="777240" y="4956048"/>
            <a:ext cx="1078992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77240" y="49560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A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2039112" y="4983480"/>
            <a:ext cx="1078992" cy="4754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0" name="Shape 46"/>
          <p:cNvSpPr/>
          <p:nvPr/>
        </p:nvSpPr>
        <p:spPr>
          <a:xfrm>
            <a:off x="2011680" y="4956048"/>
            <a:ext cx="1078992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2011680" y="49560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B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3273552" y="4983480"/>
            <a:ext cx="1078992" cy="4754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3" name="Shape 49"/>
          <p:cNvSpPr/>
          <p:nvPr/>
        </p:nvSpPr>
        <p:spPr>
          <a:xfrm>
            <a:off x="3246120" y="4956048"/>
            <a:ext cx="1078992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3246120" y="49560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C</a:t>
            </a:r>
            <a:endParaRPr 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4507992" y="4983480"/>
            <a:ext cx="1078992" cy="47548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6" name="Shape 52"/>
          <p:cNvSpPr/>
          <p:nvPr/>
        </p:nvSpPr>
        <p:spPr>
          <a:xfrm>
            <a:off x="4480560" y="4956048"/>
            <a:ext cx="1078992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4480560" y="49560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REFINE</a:t>
            </a:r>
            <a:endParaRPr lang="en-US" sz="950" dirty="0"/>
          </a:p>
        </p:txBody>
      </p:sp>
      <p:sp>
        <p:nvSpPr>
          <p:cNvPr id="58" name="Shape 54"/>
          <p:cNvSpPr/>
          <p:nvPr/>
        </p:nvSpPr>
        <p:spPr>
          <a:xfrm>
            <a:off x="5852160" y="5173218"/>
            <a:ext cx="365760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9" name="Shape 55"/>
          <p:cNvSpPr/>
          <p:nvPr/>
        </p:nvSpPr>
        <p:spPr>
          <a:xfrm>
            <a:off x="6217920" y="508863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Shape 56"/>
          <p:cNvSpPr/>
          <p:nvPr/>
        </p:nvSpPr>
        <p:spPr>
          <a:xfrm>
            <a:off x="6217920" y="5207508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1" name="Shape 57"/>
          <p:cNvSpPr/>
          <p:nvPr/>
        </p:nvSpPr>
        <p:spPr>
          <a:xfrm>
            <a:off x="6309360" y="5148072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2" name="Text 58"/>
          <p:cNvSpPr/>
          <p:nvPr/>
        </p:nvSpPr>
        <p:spPr>
          <a:xfrm>
            <a:off x="6446520" y="495604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research_start.streamSessionIds maps A/B/C in solution order · research_pdr.refineSessionId links the PDR run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are normal sessions — each gets its own replayable timeline in the dashboard</a:t>
            </a:r>
            <a:endParaRPr lang="en-US" sz="1100" dirty="0"/>
          </a:p>
        </p:txBody>
      </p:sp>
      <p:sp>
        <p:nvSpPr>
          <p:cNvPr id="63" name="Text 59"/>
          <p:cNvSpPr/>
          <p:nvPr/>
        </p:nvSpPr>
        <p:spPr>
          <a:xfrm>
            <a:off x="777240" y="58978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 are versioned on both sides — bump on breaking change, readers support old + new logs side by side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795451" cy="182880"/>
          </a:xfrm>
          <a:prstGeom prst="rect">
            <a:avLst/>
          </a:prstGeom>
        </p:spPr>
      </p:pic>
      <p:pic>
        <p:nvPicPr>
          <p:cNvPr id="6" name="Image 1" descr="assets/t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7268174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553212" y="1513332"/>
            <a:ext cx="2606040" cy="3017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" name="Shape 5"/>
          <p:cNvSpPr/>
          <p:nvPr/>
        </p:nvSpPr>
        <p:spPr>
          <a:xfrm>
            <a:off x="502920" y="1463040"/>
            <a:ext cx="2606040" cy="3017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30352" y="1746504"/>
            <a:ext cx="402336" cy="40233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hape 7"/>
          <p:cNvSpPr/>
          <p:nvPr/>
        </p:nvSpPr>
        <p:spPr>
          <a:xfrm>
            <a:off x="731520" y="1719072"/>
            <a:ext cx="402336" cy="40233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52728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252728" y="20299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lib/parse.js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31520" y="246888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aggregates every session — cache keyed on mtime+size, so months of logs stay fast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31520" y="3794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soft-fail regexes catch exit-0 failures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122676" y="1899666"/>
            <a:ext cx="137160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8" name="Shape 14"/>
          <p:cNvSpPr/>
          <p:nvPr/>
        </p:nvSpPr>
        <p:spPr>
          <a:xfrm>
            <a:off x="3259836" y="181508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" name="Shape 15"/>
          <p:cNvSpPr/>
          <p:nvPr/>
        </p:nvSpPr>
        <p:spPr>
          <a:xfrm>
            <a:off x="3259836" y="193395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Shape 16"/>
          <p:cNvSpPr/>
          <p:nvPr/>
        </p:nvSpPr>
        <p:spPr>
          <a:xfrm>
            <a:off x="3351276" y="1874520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Shape 17"/>
          <p:cNvSpPr/>
          <p:nvPr/>
        </p:nvSpPr>
        <p:spPr>
          <a:xfrm>
            <a:off x="3415284" y="1513332"/>
            <a:ext cx="2606040" cy="3017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2" name="Shape 18"/>
          <p:cNvSpPr/>
          <p:nvPr/>
        </p:nvSpPr>
        <p:spPr>
          <a:xfrm>
            <a:off x="3364992" y="1463040"/>
            <a:ext cx="2606040" cy="3017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392424" y="1746504"/>
            <a:ext cx="402336" cy="40233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4" name="Shape 20"/>
          <p:cNvSpPr/>
          <p:nvPr/>
        </p:nvSpPr>
        <p:spPr>
          <a:xfrm>
            <a:off x="3593592" y="1719072"/>
            <a:ext cx="402336" cy="40233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5" name="Text 21"/>
          <p:cNvSpPr/>
          <p:nvPr/>
        </p:nvSpPr>
        <p:spPr>
          <a:xfrm>
            <a:off x="359359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411480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4114800" y="20299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3593592" y="246888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node:http stdlib · 5 API endpoints · bound to 127.0.0.1:3131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3593592" y="3794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 / sessions / detail / analyze / status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5984748" y="1899666"/>
            <a:ext cx="137160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hape 27"/>
          <p:cNvSpPr/>
          <p:nvPr/>
        </p:nvSpPr>
        <p:spPr>
          <a:xfrm>
            <a:off x="6121908" y="181508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2" name="Shape 28"/>
          <p:cNvSpPr/>
          <p:nvPr/>
        </p:nvSpPr>
        <p:spPr>
          <a:xfrm>
            <a:off x="6121908" y="193395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3" name="Shape 29"/>
          <p:cNvSpPr/>
          <p:nvPr/>
        </p:nvSpPr>
        <p:spPr>
          <a:xfrm>
            <a:off x="6213348" y="1874520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4" name="Shape 30"/>
          <p:cNvSpPr/>
          <p:nvPr/>
        </p:nvSpPr>
        <p:spPr>
          <a:xfrm>
            <a:off x="6277356" y="1513332"/>
            <a:ext cx="2606040" cy="3017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5" name="Shape 31"/>
          <p:cNvSpPr/>
          <p:nvPr/>
        </p:nvSpPr>
        <p:spPr>
          <a:xfrm>
            <a:off x="6227064" y="1463040"/>
            <a:ext cx="2606040" cy="3017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254496" y="1746504"/>
            <a:ext cx="402336" cy="40233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7" name="Shape 33"/>
          <p:cNvSpPr/>
          <p:nvPr/>
        </p:nvSpPr>
        <p:spPr>
          <a:xfrm>
            <a:off x="6455664" y="1719072"/>
            <a:ext cx="402336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4"/>
          <p:cNvSpPr/>
          <p:nvPr/>
        </p:nvSpPr>
        <p:spPr>
          <a:xfrm>
            <a:off x="6455664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39" name="Text 35"/>
          <p:cNvSpPr/>
          <p:nvPr/>
        </p:nvSpPr>
        <p:spPr>
          <a:xfrm>
            <a:off x="6976872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ENRICH</a:t>
            </a:r>
            <a:endParaRPr lang="en-US" sz="1500" dirty="0"/>
          </a:p>
        </p:txBody>
      </p:sp>
      <p:sp>
        <p:nvSpPr>
          <p:cNvPr id="40" name="Text 36"/>
          <p:cNvSpPr/>
          <p:nvPr/>
        </p:nvSpPr>
        <p:spPr>
          <a:xfrm>
            <a:off x="6976872" y="20299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lib/enrich.js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6455664" y="246888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headless pi writes analysis JSON through the harness — never a direct API call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6455664" y="3794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serialized: one enrichment run at a time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8846820" y="1899666"/>
            <a:ext cx="137160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4" name="Shape 40"/>
          <p:cNvSpPr/>
          <p:nvPr/>
        </p:nvSpPr>
        <p:spPr>
          <a:xfrm>
            <a:off x="8983980" y="181508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Shape 41"/>
          <p:cNvSpPr/>
          <p:nvPr/>
        </p:nvSpPr>
        <p:spPr>
          <a:xfrm>
            <a:off x="8983980" y="193395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6" name="Shape 42"/>
          <p:cNvSpPr/>
          <p:nvPr/>
        </p:nvSpPr>
        <p:spPr>
          <a:xfrm>
            <a:off x="9075420" y="1874520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7" name="Shape 43"/>
          <p:cNvSpPr/>
          <p:nvPr/>
        </p:nvSpPr>
        <p:spPr>
          <a:xfrm>
            <a:off x="9139428" y="1513332"/>
            <a:ext cx="2606040" cy="3017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8" name="Shape 44"/>
          <p:cNvSpPr/>
          <p:nvPr/>
        </p:nvSpPr>
        <p:spPr>
          <a:xfrm>
            <a:off x="9089136" y="1463040"/>
            <a:ext cx="2606040" cy="3017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9116568" y="1746504"/>
            <a:ext cx="402336" cy="40233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0" name="Shape 46"/>
          <p:cNvSpPr/>
          <p:nvPr/>
        </p:nvSpPr>
        <p:spPr>
          <a:xfrm>
            <a:off x="9317736" y="1719072"/>
            <a:ext cx="402336" cy="4023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1" name="Text 47"/>
          <p:cNvSpPr/>
          <p:nvPr/>
        </p:nvSpPr>
        <p:spPr>
          <a:xfrm>
            <a:off x="9317736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500" dirty="0"/>
          </a:p>
        </p:txBody>
      </p:sp>
      <p:sp>
        <p:nvSpPr>
          <p:cNvPr id="52" name="Text 48"/>
          <p:cNvSpPr/>
          <p:nvPr/>
        </p:nvSpPr>
        <p:spPr>
          <a:xfrm>
            <a:off x="9838944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</a:t>
            </a:r>
            <a:endParaRPr lang="en-US" sz="1500" dirty="0"/>
          </a:p>
        </p:txBody>
      </p:sp>
      <p:sp>
        <p:nvSpPr>
          <p:cNvPr id="53" name="Text 49"/>
          <p:cNvSpPr/>
          <p:nvPr/>
        </p:nvSpPr>
        <p:spPr>
          <a:xfrm>
            <a:off x="9838944" y="20299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public/ SPA</a:t>
            </a:r>
            <a:endParaRPr lang="en-US" sz="950" dirty="0"/>
          </a:p>
        </p:txBody>
      </p:sp>
      <p:sp>
        <p:nvSpPr>
          <p:cNvPr id="54" name="Text 50"/>
          <p:cNvSpPr/>
          <p:nvPr/>
        </p:nvSpPr>
        <p:spPr>
          <a:xfrm>
            <a:off x="9317736" y="246888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single-file app, no build step · vendored Chart.js</a:t>
            </a:r>
            <a:endParaRPr lang="en-US" sz="1100" dirty="0"/>
          </a:p>
        </p:txBody>
      </p:sp>
      <p:sp>
        <p:nvSpPr>
          <p:cNvPr id="55" name="Text 51"/>
          <p:cNvSpPr/>
          <p:nvPr/>
        </p:nvSpPr>
        <p:spPr>
          <a:xfrm>
            <a:off x="9317736" y="3794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auto-refresh every 15 s while visible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553212" y="4942332"/>
            <a:ext cx="11183112" cy="13716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7" name="Shape 53"/>
          <p:cNvSpPr/>
          <p:nvPr/>
        </p:nvSpPr>
        <p:spPr>
          <a:xfrm>
            <a:off x="502920" y="4892040"/>
            <a:ext cx="11183112" cy="1371600"/>
          </a:xfrm>
          <a:prstGeom prst="rect">
            <a:avLst/>
          </a:prstGeom>
          <a:solidFill>
            <a:srgbClr val="FBEED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777240" y="5138928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9" name="Text 55"/>
          <p:cNvSpPr/>
          <p:nvPr/>
        </p:nvSpPr>
        <p:spPr>
          <a:xfrm>
            <a:off x="1024128" y="50840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WATCHER</a:t>
            </a:r>
            <a:endParaRPr lang="en-US" sz="1100" dirty="0"/>
          </a:p>
        </p:txBody>
      </p:sp>
      <p:sp>
        <p:nvSpPr>
          <p:cNvPr id="60" name="Text 56"/>
          <p:cNvSpPr/>
          <p:nvPr/>
        </p:nvSpPr>
        <p:spPr>
          <a:xfrm>
            <a:off x="1024128" y="53949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Scans the log dir every 5 s. A session auto-analyzes once its log goes quiet: 60 s after a clean quit, 10 min after reload/new/resume — chains keep writing the same file, so they wait longer.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795451" cy="182880"/>
          </a:xfrm>
          <a:prstGeom prst="rect">
            <a:avLst/>
          </a:prstGeom>
        </p:spPr>
      </p:pic>
      <p:pic>
        <p:nvPicPr>
          <p:cNvPr id="6" name="Image 1" descr="assets/t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8490857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553212" y="1467612"/>
            <a:ext cx="3611880" cy="16459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" name="Shape 5"/>
          <p:cNvSpPr/>
          <p:nvPr/>
        </p:nvSpPr>
        <p:spPr>
          <a:xfrm>
            <a:off x="502920" y="1417320"/>
            <a:ext cx="3611880" cy="16459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30352" y="1682496"/>
            <a:ext cx="384048" cy="3840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Shape 7"/>
          <p:cNvSpPr/>
          <p:nvPr/>
        </p:nvSpPr>
        <p:spPr>
          <a:xfrm>
            <a:off x="722376" y="1655064"/>
            <a:ext cx="384048" cy="3840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2" name="Text 8"/>
          <p:cNvSpPr/>
          <p:nvPr/>
        </p:nvSpPr>
        <p:spPr>
          <a:xfrm>
            <a:off x="722376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34440" y="16733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SCOUT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3182112" y="1682496"/>
            <a:ext cx="574975" cy="29654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" name="Shape 11"/>
          <p:cNvSpPr/>
          <p:nvPr/>
        </p:nvSpPr>
        <p:spPr>
          <a:xfrm>
            <a:off x="3154680" y="1655064"/>
            <a:ext cx="574975" cy="296545"/>
          </a:xfrm>
          <a:prstGeom prst="rect">
            <a:avLst/>
          </a:prstGeom>
          <a:solidFill>
            <a:srgbClr val="E7EEFD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154680" y="1655064"/>
            <a:ext cx="574975" cy="29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call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722376" y="219456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LLM call drafts 3 distinct candidate approaches — A, B, C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338828" y="1467612"/>
            <a:ext cx="3611880" cy="16459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" name="Shape 15"/>
          <p:cNvSpPr/>
          <p:nvPr/>
        </p:nvSpPr>
        <p:spPr>
          <a:xfrm>
            <a:off x="4288536" y="1417320"/>
            <a:ext cx="3611880" cy="16459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315968" y="1682496"/>
            <a:ext cx="384048" cy="3840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Shape 17"/>
          <p:cNvSpPr/>
          <p:nvPr/>
        </p:nvSpPr>
        <p:spPr>
          <a:xfrm>
            <a:off x="4507992" y="1655064"/>
            <a:ext cx="384048" cy="3840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2" name="Text 18"/>
          <p:cNvSpPr/>
          <p:nvPr/>
        </p:nvSpPr>
        <p:spPr>
          <a:xfrm>
            <a:off x="4507992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020056" y="16733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6967728" y="1682496"/>
            <a:ext cx="574975" cy="29654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5" name="Shape 21"/>
          <p:cNvSpPr/>
          <p:nvPr/>
        </p:nvSpPr>
        <p:spPr>
          <a:xfrm>
            <a:off x="6940296" y="1655064"/>
            <a:ext cx="574975" cy="296545"/>
          </a:xfrm>
          <a:prstGeom prst="rect">
            <a:avLst/>
          </a:prstGeom>
          <a:solidFill>
            <a:srgbClr val="E7EEFD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940296" y="1655064"/>
            <a:ext cx="574975" cy="29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runs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4507992" y="219456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parallel headless pi sessions research inside your repo — read + powershell, read-only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124444" y="1467612"/>
            <a:ext cx="3611880" cy="16459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9" name="Shape 25"/>
          <p:cNvSpPr/>
          <p:nvPr/>
        </p:nvSpPr>
        <p:spPr>
          <a:xfrm>
            <a:off x="8074152" y="1417320"/>
            <a:ext cx="3611880" cy="16459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101584" y="1682496"/>
            <a:ext cx="384048" cy="3840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hape 27"/>
          <p:cNvSpPr/>
          <p:nvPr/>
        </p:nvSpPr>
        <p:spPr>
          <a:xfrm>
            <a:off x="8293608" y="1655064"/>
            <a:ext cx="384048" cy="3840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2" name="Text 28"/>
          <p:cNvSpPr/>
          <p:nvPr/>
        </p:nvSpPr>
        <p:spPr>
          <a:xfrm>
            <a:off x="8293608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8805672" y="16733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DISTILL</a:t>
            </a:r>
            <a:endParaRPr lang="en-US" sz="1550" dirty="0"/>
          </a:p>
        </p:txBody>
      </p:sp>
      <p:sp>
        <p:nvSpPr>
          <p:cNvPr id="34" name="Shape 30"/>
          <p:cNvSpPr/>
          <p:nvPr/>
        </p:nvSpPr>
        <p:spPr>
          <a:xfrm>
            <a:off x="10753344" y="1682496"/>
            <a:ext cx="643372" cy="29654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5" name="Shape 31"/>
          <p:cNvSpPr/>
          <p:nvPr/>
        </p:nvSpPr>
        <p:spPr>
          <a:xfrm>
            <a:off x="10725912" y="1655064"/>
            <a:ext cx="643372" cy="296545"/>
          </a:xfrm>
          <a:prstGeom prst="rect">
            <a:avLst/>
          </a:prstGeom>
          <a:solidFill>
            <a:srgbClr val="E7EEFD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0725912" y="1655064"/>
            <a:ext cx="643372" cy="29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calls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8293608" y="219456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brief compressed to a structured summary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553212" y="3433572"/>
            <a:ext cx="3611880" cy="16459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9" name="Shape 35"/>
          <p:cNvSpPr/>
          <p:nvPr/>
        </p:nvSpPr>
        <p:spPr>
          <a:xfrm>
            <a:off x="502920" y="3383280"/>
            <a:ext cx="3611880" cy="16459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30352" y="3648456"/>
            <a:ext cx="384048" cy="3840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1" name="Shape 37"/>
          <p:cNvSpPr/>
          <p:nvPr/>
        </p:nvSpPr>
        <p:spPr>
          <a:xfrm>
            <a:off x="722376" y="3621024"/>
            <a:ext cx="384048" cy="3840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42" name="Text 38"/>
          <p:cNvSpPr/>
          <p:nvPr/>
        </p:nvSpPr>
        <p:spPr>
          <a:xfrm>
            <a:off x="722376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43" name="Text 39"/>
          <p:cNvSpPr/>
          <p:nvPr/>
        </p:nvSpPr>
        <p:spPr>
          <a:xfrm>
            <a:off x="1234440" y="3639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RTV</a:t>
            </a:r>
            <a:endParaRPr lang="en-US" sz="1550" dirty="0"/>
          </a:p>
        </p:txBody>
      </p:sp>
      <p:sp>
        <p:nvSpPr>
          <p:cNvPr id="44" name="Shape 40"/>
          <p:cNvSpPr/>
          <p:nvPr/>
        </p:nvSpPr>
        <p:spPr>
          <a:xfrm>
            <a:off x="3182112" y="3648456"/>
            <a:ext cx="643372" cy="29654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Shape 41"/>
          <p:cNvSpPr/>
          <p:nvPr/>
        </p:nvSpPr>
        <p:spPr>
          <a:xfrm>
            <a:off x="3154680" y="3621024"/>
            <a:ext cx="643372" cy="296545"/>
          </a:xfrm>
          <a:prstGeom prst="rect">
            <a:avLst/>
          </a:prstGeom>
          <a:solidFill>
            <a:srgbClr val="E7EEFD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154680" y="3621024"/>
            <a:ext cx="643372" cy="29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votes</a:t>
            </a:r>
            <a:endParaRPr lang="en-US" sz="850" dirty="0"/>
          </a:p>
        </p:txBody>
      </p:sp>
      <p:sp>
        <p:nvSpPr>
          <p:cNvPr id="47" name="Text 43"/>
          <p:cNvSpPr/>
          <p:nvPr/>
        </p:nvSpPr>
        <p:spPr>
          <a:xfrm>
            <a:off x="722376" y="416052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round-robin pairs, 3 judge votes each — majority wins the tournament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4338828" y="3433572"/>
            <a:ext cx="3611880" cy="16459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9" name="Shape 45"/>
          <p:cNvSpPr/>
          <p:nvPr/>
        </p:nvSpPr>
        <p:spPr>
          <a:xfrm>
            <a:off x="4288536" y="3383280"/>
            <a:ext cx="3611880" cy="16459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315968" y="3648456"/>
            <a:ext cx="384048" cy="3840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1" name="Shape 47"/>
          <p:cNvSpPr/>
          <p:nvPr/>
        </p:nvSpPr>
        <p:spPr>
          <a:xfrm>
            <a:off x="4507992" y="3621024"/>
            <a:ext cx="384048" cy="3840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52" name="Text 48"/>
          <p:cNvSpPr/>
          <p:nvPr/>
        </p:nvSpPr>
        <p:spPr>
          <a:xfrm>
            <a:off x="4507992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53" name="Text 49"/>
          <p:cNvSpPr/>
          <p:nvPr/>
        </p:nvSpPr>
        <p:spPr>
          <a:xfrm>
            <a:off x="5020056" y="3639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PDR</a:t>
            </a:r>
            <a:endParaRPr lang="en-US" sz="1550" dirty="0"/>
          </a:p>
        </p:txBody>
      </p:sp>
      <p:sp>
        <p:nvSpPr>
          <p:cNvPr id="54" name="Shape 50"/>
          <p:cNvSpPr/>
          <p:nvPr/>
        </p:nvSpPr>
        <p:spPr>
          <a:xfrm>
            <a:off x="6967728" y="3648456"/>
            <a:ext cx="506578" cy="29654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5" name="Shape 51"/>
          <p:cNvSpPr/>
          <p:nvPr/>
        </p:nvSpPr>
        <p:spPr>
          <a:xfrm>
            <a:off x="6940296" y="3621024"/>
            <a:ext cx="506578" cy="296545"/>
          </a:xfrm>
          <a:prstGeom prst="rect">
            <a:avLst/>
          </a:prstGeom>
          <a:solidFill>
            <a:srgbClr val="E7EEFD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940296" y="3621024"/>
            <a:ext cx="506578" cy="29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run</a:t>
            </a:r>
            <a:endParaRPr lang="en-US" sz="850" dirty="0"/>
          </a:p>
        </p:txBody>
      </p:sp>
      <p:sp>
        <p:nvSpPr>
          <p:cNvPr id="57" name="Text 53"/>
          <p:cNvSpPr/>
          <p:nvPr/>
        </p:nvSpPr>
        <p:spPr>
          <a:xfrm>
            <a:off x="4507992" y="416052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refine session: winner summary + losers' risks → final brief</a:t>
            </a:r>
            <a:endParaRPr lang="en-US" sz="1100" dirty="0"/>
          </a:p>
        </p:txBody>
      </p:sp>
      <p:sp>
        <p:nvSpPr>
          <p:cNvPr id="58" name="Shape 54"/>
          <p:cNvSpPr/>
          <p:nvPr/>
        </p:nvSpPr>
        <p:spPr>
          <a:xfrm>
            <a:off x="8124444" y="3433572"/>
            <a:ext cx="3611880" cy="16459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9" name="Shape 55"/>
          <p:cNvSpPr/>
          <p:nvPr/>
        </p:nvSpPr>
        <p:spPr>
          <a:xfrm>
            <a:off x="8074152" y="3383280"/>
            <a:ext cx="3611880" cy="16459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8101584" y="3648456"/>
            <a:ext cx="384048" cy="3840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1" name="Shape 57"/>
          <p:cNvSpPr/>
          <p:nvPr/>
        </p:nvSpPr>
        <p:spPr>
          <a:xfrm>
            <a:off x="8293608" y="3621024"/>
            <a:ext cx="384048" cy="3840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62" name="Text 58"/>
          <p:cNvSpPr/>
          <p:nvPr/>
        </p:nvSpPr>
        <p:spPr>
          <a:xfrm>
            <a:off x="8293608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63" name="Text 59"/>
          <p:cNvSpPr/>
          <p:nvPr/>
        </p:nvSpPr>
        <p:spPr>
          <a:xfrm>
            <a:off x="8805672" y="3639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</a:t>
            </a:r>
            <a:endParaRPr lang="en-US" sz="1550" dirty="0"/>
          </a:p>
        </p:txBody>
      </p:sp>
      <p:sp>
        <p:nvSpPr>
          <p:cNvPr id="64" name="Shape 60"/>
          <p:cNvSpPr/>
          <p:nvPr/>
        </p:nvSpPr>
        <p:spPr>
          <a:xfrm>
            <a:off x="10753344" y="3648456"/>
            <a:ext cx="438180" cy="29654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5" name="Shape 61"/>
          <p:cNvSpPr/>
          <p:nvPr/>
        </p:nvSpPr>
        <p:spPr>
          <a:xfrm>
            <a:off x="10725912" y="3621024"/>
            <a:ext cx="438180" cy="296545"/>
          </a:xfrm>
          <a:prstGeom prst="rect">
            <a:avLst/>
          </a:prstGeom>
          <a:solidFill>
            <a:srgbClr val="E7EEFD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10725912" y="3621024"/>
            <a:ext cx="438180" cy="29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850" dirty="0"/>
          </a:p>
        </p:txBody>
      </p:sp>
      <p:sp>
        <p:nvSpPr>
          <p:cNvPr id="67" name="Text 63"/>
          <p:cNvSpPr/>
          <p:nvPr/>
        </p:nvSpPr>
        <p:spPr>
          <a:xfrm>
            <a:off x="8293608" y="416052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 injected into your session as context — the agent executes the task</a:t>
            </a:r>
            <a:endParaRPr lang="en-US" sz="1100" dirty="0"/>
          </a:p>
        </p:txBody>
      </p:sp>
      <p:sp>
        <p:nvSpPr>
          <p:cNvPr id="68" name="Shape 64"/>
          <p:cNvSpPr/>
          <p:nvPr/>
        </p:nvSpPr>
        <p:spPr>
          <a:xfrm>
            <a:off x="4123944" y="2219706"/>
            <a:ext cx="64008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9" name="Shape 65"/>
          <p:cNvSpPr/>
          <p:nvPr/>
        </p:nvSpPr>
        <p:spPr>
          <a:xfrm>
            <a:off x="4187952" y="213512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0" name="Shape 66"/>
          <p:cNvSpPr/>
          <p:nvPr/>
        </p:nvSpPr>
        <p:spPr>
          <a:xfrm>
            <a:off x="4187952" y="225399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1" name="Shape 67"/>
          <p:cNvSpPr/>
          <p:nvPr/>
        </p:nvSpPr>
        <p:spPr>
          <a:xfrm>
            <a:off x="4279392" y="2194560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2" name="Shape 68"/>
          <p:cNvSpPr/>
          <p:nvPr/>
        </p:nvSpPr>
        <p:spPr>
          <a:xfrm>
            <a:off x="7909560" y="2219706"/>
            <a:ext cx="64008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3" name="Shape 69"/>
          <p:cNvSpPr/>
          <p:nvPr/>
        </p:nvSpPr>
        <p:spPr>
          <a:xfrm>
            <a:off x="7973568" y="213512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4" name="Shape 70"/>
          <p:cNvSpPr/>
          <p:nvPr/>
        </p:nvSpPr>
        <p:spPr>
          <a:xfrm>
            <a:off x="7973568" y="225399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5" name="Shape 71"/>
          <p:cNvSpPr/>
          <p:nvPr/>
        </p:nvSpPr>
        <p:spPr>
          <a:xfrm>
            <a:off x="8065008" y="2194560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6" name="Shape 72"/>
          <p:cNvSpPr/>
          <p:nvPr/>
        </p:nvSpPr>
        <p:spPr>
          <a:xfrm>
            <a:off x="4123944" y="4185666"/>
            <a:ext cx="64008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7" name="Shape 73"/>
          <p:cNvSpPr/>
          <p:nvPr/>
        </p:nvSpPr>
        <p:spPr>
          <a:xfrm>
            <a:off x="4187952" y="410108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8" name="Shape 74"/>
          <p:cNvSpPr/>
          <p:nvPr/>
        </p:nvSpPr>
        <p:spPr>
          <a:xfrm>
            <a:off x="4187952" y="421995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9" name="Shape 75"/>
          <p:cNvSpPr/>
          <p:nvPr/>
        </p:nvSpPr>
        <p:spPr>
          <a:xfrm>
            <a:off x="4279392" y="4160520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0" name="Shape 76"/>
          <p:cNvSpPr/>
          <p:nvPr/>
        </p:nvSpPr>
        <p:spPr>
          <a:xfrm>
            <a:off x="7909560" y="4185666"/>
            <a:ext cx="64008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1" name="Shape 77"/>
          <p:cNvSpPr/>
          <p:nvPr/>
        </p:nvSpPr>
        <p:spPr>
          <a:xfrm>
            <a:off x="7973568" y="410108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2" name="Shape 78"/>
          <p:cNvSpPr/>
          <p:nvPr/>
        </p:nvSpPr>
        <p:spPr>
          <a:xfrm>
            <a:off x="7973568" y="421995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3" name="Shape 79"/>
          <p:cNvSpPr/>
          <p:nvPr/>
        </p:nvSpPr>
        <p:spPr>
          <a:xfrm>
            <a:off x="8065008" y="4160520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4" name="Shape 80"/>
          <p:cNvSpPr/>
          <p:nvPr/>
        </p:nvSpPr>
        <p:spPr>
          <a:xfrm>
            <a:off x="9859518" y="3063240"/>
            <a:ext cx="41148" cy="1600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5" name="Shape 81"/>
          <p:cNvSpPr/>
          <p:nvPr/>
        </p:nvSpPr>
        <p:spPr>
          <a:xfrm>
            <a:off x="960120" y="3202686"/>
            <a:ext cx="8919972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6" name="Shape 82"/>
          <p:cNvSpPr/>
          <p:nvPr/>
        </p:nvSpPr>
        <p:spPr>
          <a:xfrm>
            <a:off x="939546" y="3223260"/>
            <a:ext cx="41148" cy="685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7" name="Shape 83"/>
          <p:cNvSpPr/>
          <p:nvPr/>
        </p:nvSpPr>
        <p:spPr>
          <a:xfrm>
            <a:off x="854964" y="3291840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8" name="Shape 84"/>
          <p:cNvSpPr/>
          <p:nvPr/>
        </p:nvSpPr>
        <p:spPr>
          <a:xfrm>
            <a:off x="973836" y="3291840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9" name="Shape 85"/>
          <p:cNvSpPr/>
          <p:nvPr/>
        </p:nvSpPr>
        <p:spPr>
          <a:xfrm>
            <a:off x="914400" y="3383280"/>
            <a:ext cx="91440" cy="457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0" name="Shape 86"/>
          <p:cNvSpPr/>
          <p:nvPr/>
        </p:nvSpPr>
        <p:spPr>
          <a:xfrm>
            <a:off x="553212" y="5399532"/>
            <a:ext cx="11183112" cy="9601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1" name="Shape 87"/>
          <p:cNvSpPr/>
          <p:nvPr/>
        </p:nvSpPr>
        <p:spPr>
          <a:xfrm>
            <a:off x="502920" y="5349240"/>
            <a:ext cx="11183112" cy="960120"/>
          </a:xfrm>
          <a:prstGeom prst="rect">
            <a:avLst/>
          </a:prstGeom>
          <a:solidFill>
            <a:srgbClr val="FBEED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777240" y="5559552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3" name="Text 89"/>
          <p:cNvSpPr/>
          <p:nvPr/>
        </p:nvSpPr>
        <p:spPr>
          <a:xfrm>
            <a:off x="1005840" y="54772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SURVIVOR LOGIC —</a:t>
            </a:r>
            <a:endParaRPr lang="en-US" sz="1100" dirty="0"/>
          </a:p>
        </p:txBody>
      </p:sp>
      <p:sp>
        <p:nvSpPr>
          <p:cNvPr id="94" name="Text 90"/>
          <p:cNvSpPr/>
          <p:nvPr/>
        </p:nvSpPr>
        <p:spPr>
          <a:xfrm>
            <a:off x="2788920" y="550468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that fail or hit the 10-minute cap are dropped; RTV proceeds over survivors, ≥ 2 required. “One lost vote must not sink the tournament.”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795451" cy="182880"/>
          </a:xfrm>
          <a:prstGeom prst="rect">
            <a:avLst/>
          </a:prstGeom>
        </p:spPr>
      </p:pic>
      <p:pic>
        <p:nvPicPr>
          <p:cNvPr id="6" name="Image 1" descr="assets/t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7675735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02920" y="1280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“Same shape, agent-scale.” — research.ts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53212" y="1787652"/>
            <a:ext cx="5806440" cy="43434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" name="Shape 6"/>
          <p:cNvSpPr/>
          <p:nvPr/>
        </p:nvSpPr>
        <p:spPr>
          <a:xfrm>
            <a:off x="502920" y="1737360"/>
            <a:ext cx="5806440" cy="4343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19385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246120" y="19385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709160" y="19385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NANO-SUPER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77240" y="2286000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rollouts  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246120" y="2450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343400" y="2450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709160" y="2450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(cfg 2–5)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77240" y="3182112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7240" y="3346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  G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3246120" y="33467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343400" y="33467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709160" y="3346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777240" y="4078224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7240" y="42428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votes / pair  V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3246120" y="4242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343400" y="4242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709160" y="4242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(1 per lens)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777240" y="4974336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77240" y="5138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refinement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3246120" y="5138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PDR loop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4343400" y="5138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4709160" y="5138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PDR pass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777240" y="5806440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679692" y="1787652"/>
            <a:ext cx="5056632" cy="13258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hape 32"/>
          <p:cNvSpPr/>
          <p:nvPr/>
        </p:nvSpPr>
        <p:spPr>
          <a:xfrm>
            <a:off x="6629400" y="1737360"/>
            <a:ext cx="5056632" cy="132588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903720" y="1993392"/>
            <a:ext cx="118872" cy="118872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Text 34"/>
          <p:cNvSpPr/>
          <p:nvPr/>
        </p:nvSpPr>
        <p:spPr>
          <a:xfrm>
            <a:off x="7132320" y="1920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Lens-diverse votes</a:t>
            </a:r>
            <a:endParaRPr lang="en-US" sz="1350" dirty="0"/>
          </a:p>
        </p:txBody>
      </p:sp>
      <p:sp>
        <p:nvSpPr>
          <p:cNvPr id="39" name="Text 35"/>
          <p:cNvSpPr/>
          <p:nvPr/>
        </p:nvSpPr>
        <p:spPr>
          <a:xfrm>
            <a:off x="6903720" y="225856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of the 3 votes judges a different lens — pragmatism · risk · effort. “So the V votes are not V copies of the same bias.”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6679692" y="3278124"/>
            <a:ext cx="5056632" cy="13258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1" name="Shape 37"/>
          <p:cNvSpPr/>
          <p:nvPr/>
        </p:nvSpPr>
        <p:spPr>
          <a:xfrm>
            <a:off x="6629400" y="3227832"/>
            <a:ext cx="5056632" cy="132588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903720" y="3483864"/>
            <a:ext cx="118872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3" name="Text 39"/>
          <p:cNvSpPr/>
          <p:nvPr/>
        </p:nvSpPr>
        <p:spPr>
          <a:xfrm>
            <a:off x="7132320" y="3410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Judges see summaries</a:t>
            </a:r>
            <a:endParaRPr lang="en-US" sz="1350" dirty="0"/>
          </a:p>
        </p:txBody>
      </p:sp>
      <p:sp>
        <p:nvSpPr>
          <p:cNvPr id="44" name="Text 40"/>
          <p:cNvSpPr/>
          <p:nvPr/>
        </p:nvSpPr>
        <p:spPr>
          <a:xfrm>
            <a:off x="6903720" y="37490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tournament runs over distilled briefs, not raw trajectories — judge prompts stay ~2K tokens.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6679692" y="4768596"/>
            <a:ext cx="5056632" cy="13258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6" name="Shape 42"/>
          <p:cNvSpPr/>
          <p:nvPr/>
        </p:nvSpPr>
        <p:spPr>
          <a:xfrm>
            <a:off x="6629400" y="4718304"/>
            <a:ext cx="5056632" cy="132588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6903720" y="4974336"/>
            <a:ext cx="118872" cy="1188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8" name="Text 44"/>
          <p:cNvSpPr/>
          <p:nvPr/>
        </p:nvSpPr>
        <p:spPr>
          <a:xfrm>
            <a:off x="7132320" y="49011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Cycles &amp; fallbacks</a:t>
            </a:r>
            <a:endParaRPr lang="en-US" sz="1350" dirty="0"/>
          </a:p>
        </p:txBody>
      </p:sp>
      <p:sp>
        <p:nvSpPr>
          <p:cNvPr id="49" name="Text 45"/>
          <p:cNvSpPr/>
          <p:nvPr/>
        </p:nvSpPr>
        <p:spPr>
          <a:xfrm>
            <a:off x="6903720" y="523951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A&gt;B&gt;C&gt;A Condorcet ties resolved by one ranking call; if PDR refine fails, the winning brief is submitted anyway.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502920" y="62636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arXiv:2604.16529 — “Scaling Test-Time Compute for Agentic Coding” · adapted in pi/extensions/research.ts + pi/lib/tournament.js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1698171" cy="182880"/>
          </a:xfrm>
          <a:prstGeom prst="rect">
            <a:avLst/>
          </a:prstGeom>
        </p:spPr>
      </p:pic>
      <p:pic>
        <p:nvPicPr>
          <p:cNvPr id="6" name="Image 1" descr="assets/t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6453051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502920" y="1545336"/>
            <a:ext cx="146304" cy="14630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9" name="Text 5"/>
          <p:cNvSpPr/>
          <p:nvPr/>
        </p:nvSpPr>
        <p:spPr>
          <a:xfrm>
            <a:off x="813816" y="1481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dependencies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13816" y="179222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server, SPA and tests all run on the Node stdlib — “no npm install” is the install step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45352" y="1545336"/>
            <a:ext cx="146304" cy="1463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Text 8"/>
          <p:cNvSpPr/>
          <p:nvPr/>
        </p:nvSpPr>
        <p:spPr>
          <a:xfrm>
            <a:off x="6556248" y="1481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Versioned schemas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56248" y="179222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v1, analyses v2 — bump on breaking change; readers support old + new side by side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2761488"/>
            <a:ext cx="146304" cy="1463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1"/>
          <p:cNvSpPr/>
          <p:nvPr/>
        </p:nvSpPr>
        <p:spPr>
          <a:xfrm>
            <a:off x="813816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Feedback-loop guard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813816" y="300837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PI_DASHBOARD_ENRICHMENT no-ops the monitor so enrichment never logs itself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45352" y="2761488"/>
            <a:ext cx="14630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4"/>
          <p:cNvSpPr/>
          <p:nvPr/>
        </p:nvSpPr>
        <p:spPr>
          <a:xfrm>
            <a:off x="6556248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break pi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6556248" y="300837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monitor write wrapped in try/catch — failures swallowed by design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2920" y="3977640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7"/>
          <p:cNvSpPr/>
          <p:nvPr/>
        </p:nvSpPr>
        <p:spPr>
          <a:xfrm>
            <a:off x="813816" y="3913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200K truncation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813816" y="422452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base64 pathologies and giant payloads cannot blow up the log files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245352" y="3977640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Text 20"/>
          <p:cNvSpPr/>
          <p:nvPr/>
        </p:nvSpPr>
        <p:spPr>
          <a:xfrm>
            <a:off x="6556248" y="3913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stdin: “ignore”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6556248" y="422452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pi's print mode waits for stdin EOF when piped — an open pipe hangs the whole run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502920" y="5193792"/>
            <a:ext cx="146304" cy="14630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7" name="Text 23"/>
          <p:cNvSpPr/>
          <p:nvPr/>
        </p:nvSpPr>
        <p:spPr>
          <a:xfrm>
            <a:off x="813816" y="5129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Enrich via the harness</a:t>
            </a:r>
            <a:endParaRPr lang="en-US" sz="1450" dirty="0"/>
          </a:p>
        </p:txBody>
      </p:sp>
      <p:sp>
        <p:nvSpPr>
          <p:cNvPr id="28" name="Text 24"/>
          <p:cNvSpPr/>
          <p:nvPr/>
        </p:nvSpPr>
        <p:spPr>
          <a:xfrm>
            <a:off x="813816" y="544068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runs through headless pi — never a direct z.ai API call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245352" y="5193792"/>
            <a:ext cx="146304" cy="1463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0" name="Text 26"/>
          <p:cNvSpPr/>
          <p:nvPr/>
        </p:nvSpPr>
        <p:spPr>
          <a:xfrm>
            <a:off x="6556248" y="5129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“Trust the codebase”</a:t>
            </a:r>
            <a:endParaRPr lang="en-US" sz="1450" dirty="0"/>
          </a:p>
        </p:txBody>
      </p:sp>
      <p:sp>
        <p:nvSpPr>
          <p:cNvPr id="31" name="Text 27"/>
          <p:cNvSpPr/>
          <p:nvPr/>
        </p:nvSpPr>
        <p:spPr>
          <a:xfrm>
            <a:off x="6556248" y="544068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submitted brief ends: where it conflicts with the code, trust the code and adapt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952206" cy="182880"/>
          </a:xfrm>
          <a:prstGeom prst="rect">
            <a:avLst/>
          </a:prstGeom>
        </p:spPr>
      </p:pic>
      <p:pic>
        <p:nvPicPr>
          <p:cNvPr id="6" name="Image 1" descr="assets/t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553212" y="1467612"/>
            <a:ext cx="3520440" cy="3429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" name="Shape 5"/>
          <p:cNvSpPr/>
          <p:nvPr/>
        </p:nvSpPr>
        <p:spPr>
          <a:xfrm>
            <a:off x="502920" y="1417320"/>
            <a:ext cx="3520440" cy="3429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58952" y="164592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58952" y="19385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append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758952" y="25420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event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58952" y="2907792"/>
            <a:ext cx="300837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58952" y="3127248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5" name="Text 11"/>
          <p:cNvSpPr/>
          <p:nvPr/>
        </p:nvSpPr>
        <p:spPr>
          <a:xfrm>
            <a:off x="960120" y="3054096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sync appendFileSync — no queues, no extra LLM calls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58952" y="3694176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7" name="Text 13"/>
          <p:cNvSpPr/>
          <p:nvPr/>
        </p:nvSpPr>
        <p:spPr>
          <a:xfrm>
            <a:off x="960120" y="3621024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overhead is a design guarantee: mkdir once, try/catch always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58952" y="4261104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9" name="Text 15"/>
          <p:cNvSpPr/>
          <p:nvPr/>
        </p:nvSpPr>
        <p:spPr>
          <a:xfrm>
            <a:off x="960120" y="4187952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honesty: the repo claims no latency benchmarks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375404" y="1467612"/>
            <a:ext cx="3520440" cy="3429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Shape 17"/>
          <p:cNvSpPr/>
          <p:nvPr/>
        </p:nvSpPr>
        <p:spPr>
          <a:xfrm>
            <a:off x="4325112" y="1417320"/>
            <a:ext cx="3520440" cy="3429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81144" y="164592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/RESEARCH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581144" y="19385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2–5 min</a:t>
            </a:r>
            <a:endParaRPr lang="en-US" sz="3400" dirty="0"/>
          </a:p>
        </p:txBody>
      </p:sp>
      <p:sp>
        <p:nvSpPr>
          <p:cNvPr id="24" name="Text 20"/>
          <p:cNvSpPr/>
          <p:nvPr/>
        </p:nvSpPr>
        <p:spPr>
          <a:xfrm>
            <a:off x="4581144" y="25420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to end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581144" y="2907792"/>
            <a:ext cx="300837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581144" y="3127248"/>
            <a:ext cx="9144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3"/>
          <p:cNvSpPr/>
          <p:nvPr/>
        </p:nvSpPr>
        <p:spPr>
          <a:xfrm>
            <a:off x="4782312" y="3054096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pi runs — 3 parallel streams + 1 refine — plus ~14 short LLM calls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581144" y="3694176"/>
            <a:ext cx="9144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5"/>
          <p:cNvSpPr/>
          <p:nvPr/>
        </p:nvSpPr>
        <p:spPr>
          <a:xfrm>
            <a:off x="4782312" y="3621024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fixture: 6m 25s including one stream timed out and dropped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581144" y="4261104"/>
            <a:ext cx="9144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7"/>
          <p:cNvSpPr/>
          <p:nvPr/>
        </p:nvSpPr>
        <p:spPr>
          <a:xfrm>
            <a:off x="4782312" y="4187952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10-minute cap per stream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8197596" y="1467612"/>
            <a:ext cx="3520440" cy="3429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3" name="Shape 29"/>
          <p:cNvSpPr/>
          <p:nvPr/>
        </p:nvSpPr>
        <p:spPr>
          <a:xfrm>
            <a:off x="8147304" y="1417320"/>
            <a:ext cx="3520440" cy="3429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403336" y="164592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ENRICHMENT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8403336" y="19385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$0.000049</a:t>
            </a:r>
            <a:endParaRPr lang="en-US" sz="3400" dirty="0"/>
          </a:p>
        </p:txBody>
      </p:sp>
      <p:sp>
        <p:nvSpPr>
          <p:cNvPr id="36" name="Text 32"/>
          <p:cNvSpPr/>
          <p:nvPr/>
        </p:nvSpPr>
        <p:spPr>
          <a:xfrm>
            <a:off x="8403336" y="25420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turn, measured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8403336" y="2907792"/>
            <a:ext cx="300837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403336" y="3127248"/>
            <a:ext cx="91440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5"/>
          <p:cNvSpPr/>
          <p:nvPr/>
        </p:nvSpPr>
        <p:spPr>
          <a:xfrm>
            <a:off x="8604504" y="3054096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zai/glm-5.3-flash via headless pi — a real logged turn cost $0.000049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8403336" y="3694176"/>
            <a:ext cx="91440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1" name="Text 37"/>
          <p:cNvSpPr/>
          <p:nvPr/>
        </p:nvSpPr>
        <p:spPr>
          <a:xfrm>
            <a:off x="8604504" y="3621024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5-minute timeout × 2 attempts, then the session stays unanalyzed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8403336" y="4261104"/>
            <a:ext cx="91440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3" name="Text 39"/>
          <p:cNvSpPr/>
          <p:nvPr/>
        </p:nvSpPr>
        <p:spPr>
          <a:xfrm>
            <a:off x="8604504" y="4187952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serialized: one enrichment at a time, fires 60 s after session end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553212" y="5170932"/>
            <a:ext cx="11183112" cy="11887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Shape 41"/>
          <p:cNvSpPr/>
          <p:nvPr/>
        </p:nvSpPr>
        <p:spPr>
          <a:xfrm>
            <a:off x="502920" y="5120640"/>
            <a:ext cx="11183112" cy="1188720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77240" y="5303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DASHBOARD ITSELF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777240" y="55778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 cache keyed on mtime+size — unchanged logs are read once per server run, so months of sessions stay fast · watcher wakes every 5 s · SPA refreshes every 15 s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50292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Figures: README.md · pi/README.md · dashboard/test/fixtures/research-session.jsonl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1541417" cy="182880"/>
          </a:xfrm>
          <a:prstGeom prst="rect">
            <a:avLst/>
          </a:prstGeom>
        </p:spPr>
      </p:pic>
      <p:pic>
        <p:nvPicPr>
          <p:cNvPr id="6" name="Image 1" descr="assets/t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7675735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502920" y="1527048"/>
            <a:ext cx="146304" cy="146304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9" name="Text 5"/>
          <p:cNvSpPr/>
          <p:nvPr/>
        </p:nvSpPr>
        <p:spPr>
          <a:xfrm>
            <a:off x="832104" y="1463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KPI cards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32104" y="1773936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 · tool calls · hard errors · suspected soft failures · correction vs info steers · tokens · cost · analyzed N/M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02920" y="2734056"/>
            <a:ext cx="146304" cy="1463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Text 8"/>
          <p:cNvSpPr/>
          <p:nvPr/>
        </p:nvSpPr>
        <p:spPr>
          <a:xfrm>
            <a:off x="832104" y="26700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charts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832104" y="2980944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sessions/day, tool distribution, tool health, median duration, tokens &amp; cost, prompts-per-session drift proxy, drift roots, failure roots, habits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941064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1"/>
          <p:cNvSpPr/>
          <p:nvPr/>
        </p:nvSpPr>
        <p:spPr>
          <a:xfrm>
            <a:off x="832104" y="38770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Soft-failure forensics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832104" y="418795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regex families catch “not recognized”-class failures that exit 0 — flagged “suspected” until the model confirms a root cause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02920" y="5148072"/>
            <a:ext cx="146304" cy="1463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4"/>
          <p:cNvSpPr/>
          <p:nvPr/>
        </p:nvSpPr>
        <p:spPr>
          <a:xfrm>
            <a:off x="832104" y="50840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coach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832104" y="53949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habit tags with counts and suggested rewrites — your prompting habits, named and tallied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542532" y="1467612"/>
            <a:ext cx="5193792" cy="4572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Shape 17"/>
          <p:cNvSpPr/>
          <p:nvPr/>
        </p:nvSpPr>
        <p:spPr>
          <a:xfrm>
            <a:off x="6492240" y="1417320"/>
            <a:ext cx="5193792" cy="4572000"/>
          </a:xfrm>
          <a:prstGeom prst="rect">
            <a:avLst/>
          </a:prstGeom>
          <a:solidFill>
            <a:srgbClr val="E5F5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93992" y="1691640"/>
            <a:ext cx="2699309" cy="30861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3" name="Shape 19"/>
          <p:cNvSpPr/>
          <p:nvPr/>
        </p:nvSpPr>
        <p:spPr>
          <a:xfrm>
            <a:off x="6766560" y="1664208"/>
            <a:ext cx="2699309" cy="30861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66560" y="1664208"/>
            <a:ext cx="2699309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RUN — STEERING TEST, 3 PROMPTS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720840" y="205740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6000" dirty="0"/>
          </a:p>
        </p:txBody>
      </p:sp>
      <p:sp>
        <p:nvSpPr>
          <p:cNvPr id="26" name="Text 22"/>
          <p:cNvSpPr/>
          <p:nvPr/>
        </p:nvSpPr>
        <p:spPr>
          <a:xfrm>
            <a:off x="7863840" y="2286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wasted turns —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counted, not felt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6784848" y="3291840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4"/>
          <p:cNvSpPr/>
          <p:nvPr/>
        </p:nvSpPr>
        <p:spPr>
          <a:xfrm>
            <a:off x="6986016" y="3246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detour priced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8412480" y="325526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correction cost 5 turns · 4 tool calls · 30 s — detourCost, per prompt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784848" y="3959352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7"/>
          <p:cNvSpPr/>
          <p:nvPr/>
        </p:nvSpPr>
        <p:spPr>
          <a:xfrm>
            <a:off x="6986016" y="39136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drift rooted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8412480" y="392277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prompt_ambiguity, backed by 6 cited event indexes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6784848" y="4626864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4" name="Text 30"/>
          <p:cNvSpPr/>
          <p:nvPr/>
        </p:nvSpPr>
        <p:spPr>
          <a:xfrm>
            <a:off x="6986016" y="45811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 verdict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8412480" y="459028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suggested rewrites — tagged ambiguity, missing_constraint, unstated_preference, wrong_scope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6784848" y="5294376"/>
            <a:ext cx="100584" cy="1005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7" name="Text 33"/>
          <p:cNvSpPr/>
          <p:nvPr/>
        </p:nvSpPr>
        <p:spPr>
          <a:xfrm>
            <a:off x="6986016" y="52486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traceable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8412480" y="525780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finding cites event [N] → the exact raw log line, replayable in the UI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502920" y="61722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Prompting becomes numbers: which corrections cost turns, which habits recur.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3" name="Shape 1"/>
          <p:cNvSpPr/>
          <p:nvPr/>
        </p:nvSpPr>
        <p:spPr>
          <a:xfrm>
            <a:off x="11311128" y="384048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57784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5943600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11329416" y="5943600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6117336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8" name="Image 0" descr="assets/t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85800"/>
            <a:ext cx="7268174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1810512"/>
            <a:ext cx="155448" cy="155448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173736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Zero-dependency, end to end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68680" y="213969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server, SPA, and tests on the Node stdlib — 63 tests in 4 suites, zero npm installs to run or to test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3108960"/>
            <a:ext cx="155448" cy="1554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0358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 closes on itself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68680" y="343814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agent watches your agent, and an AI grades the prompts — with a guard so enrichment never enriches itself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4407408"/>
            <a:ext cx="155448" cy="1554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3342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by design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68680" y="473659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“suspected” until confirmed · versioned on both sides · the brief defers to the codebase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39496" y="5751576"/>
            <a:ext cx="11183112" cy="65836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19" name="Shape 16"/>
          <p:cNvSpPr/>
          <p:nvPr/>
        </p:nvSpPr>
        <p:spPr>
          <a:xfrm>
            <a:off x="502920" y="5715000"/>
            <a:ext cx="11183112" cy="65836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571500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v0.1.0 · single-user · localhost-only · no latency benchmarks yet — the honest limits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321040" y="571500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github.com/aryan-rajoria/nano-super</a:t>
            </a:r>
            <a:endParaRPr lang="en-US" sz="1100" dirty="0"/>
          </a:p>
        </p:txBody>
      </p:sp>
      <p:pic>
        <p:nvPicPr>
          <p:cNvPr id="22" name="Image 1" descr="assets/pi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737360"/>
            <a:ext cx="1110343" cy="15544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064240" y="64830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nano-super — pi usage observation (technical deep-dive)</dc:title>
  <dc:subject>PptxGenJS Presentation</dc:subject>
  <dc:creator>aryan-rajoria</dc:creator>
  <cp:lastModifiedBy>aryan-rajoria</cp:lastModifiedBy>
  <cp:revision>1</cp:revision>
  <dcterms:created xsi:type="dcterms:W3CDTF">2026-10-10T23:09:23Z</dcterms:created>
  <dcterms:modified xsi:type="dcterms:W3CDTF">2026-10-10T23:09:23Z</dcterms:modified>
</cp:coreProperties>
</file>