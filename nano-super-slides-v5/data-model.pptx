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274320" cy="274320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5486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REGISTRY · COMPANION DECK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847088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Model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834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translation matrix to organizational database — mapping teams, projects and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harnesses to every feature of the matrix.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02920" y="367588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record: core fields, optional extras, the original spec — resolved per project, installed per harness.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513892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505663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43100" y="5138928"/>
            <a:ext cx="91440" cy="914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2107692" y="505663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16936" y="5138928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3081528" y="505663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23944" y="5138928"/>
            <a:ext cx="914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288536" y="505663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1508760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22408" y="1508760"/>
            <a:ext cx="91440" cy="914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55096" y="1508760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987784" y="1508760"/>
            <a:ext cx="914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0" y="1911096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189720" y="1783080"/>
            <a:ext cx="841248" cy="475488"/>
          </a:xfrm>
          <a:prstGeom prst="roundRect">
            <a:avLst>
              <a:gd name="adj" fmla="val 9615"/>
            </a:avLst>
          </a:prstGeom>
          <a:solidFill>
            <a:srgbClr val="E7F6EC"/>
          </a:solidFill>
          <a:ln w="12700">
            <a:solidFill>
              <a:srgbClr val="E7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22408" y="1783080"/>
            <a:ext cx="841248" cy="475488"/>
          </a:xfrm>
          <a:prstGeom prst="roundRect">
            <a:avLst>
              <a:gd name="adj" fmla="val 9615"/>
            </a:avLst>
          </a:prstGeom>
          <a:solidFill>
            <a:srgbClr val="E7F6EC"/>
          </a:solidFill>
          <a:ln w="12700">
            <a:solidFill>
              <a:srgbClr val="E7F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55096" y="1783080"/>
            <a:ext cx="841248" cy="475488"/>
          </a:xfrm>
          <a:prstGeom prst="roundRect">
            <a:avLst>
              <a:gd name="adj" fmla="val 9615"/>
            </a:avLst>
          </a:prstGeom>
          <a:solidFill>
            <a:srgbClr val="E7F6EC"/>
          </a:solidFill>
          <a:ln w="12700">
            <a:solidFill>
              <a:srgbClr val="E7F6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87784" y="1783080"/>
            <a:ext cx="841248" cy="475488"/>
          </a:xfrm>
          <a:prstGeom prst="roundRect">
            <a:avLst>
              <a:gd name="adj" fmla="val 9615"/>
            </a:avLst>
          </a:prstGeom>
          <a:solidFill>
            <a:srgbClr val="E7F6EC"/>
          </a:solidFill>
          <a:ln w="12700">
            <a:solidFill>
              <a:srgbClr val="E7F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0" y="251460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189720" y="2386584"/>
            <a:ext cx="841248" cy="475488"/>
          </a:xfrm>
          <a:prstGeom prst="roundRect">
            <a:avLst>
              <a:gd name="adj" fmla="val 9615"/>
            </a:avLst>
          </a:prstGeom>
          <a:solidFill>
            <a:srgbClr val="E7F6EC"/>
          </a:solidFill>
          <a:ln w="12700">
            <a:solidFill>
              <a:srgbClr val="E7F6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22408" y="2386584"/>
            <a:ext cx="841248" cy="475488"/>
          </a:xfrm>
          <a:prstGeom prst="roundRect">
            <a:avLst>
              <a:gd name="adj" fmla="val 9615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055096" y="2386584"/>
            <a:ext cx="841248" cy="475488"/>
          </a:xfrm>
          <a:prstGeom prst="roundRect">
            <a:avLst>
              <a:gd name="adj" fmla="val 9615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987784" y="2386584"/>
            <a:ext cx="841248" cy="475488"/>
          </a:xfrm>
          <a:prstGeom prst="roundRect">
            <a:avLst>
              <a:gd name="adj" fmla="val 9615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311810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189720" y="2990088"/>
            <a:ext cx="841248" cy="475488"/>
          </a:xfrm>
          <a:prstGeom prst="roundRect">
            <a:avLst>
              <a:gd name="adj" fmla="val 9615"/>
            </a:avLst>
          </a:prstGeom>
          <a:solidFill>
            <a:srgbClr val="E7F6EC"/>
          </a:solidFill>
          <a:ln w="12700">
            <a:solidFill>
              <a:srgbClr val="E7F6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22408" y="2990088"/>
            <a:ext cx="841248" cy="475488"/>
          </a:xfrm>
          <a:prstGeom prst="roundRect">
            <a:avLst>
              <a:gd name="adj" fmla="val 9615"/>
            </a:avLst>
          </a:prstGeom>
          <a:solidFill>
            <a:srgbClr val="E7F6EC"/>
          </a:solidFill>
          <a:ln w="12700">
            <a:solidFill>
              <a:srgbClr val="E7F6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055096" y="2990088"/>
            <a:ext cx="841248" cy="475488"/>
          </a:xfrm>
          <a:prstGeom prst="roundRect">
            <a:avLst>
              <a:gd name="adj" fmla="val 9615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987784" y="2990088"/>
            <a:ext cx="841248" cy="475488"/>
          </a:xfrm>
          <a:prstGeom prst="roundRect">
            <a:avLst>
              <a:gd name="adj" fmla="val 9615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3721608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189720" y="3593592"/>
            <a:ext cx="841248" cy="475488"/>
          </a:xfrm>
          <a:prstGeom prst="roundRect">
            <a:avLst>
              <a:gd name="adj" fmla="val 9615"/>
            </a:avLst>
          </a:prstGeom>
          <a:solidFill>
            <a:srgbClr val="E7F6EC"/>
          </a:solidFill>
          <a:ln w="12700">
            <a:solidFill>
              <a:srgbClr val="E7F6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22408" y="3593592"/>
            <a:ext cx="841248" cy="475488"/>
          </a:xfrm>
          <a:prstGeom prst="roundRect">
            <a:avLst>
              <a:gd name="adj" fmla="val 9615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055096" y="3593592"/>
            <a:ext cx="841248" cy="475488"/>
          </a:xfrm>
          <a:prstGeom prst="roundRect">
            <a:avLst>
              <a:gd name="adj" fmla="val 9615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987784" y="3593592"/>
            <a:ext cx="841248" cy="475488"/>
          </a:xfrm>
          <a:prstGeom prst="roundRect">
            <a:avLst>
              <a:gd name="adj" fmla="val 9615"/>
            </a:avLst>
          </a:prstGeom>
          <a:solidFill>
            <a:srgbClr val="E7F6EC"/>
          </a:solidFill>
          <a:ln w="12700">
            <a:solidFill>
              <a:srgbClr val="E7F6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89720" y="42519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matrix, at minimum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6172200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629107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nano-super-slides-v5 · docs/data-model/ · 2026-10-21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18520" y="629107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series, two layers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5477256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44752"/>
            <a:ext cx="45720" cy="3611880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1 — PER-SURFACE MINIMUMS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8952" y="2116836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2048256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every feature doc holds: </a:t>
            </a:r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portable core · exact per-harness transforms · original-spec appendix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" y="2683764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" y="2615184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Answers: </a:t>
            </a:r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“what transform gets feature X working in harness Y?”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" y="3250692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3182112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docs in features/ </a:t>
            </a:r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one per matrix row, tiered core / extras / spec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" y="404164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where a spec-pure core works everywhere · TRANSLATE where conversion is mandatory · NO SURFACE where the harness has no target.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08776" y="1444752"/>
            <a:ext cx="5477256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08776" y="1444752"/>
            <a:ext cx="45720" cy="3611880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 — THE ORGANIZATIONAL DATA MODEL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64808" y="2116836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0" name="Text 18"/>
          <p:cNvSpPr/>
          <p:nvPr/>
        </p:nvSpPr>
        <p:spPr>
          <a:xfrm>
            <a:off x="6611112" y="2048256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Extends your existing DB: </a:t>
            </a:r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Area → Functional unit → Project → Team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64808" y="2683764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2" name="Text 20"/>
          <p:cNvSpPr/>
          <p:nvPr/>
        </p:nvSpPr>
        <p:spPr>
          <a:xfrm>
            <a:off x="6611112" y="2615184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Adds: </a:t>
            </a:r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 setups, artifact registration, install lifecycle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64808" y="3250692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4" name="Text 22"/>
          <p:cNvSpPr/>
          <p:nvPr/>
        </p:nvSpPr>
        <p:spPr>
          <a:xfrm>
            <a:off x="6611112" y="3182112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Answers: </a:t>
            </a:r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“which project needs what setup — and what is installed where?”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64808" y="404164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data-model-org.md (ER narrative) + data-model-schema.sql (runnable Postgres, 14 tables, 2 views).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5230368"/>
            <a:ext cx="1118585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53766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SERIES MAP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8952" y="5632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data-model.md  (index · minimum matrix)   ·   data-model-org.md  (ER)   ·   data-model-schema.sql  (Postgres)   ·   features/data-model-&lt;surface&gt;.md  ×10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CORRECTION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verdicts ≠ full-parity verdicts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690372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0934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GRADES FULL PARITY — OPTIONAL EXTRAS INCLUDED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58952" y="1938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row: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84248" y="1901952"/>
            <a:ext cx="1170432" cy="310896"/>
          </a:xfrm>
          <a:prstGeom prst="roundRect">
            <a:avLst>
              <a:gd name="adj" fmla="val 13235"/>
            </a:avLst>
          </a:prstGeom>
          <a:solidFill>
            <a:srgbClr val="FBEEDD"/>
          </a:solidFill>
          <a:ln>
            <a:solidFill>
              <a:srgbClr val="FBEED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96412" y="1901952"/>
            <a:ext cx="1170432" cy="310896"/>
          </a:xfrm>
          <a:prstGeom prst="roundRect">
            <a:avLst>
              <a:gd name="adj" fmla="val 13235"/>
            </a:avLst>
          </a:prstGeom>
          <a:solidFill>
            <a:srgbClr val="FBEEDD"/>
          </a:solidFill>
          <a:ln>
            <a:solidFill>
              <a:srgbClr val="FBEED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08576" y="1901952"/>
            <a:ext cx="1170432" cy="310896"/>
          </a:xfrm>
          <a:prstGeom prst="roundRect">
            <a:avLst>
              <a:gd name="adj" fmla="val 13235"/>
            </a:avLst>
          </a:prstGeom>
          <a:solidFill>
            <a:srgbClr val="FBEEDD"/>
          </a:solidFill>
          <a:ln>
            <a:solidFill>
              <a:srgbClr val="FBEED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20740" y="1901952"/>
            <a:ext cx="1170432" cy="310896"/>
          </a:xfrm>
          <a:prstGeom prst="roundRect">
            <a:avLst>
              <a:gd name="adj" fmla="val 13235"/>
            </a:avLst>
          </a:prstGeom>
          <a:solidFill>
            <a:srgbClr val="E7F6EC"/>
          </a:solidFill>
          <a:ln>
            <a:solidFill>
              <a:srgbClr val="E7F6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8952" y="2395728"/>
            <a:ext cx="6391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because Claude wants when_to_use · Codex wants agents/openai.yaml · OpenCode wants metadata keys — for optional features.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438144"/>
            <a:ext cx="690372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438144"/>
            <a:ext cx="45720" cy="18105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60273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MODEL GRADES THE MINIMUM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84248" y="3895344"/>
            <a:ext cx="1170432" cy="310896"/>
          </a:xfrm>
          <a:prstGeom prst="roundRect">
            <a:avLst>
              <a:gd name="adj" fmla="val 13235"/>
            </a:avLst>
          </a:prstGeom>
          <a:solidFill>
            <a:srgbClr val="E7F6EC"/>
          </a:solidFill>
          <a:ln>
            <a:solidFill>
              <a:srgbClr val="E7F6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6412" y="3895344"/>
            <a:ext cx="1170432" cy="310896"/>
          </a:xfrm>
          <a:prstGeom prst="roundRect">
            <a:avLst>
              <a:gd name="adj" fmla="val 13235"/>
            </a:avLst>
          </a:prstGeom>
          <a:solidFill>
            <a:srgbClr val="E7F6EC"/>
          </a:solidFill>
          <a:ln>
            <a:solidFill>
              <a:srgbClr val="E7F6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8576" y="3895344"/>
            <a:ext cx="1170432" cy="310896"/>
          </a:xfrm>
          <a:prstGeom prst="roundRect">
            <a:avLst>
              <a:gd name="adj" fmla="val 13235"/>
            </a:avLst>
          </a:prstGeom>
          <a:solidFill>
            <a:srgbClr val="E7F6EC"/>
          </a:solidFill>
          <a:ln>
            <a:solidFill>
              <a:srgbClr val="E7F6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20740" y="3895344"/>
            <a:ext cx="1170432" cy="310896"/>
          </a:xfrm>
          <a:prstGeom prst="roundRect">
            <a:avLst>
              <a:gd name="adj" fmla="val 13235"/>
            </a:avLst>
          </a:prstGeom>
          <a:solidFill>
            <a:srgbClr val="E7F6EC"/>
          </a:solidFill>
          <a:ln>
            <a:solidFill>
              <a:srgbClr val="E7F6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58952" y="4389120"/>
            <a:ext cx="6391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spec-pure SKILL.md (name + description) works in all four. Overlays are optional by definition — if the core cannot work without them, the verdict is TRANSLATE, not OVERLAY.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35240" y="1444752"/>
            <a:ext cx="405079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54696" y="164592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7F6EC"/>
          </a:solidFill>
          <a:ln>
            <a:solidFill>
              <a:srgbClr val="FAF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854696" y="201168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spec-pure portable core works as-is; extras are optional overlays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35240" y="2761488"/>
            <a:ext cx="405079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54696" y="2962656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8EDFF"/>
          </a:solidFill>
          <a:ln>
            <a:solidFill>
              <a:srgbClr val="FAF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854696" y="332841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itself needs conversion — format, dialect, or codegen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635240" y="4078224"/>
            <a:ext cx="405079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54696" y="4279392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EF0F3"/>
          </a:solidFill>
          <a:ln>
            <a:solidFill>
              <a:srgbClr val="FAF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854696" y="464515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native target; the record must say supported = false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546811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publisher never needs the extras — the registry emits them per harness, per copy.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CENTERPIECE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minimum-verdict matrix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287975" y="1316736"/>
            <a:ext cx="960120" cy="256032"/>
          </a:xfrm>
          <a:prstGeom prst="roundRect">
            <a:avLst>
              <a:gd name="adj" fmla="val 16071"/>
            </a:avLst>
          </a:prstGeom>
          <a:solidFill>
            <a:srgbClr val="E7F6EC"/>
          </a:solidFill>
          <a:ln>
            <a:solidFill>
              <a:srgbClr val="E7F6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357823" y="1316736"/>
            <a:ext cx="960120" cy="256032"/>
          </a:xfrm>
          <a:prstGeom prst="roundRect">
            <a:avLst>
              <a:gd name="adj" fmla="val 16071"/>
            </a:avLst>
          </a:prstGeom>
          <a:solidFill>
            <a:srgbClr val="E7F6EC"/>
          </a:solidFill>
          <a:ln>
            <a:solidFill>
              <a:srgbClr val="E7F6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COPY*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427671" y="1316736"/>
            <a:ext cx="1325880" cy="256032"/>
          </a:xfrm>
          <a:prstGeom prst="roundRect">
            <a:avLst>
              <a:gd name="adj" fmla="val 16071"/>
            </a:avLst>
          </a:prstGeom>
          <a:solidFill>
            <a:srgbClr val="E8EDFF"/>
          </a:solidFill>
          <a:ln>
            <a:solidFill>
              <a:srgbClr val="E8ED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863279" y="1316736"/>
            <a:ext cx="1188720" cy="256032"/>
          </a:xfrm>
          <a:prstGeom prst="roundRect">
            <a:avLst>
              <a:gd name="adj" fmla="val 16071"/>
            </a:avLst>
          </a:prstGeom>
          <a:solidFill>
            <a:srgbClr val="FBEEDD"/>
          </a:solidFill>
          <a:ln>
            <a:solidFill>
              <a:srgbClr val="FBEED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161727" y="1316736"/>
            <a:ext cx="1417320" cy="256032"/>
          </a:xfrm>
          <a:prstGeom prst="roundRect">
            <a:avLst>
              <a:gd name="adj" fmla="val 16071"/>
            </a:avLst>
          </a:prstGeom>
          <a:solidFill>
            <a:srgbClr val="EEF0F3"/>
          </a:solidFill>
          <a:ln>
            <a:solidFill>
              <a:srgbClr val="EEF0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13167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COPY* = copy with caveats (merge / subset / tune)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68296" y="168706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2532888" y="1645920"/>
            <a:ext cx="20695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30420" y="1687068"/>
            <a:ext cx="91440" cy="914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4895012" y="1645920"/>
            <a:ext cx="20695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92544" y="1687068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257136" y="1645920"/>
            <a:ext cx="20695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454667" y="1687068"/>
            <a:ext cx="914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9619259" y="1645920"/>
            <a:ext cx="20695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1208" y="1993392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67712" y="1993392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2007108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spec-pure SKILL.md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29836" y="1993392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3844" y="2007108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.agents/skills drop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91960" y="1993392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5968" y="2007108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skill dirs + catalog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354083" y="1993392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091" y="2007108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un-gated drop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208" y="2391156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67712" y="2391156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31720" y="2404872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COPY*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legacy — prefer skill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29836" y="2391156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3844" y="2404872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COPY*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deprecated, user-only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91960" y="2391156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5968" y="2404872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+ frontmatter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354083" y="2391156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18091" y="2404872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filename = /cmd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1208" y="2788920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Subagents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67712" y="2788920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31720" y="2802636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md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29836" y="2788920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93844" y="2802636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 → TOML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91960" y="2788920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55968" y="2802636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dialect + mode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354083" y="2788920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091" y="2802636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ext only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1208" y="3186684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267712" y="3186684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31720" y="3200400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COPY*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into settings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29836" y="3186684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93844" y="3200400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COPY*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12-event subset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991960" y="3186684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55968" y="3200400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codegen TS plugin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354083" y="3186684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18091" y="3200400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codegen TS ext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21208" y="3584448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267712" y="3584448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31720" y="3598164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.claude-plugin + repo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629836" y="3584448"/>
            <a:ext cx="2279828" cy="352044"/>
          </a:xfrm>
          <a:prstGeom prst="rect">
            <a:avLst/>
          </a:prstGeom>
          <a:solidFill>
            <a:srgbClr val="FBEEDD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93844" y="3598164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portable + overlay + catalog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991960" y="3584448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55968" y="3598164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TS package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354083" y="3584448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418091" y="3598164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pi-package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21208" y="3982212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267712" y="3982212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31720" y="3995928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mcpServers JSON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629836" y="3982212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93844" y="3995928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→ TOML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991960" y="3982212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55968" y="3995928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dialect v1/v2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9354083" y="3982212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418091" y="3995928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entry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21208" y="4379976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LSP servers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267712" y="4379976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331720" y="4393692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 in plugin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629836" y="4379976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93844" y="4393692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absent from docs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991960" y="4379976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055968" y="4393692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undocumented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9354083" y="4379976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418091" y="4393692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as of 1.3.0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521208" y="4777740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tools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2267712" y="4777740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331720" y="4791456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SDK code only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629836" y="4777740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693844" y="4791456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toggles only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991960" y="4777740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55968" y="4791456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ctx.tool.transform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9354083" y="4777740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418091" y="4791456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registerTool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21208" y="5175504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line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2267712" y="5175504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331720" y="5189220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+ statusLine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629836" y="5175504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693844" y="5189220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[tui] keys only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6991960" y="5175504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055968" y="5189220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themes adjacent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9354083" y="5175504"/>
            <a:ext cx="2279828" cy="352044"/>
          </a:xfrm>
          <a:prstGeom prst="rect">
            <a:avLst/>
          </a:prstGeom>
          <a:solidFill>
            <a:srgbClr val="FBEEDD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418091" y="5189220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 JSON, name=file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521208" y="5573268"/>
            <a:ext cx="1645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 policy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2267712" y="5573268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331720" y="5586984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 allow-rules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4629836" y="5573268"/>
            <a:ext cx="2279828" cy="352044"/>
          </a:xfrm>
          <a:prstGeom prst="rect">
            <a:avLst/>
          </a:prstGeom>
          <a:solidFill>
            <a:srgbClr val="E7F6EC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693844" y="5586984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.rules verbatim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6991960" y="5573268"/>
            <a:ext cx="2279828" cy="352044"/>
          </a:xfrm>
          <a:prstGeom prst="rect">
            <a:avLst/>
          </a:prstGeom>
          <a:solidFill>
            <a:srgbClr val="E8EDFF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055968" y="5586984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permissions[] stmts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9354083" y="5573268"/>
            <a:ext cx="2279828" cy="352044"/>
          </a:xfrm>
          <a:prstGeom prst="rect">
            <a:avLst/>
          </a:prstGeom>
          <a:solidFill>
            <a:srgbClr val="EEF0F3"/>
          </a:solidFill>
          <a:ln w="6350">
            <a:solidFill>
              <a:srgbClr val="E2E4E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418091" y="5586984"/>
            <a:ext cx="216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
</a:t>
            </a:r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 only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502920" y="6044184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matrix as data: harness_surface_capability — 40 rows. NO SURFACE is emitted data (supported = false), never a silent skip.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1 · THE RECORD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universal envelope — and who owns the version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5989320" cy="47365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44752"/>
            <a:ext cx="45720" cy="47365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64592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REGISTRY-OWNED FIELDS (EVERY ARTIFACT)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8952" y="204825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identity.name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2048256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spec-legal name — usable as id everywhere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" y="259689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identity.type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2596896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matrix row; drives the emitter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8952" y="314553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3145536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semver — no portable artifact carries one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" y="369417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compatibility.harnesses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3694176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supported · surfaces[] · via[] — the matrix as 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" y="424281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66160" y="4242816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files[] · entry · overlays.&lt;harness&gt; (extras only)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" y="479145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4791456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· mcp · network · shell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8952" y="534009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install.&lt;harness&gt;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5340096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· target · command — the concrete drop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1444752"/>
            <a:ext cx="496519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0296" y="16276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LIVES IN FOUR PLACES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0296" y="19568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84464" y="19568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manifest → marketplace → git sha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40296" y="23408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84464" y="23408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plugin.json + ref/sha · npm version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40296" y="27249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84464" y="272491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index.json · plugins pkg@ver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40296" y="3108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84464" y="310896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package.json semver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20840" y="3803904"/>
            <a:ext cx="496519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3803904"/>
            <a:ext cx="45720" cy="2377440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35" name="Text 33"/>
          <p:cNvSpPr/>
          <p:nvPr/>
        </p:nvSpPr>
        <p:spPr>
          <a:xfrm>
            <a:off x="6940296" y="39867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BUNDLES SELF-UPDATE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40296" y="4421124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37" name="Text 35"/>
          <p:cNvSpPr/>
          <p:nvPr/>
        </p:nvSpPr>
        <p:spPr>
          <a:xfrm>
            <a:off x="7086600" y="435254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 (marketplace refresh) · skills catalog bump · pi-packages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40296" y="4841748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39" name="Text 37"/>
          <p:cNvSpPr/>
          <p:nvPr/>
        </p:nvSpPr>
        <p:spPr>
          <a:xfrm>
            <a:off x="7086600" y="477316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standalone artifact is a manual file drop — no pin, no update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40296" y="530352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agentreg.lock:  urn → version → sha256 → per-harness targets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40296" y="557784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harness ships one — the lockfile is the registry's job (v_lockfile_export)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 · 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database is the foundation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26060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1907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23544" y="2029968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Area of activity — coarsest defaults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26060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71907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functional_unit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81144" y="2029968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Unit-level defaults for its teams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92440" y="1554480"/>
            <a:ext cx="26060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71907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38744" y="2029968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Finest overrides; owns artifacts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92040" y="3127248"/>
            <a:ext cx="35204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38344" y="3291840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38344" y="3602736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primary attach point — “which project needs what setup”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83280" y="2066544"/>
            <a:ext cx="1051560" cy="0"/>
          </a:xfrm>
          <a:prstGeom prst="line">
            <a:avLst/>
          </a:prstGeom>
          <a:noFill/>
          <a:ln w="15875">
            <a:solidFill>
              <a:srgbClr val="5F647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529584" y="17922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— 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040880" y="2066544"/>
            <a:ext cx="1051560" cy="0"/>
          </a:xfrm>
          <a:prstGeom prst="line">
            <a:avLst/>
          </a:prstGeom>
          <a:noFill/>
          <a:ln w="15875">
            <a:solidFill>
              <a:srgbClr val="5F647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187184" y="17922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— 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 flipH="1">
            <a:off x="7498080" y="2578608"/>
            <a:ext cx="1892808" cy="548640"/>
          </a:xfrm>
          <a:prstGeom prst="line">
            <a:avLst/>
          </a:prstGeom>
          <a:noFill/>
          <a:ln w="15875">
            <a:solidFill>
              <a:srgbClr val="5F647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503920" y="27614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— 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84832" y="2578608"/>
            <a:ext cx="2807208" cy="804672"/>
          </a:xfrm>
          <a:prstGeom prst="line">
            <a:avLst/>
          </a:prstGeom>
          <a:noFill/>
          <a:ln w="15875">
            <a:solidFill>
              <a:srgbClr val="5F6470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017520" y="30632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— 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613648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team_project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431596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STUB join points — only ids are assumed; everything else about these tables stays yours.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4681728"/>
            <a:ext cx="11185855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681728"/>
            <a:ext cx="45720" cy="1481328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EACH LEVEL CONTRIBUTES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8952" y="51755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8952" y="543153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“Engineering standardizes on Claude Code”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502152" y="51755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functional_unit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02152" y="543153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“Backend adds Codex + policy posture”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45352" y="51755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45352" y="543153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answer to the mapping question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988552" y="51755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988552" y="543153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OpenCode · forbid Pi (security posture)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 · DIMENSIONS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new tables make the matrix queryable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5477256" cy="22311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627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664" y="197510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lookup — seeded with the four studied harnesses; status active / deprecated / retired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" y="281635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adding Cursor or Copilot later is an INSERT, not a migration — the core model never references a specific harness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08776" y="1444752"/>
            <a:ext cx="5477256" cy="22311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27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197510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ten matrix rows: skill · command · subagent · hook · plugin · mcp · lsp · custom_tool · statusline · exec_policy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81635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row points at its feature doc, which defines its core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840480"/>
            <a:ext cx="5477256" cy="22311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harness_surface_capability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" y="437083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row per (harness × surface): minimum_verdict · install_target · notes — the matrix as data, 40 rows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0664" y="5212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registrations against a no_surface cell are invalid — the model stays honest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08776" y="3840480"/>
            <a:ext cx="5477256" cy="22311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3840480"/>
            <a:ext cx="45720" cy="2231136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surface_field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437083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field catalog: tier core / extras / spec · harness_id NULL = portable · constraints · unlocks · spec_source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5212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drives registration forms, validation and emitters (next slide)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 · THE CATALOG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· extras · spec — one catalog drives everything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512064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64592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E7F6EC"/>
          </a:solidFill>
          <a:ln>
            <a:solidFill>
              <a:srgbClr val="E7F6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162763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for the feature to work at all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22376" y="22860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skill: name (must equal dir) · description (≤1024)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3035808"/>
            <a:ext cx="512064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3236976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BEEDD"/>
          </a:solidFill>
          <a:ln>
            <a:solidFill>
              <a:srgbClr val="FBEED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321868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optional, harness-specific — each states what it unlocks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22376" y="387705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when_to_use → richer triggers · codex openai.yaml → invocation policy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4626864"/>
            <a:ext cx="512064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4828032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EEF0F3"/>
          </a:solidFill>
          <a:ln>
            <a:solidFill>
              <a:srgbClr val="EEF0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20240" y="480974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defined by the original standard, beyond the minimum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22376" y="546811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 · compatibility · metadata map · allowed-tools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52160" y="1444752"/>
            <a:ext cx="5833872" cy="47365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1444752"/>
            <a:ext cx="45720" cy="47365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0" name="Text 18"/>
          <p:cNvSpPr/>
          <p:nvPr/>
        </p:nvSpPr>
        <p:spPr>
          <a:xfrm>
            <a:off x="6089904" y="16459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ROWS DRIVE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89904" y="202996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04FFE"/>
          </a:solidFill>
          <a:ln>
            <a:solidFill>
              <a:srgbClr val="304F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47104" y="1993392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Registration form
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fields required — extras offered per target harness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89904" y="287121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04FFE"/>
          </a:solidFill>
          <a:ln>
            <a:solidFill>
              <a:srgbClr val="304F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47104" y="28346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
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core_payload checked against core rows · overlay against extras rows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89904" y="371246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04FFE"/>
          </a:solidFill>
          <a:ln>
            <a:solidFill>
              <a:srgbClr val="304F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47104" y="3675888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Emitters
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extras + overlay JSON produce the per-harness copies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89904" y="4663440"/>
            <a:ext cx="5358384" cy="1298448"/>
          </a:xfrm>
          <a:prstGeom prst="rect">
            <a:avLst/>
          </a:prstGeom>
          <a:solidFill>
            <a:srgbClr val="E8EDFF"/>
          </a:solidFill>
          <a:ln w="9525">
            <a:solidFill>
              <a:srgbClr val="E8E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4773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E46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rows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54496" y="501091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· name · core · required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· when_to_use · extras · claude-code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 · developer_instructions · core-in-target · codex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 · 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specific wins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3977640" cy="47365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6459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LADDER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0664" y="2029968"/>
            <a:ext cx="23317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202996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01952" y="2487168"/>
            <a:ext cx="0" cy="402336"/>
          </a:xfrm>
          <a:prstGeom prst="line">
            <a:avLst/>
          </a:prstGeom>
          <a:noFill/>
          <a:ln w="15875">
            <a:solidFill>
              <a:srgbClr val="304FF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0664" y="2926080"/>
            <a:ext cx="23317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9260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functional_unit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01952" y="3383280"/>
            <a:ext cx="0" cy="402336"/>
          </a:xfrm>
          <a:prstGeom prst="line">
            <a:avLst/>
          </a:prstGeom>
          <a:noFill/>
          <a:ln w="15875">
            <a:solidFill>
              <a:srgbClr val="304FF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664" y="3822192"/>
            <a:ext cx="23317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" y="382219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01952" y="4279392"/>
            <a:ext cx="0" cy="402336"/>
          </a:xfrm>
          <a:prstGeom prst="line">
            <a:avLst/>
          </a:prstGeom>
          <a:noFill/>
          <a:ln w="15875">
            <a:solidFill>
              <a:srgbClr val="304FF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0664" y="4718304"/>
            <a:ext cx="2331720" cy="402336"/>
          </a:xfrm>
          <a:prstGeom prst="roundRect">
            <a:avLst>
              <a:gd name="adj" fmla="val 11364"/>
            </a:avLst>
          </a:prstGeom>
          <a:solidFill>
            <a:srgbClr val="E8EDFF"/>
          </a:solidFill>
          <a:ln w="9525">
            <a:solidFill>
              <a:srgbClr val="304F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471830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0664" y="561441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roles: required · optional · forbidden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undeclared = not used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444752"/>
            <a:ext cx="6976872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46904" y="16276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46904" y="197510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· Engineering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96912" y="1975104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claude-code REQUIRED · codex OPTIONAL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46904" y="245059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functional_unit · Backend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96912" y="2450592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inherits — adds policy posture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46904" y="29260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· payments-api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96912" y="2926080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opencode REQUIRED (repo has .opencode/)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46904" y="340156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· payments-core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96912" y="3401568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FORBIDDEN (un-gated skills surface)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4773168"/>
            <a:ext cx="6976872" cy="1408176"/>
          </a:xfrm>
          <a:prstGeom prst="rect">
            <a:avLst/>
          </a:prstGeom>
          <a:solidFill>
            <a:srgbClr val="E8EDFF"/>
          </a:solidFill>
          <a:ln w="9525">
            <a:solidFill>
              <a:srgbClr val="E8ED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4773168"/>
            <a:ext cx="45720" cy="1408176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32" name="Text 30"/>
          <p:cNvSpPr/>
          <p:nvPr/>
        </p:nvSpPr>
        <p:spPr>
          <a:xfrm>
            <a:off x="4946904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46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 FOR PAYMENTS-CORE ON PAYMENTS-API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46904" y="5230368"/>
            <a:ext cx="6501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claude-code required · codex optional · opencode required · pi forbidden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946904" y="5614416"/>
            <a:ext cx="6501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query: v_effective_setup — no defaults duplicated per 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 · REGISTRY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once — metadata in the database, files in git/npm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5477256" cy="47365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44752"/>
            <a:ext cx="45720" cy="47365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" y="2048256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2048256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io.github.&lt;owner&gt;/&lt;name&gt; — one row per version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58952" y="256032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 · owner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2560320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matrix row · owning team and/or project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58952" y="307238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seal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307238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semver · content_sha256 · immutable · supersedes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58952" y="3584448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core_payload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358444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JSONB — validated against CORE field rows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58952" y="40965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66160" y="4096512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· mcp · network · shell (drives policy)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8952" y="4608576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· tier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4608576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→ published → deprecated · standard | review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08776" y="1444752"/>
            <a:ext cx="5477256" cy="47365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08776" y="1444752"/>
            <a:ext cx="45720" cy="47365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artifact_harness_target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64808" y="2048256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272016" y="2048256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harness_surface_capability — never assumed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64808" y="256032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install_*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272016" y="2560320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· target · command — the concrete drop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64808" y="307238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272016" y="307238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JSONB — validated against EXTRAS rows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64808" y="3931920"/>
            <a:ext cx="4965192" cy="1097280"/>
          </a:xfrm>
          <a:prstGeom prst="rect">
            <a:avLst/>
          </a:prstGeom>
          <a:solidFill>
            <a:srgbClr val="E7F6EC"/>
          </a:solidFill>
          <a:ln w="9525">
            <a:solidFill>
              <a:srgbClr val="E7F6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4114800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copy-verdict artifact ships an EMPTY overlay and still works — extras are never required for core features.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64808" y="5394960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sources[] point at git/npm with hashes — the database never hosts code.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 · USAGE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required to pinned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27632"/>
            <a:ext cx="45720" cy="11887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77393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066544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project declares the need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32888" y="2221992"/>
            <a:ext cx="237744" cy="0"/>
          </a:xfrm>
          <a:prstGeom prst="line">
            <a:avLst/>
          </a:prstGeom>
          <a:noFill/>
          <a:ln w="15875">
            <a:solidFill>
              <a:srgbClr val="5F647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88920" y="1627632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627632"/>
            <a:ext cx="45720" cy="1188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2935224" y="177393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35224" y="2066544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human accepts the trust disclosure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18888" y="2221992"/>
            <a:ext cx="237744" cy="0"/>
          </a:xfrm>
          <a:prstGeom prst="line">
            <a:avLst/>
          </a:prstGeom>
          <a:noFill/>
          <a:ln w="15875">
            <a:solidFill>
              <a:srgbClr val="5F64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74920" y="1627632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1627632"/>
            <a:ext cx="45720" cy="1188720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8" name="Text 16"/>
          <p:cNvSpPr/>
          <p:nvPr/>
        </p:nvSpPr>
        <p:spPr>
          <a:xfrm>
            <a:off x="5221224" y="177393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21224" y="2066544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drop ran — recorded who &amp; when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04888" y="2221992"/>
            <a:ext cx="237744" cy="0"/>
          </a:xfrm>
          <a:prstGeom prst="line">
            <a:avLst/>
          </a:prstGeom>
          <a:noFill/>
          <a:ln w="15875">
            <a:solidFill>
              <a:srgbClr val="5F64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60920" y="1627632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1627632"/>
            <a:ext cx="45720" cy="1188720"/>
          </a:xfrm>
          <a:prstGeom prst="rect">
            <a:avLst/>
          </a:prstGeom>
          <a:solidFill>
            <a:srgbClr val="1E46C8"/>
          </a:solidFill>
          <a:ln/>
        </p:spPr>
      </p:sp>
      <p:sp>
        <p:nvSpPr>
          <p:cNvPr id="23" name="Text 21"/>
          <p:cNvSpPr/>
          <p:nvPr/>
        </p:nvSpPr>
        <p:spPr>
          <a:xfrm>
            <a:off x="7507224" y="177393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6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PINNED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07224" y="2066544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locked to an exact version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390888" y="2221992"/>
            <a:ext cx="237744" cy="0"/>
          </a:xfrm>
          <a:prstGeom prst="line">
            <a:avLst/>
          </a:prstGeom>
          <a:noFill/>
          <a:ln w="15875">
            <a:solidFill>
              <a:srgbClr val="5F647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46920" y="1627632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46920" y="1627632"/>
            <a:ext cx="45720" cy="11887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8" name="Text 26"/>
          <p:cNvSpPr/>
          <p:nvPr/>
        </p:nvSpPr>
        <p:spPr>
          <a:xfrm>
            <a:off x="9793224" y="177393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93224" y="2066544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 of the effective set, kept for audit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2999232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RETIRED branches off after any stage — the row is never deleted.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3529584"/>
            <a:ext cx="11185855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529584"/>
            <a:ext cx="45720" cy="2651760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33" name="Text 31"/>
          <p:cNvSpPr/>
          <p:nvPr/>
        </p:nvSpPr>
        <p:spPr>
          <a:xfrm>
            <a:off x="758952" y="3730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V_LOCKFILE_EXPORT — ONE LINE PER PROJECT × ARTIFACT × HARNESS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8952" y="4096512"/>
            <a:ext cx="10673791" cy="1005840"/>
          </a:xfrm>
          <a:prstGeom prst="rect">
            <a:avLst/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544" y="4224528"/>
            <a:ext cx="1034460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io.github.acme/pdf-report-writer · 1.4.2 · 9f2c41…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claude-code → copy-dir → ~/.claude/skills/pdf-report-writer/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codex → copy-dir → ~/.agents/skills/pdf-report-writer/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8952" y="5372100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37" name="Text 35"/>
          <p:cNvSpPr/>
          <p:nvPr/>
        </p:nvSpPr>
        <p:spPr>
          <a:xfrm>
            <a:off x="905256" y="5303520"/>
            <a:ext cx="105274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harness_id NULL = every target of the artifact — the export fans out to one line each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58952" y="5737860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39" name="Text 37"/>
          <p:cNvSpPr/>
          <p:nvPr/>
        </p:nvSpPr>
        <p:spPr>
          <a:xfrm>
            <a:off x="905256" y="5669280"/>
            <a:ext cx="105274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lockfile no harness ships: urn → version → sha256 → per-harness targets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 · THE WHOLE PICTURE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entity map — and the four questions it answers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7315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5910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DATABASE (STUBS)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2376" y="19202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EEF0F3"/>
          </a:solidFill>
          <a:ln>
            <a:solidFill>
              <a:srgbClr val="EEF0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12264" y="19202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EEF0F3"/>
          </a:solidFill>
          <a:ln>
            <a:solidFill>
              <a:srgbClr val="EEF0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functional_unit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02152" y="19202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EEF0F3"/>
          </a:solidFill>
          <a:ln>
            <a:solidFill>
              <a:srgbClr val="EEF0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EEF0F3"/>
          </a:solidFill>
          <a:ln>
            <a:solidFill>
              <a:srgbClr val="EEF0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team_project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81928" y="19202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EEF0F3"/>
          </a:solidFill>
          <a:ln>
            <a:solidFill>
              <a:srgbClr val="EEF0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22376" y="24323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points only — ids assumed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3035808"/>
            <a:ext cx="7315200" cy="3145536"/>
          </a:xfrm>
          <a:prstGeom prst="rect">
            <a:avLst/>
          </a:prstGeom>
          <a:solidFill>
            <a:srgbClr val="FFFFFF"/>
          </a:solidFill>
          <a:ln w="9525">
            <a:solidFill>
              <a:srgbClr val="304F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182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EXTENSION (NEW TABLES)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2376" y="3511296"/>
            <a:ext cx="1627632" cy="438912"/>
          </a:xfrm>
          <a:prstGeom prst="roundRect">
            <a:avLst>
              <a:gd name="adj" fmla="val 8333"/>
            </a:avLst>
          </a:prstGeom>
          <a:solidFill>
            <a:srgbClr val="E8EDFF"/>
          </a:solidFill>
          <a:ln>
            <a:solidFill>
              <a:srgbClr val="E8ED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59736" y="3511296"/>
            <a:ext cx="1627632" cy="438912"/>
          </a:xfrm>
          <a:prstGeom prst="roundRect">
            <a:avLst>
              <a:gd name="adj" fmla="val 8333"/>
            </a:avLst>
          </a:prstGeom>
          <a:solidFill>
            <a:srgbClr val="E8EDFF"/>
          </a:solidFill>
          <a:ln>
            <a:solidFill>
              <a:srgbClr val="E8ED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97096" y="3511296"/>
            <a:ext cx="1627632" cy="438912"/>
          </a:xfrm>
          <a:prstGeom prst="roundRect">
            <a:avLst>
              <a:gd name="adj" fmla="val 8333"/>
            </a:avLst>
          </a:prstGeom>
          <a:solidFill>
            <a:srgbClr val="E8EDFF"/>
          </a:solidFill>
          <a:ln>
            <a:solidFill>
              <a:srgbClr val="E8ED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surface_field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34456" y="3511296"/>
            <a:ext cx="1627632" cy="438912"/>
          </a:xfrm>
          <a:prstGeom prst="roundRect">
            <a:avLst>
              <a:gd name="adj" fmla="val 8333"/>
            </a:avLst>
          </a:prstGeom>
          <a:solidFill>
            <a:srgbClr val="E8EDFF"/>
          </a:solidFill>
          <a:ln>
            <a:solidFill>
              <a:srgbClr val="E8ED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harness_surface_capability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22376" y="4169664"/>
            <a:ext cx="1627632" cy="438912"/>
          </a:xfrm>
          <a:prstGeom prst="roundRect">
            <a:avLst>
              <a:gd name="adj" fmla="val 8333"/>
            </a:avLst>
          </a:prstGeom>
          <a:solidFill>
            <a:srgbClr val="E8EDFF"/>
          </a:solidFill>
          <a:ln>
            <a:solidFill>
              <a:srgbClr val="E8ED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agentic_setup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59736" y="4169664"/>
            <a:ext cx="1627632" cy="438912"/>
          </a:xfrm>
          <a:prstGeom prst="roundRect">
            <a:avLst>
              <a:gd name="adj" fmla="val 8333"/>
            </a:avLst>
          </a:prstGeom>
          <a:solidFill>
            <a:srgbClr val="E8EDFF"/>
          </a:solidFill>
          <a:ln>
            <a:solidFill>
              <a:srgbClr val="E8ED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setup_harness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97096" y="4169664"/>
            <a:ext cx="1627632" cy="438912"/>
          </a:xfrm>
          <a:prstGeom prst="roundRect">
            <a:avLst>
              <a:gd name="adj" fmla="val 8333"/>
            </a:avLst>
          </a:prstGeom>
          <a:solidFill>
            <a:srgbClr val="E8EDFF"/>
          </a:solidFill>
          <a:ln>
            <a:solidFill>
              <a:srgbClr val="E8ED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34456" y="4169664"/>
            <a:ext cx="1627632" cy="438912"/>
          </a:xfrm>
          <a:prstGeom prst="roundRect">
            <a:avLst>
              <a:gd name="adj" fmla="val 8333"/>
            </a:avLst>
          </a:prstGeom>
          <a:solidFill>
            <a:srgbClr val="E8EDFF"/>
          </a:solidFill>
          <a:ln>
            <a:solidFill>
              <a:srgbClr val="E8ED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artifact_harness_target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22376" y="4828032"/>
            <a:ext cx="1627632" cy="438912"/>
          </a:xfrm>
          <a:prstGeom prst="roundRect">
            <a:avLst>
              <a:gd name="adj" fmla="val 8333"/>
            </a:avLst>
          </a:prstGeom>
          <a:solidFill>
            <a:srgbClr val="E8EDFF"/>
          </a:solidFill>
          <a:ln>
            <a:solidFill>
              <a:srgbClr val="E8ED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feature_registration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22376" y="5742432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scope_id (polymorphic: area | fu | project | team) → agentic_setup · artifact → surface · registration → project + artifact + harness?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046720" y="1444752"/>
            <a:ext cx="3639312" cy="47365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1444752"/>
            <a:ext cx="45720" cy="47365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8" name="Text 26"/>
          <p:cNvSpPr/>
          <p:nvPr/>
        </p:nvSpPr>
        <p:spPr>
          <a:xfrm>
            <a:off x="8266176" y="16276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FOUR QUESTIONS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66176" y="20116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Which setup does a project need?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49056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v_effective_setup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66176" y="30175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What can it actually use?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449056" y="3493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harnesses ⟡ capability (≠ no_surface)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66176" y="40233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Register a feature?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49056" y="4498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 + targets (catalog-validated)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266176" y="50292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What is installed where?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49056" y="5504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registrations + v_lockfile_export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FEATURE DOCS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feature doc, one pattern — skills as the example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3602736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44752"/>
            <a:ext cx="45720" cy="3611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645920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E7F6EC"/>
          </a:solidFill>
          <a:ln>
            <a:solidFill>
              <a:srgbClr val="E7F6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22376" y="2157984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2376" y="2414016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[a-z0-9-] ≤64 — must equal dir name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22376" y="3017520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22376" y="327355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≤1024 chars — “what + when”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22376" y="3877056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works in all four harnesses unchanged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3108" y="1444752"/>
            <a:ext cx="3602736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3108" y="1444752"/>
            <a:ext cx="45720" cy="3611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4512564" y="1645920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BEEDD"/>
          </a:solidFill>
          <a:ln>
            <a:solidFill>
              <a:srgbClr val="FBEED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12564" y="2157984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12564" y="2414016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when_to_use · argument-hint · context: fork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12564" y="3017520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12564" y="327355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agents/openai.yaml — policy, branding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12564" y="3877056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12564" y="4133088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 autoinvoke — hide from list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83296" y="1444752"/>
            <a:ext cx="3602736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83296" y="1444752"/>
            <a:ext cx="45720" cy="36118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5" name="Text 23"/>
          <p:cNvSpPr/>
          <p:nvPr/>
        </p:nvSpPr>
        <p:spPr>
          <a:xfrm>
            <a:off x="8302752" y="1645920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EEF0F3"/>
          </a:solidFill>
          <a:ln>
            <a:solidFill>
              <a:srgbClr val="EEF0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302752" y="2157984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02752" y="2414016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or bundled file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02752" y="3017520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02752" y="3273552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needs, 1–500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302752" y="3877056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 · allowed-tools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02752" y="4133088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extension map · experimental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5266944"/>
            <a:ext cx="11185855" cy="914400"/>
          </a:xfrm>
          <a:prstGeom prst="rect">
            <a:avLst/>
          </a:prstGeom>
          <a:solidFill>
            <a:srgbClr val="E8EDFF"/>
          </a:solidFill>
          <a:ln w="9525">
            <a:solidFill>
              <a:srgbClr val="E8E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5559552"/>
            <a:ext cx="10673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docs × (minimum core → exact per-harness transforms → registry notes → original-spec appendix)  ·  docs/data-model/features/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Verified, delivered — and one flagged follow-up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5477256" cy="47365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44752"/>
            <a:ext cx="45720" cy="47365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645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RE-VERIFIED AGAINST LIVE DOCS · 2026-10-21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8952" y="2098548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2029968"/>
            <a:ext cx="48371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 v2: </a:t>
            </a:r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Plugin.define · ctx.tool.hook veto via Tool.Error · JSON-Schema tools (no Zod) · opencode/slash gone · commands map · .env → ask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" y="2994660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" y="2926080"/>
            <a:ext cx="48371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Pi: </a:t>
            </a:r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tool_call fires before execution — {block, reason} vetoes · registerTool TypeBox + exposure modes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8952" y="42062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correct the 2026-10-16 corpus — all data-model docs reflect them.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8952" y="4846320"/>
            <a:ext cx="4965192" cy="1060704"/>
          </a:xfrm>
          <a:prstGeom prst="rect">
            <a:avLst/>
          </a:prstGeom>
          <a:solidFill>
            <a:srgbClr val="FBEEDD"/>
          </a:solidFill>
          <a:ln w="9525">
            <a:solidFill>
              <a:srgbClr val="FBEE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501091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Flagged: the registry-guide deck's content JSONs still carry v1 shapes for OpenCode hooks/tools.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08776" y="1444752"/>
            <a:ext cx="547725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627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46520" y="2061972"/>
            <a:ext cx="50292" cy="502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592824" y="1993392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docs/data-model/ — index · org model · Postgres schema (14 tables, 2 views)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2446020"/>
            <a:ext cx="50292" cy="502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92824" y="2377440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features/ ×10 — core → transforms → original-spec appendix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46520" y="2830068"/>
            <a:ext cx="50292" cy="502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592824" y="2761488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deck — data-model.pptx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08776" y="3913632"/>
            <a:ext cx="5477256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08776" y="3913632"/>
            <a:ext cx="45720" cy="226771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096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46520" y="4530852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8" name="Text 26"/>
          <p:cNvSpPr/>
          <p:nvPr/>
        </p:nvSpPr>
        <p:spPr>
          <a:xfrm>
            <a:off x="6592824" y="4462272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the full surface_field catalog from the feature docs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46520" y="4914900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30" name="Text 28"/>
          <p:cNvSpPr/>
          <p:nvPr/>
        </p:nvSpPr>
        <p:spPr>
          <a:xfrm>
            <a:off x="6592824" y="4846320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JSON Schemas for API validation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46520" y="5298948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32" name="Text 30"/>
          <p:cNvSpPr/>
          <p:nvPr/>
        </p:nvSpPr>
        <p:spPr>
          <a:xfrm>
            <a:off x="6592824" y="5230368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revise registry-guide content JSONs to the verified v2 facts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2727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nano-super-slides-v5 · data-model.pptx · 2026-10-21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Data Model — nano-super companion</dc:title>
  <dc:subject>PptxGenJS Presentation</dc:subject>
  <dc:creator>aryan-rajoria</dc:creator>
  <cp:lastModifiedBy>aryan-rajoria</cp:lastModifiedBy>
  <cp:revision>1</cp:revision>
  <dcterms:created xsi:type="dcterms:W3CDTF">2026-10-21T20:26:13Z</dcterms:created>
  <dcterms:modified xsi:type="dcterms:W3CDTF">2026-10-21T20:26:13Z</dcterms:modified>
</cp:coreProperties>
</file>