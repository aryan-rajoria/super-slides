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Cover. v5 refocus: not the market survey (that is v4) — the integration guide. For each of the 4 harnesses the same 10 surfaces answer the same 6 facts; the deck defines the registry data model as it goes.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notation slide. Six facts per card, four verdicts, honest auto-update framing, and the four-slide section structure. This is the consistency contract for all 40 pair-slide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data model, condensed from v4's design + emission slides: artifact-record.json (identity/version/payload+overlays/compat/trust/install), the publish-to-lock pipeline, and agentreg.lock as the missing updater.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cheat sheet (user moved it to slide 4 on 2026-10-20). Verdict chips per surface per harness, plus the auto-update dot (green = the harness can update this artifact type itself). Derived at build time from the four content files. Every row opens a four-slide section on slides 5-44: banner (registry minimum), standards (spec state), then the harnesses as claude+codex and opencode+pi card pairs.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1/10 banner: SKILLS — registry minimum (what we store), the matrix row (verdict + auto-update dot per harness), and this surface's update posture.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1/10 standards: SKILLS — fields, hard rules, per-harness divergence, gaps, registry stance.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1/10 (SKILLS), claude code + codex pair: CLAUDE CODE and CODEX cards for this surface — same six facts, same emission block.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1/10 (SKILLS), opencode + pi pair: OPENCODE and PI cards for this surface — same six facts, same emission block.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2/10 banner: COMMANDS — registry minimum (what we store), the matrix row (verdict + auto-update dot per harness), and this surface's update posture.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2/10 standards: COMMANDS — fields, hard rules, per-harness divergence, gaps, registry stance.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2/10 (COMMANDS), claude code + codex pair: CLAUDE CODE and CODEX cards for this surface — same six facts, same emission block.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2/10 (COMMANDS), opencode + pi pair: OPENCODE and PI cards for this surface — same six facts, same emission block.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3/10 banner: SUBAGENTS — registry minimum (what we store), the matrix row (verdict + auto-update dot per harness), and this surface's update posture.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3/10 standards: SUBAGENTS — fields, hard rules, per-harness divergence, gaps, registry stance.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3/10 (SUBAGENTS), claude code + codex pair: CLAUDE CODE and CODEX cards for this surface — same six facts, same emission block.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3/10 (SUBAGENTS), opencode + pi pair: OPENCODE and PI cards for this surface — same six facts, same emission block.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4/10 banner: HOOKS — registry minimum (what we store), the matrix row (verdict + auto-update dot per harness), and this surface's update posture.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4/10 standards: HOOKS — fields, hard rules, per-harness divergence, gaps, registry stance.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4/10 (HOOKS), claude code + codex pair: CLAUDE CODE and CODEX cards for this surface — same six facts, same emission block.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4/10 (HOOKS), opencode + pi pair: OPENCODE and PI cards for this surface — same six facts, same emission block.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5/10 banner: PLUGINS — registry minimum (what we store), the matrix row (verdict + auto-update dot per harness), and this surface's update posture.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5/10 standards: PLUGINS — fields, hard rules, per-harness divergence, gaps, registry stance.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5/10 (PLUGINS), claude code + codex pair: CLAUDE CODE and CODEX cards for this surface — same six facts, same emission block.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5/10 (PLUGINS), opencode + pi pair: OPENCODE and PI cards for this surface — same six facts, same emission block.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6/10 banner: MCP — registry minimum (what we store), the matrix row (verdict + auto-update dot per harness), and this surface's update posture.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6/10 standards: MCP — fields, hard rules, per-harness divergence, gaps, registry stance.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6/10 (MCP), claude code + codex pair: CLAUDE CODE and CODEX cards for this surface — same six facts, same emission block.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6/10 (MCP), opencode + pi pair: OPENCODE and PI cards for this surface — same six facts, same emission block.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7/10 banner: LSP — registry minimum (what we store), the matrix row (verdict + auto-update dot per harness), and this surface's update posture.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7/10 standards: LSP — fields, hard rules, per-harness divergence, gaps, registry stance.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7/10 (LSP), claude code + codex pair: CLAUDE CODE and CODEX cards for this surface — same six facts, same emission block.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7/10 (LSP), opencode + pi pair: OPENCODE and PI cards for this surface — same six facts, same emission block.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8/10 banner: CUSTOM TOOLS — registry minimum (what we store), the matrix row (verdict + auto-update dot per harness), and this surface's update posture.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8/10 standards: CUSTOM TOOLS — fields, hard rules, per-harness divergence, gaps, registry stance.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8/10 (CUSTOM TOOLS), claude code + codex pair: CLAUDE CODE and CODEX cards for this surface — same six facts, same emission block.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8/10 (CUSTOM TOOLS), opencode + pi pair: OPENCODE and PI cards for this surface — same six facts, same emission block.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9/10 banner: STATUS LINE — registry minimum (what we store), the matrix row (verdict + auto-update dot per harness), and this surface's update posture.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9/10 standards: STATUS LINE — fields, hard rules, per-harness divergence, gaps, registry stance.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9/10 (STATUS LINE), claude code + codex pair: CLAUDE CODE and CODEX cards for this surface — same six facts, same emission block.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9/10 (STATUS LINE), opencode + pi pair: OPENCODE and PI cards for this surface — same six facts, same emission block.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10/10 banner: EXEC POLICY — registry minimum (what we store), the matrix row (verdict + auto-update dot per harness), and this surface's update posture.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10/10 standards: EXEC POLICY — fields, hard rules, per-harness divergence, gaps, registry stance.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10/10 (EXEC POLICY), claude code + codex pair: CLAUDE CODE and CODEX cards for this surface — same six facts, same emission block.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10/10 (EXEC POLICY), opencode + pi pair: OPENCODE and PI cards for this surface — same six facts, same emission block.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Closer. Three takeaways: packages update but artifacts don't (lockfile wedge), emit overlays not forks, NO SURFACE is a first-class answer. Static machine art — no game in v5.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image" Target="../media/image-45-3.png"/><Relationship Id="rId4" Type="http://schemas.openxmlformats.org/officeDocument/2006/relationships/image" Target="../media/image-45-4.png"/><Relationship Id="rId5" Type="http://schemas.openxmlformats.org/officeDocument/2006/relationships/image" Target="../media/image-45-5.png"/><Relationship Id="rId6" Type="http://schemas.openxmlformats.org/officeDocument/2006/relationships/image" Target="../media/image-45-6.png"/><Relationship Id="rId7" Type="http://schemas.openxmlformats.org/officeDocument/2006/relationships/image" Target="../media/image-45-7.png"/><Relationship Id="rId8" Type="http://schemas.openxmlformats.org/officeDocument/2006/relationships/image" Target="../media/image-45-8.png"/><Relationship Id="rId9" Type="http://schemas.openxmlformats.org/officeDocument/2006/relationships/image" Target="../media/image-45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1_vx1_v1"/>
          <p:cNvSpPr/>
          <p:nvPr/>
        </p:nvSpPr>
        <p:spPr>
          <a:xfrm>
            <a:off x="11137392" y="384048"/>
            <a:ext cx="146304" cy="146304"/>
          </a:xfrm>
          <a:prstGeom prst="rect">
            <a:avLst/>
          </a:prstGeom>
          <a:solidFill>
            <a:srgbClr val="7CB0FF"/>
          </a:solidFill>
          <a:ln/>
        </p:spPr>
      </p:sp>
      <p:sp>
        <p:nvSpPr>
          <p:cNvPr id="4" name="s1_vx1_v2"/>
          <p:cNvSpPr/>
          <p:nvPr/>
        </p:nvSpPr>
        <p:spPr>
          <a:xfrm>
            <a:off x="11311128" y="384048"/>
            <a:ext cx="146304" cy="14630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5" name="s1_vx1_v3"/>
          <p:cNvSpPr/>
          <p:nvPr/>
        </p:nvSpPr>
        <p:spPr>
          <a:xfrm>
            <a:off x="11137392" y="557784"/>
            <a:ext cx="146304" cy="14630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6" name="s1_vx2_v1"/>
          <p:cNvSpPr/>
          <p:nvPr/>
        </p:nvSpPr>
        <p:spPr>
          <a:xfrm>
            <a:off x="548640" y="5943600"/>
            <a:ext cx="146304" cy="14630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7" name="s1_vx2_v2"/>
          <p:cNvSpPr/>
          <p:nvPr/>
        </p:nvSpPr>
        <p:spPr>
          <a:xfrm>
            <a:off x="722376" y="5943600"/>
            <a:ext cx="146304" cy="146304"/>
          </a:xfrm>
          <a:prstGeom prst="rect">
            <a:avLst/>
          </a:prstGeom>
          <a:solidFill>
            <a:srgbClr val="7CB0FF"/>
          </a:solidFill>
          <a:ln/>
        </p:spPr>
      </p:sp>
      <p:sp>
        <p:nvSpPr>
          <p:cNvPr id="8" name="s1_vx2_v3"/>
          <p:cNvSpPr/>
          <p:nvPr/>
        </p:nvSpPr>
        <p:spPr>
          <a:xfrm>
            <a:off x="548640" y="6117336"/>
            <a:ext cx="146304" cy="146304"/>
          </a:xfrm>
          <a:prstGeom prst="rect">
            <a:avLst/>
          </a:prstGeom>
          <a:solidFill>
            <a:srgbClr val="16A34A"/>
          </a:solidFill>
          <a:ln/>
        </p:spPr>
      </p:sp>
      <p:pic>
        <p:nvPicPr>
          <p:cNvPr id="9" name="s1_kick" descr="assets/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868680"/>
            <a:ext cx="2325189" cy="182880"/>
          </a:xfrm>
          <a:prstGeom prst="rect">
            <a:avLst/>
          </a:prstGeom>
        </p:spPr>
      </p:pic>
      <p:pic>
        <p:nvPicPr>
          <p:cNvPr id="10" name="s1_title1" descr="assets/ct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25880"/>
            <a:ext cx="6121255" cy="603504"/>
          </a:xfrm>
          <a:prstGeom prst="rect">
            <a:avLst/>
          </a:prstGeom>
        </p:spPr>
      </p:pic>
      <p:pic>
        <p:nvPicPr>
          <p:cNvPr id="11" name="s1_title2" descr="assets/ct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057400"/>
            <a:ext cx="6121255" cy="603504"/>
          </a:xfrm>
          <a:prstGeom prst="rect">
            <a:avLst/>
          </a:prstGeom>
        </p:spPr>
      </p:pic>
      <p:sp>
        <p:nvSpPr>
          <p:cNvPr id="12" name="s1_sub"/>
          <p:cNvSpPr/>
          <p:nvPr/>
        </p:nvSpPr>
        <p:spPr>
          <a:xfrm>
            <a:off x="502920" y="30175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C9CD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registry, four harnesses — the per-harness integration guide.</a:t>
            </a:r>
            <a:endParaRPr lang="en-US" sz="1900" dirty="0"/>
          </a:p>
        </p:txBody>
      </p:sp>
      <p:sp>
        <p:nvSpPr>
          <p:cNvPr id="13" name="s1_desc"/>
          <p:cNvSpPr/>
          <p:nvPr/>
        </p:nvSpPr>
        <p:spPr>
          <a:xfrm>
            <a:off x="502920" y="3520440"/>
            <a:ext cx="7680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E9EB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harness chapter covers the same ten surfaces, and every surface answers the same six questions —</a:t>
            </a:r>
            <a:endParaRPr lang="en-US" sz="14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E9EB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it is, where it lives, how it is managed, whether it can auto-update, and what our registry must emit.</a:t>
            </a:r>
            <a:endParaRPr lang="en-US" sz="1400" dirty="0"/>
          </a:p>
        </p:txBody>
      </p:sp>
      <p:sp>
        <p:nvSpPr>
          <p:cNvPr id="14" name="s1_chip0_sh"/>
          <p:cNvSpPr/>
          <p:nvPr/>
        </p:nvSpPr>
        <p:spPr>
          <a:xfrm>
            <a:off x="539496" y="4608576"/>
            <a:ext cx="1330452" cy="475488"/>
          </a:xfrm>
          <a:prstGeom prst="rect">
            <a:avLst/>
          </a:prstGeom>
          <a:solidFill>
            <a:srgbClr val="05060A"/>
          </a:solidFill>
          <a:ln/>
        </p:spPr>
      </p:sp>
      <p:sp>
        <p:nvSpPr>
          <p:cNvPr id="15" name="s1_chip0"/>
          <p:cNvSpPr/>
          <p:nvPr/>
        </p:nvSpPr>
        <p:spPr>
          <a:xfrm>
            <a:off x="502920" y="4572000"/>
            <a:ext cx="1330452" cy="475488"/>
          </a:xfrm>
          <a:prstGeom prst="rect">
            <a:avLst/>
          </a:prstGeom>
          <a:solidFill>
            <a:srgbClr val="24272F"/>
          </a:solidFill>
          <a:ln w="19050">
            <a:solidFill>
              <a:srgbClr val="3C414C"/>
            </a:solidFill>
            <a:prstDash val="solid"/>
          </a:ln>
        </p:spPr>
      </p:sp>
      <p:sp>
        <p:nvSpPr>
          <p:cNvPr id="16" name="s1_chip0_t"/>
          <p:cNvSpPr/>
          <p:nvPr/>
        </p:nvSpPr>
        <p:spPr>
          <a:xfrm>
            <a:off x="502920" y="4572000"/>
            <a:ext cx="13304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E9EB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 HARNESSES</a:t>
            </a:r>
            <a:endParaRPr lang="en-US" sz="1200" dirty="0"/>
          </a:p>
        </p:txBody>
      </p:sp>
      <p:sp>
        <p:nvSpPr>
          <p:cNvPr id="17" name="s1_chip1_sh"/>
          <p:cNvSpPr/>
          <p:nvPr/>
        </p:nvSpPr>
        <p:spPr>
          <a:xfrm>
            <a:off x="2098548" y="4608576"/>
            <a:ext cx="1330452" cy="475488"/>
          </a:xfrm>
          <a:prstGeom prst="rect">
            <a:avLst/>
          </a:prstGeom>
          <a:solidFill>
            <a:srgbClr val="05060A"/>
          </a:solidFill>
          <a:ln/>
        </p:spPr>
      </p:sp>
      <p:sp>
        <p:nvSpPr>
          <p:cNvPr id="18" name="s1_chip1"/>
          <p:cNvSpPr/>
          <p:nvPr/>
        </p:nvSpPr>
        <p:spPr>
          <a:xfrm>
            <a:off x="2061972" y="4572000"/>
            <a:ext cx="1330452" cy="475488"/>
          </a:xfrm>
          <a:prstGeom prst="rect">
            <a:avLst/>
          </a:prstGeom>
          <a:solidFill>
            <a:srgbClr val="24272F"/>
          </a:solidFill>
          <a:ln w="19050">
            <a:solidFill>
              <a:srgbClr val="3C414C"/>
            </a:solidFill>
            <a:prstDash val="solid"/>
          </a:ln>
        </p:spPr>
      </p:sp>
      <p:sp>
        <p:nvSpPr>
          <p:cNvPr id="19" name="s1_chip1_t"/>
          <p:cNvSpPr/>
          <p:nvPr/>
        </p:nvSpPr>
        <p:spPr>
          <a:xfrm>
            <a:off x="2061972" y="4572000"/>
            <a:ext cx="13304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E9EB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SURFACES</a:t>
            </a:r>
            <a:endParaRPr lang="en-US" sz="1200" dirty="0"/>
          </a:p>
        </p:txBody>
      </p:sp>
      <p:sp>
        <p:nvSpPr>
          <p:cNvPr id="20" name="s1_chip2_sh"/>
          <p:cNvSpPr/>
          <p:nvPr/>
        </p:nvSpPr>
        <p:spPr>
          <a:xfrm>
            <a:off x="3657600" y="4608576"/>
            <a:ext cx="2098548" cy="475488"/>
          </a:xfrm>
          <a:prstGeom prst="rect">
            <a:avLst/>
          </a:prstGeom>
          <a:solidFill>
            <a:srgbClr val="05060A"/>
          </a:solidFill>
          <a:ln/>
        </p:spPr>
      </p:sp>
      <p:sp>
        <p:nvSpPr>
          <p:cNvPr id="21" name="s1_chip2"/>
          <p:cNvSpPr/>
          <p:nvPr/>
        </p:nvSpPr>
        <p:spPr>
          <a:xfrm>
            <a:off x="3621024" y="4572000"/>
            <a:ext cx="2098548" cy="475488"/>
          </a:xfrm>
          <a:prstGeom prst="rect">
            <a:avLst/>
          </a:prstGeom>
          <a:solidFill>
            <a:srgbClr val="24272F"/>
          </a:solidFill>
          <a:ln w="19050">
            <a:solidFill>
              <a:srgbClr val="3C414C"/>
            </a:solidFill>
            <a:prstDash val="solid"/>
          </a:ln>
        </p:spPr>
      </p:sp>
      <p:sp>
        <p:nvSpPr>
          <p:cNvPr id="22" name="s1_chip2_t"/>
          <p:cNvSpPr/>
          <p:nvPr/>
        </p:nvSpPr>
        <p:spPr>
          <a:xfrm>
            <a:off x="3621024" y="4572000"/>
            <a:ext cx="20985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E9EB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 FACTS PER SURFACE</a:t>
            </a:r>
            <a:endParaRPr lang="en-US" sz="1200" dirty="0"/>
          </a:p>
        </p:txBody>
      </p:sp>
      <p:sp>
        <p:nvSpPr>
          <p:cNvPr id="23" name="s1_chip3_sh"/>
          <p:cNvSpPr/>
          <p:nvPr/>
        </p:nvSpPr>
        <p:spPr>
          <a:xfrm>
            <a:off x="5984748" y="4608576"/>
            <a:ext cx="1042416" cy="475488"/>
          </a:xfrm>
          <a:prstGeom prst="rect">
            <a:avLst/>
          </a:prstGeom>
          <a:solidFill>
            <a:srgbClr val="05060A"/>
          </a:solidFill>
          <a:ln/>
        </p:spPr>
      </p:sp>
      <p:sp>
        <p:nvSpPr>
          <p:cNvPr id="24" name="s1_chip3"/>
          <p:cNvSpPr/>
          <p:nvPr/>
        </p:nvSpPr>
        <p:spPr>
          <a:xfrm>
            <a:off x="5948172" y="4572000"/>
            <a:ext cx="1042416" cy="475488"/>
          </a:xfrm>
          <a:prstGeom prst="rect">
            <a:avLst/>
          </a:prstGeom>
          <a:solidFill>
            <a:srgbClr val="24272F"/>
          </a:solidFill>
          <a:ln w="19050">
            <a:solidFill>
              <a:srgbClr val="3C414C"/>
            </a:solidFill>
            <a:prstDash val="solid"/>
          </a:ln>
        </p:spPr>
      </p:sp>
      <p:sp>
        <p:nvSpPr>
          <p:cNvPr id="25" name="s1_chip3_t"/>
          <p:cNvSpPr/>
          <p:nvPr/>
        </p:nvSpPr>
        <p:spPr>
          <a:xfrm>
            <a:off x="5948172" y="4572000"/>
            <a:ext cx="10424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E9EB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RECORD</a:t>
            </a:r>
            <a:endParaRPr lang="en-US" sz="1200" dirty="0"/>
          </a:p>
        </p:txBody>
      </p:sp>
      <p:sp>
        <p:nvSpPr>
          <p:cNvPr id="26" name="s1_src"/>
          <p:cNvSpPr/>
          <p:nvPr/>
        </p:nvSpPr>
        <p:spPr>
          <a:xfrm>
            <a:off x="502920" y="5349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0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sources: agents-unified-registry corpus — claude-code · codex · opencode · pi · cross-spec · prior-art · security · design (verified 2026-10-16)</a:t>
            </a:r>
            <a:endParaRPr lang="en-US" sz="1000" dirty="0"/>
          </a:p>
        </p:txBody>
      </p:sp>
      <p:pic>
        <p:nvPicPr>
          <p:cNvPr id="27" name="s1_runner" descr="assets/runn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6840" y="2011680"/>
            <a:ext cx="1767840" cy="2651760"/>
          </a:xfrm>
          <a:prstGeom prst="rect">
            <a:avLst/>
          </a:prstGeom>
        </p:spPr>
      </p:pic>
      <p:pic>
        <p:nvPicPr>
          <p:cNvPr id="28" name="s1_cube0" descr="assets/cube_claud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2560" y="4892040"/>
            <a:ext cx="384048" cy="384048"/>
          </a:xfrm>
          <a:prstGeom prst="rect">
            <a:avLst/>
          </a:prstGeom>
        </p:spPr>
      </p:pic>
      <p:pic>
        <p:nvPicPr>
          <p:cNvPr id="29" name="s1_cube1" descr="assets/cube_codex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29800" y="4892040"/>
            <a:ext cx="384048" cy="384048"/>
          </a:xfrm>
          <a:prstGeom prst="rect">
            <a:avLst/>
          </a:prstGeom>
        </p:spPr>
      </p:pic>
      <p:pic>
        <p:nvPicPr>
          <p:cNvPr id="30" name="s1_cube2" descr="assets/cube_opencod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07040" y="4892040"/>
            <a:ext cx="384048" cy="384048"/>
          </a:xfrm>
          <a:prstGeom prst="rect">
            <a:avLst/>
          </a:prstGeom>
        </p:spPr>
      </p:pic>
      <p:pic>
        <p:nvPicPr>
          <p:cNvPr id="31" name="s1_cube3" descr="assets/cube_pi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384280" y="4892040"/>
            <a:ext cx="384048" cy="384048"/>
          </a:xfrm>
          <a:prstGeom prst="rect">
            <a:avLst/>
          </a:prstGeom>
        </p:spPr>
      </p:pic>
      <p:sp>
        <p:nvSpPr>
          <p:cNvPr id="32" name="s1_repo"/>
          <p:cNvSpPr/>
          <p:nvPr/>
        </p:nvSpPr>
        <p:spPr>
          <a:xfrm>
            <a:off x="502920" y="635508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0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github.com/aryan-rajoria/agents-unified-registry</a:t>
            </a:r>
            <a:endParaRPr lang="en-US" sz="1100" dirty="0"/>
          </a:p>
        </p:txBody>
      </p:sp>
      <p:sp>
        <p:nvSpPr>
          <p:cNvPr id="33" name="s1_date"/>
          <p:cNvSpPr/>
          <p:nvPr/>
        </p:nvSpPr>
        <p:spPr>
          <a:xfrm>
            <a:off x="9966960" y="63550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0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OCTOBER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2_vx_v1"/>
          <p:cNvSpPr/>
          <p:nvPr/>
        </p:nvSpPr>
        <p:spPr>
          <a:xfrm>
            <a:off x="11137392" y="384048"/>
            <a:ext cx="128016" cy="12801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" name="s2_vx_v2"/>
          <p:cNvSpPr/>
          <p:nvPr/>
        </p:nvSpPr>
        <p:spPr>
          <a:xfrm>
            <a:off x="11292840" y="384048"/>
            <a:ext cx="128016" cy="12801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" name="s2_vx_v3"/>
          <p:cNvSpPr/>
          <p:nvPr/>
        </p:nvSpPr>
        <p:spPr>
          <a:xfrm>
            <a:off x="11137392" y="539496"/>
            <a:ext cx="128016" cy="128016"/>
          </a:xfrm>
          <a:prstGeom prst="rect">
            <a:avLst/>
          </a:prstGeom>
          <a:solidFill>
            <a:srgbClr val="D97706"/>
          </a:solidFill>
          <a:ln/>
        </p:spPr>
      </p:sp>
      <p:pic>
        <p:nvPicPr>
          <p:cNvPr id="5" name="s2_kick" descr="assets/k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02336"/>
            <a:ext cx="3265714" cy="182880"/>
          </a:xfrm>
          <a:prstGeom prst="rect">
            <a:avLst/>
          </a:prstGeom>
        </p:spPr>
      </p:pic>
      <p:pic>
        <p:nvPicPr>
          <p:cNvPr id="6" name="s2_title" descr="assets/t0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58368"/>
            <a:ext cx="6860613" cy="475488"/>
          </a:xfrm>
          <a:prstGeom prst="rect">
            <a:avLst/>
          </a:prstGeom>
        </p:spPr>
      </p:pic>
      <p:sp>
        <p:nvSpPr>
          <p:cNvPr id="7" name="s2_spec"/>
          <p:cNvSpPr/>
          <p:nvPr/>
        </p:nvSpPr>
        <p:spPr>
          <a:xfrm>
            <a:off x="502920" y="1216152"/>
            <a:ext cx="10469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surface, in every harness, answers the same six questions — ten sections, one per matrix row, four slides each</a:t>
            </a:r>
            <a:endParaRPr lang="en-US" sz="1100" dirty="0"/>
          </a:p>
        </p:txBody>
      </p:sp>
      <p:sp>
        <p:nvSpPr>
          <p:cNvPr id="8" name="s2_pg"/>
          <p:cNvSpPr/>
          <p:nvPr/>
        </p:nvSpPr>
        <p:spPr>
          <a:xfrm>
            <a:off x="11064240" y="648309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45</a:t>
            </a:r>
            <a:endParaRPr lang="en-US" sz="950" dirty="0"/>
          </a:p>
        </p:txBody>
      </p:sp>
      <p:sp>
        <p:nvSpPr>
          <p:cNvPr id="10" name="s2_six_sh"/>
          <p:cNvSpPr/>
          <p:nvPr/>
        </p:nvSpPr>
        <p:spPr>
          <a:xfrm>
            <a:off x="553212" y="1531620"/>
            <a:ext cx="5989320" cy="374904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1" name="s2_six"/>
          <p:cNvSpPr/>
          <p:nvPr/>
        </p:nvSpPr>
        <p:spPr>
          <a:xfrm>
            <a:off x="502920" y="1481328"/>
            <a:ext cx="5989320" cy="374904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12" name="s2_six_band"/>
          <p:cNvSpPr/>
          <p:nvPr/>
        </p:nvSpPr>
        <p:spPr>
          <a:xfrm>
            <a:off x="777240" y="1645920"/>
            <a:ext cx="5394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SIX FACTS ON EVERY CARD</a:t>
            </a:r>
            <a:endParaRPr lang="en-US" sz="1050" dirty="0"/>
          </a:p>
        </p:txBody>
      </p:sp>
      <p:sp>
        <p:nvSpPr>
          <p:cNvPr id="13" name="s2_six_b0"/>
          <p:cNvSpPr/>
          <p:nvPr/>
        </p:nvSpPr>
        <p:spPr>
          <a:xfrm>
            <a:off x="777240" y="2029968"/>
            <a:ext cx="109728" cy="109728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14" name="s2_six_k0"/>
          <p:cNvSpPr/>
          <p:nvPr/>
        </p:nvSpPr>
        <p:spPr>
          <a:xfrm>
            <a:off x="1005840" y="195681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</a:t>
            </a:r>
            <a:endParaRPr lang="en-US" sz="1150" dirty="0"/>
          </a:p>
        </p:txBody>
      </p:sp>
      <p:sp>
        <p:nvSpPr>
          <p:cNvPr id="15" name="s2_six_d0"/>
          <p:cNvSpPr/>
          <p:nvPr/>
        </p:nvSpPr>
        <p:spPr>
          <a:xfrm>
            <a:off x="2697480" y="1956816"/>
            <a:ext cx="3611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this surface is, in plain words</a:t>
            </a:r>
            <a:endParaRPr lang="en-US" sz="1000" dirty="0"/>
          </a:p>
        </p:txBody>
      </p:sp>
      <p:sp>
        <p:nvSpPr>
          <p:cNvPr id="16" name="s2_six_hr0"/>
          <p:cNvSpPr/>
          <p:nvPr/>
        </p:nvSpPr>
        <p:spPr>
          <a:xfrm>
            <a:off x="777240" y="2468880"/>
            <a:ext cx="544068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17" name="s2_six_b1"/>
          <p:cNvSpPr/>
          <p:nvPr/>
        </p:nvSpPr>
        <p:spPr>
          <a:xfrm>
            <a:off x="777240" y="2560320"/>
            <a:ext cx="109728" cy="109728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18" name="s2_six_k1"/>
          <p:cNvSpPr/>
          <p:nvPr/>
        </p:nvSpPr>
        <p:spPr>
          <a:xfrm>
            <a:off x="1005840" y="248716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</a:t>
            </a:r>
            <a:endParaRPr lang="en-US" sz="1150" dirty="0"/>
          </a:p>
        </p:txBody>
      </p:sp>
      <p:sp>
        <p:nvSpPr>
          <p:cNvPr id="19" name="s2_six_d1"/>
          <p:cNvSpPr/>
          <p:nvPr/>
        </p:nvSpPr>
        <p:spPr>
          <a:xfrm>
            <a:off x="2697480" y="2487168"/>
            <a:ext cx="3611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directories and scopes it can live in</a:t>
            </a:r>
            <a:endParaRPr lang="en-US" sz="1000" dirty="0"/>
          </a:p>
        </p:txBody>
      </p:sp>
      <p:sp>
        <p:nvSpPr>
          <p:cNvPr id="20" name="s2_six_hr1"/>
          <p:cNvSpPr/>
          <p:nvPr/>
        </p:nvSpPr>
        <p:spPr>
          <a:xfrm>
            <a:off x="777240" y="2999232"/>
            <a:ext cx="544068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1" name="s2_six_b2"/>
          <p:cNvSpPr/>
          <p:nvPr/>
        </p:nvSpPr>
        <p:spPr>
          <a:xfrm>
            <a:off x="777240" y="3090672"/>
            <a:ext cx="109728" cy="109728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22" name="s2_six_k2"/>
          <p:cNvSpPr/>
          <p:nvPr/>
        </p:nvSpPr>
        <p:spPr>
          <a:xfrm>
            <a:off x="1005840" y="3017520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FORMAT</a:t>
            </a:r>
            <a:endParaRPr lang="en-US" sz="1150" dirty="0"/>
          </a:p>
        </p:txBody>
      </p:sp>
      <p:sp>
        <p:nvSpPr>
          <p:cNvPr id="23" name="s2_six_d2"/>
          <p:cNvSpPr/>
          <p:nvPr/>
        </p:nvSpPr>
        <p:spPr>
          <a:xfrm>
            <a:off x="2697480" y="3017520"/>
            <a:ext cx="3611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manifest or file shape it uses</a:t>
            </a:r>
            <a:endParaRPr lang="en-US" sz="1000" dirty="0"/>
          </a:p>
        </p:txBody>
      </p:sp>
      <p:sp>
        <p:nvSpPr>
          <p:cNvPr id="24" name="s2_six_hr2"/>
          <p:cNvSpPr/>
          <p:nvPr/>
        </p:nvSpPr>
        <p:spPr>
          <a:xfrm>
            <a:off x="777240" y="3529584"/>
            <a:ext cx="544068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5" name="s2_six_b3"/>
          <p:cNvSpPr/>
          <p:nvPr/>
        </p:nvSpPr>
        <p:spPr>
          <a:xfrm>
            <a:off x="777240" y="3621024"/>
            <a:ext cx="109728" cy="109728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26" name="s2_six_k3"/>
          <p:cNvSpPr/>
          <p:nvPr/>
        </p:nvSpPr>
        <p:spPr>
          <a:xfrm>
            <a:off x="1005840" y="3547872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</a:t>
            </a:r>
            <a:endParaRPr lang="en-US" sz="1150" dirty="0"/>
          </a:p>
        </p:txBody>
      </p:sp>
      <p:sp>
        <p:nvSpPr>
          <p:cNvPr id="27" name="s2_six_d3"/>
          <p:cNvSpPr/>
          <p:nvPr/>
        </p:nvSpPr>
        <p:spPr>
          <a:xfrm>
            <a:off x="2697480" y="3547872"/>
            <a:ext cx="3611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built-in commands that install or manage it</a:t>
            </a:r>
            <a:endParaRPr lang="en-US" sz="1000" dirty="0"/>
          </a:p>
        </p:txBody>
      </p:sp>
      <p:sp>
        <p:nvSpPr>
          <p:cNvPr id="28" name="s2_six_hr3"/>
          <p:cNvSpPr/>
          <p:nvPr/>
        </p:nvSpPr>
        <p:spPr>
          <a:xfrm>
            <a:off x="777240" y="4059936"/>
            <a:ext cx="544068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9" name="s2_six_b4"/>
          <p:cNvSpPr/>
          <p:nvPr/>
        </p:nvSpPr>
        <p:spPr>
          <a:xfrm>
            <a:off x="777240" y="4151376"/>
            <a:ext cx="109728" cy="109728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0" name="s2_six_k4"/>
          <p:cNvSpPr/>
          <p:nvPr/>
        </p:nvSpPr>
        <p:spPr>
          <a:xfrm>
            <a:off x="1005840" y="4078224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AUTO-UPDATE</a:t>
            </a:r>
            <a:endParaRPr lang="en-US" sz="1150" dirty="0"/>
          </a:p>
        </p:txBody>
      </p:sp>
      <p:sp>
        <p:nvSpPr>
          <p:cNvPr id="31" name="s2_six_d4"/>
          <p:cNvSpPr/>
          <p:nvPr/>
        </p:nvSpPr>
        <p:spPr>
          <a:xfrm>
            <a:off x="2697480" y="4078224"/>
            <a:ext cx="3611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whether the harness updates it by itself — and through what</a:t>
            </a:r>
            <a:endParaRPr lang="en-US" sz="1000" dirty="0"/>
          </a:p>
        </p:txBody>
      </p:sp>
      <p:sp>
        <p:nvSpPr>
          <p:cNvPr id="32" name="s2_six_hr4"/>
          <p:cNvSpPr/>
          <p:nvPr/>
        </p:nvSpPr>
        <p:spPr>
          <a:xfrm>
            <a:off x="777240" y="4590288"/>
            <a:ext cx="544068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33" name="s2_six_b5"/>
          <p:cNvSpPr/>
          <p:nvPr/>
        </p:nvSpPr>
        <p:spPr>
          <a:xfrm>
            <a:off x="777240" y="4681728"/>
            <a:ext cx="109728" cy="109728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4" name="s2_six_k5"/>
          <p:cNvSpPr/>
          <p:nvPr/>
        </p:nvSpPr>
        <p:spPr>
          <a:xfrm>
            <a:off x="1005840" y="460857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VERDICT + EMISSION</a:t>
            </a:r>
            <a:endParaRPr lang="en-US" sz="1150" dirty="0"/>
          </a:p>
        </p:txBody>
      </p:sp>
      <p:sp>
        <p:nvSpPr>
          <p:cNvPr id="35" name="s2_six_d5"/>
          <p:cNvSpPr/>
          <p:nvPr/>
        </p:nvSpPr>
        <p:spPr>
          <a:xfrm>
            <a:off x="2697480" y="4608576"/>
            <a:ext cx="3611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 · translate · overlay · no surface — and the exact fields our registry emits</a:t>
            </a:r>
            <a:endParaRPr lang="en-US" sz="1000" dirty="0"/>
          </a:p>
        </p:txBody>
      </p:sp>
      <p:sp>
        <p:nvSpPr>
          <p:cNvPr id="36" name="s2_vd_sh"/>
          <p:cNvSpPr/>
          <p:nvPr/>
        </p:nvSpPr>
        <p:spPr>
          <a:xfrm>
            <a:off x="6771132" y="1531620"/>
            <a:ext cx="4965192" cy="228600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37" name="s2_vd"/>
          <p:cNvSpPr/>
          <p:nvPr/>
        </p:nvSpPr>
        <p:spPr>
          <a:xfrm>
            <a:off x="6720840" y="1481328"/>
            <a:ext cx="4965192" cy="228600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38" name="s2_vd_band"/>
          <p:cNvSpPr/>
          <p:nvPr/>
        </p:nvSpPr>
        <p:spPr>
          <a:xfrm>
            <a:off x="6995160" y="1645920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FOUR VERDICTS</a:t>
            </a:r>
            <a:endParaRPr lang="en-US" sz="1050" dirty="0"/>
          </a:p>
        </p:txBody>
      </p:sp>
      <p:sp>
        <p:nvSpPr>
          <p:cNvPr id="39" name="s2_vd_c0_sh"/>
          <p:cNvSpPr/>
          <p:nvPr/>
        </p:nvSpPr>
        <p:spPr>
          <a:xfrm>
            <a:off x="7022592" y="2020824"/>
            <a:ext cx="952805" cy="3256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40" name="s2_vd_c0"/>
          <p:cNvSpPr/>
          <p:nvPr/>
        </p:nvSpPr>
        <p:spPr>
          <a:xfrm>
            <a:off x="6995160" y="1993392"/>
            <a:ext cx="952805" cy="325628"/>
          </a:xfrm>
          <a:prstGeom prst="rect">
            <a:avLst/>
          </a:prstGeom>
          <a:solidFill>
            <a:srgbClr val="E5F5EA"/>
          </a:solidFill>
          <a:ln w="15875">
            <a:solidFill>
              <a:srgbClr val="16A34A"/>
            </a:solidFill>
            <a:prstDash val="solid"/>
          </a:ln>
        </p:spPr>
      </p:sp>
      <p:sp>
        <p:nvSpPr>
          <p:cNvPr id="41" name="s2_vd_c0_t"/>
          <p:cNvSpPr/>
          <p:nvPr/>
        </p:nvSpPr>
        <p:spPr>
          <a:xfrm>
            <a:off x="6995160" y="1993392"/>
            <a:ext cx="952805" cy="325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COPY-AS-IS</a:t>
            </a:r>
            <a:endParaRPr lang="en-US" sz="850" dirty="0"/>
          </a:p>
        </p:txBody>
      </p:sp>
      <p:sp>
        <p:nvSpPr>
          <p:cNvPr id="42" name="s2_vd_t0"/>
          <p:cNvSpPr/>
          <p:nvPr/>
        </p:nvSpPr>
        <p:spPr>
          <a:xfrm>
            <a:off x="8275320" y="1993392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drops in with zero changes</a:t>
            </a:r>
            <a:endParaRPr lang="en-US" sz="950" dirty="0"/>
          </a:p>
        </p:txBody>
      </p:sp>
      <p:sp>
        <p:nvSpPr>
          <p:cNvPr id="43" name="s2_vd_c1_sh"/>
          <p:cNvSpPr/>
          <p:nvPr/>
        </p:nvSpPr>
        <p:spPr>
          <a:xfrm>
            <a:off x="7022592" y="2441448"/>
            <a:ext cx="881299" cy="3256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44" name="s2_vd_c1"/>
          <p:cNvSpPr/>
          <p:nvPr/>
        </p:nvSpPr>
        <p:spPr>
          <a:xfrm>
            <a:off x="6995160" y="2414016"/>
            <a:ext cx="881299" cy="325628"/>
          </a:xfrm>
          <a:prstGeom prst="rect">
            <a:avLst/>
          </a:prstGeom>
          <a:solidFill>
            <a:srgbClr val="E7EEFD"/>
          </a:solidFill>
          <a:ln w="15875">
            <a:solidFill>
              <a:srgbClr val="2F6FED"/>
            </a:solidFill>
            <a:prstDash val="solid"/>
          </a:ln>
        </p:spPr>
      </p:sp>
      <p:sp>
        <p:nvSpPr>
          <p:cNvPr id="45" name="s2_vd_c1_t"/>
          <p:cNvSpPr/>
          <p:nvPr/>
        </p:nvSpPr>
        <p:spPr>
          <a:xfrm>
            <a:off x="6995160" y="2414016"/>
            <a:ext cx="881299" cy="325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TRANSLATE</a:t>
            </a:r>
            <a:endParaRPr lang="en-US" sz="850" dirty="0"/>
          </a:p>
        </p:txBody>
      </p:sp>
      <p:sp>
        <p:nvSpPr>
          <p:cNvPr id="46" name="s2_vd_t1"/>
          <p:cNvSpPr/>
          <p:nvPr/>
        </p:nvSpPr>
        <p:spPr>
          <a:xfrm>
            <a:off x="8275320" y="2414016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registry converts the format first</a:t>
            </a:r>
            <a:endParaRPr lang="en-US" sz="950" dirty="0"/>
          </a:p>
        </p:txBody>
      </p:sp>
      <p:sp>
        <p:nvSpPr>
          <p:cNvPr id="47" name="s2_vd_c2_sh"/>
          <p:cNvSpPr/>
          <p:nvPr/>
        </p:nvSpPr>
        <p:spPr>
          <a:xfrm>
            <a:off x="7022592" y="2862072"/>
            <a:ext cx="738287" cy="3256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48" name="s2_vd_c2"/>
          <p:cNvSpPr/>
          <p:nvPr/>
        </p:nvSpPr>
        <p:spPr>
          <a:xfrm>
            <a:off x="6995160" y="2834640"/>
            <a:ext cx="738287" cy="325628"/>
          </a:xfrm>
          <a:prstGeom prst="rect">
            <a:avLst/>
          </a:prstGeom>
          <a:solidFill>
            <a:srgbClr val="FBEEDD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49" name="s2_vd_c2_t"/>
          <p:cNvSpPr/>
          <p:nvPr/>
        </p:nvSpPr>
        <p:spPr>
          <a:xfrm>
            <a:off x="6995160" y="2834640"/>
            <a:ext cx="738287" cy="325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OVERLAY</a:t>
            </a:r>
            <a:endParaRPr lang="en-US" sz="850" dirty="0"/>
          </a:p>
        </p:txBody>
      </p:sp>
      <p:sp>
        <p:nvSpPr>
          <p:cNvPr id="50" name="s2_vd_t2"/>
          <p:cNvSpPr/>
          <p:nvPr/>
        </p:nvSpPr>
        <p:spPr>
          <a:xfrm>
            <a:off x="8275320" y="283464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portable core + harness-specific extra fields</a:t>
            </a:r>
            <a:endParaRPr lang="en-US" sz="950" dirty="0"/>
          </a:p>
        </p:txBody>
      </p:sp>
      <p:sp>
        <p:nvSpPr>
          <p:cNvPr id="51" name="s2_vd_c3_sh"/>
          <p:cNvSpPr/>
          <p:nvPr/>
        </p:nvSpPr>
        <p:spPr>
          <a:xfrm>
            <a:off x="7022592" y="3282696"/>
            <a:ext cx="952805" cy="3256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52" name="s2_vd_c3"/>
          <p:cNvSpPr/>
          <p:nvPr/>
        </p:nvSpPr>
        <p:spPr>
          <a:xfrm>
            <a:off x="6995160" y="3255264"/>
            <a:ext cx="952805" cy="325628"/>
          </a:xfrm>
          <a:prstGeom prst="rect">
            <a:avLst/>
          </a:prstGeom>
          <a:solidFill>
            <a:srgbClr val="EFEFEA"/>
          </a:solidFill>
          <a:ln w="15875">
            <a:solidFill>
              <a:srgbClr val="5C6068"/>
            </a:solidFill>
            <a:prstDash val="solid"/>
          </a:ln>
        </p:spPr>
      </p:sp>
      <p:sp>
        <p:nvSpPr>
          <p:cNvPr id="53" name="s2_vd_c3_t"/>
          <p:cNvSpPr/>
          <p:nvPr/>
        </p:nvSpPr>
        <p:spPr>
          <a:xfrm>
            <a:off x="6995160" y="3255264"/>
            <a:ext cx="952805" cy="325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SURFACE</a:t>
            </a:r>
            <a:endParaRPr lang="en-US" sz="850" dirty="0"/>
          </a:p>
        </p:txBody>
      </p:sp>
      <p:sp>
        <p:nvSpPr>
          <p:cNvPr id="54" name="s2_vd_t3"/>
          <p:cNvSpPr/>
          <p:nvPr/>
        </p:nvSpPr>
        <p:spPr>
          <a:xfrm>
            <a:off x="8275320" y="3255264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native target — the record marks it unsupported</a:t>
            </a:r>
            <a:endParaRPr lang="en-US" sz="950" dirty="0"/>
          </a:p>
        </p:txBody>
      </p:sp>
      <p:sp>
        <p:nvSpPr>
          <p:cNvPr id="55" name="s2_au_sh"/>
          <p:cNvSpPr/>
          <p:nvPr/>
        </p:nvSpPr>
        <p:spPr>
          <a:xfrm>
            <a:off x="6771132" y="3954780"/>
            <a:ext cx="4965192" cy="132588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56" name="s2_au"/>
          <p:cNvSpPr/>
          <p:nvPr/>
        </p:nvSpPr>
        <p:spPr>
          <a:xfrm>
            <a:off x="6720840" y="3904488"/>
            <a:ext cx="4965192" cy="1325880"/>
          </a:xfrm>
          <a:prstGeom prst="rect">
            <a:avLst/>
          </a:prstGeom>
          <a:solidFill>
            <a:srgbClr val="EFEFEA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57" name="s2_au_band"/>
          <p:cNvSpPr/>
          <p:nvPr/>
        </p:nvSpPr>
        <p:spPr>
          <a:xfrm>
            <a:off x="6995160" y="4050792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AUTO-UPDATE, HONESTLY</a:t>
            </a:r>
            <a:endParaRPr lang="en-US" sz="1000" dirty="0"/>
          </a:p>
        </p:txBody>
      </p:sp>
      <p:sp>
        <p:nvSpPr>
          <p:cNvPr id="58" name="s2_au_t"/>
          <p:cNvSpPr/>
          <p:nvPr/>
        </p:nvSpPr>
        <p:spPr>
          <a:xfrm>
            <a:off x="6995160" y="4315968"/>
            <a:ext cx="4434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Only bundles update themselves — claude plugin marketplaces, codex marketplace upgrade, opencode plugin update, pi update.</a:t>
            </a:r>
            <a:endParaRPr lang="en-US" sz="9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Skills, MCP servers, subagents and hooks are file-drops in all four. Version pinning is the registry's job.</a:t>
            </a:r>
            <a:endParaRPr lang="en-US" sz="950" dirty="0"/>
          </a:p>
        </p:txBody>
      </p:sp>
      <p:sp>
        <p:nvSpPr>
          <p:cNvPr id="59" name="s2_rail_sh"/>
          <p:cNvSpPr/>
          <p:nvPr/>
        </p:nvSpPr>
        <p:spPr>
          <a:xfrm>
            <a:off x="553212" y="5417820"/>
            <a:ext cx="11183112" cy="100584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60" name="s2_rail"/>
          <p:cNvSpPr/>
          <p:nvPr/>
        </p:nvSpPr>
        <p:spPr>
          <a:xfrm>
            <a:off x="502920" y="5367528"/>
            <a:ext cx="11183112" cy="1005840"/>
          </a:xfrm>
          <a:prstGeom prst="rect">
            <a:avLst/>
          </a:prstGeom>
          <a:solidFill>
            <a:srgbClr val="E7EEFD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61" name="s2_rail_band"/>
          <p:cNvSpPr/>
          <p:nvPr/>
        </p:nvSpPr>
        <p:spPr>
          <a:xfrm>
            <a:off x="777240" y="551383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TEN SECTIONS · ONE PER MATRIX ROW · FOUR SLIDES EACH</a:t>
            </a:r>
            <a:endParaRPr lang="en-US" sz="1000" dirty="0"/>
          </a:p>
        </p:txBody>
      </p:sp>
      <p:sp>
        <p:nvSpPr>
          <p:cNvPr id="62" name="s2_rail_c0_sh"/>
          <p:cNvSpPr/>
          <p:nvPr/>
        </p:nvSpPr>
        <p:spPr>
          <a:xfrm>
            <a:off x="804672" y="5861304"/>
            <a:ext cx="843443" cy="3383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63" name="s2_rail_c0"/>
          <p:cNvSpPr/>
          <p:nvPr/>
        </p:nvSpPr>
        <p:spPr>
          <a:xfrm>
            <a:off x="777240" y="5833872"/>
            <a:ext cx="843443" cy="338328"/>
          </a:xfrm>
          <a:prstGeom prst="rect">
            <a:avLst/>
          </a:prstGeom>
          <a:solidFill>
            <a:srgbClr val="FFFFFF"/>
          </a:solidFill>
          <a:ln w="17780">
            <a:solidFill>
              <a:srgbClr val="1B1D22"/>
            </a:solidFill>
            <a:prstDash val="solid"/>
          </a:ln>
        </p:spPr>
      </p:sp>
      <p:sp>
        <p:nvSpPr>
          <p:cNvPr id="64" name="s2_rail_c0_t"/>
          <p:cNvSpPr/>
          <p:nvPr/>
        </p:nvSpPr>
        <p:spPr>
          <a:xfrm>
            <a:off x="777240" y="5833872"/>
            <a:ext cx="843443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BANNER</a:t>
            </a:r>
            <a:endParaRPr lang="en-US" sz="900" dirty="0"/>
          </a:p>
        </p:txBody>
      </p:sp>
      <p:sp>
        <p:nvSpPr>
          <p:cNvPr id="65" name="s2_rail_a0_shaft"/>
          <p:cNvSpPr/>
          <p:nvPr/>
        </p:nvSpPr>
        <p:spPr>
          <a:xfrm>
            <a:off x="1730411" y="5987034"/>
            <a:ext cx="182880" cy="4114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66" name="s2_rail_a0_h1"/>
          <p:cNvSpPr/>
          <p:nvPr/>
        </p:nvSpPr>
        <p:spPr>
          <a:xfrm>
            <a:off x="1913291" y="5902452"/>
            <a:ext cx="91440" cy="9144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67" name="s2_rail_a0_h2"/>
          <p:cNvSpPr/>
          <p:nvPr/>
        </p:nvSpPr>
        <p:spPr>
          <a:xfrm>
            <a:off x="1913291" y="6021324"/>
            <a:ext cx="91440" cy="9144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68" name="s2_rail_a0_tip"/>
          <p:cNvSpPr/>
          <p:nvPr/>
        </p:nvSpPr>
        <p:spPr>
          <a:xfrm>
            <a:off x="2004731" y="5961888"/>
            <a:ext cx="45720" cy="9144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69" name="s2_rail_c1_sh"/>
          <p:cNvSpPr/>
          <p:nvPr/>
        </p:nvSpPr>
        <p:spPr>
          <a:xfrm>
            <a:off x="2141891" y="5861304"/>
            <a:ext cx="1070580" cy="3383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70" name="s2_rail_c1"/>
          <p:cNvSpPr/>
          <p:nvPr/>
        </p:nvSpPr>
        <p:spPr>
          <a:xfrm>
            <a:off x="2114459" y="5833872"/>
            <a:ext cx="1070580" cy="338328"/>
          </a:xfrm>
          <a:prstGeom prst="rect">
            <a:avLst/>
          </a:prstGeom>
          <a:solidFill>
            <a:srgbClr val="FFFFFF"/>
          </a:solidFill>
          <a:ln w="17780">
            <a:solidFill>
              <a:srgbClr val="1B1D22"/>
            </a:solidFill>
            <a:prstDash val="solid"/>
          </a:ln>
        </p:spPr>
      </p:sp>
      <p:sp>
        <p:nvSpPr>
          <p:cNvPr id="71" name="s2_rail_c1_t"/>
          <p:cNvSpPr/>
          <p:nvPr/>
        </p:nvSpPr>
        <p:spPr>
          <a:xfrm>
            <a:off x="2114459" y="5833872"/>
            <a:ext cx="10705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STANDARDS</a:t>
            </a:r>
            <a:endParaRPr lang="en-US" sz="900" dirty="0"/>
          </a:p>
        </p:txBody>
      </p:sp>
      <p:sp>
        <p:nvSpPr>
          <p:cNvPr id="72" name="s2_rail_a1_shaft"/>
          <p:cNvSpPr/>
          <p:nvPr/>
        </p:nvSpPr>
        <p:spPr>
          <a:xfrm>
            <a:off x="3294766" y="5987034"/>
            <a:ext cx="182880" cy="4114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73" name="s2_rail_a1_h1"/>
          <p:cNvSpPr/>
          <p:nvPr/>
        </p:nvSpPr>
        <p:spPr>
          <a:xfrm>
            <a:off x="3477646" y="5902452"/>
            <a:ext cx="91440" cy="9144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74" name="s2_rail_a1_h2"/>
          <p:cNvSpPr/>
          <p:nvPr/>
        </p:nvSpPr>
        <p:spPr>
          <a:xfrm>
            <a:off x="3477646" y="6021324"/>
            <a:ext cx="91440" cy="9144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75" name="s2_rail_a1_tip"/>
          <p:cNvSpPr/>
          <p:nvPr/>
        </p:nvSpPr>
        <p:spPr>
          <a:xfrm>
            <a:off x="3569086" y="5961888"/>
            <a:ext cx="45720" cy="9144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76" name="s2_rail_c2_sh"/>
          <p:cNvSpPr/>
          <p:nvPr/>
        </p:nvSpPr>
        <p:spPr>
          <a:xfrm>
            <a:off x="3706246" y="5861304"/>
            <a:ext cx="1449141" cy="3383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77" name="s2_rail_c2"/>
          <p:cNvSpPr/>
          <p:nvPr/>
        </p:nvSpPr>
        <p:spPr>
          <a:xfrm>
            <a:off x="3678814" y="5833872"/>
            <a:ext cx="1449141" cy="338328"/>
          </a:xfrm>
          <a:prstGeom prst="rect">
            <a:avLst/>
          </a:prstGeom>
          <a:solidFill>
            <a:srgbClr val="FFFFFF"/>
          </a:solidFill>
          <a:ln w="17780">
            <a:solidFill>
              <a:srgbClr val="1B1D22"/>
            </a:solidFill>
            <a:prstDash val="solid"/>
          </a:ln>
        </p:spPr>
      </p:sp>
      <p:sp>
        <p:nvSpPr>
          <p:cNvPr id="78" name="s2_rail_c2_t"/>
          <p:cNvSpPr/>
          <p:nvPr/>
        </p:nvSpPr>
        <p:spPr>
          <a:xfrm>
            <a:off x="3678814" y="5833872"/>
            <a:ext cx="1449141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CLAUDE + CODEX</a:t>
            </a:r>
            <a:endParaRPr lang="en-US" sz="900" dirty="0"/>
          </a:p>
        </p:txBody>
      </p:sp>
      <p:sp>
        <p:nvSpPr>
          <p:cNvPr id="79" name="s2_rail_a2_shaft"/>
          <p:cNvSpPr/>
          <p:nvPr/>
        </p:nvSpPr>
        <p:spPr>
          <a:xfrm>
            <a:off x="5237683" y="5987034"/>
            <a:ext cx="182880" cy="4114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80" name="s2_rail_a2_h1"/>
          <p:cNvSpPr/>
          <p:nvPr/>
        </p:nvSpPr>
        <p:spPr>
          <a:xfrm>
            <a:off x="5420563" y="5902452"/>
            <a:ext cx="91440" cy="9144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81" name="s2_rail_a2_h2"/>
          <p:cNvSpPr/>
          <p:nvPr/>
        </p:nvSpPr>
        <p:spPr>
          <a:xfrm>
            <a:off x="5420563" y="6021324"/>
            <a:ext cx="91440" cy="9144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82" name="s2_rail_a2_tip"/>
          <p:cNvSpPr/>
          <p:nvPr/>
        </p:nvSpPr>
        <p:spPr>
          <a:xfrm>
            <a:off x="5512003" y="5961888"/>
            <a:ext cx="45720" cy="9144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83" name="s2_rail_c3_sh"/>
          <p:cNvSpPr/>
          <p:nvPr/>
        </p:nvSpPr>
        <p:spPr>
          <a:xfrm>
            <a:off x="5649163" y="5861304"/>
            <a:ext cx="1373429" cy="3383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84" name="s2_rail_c3"/>
          <p:cNvSpPr/>
          <p:nvPr/>
        </p:nvSpPr>
        <p:spPr>
          <a:xfrm>
            <a:off x="5621731" y="5833872"/>
            <a:ext cx="1373429" cy="338328"/>
          </a:xfrm>
          <a:prstGeom prst="rect">
            <a:avLst/>
          </a:prstGeom>
          <a:solidFill>
            <a:srgbClr val="FFFFFF"/>
          </a:solidFill>
          <a:ln w="17780">
            <a:solidFill>
              <a:srgbClr val="1B1D22"/>
            </a:solidFill>
            <a:prstDash val="solid"/>
          </a:ln>
        </p:spPr>
      </p:sp>
      <p:sp>
        <p:nvSpPr>
          <p:cNvPr id="85" name="s2_rail_c3_t"/>
          <p:cNvSpPr/>
          <p:nvPr/>
        </p:nvSpPr>
        <p:spPr>
          <a:xfrm>
            <a:off x="5621731" y="5833872"/>
            <a:ext cx="1373429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 OPENCODE + PI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3_vx_v1"/>
          <p:cNvSpPr/>
          <p:nvPr/>
        </p:nvSpPr>
        <p:spPr>
          <a:xfrm>
            <a:off x="11137392" y="384048"/>
            <a:ext cx="128016" cy="12801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" name="s3_vx_v2"/>
          <p:cNvSpPr/>
          <p:nvPr/>
        </p:nvSpPr>
        <p:spPr>
          <a:xfrm>
            <a:off x="11292840" y="384048"/>
            <a:ext cx="128016" cy="12801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" name="s3_vx_v3"/>
          <p:cNvSpPr/>
          <p:nvPr/>
        </p:nvSpPr>
        <p:spPr>
          <a:xfrm>
            <a:off x="11137392" y="539496"/>
            <a:ext cx="128016" cy="128016"/>
          </a:xfrm>
          <a:prstGeom prst="rect">
            <a:avLst/>
          </a:prstGeom>
          <a:solidFill>
            <a:srgbClr val="D97706"/>
          </a:solidFill>
          <a:ln/>
        </p:spPr>
      </p:sp>
      <p:pic>
        <p:nvPicPr>
          <p:cNvPr id="5" name="s3_kick" descr="assets/k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02336"/>
            <a:ext cx="2168434" cy="182880"/>
          </a:xfrm>
          <a:prstGeom prst="rect">
            <a:avLst/>
          </a:prstGeom>
        </p:spPr>
      </p:pic>
      <p:pic>
        <p:nvPicPr>
          <p:cNvPr id="6" name="s3_title" descr="assets/t0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58368"/>
            <a:ext cx="9713541" cy="475488"/>
          </a:xfrm>
          <a:prstGeom prst="rect">
            <a:avLst/>
          </a:prstGeom>
        </p:spPr>
      </p:pic>
      <p:sp>
        <p:nvSpPr>
          <p:cNvPr id="7" name="s3_spec"/>
          <p:cNvSpPr/>
          <p:nvPr/>
        </p:nvSpPr>
        <p:spPr>
          <a:xfrm>
            <a:off x="502920" y="1216152"/>
            <a:ext cx="10469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registry stores one canonical record per artifact — every chapter card fills in this record's install.&lt;harness&gt; fields</a:t>
            </a:r>
            <a:endParaRPr lang="en-US" sz="1100" dirty="0"/>
          </a:p>
        </p:txBody>
      </p:sp>
      <p:sp>
        <p:nvSpPr>
          <p:cNvPr id="8" name="s3_pg"/>
          <p:cNvSpPr/>
          <p:nvPr/>
        </p:nvSpPr>
        <p:spPr>
          <a:xfrm>
            <a:off x="11064240" y="648309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/ 45</a:t>
            </a:r>
            <a:endParaRPr lang="en-US" sz="950" dirty="0"/>
          </a:p>
        </p:txBody>
      </p:sp>
      <p:sp>
        <p:nvSpPr>
          <p:cNvPr id="10" name="s3_rec_sh"/>
          <p:cNvSpPr/>
          <p:nvPr/>
        </p:nvSpPr>
        <p:spPr>
          <a:xfrm>
            <a:off x="553212" y="1531620"/>
            <a:ext cx="5897880" cy="416052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1" name="s3_rec"/>
          <p:cNvSpPr/>
          <p:nvPr/>
        </p:nvSpPr>
        <p:spPr>
          <a:xfrm>
            <a:off x="502920" y="1481328"/>
            <a:ext cx="5897880" cy="416052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12" name="s3_rec_band"/>
          <p:cNvSpPr/>
          <p:nvPr/>
        </p:nvSpPr>
        <p:spPr>
          <a:xfrm>
            <a:off x="777240" y="1645920"/>
            <a:ext cx="5394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CANONICAL RECORD — artifact-record.json</a:t>
            </a:r>
            <a:endParaRPr lang="en-US" sz="950" dirty="0"/>
          </a:p>
        </p:txBody>
      </p:sp>
      <p:sp>
        <p:nvSpPr>
          <p:cNvPr id="13" name="s3_rec_json"/>
          <p:cNvSpPr/>
          <p:nvPr/>
        </p:nvSpPr>
        <p:spPr>
          <a:xfrm>
            <a:off x="777240" y="1956816"/>
            <a:ext cx="5349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identity        urn: io.github.acme.pdf-writer</a:t>
            </a:r>
            <a:endParaRPr lang="en-US" sz="9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type: skill|mcp|agent|command|hook|plugin</a:t>
            </a:r>
            <a:endParaRPr lang="en-US" sz="9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version         semver + contentSha256 seal — immutable</a:t>
            </a:r>
            <a:endParaRPr lang="en-US" sz="9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payload         layout: agent-plugins/1.0.0</a:t>
            </a:r>
            <a:endParaRPr lang="en-US" sz="9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overlays: claude · codex · opencode · pi</a:t>
            </a:r>
            <a:endParaRPr lang="en-US" sz="9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compatibility   harness map + requires</a:t>
            </a:r>
            <a:endParaRPr lang="en-US" sz="9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trust           scan results · capabilities · egress</a:t>
            </a:r>
            <a:endParaRPr lang="en-US" sz="9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install         per-harness emission — the chapters</a:t>
            </a:r>
            <a:endParaRPr lang="en-US" sz="950" dirty="0"/>
          </a:p>
        </p:txBody>
      </p:sp>
      <p:sp>
        <p:nvSpPr>
          <p:cNvPr id="14" name="s3_rec_hr"/>
          <p:cNvSpPr/>
          <p:nvPr/>
        </p:nvSpPr>
        <p:spPr>
          <a:xfrm>
            <a:off x="777240" y="3703320"/>
            <a:ext cx="53492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15" name="s3_rec_b0"/>
          <p:cNvSpPr/>
          <p:nvPr/>
        </p:nvSpPr>
        <p:spPr>
          <a:xfrm>
            <a:off x="777240" y="3904488"/>
            <a:ext cx="100584" cy="100584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16" name="s3_rec_t0"/>
          <p:cNvSpPr/>
          <p:nvPr/>
        </p:nvSpPr>
        <p:spPr>
          <a:xfrm>
            <a:off x="987552" y="384048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spec-pure core works in all four harnesses today</a:t>
            </a:r>
            <a:endParaRPr lang="en-US" sz="1050" dirty="0"/>
          </a:p>
        </p:txBody>
      </p:sp>
      <p:sp>
        <p:nvSpPr>
          <p:cNvPr id="17" name="s3_rec_b1"/>
          <p:cNvSpPr/>
          <p:nvPr/>
        </p:nvSpPr>
        <p:spPr>
          <a:xfrm>
            <a:off x="777240" y="4416552"/>
            <a:ext cx="100584" cy="100584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18" name="s3_rec_t1"/>
          <p:cNvSpPr/>
          <p:nvPr/>
        </p:nvSpPr>
        <p:spPr>
          <a:xfrm>
            <a:off x="987552" y="4352544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vendor extras live in overlays — never in forks</a:t>
            </a:r>
            <a:endParaRPr lang="en-US" sz="1050" dirty="0"/>
          </a:p>
        </p:txBody>
      </p:sp>
      <p:sp>
        <p:nvSpPr>
          <p:cNvPr id="19" name="s3_rec_b2"/>
          <p:cNvSpPr/>
          <p:nvPr/>
        </p:nvSpPr>
        <p:spPr>
          <a:xfrm>
            <a:off x="777240" y="4928616"/>
            <a:ext cx="100584" cy="100584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20" name="s3_rec_t2"/>
          <p:cNvSpPr/>
          <p:nvPr/>
        </p:nvSpPr>
        <p:spPr>
          <a:xfrm>
            <a:off x="987552" y="486460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record, four native emissions, zero new paths</a:t>
            </a:r>
            <a:endParaRPr lang="en-US" sz="1050" dirty="0"/>
          </a:p>
        </p:txBody>
      </p:sp>
      <p:sp>
        <p:nvSpPr>
          <p:cNvPr id="21" name="s3_pipe_sh"/>
          <p:cNvSpPr/>
          <p:nvPr/>
        </p:nvSpPr>
        <p:spPr>
          <a:xfrm>
            <a:off x="6679692" y="1531620"/>
            <a:ext cx="5056632" cy="160020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22" name="s3_pipe"/>
          <p:cNvSpPr/>
          <p:nvPr/>
        </p:nvSpPr>
        <p:spPr>
          <a:xfrm>
            <a:off x="6629400" y="1481328"/>
            <a:ext cx="5056632" cy="160020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23" name="s3_pipe_band"/>
          <p:cNvSpPr/>
          <p:nvPr/>
        </p:nvSpPr>
        <p:spPr>
          <a:xfrm>
            <a:off x="6903720" y="1627632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PIPELINE</a:t>
            </a:r>
            <a:endParaRPr lang="en-US" sz="1000" dirty="0"/>
          </a:p>
        </p:txBody>
      </p:sp>
      <p:sp>
        <p:nvSpPr>
          <p:cNvPr id="24" name="s3_pipe_c0_0_sh"/>
          <p:cNvSpPr/>
          <p:nvPr/>
        </p:nvSpPr>
        <p:spPr>
          <a:xfrm>
            <a:off x="6931152" y="1984248"/>
            <a:ext cx="767730" cy="3383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25" name="s3_pipe_c0_0"/>
          <p:cNvSpPr/>
          <p:nvPr/>
        </p:nvSpPr>
        <p:spPr>
          <a:xfrm>
            <a:off x="6903720" y="1956816"/>
            <a:ext cx="767730" cy="338328"/>
          </a:xfrm>
          <a:prstGeom prst="rect">
            <a:avLst/>
          </a:prstGeom>
          <a:solidFill>
            <a:srgbClr val="FFFFFF"/>
          </a:solidFill>
          <a:ln w="17780">
            <a:solidFill>
              <a:srgbClr val="1B1D22"/>
            </a:solidFill>
            <a:prstDash val="solid"/>
          </a:ln>
        </p:spPr>
      </p:sp>
      <p:sp>
        <p:nvSpPr>
          <p:cNvPr id="26" name="s3_pipe_c0_0_t"/>
          <p:cNvSpPr/>
          <p:nvPr/>
        </p:nvSpPr>
        <p:spPr>
          <a:xfrm>
            <a:off x="6903720" y="1956816"/>
            <a:ext cx="76773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PUBLISH</a:t>
            </a:r>
            <a:endParaRPr lang="en-US" sz="900" dirty="0"/>
          </a:p>
        </p:txBody>
      </p:sp>
      <p:sp>
        <p:nvSpPr>
          <p:cNvPr id="27" name="s3_pipe_a0_0_shaft"/>
          <p:cNvSpPr/>
          <p:nvPr/>
        </p:nvSpPr>
        <p:spPr>
          <a:xfrm>
            <a:off x="7762890" y="2109978"/>
            <a:ext cx="164592" cy="4114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28" name="s3_pipe_a0_0_h1"/>
          <p:cNvSpPr/>
          <p:nvPr/>
        </p:nvSpPr>
        <p:spPr>
          <a:xfrm>
            <a:off x="7927482" y="2025396"/>
            <a:ext cx="91440" cy="9144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29" name="s3_pipe_a0_0_h2"/>
          <p:cNvSpPr/>
          <p:nvPr/>
        </p:nvSpPr>
        <p:spPr>
          <a:xfrm>
            <a:off x="7927482" y="2144268"/>
            <a:ext cx="91440" cy="9144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30" name="s3_pipe_a0_0_tip"/>
          <p:cNvSpPr/>
          <p:nvPr/>
        </p:nvSpPr>
        <p:spPr>
          <a:xfrm>
            <a:off x="8018922" y="2084832"/>
            <a:ext cx="45720" cy="9144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31" name="s3_pipe_c0_1_sh"/>
          <p:cNvSpPr/>
          <p:nvPr/>
        </p:nvSpPr>
        <p:spPr>
          <a:xfrm>
            <a:off x="8156082" y="1984248"/>
            <a:ext cx="692018" cy="3383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32" name="s3_pipe_c0_1"/>
          <p:cNvSpPr/>
          <p:nvPr/>
        </p:nvSpPr>
        <p:spPr>
          <a:xfrm>
            <a:off x="8128650" y="1956816"/>
            <a:ext cx="692018" cy="338328"/>
          </a:xfrm>
          <a:prstGeom prst="rect">
            <a:avLst/>
          </a:prstGeom>
          <a:solidFill>
            <a:srgbClr val="FFFFFF"/>
          </a:solidFill>
          <a:ln w="17780">
            <a:solidFill>
              <a:srgbClr val="1B1D22"/>
            </a:solidFill>
            <a:prstDash val="solid"/>
          </a:ln>
        </p:spPr>
      </p:sp>
      <p:sp>
        <p:nvSpPr>
          <p:cNvPr id="33" name="s3_pipe_c0_1_t"/>
          <p:cNvSpPr/>
          <p:nvPr/>
        </p:nvSpPr>
        <p:spPr>
          <a:xfrm>
            <a:off x="8128650" y="1956816"/>
            <a:ext cx="69201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VERIFY</a:t>
            </a:r>
            <a:endParaRPr lang="en-US" sz="900" dirty="0"/>
          </a:p>
        </p:txBody>
      </p:sp>
      <p:sp>
        <p:nvSpPr>
          <p:cNvPr id="34" name="s3_pipe_a0_1_shaft"/>
          <p:cNvSpPr/>
          <p:nvPr/>
        </p:nvSpPr>
        <p:spPr>
          <a:xfrm>
            <a:off x="8912108" y="2109978"/>
            <a:ext cx="164592" cy="4114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35" name="s3_pipe_a0_1_h1"/>
          <p:cNvSpPr/>
          <p:nvPr/>
        </p:nvSpPr>
        <p:spPr>
          <a:xfrm>
            <a:off x="9076700" y="2025396"/>
            <a:ext cx="91440" cy="9144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36" name="s3_pipe_a0_1_h2"/>
          <p:cNvSpPr/>
          <p:nvPr/>
        </p:nvSpPr>
        <p:spPr>
          <a:xfrm>
            <a:off x="9076700" y="2144268"/>
            <a:ext cx="91440" cy="9144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37" name="s3_pipe_a0_1_tip"/>
          <p:cNvSpPr/>
          <p:nvPr/>
        </p:nvSpPr>
        <p:spPr>
          <a:xfrm>
            <a:off x="9168140" y="2084832"/>
            <a:ext cx="45720" cy="9144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38" name="s3_pipe_c0_2_sh"/>
          <p:cNvSpPr/>
          <p:nvPr/>
        </p:nvSpPr>
        <p:spPr>
          <a:xfrm>
            <a:off x="9305300" y="1984248"/>
            <a:ext cx="540593" cy="3383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39" name="s3_pipe_c0_2"/>
          <p:cNvSpPr/>
          <p:nvPr/>
        </p:nvSpPr>
        <p:spPr>
          <a:xfrm>
            <a:off x="9277868" y="1956816"/>
            <a:ext cx="540593" cy="338328"/>
          </a:xfrm>
          <a:prstGeom prst="rect">
            <a:avLst/>
          </a:prstGeom>
          <a:solidFill>
            <a:srgbClr val="FFFFFF"/>
          </a:solidFill>
          <a:ln w="17780">
            <a:solidFill>
              <a:srgbClr val="1B1D22"/>
            </a:solidFill>
            <a:prstDash val="solid"/>
          </a:ln>
        </p:spPr>
      </p:sp>
      <p:sp>
        <p:nvSpPr>
          <p:cNvPr id="40" name="s3_pipe_c0_2_t"/>
          <p:cNvSpPr/>
          <p:nvPr/>
        </p:nvSpPr>
        <p:spPr>
          <a:xfrm>
            <a:off x="9277868" y="1956816"/>
            <a:ext cx="540593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SCAN</a:t>
            </a:r>
            <a:endParaRPr lang="en-US" sz="900" dirty="0"/>
          </a:p>
        </p:txBody>
      </p:sp>
      <p:sp>
        <p:nvSpPr>
          <p:cNvPr id="41" name="s3_pipe_a0_2_shaft"/>
          <p:cNvSpPr/>
          <p:nvPr/>
        </p:nvSpPr>
        <p:spPr>
          <a:xfrm>
            <a:off x="9909901" y="2109978"/>
            <a:ext cx="164592" cy="4114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42" name="s3_pipe_a0_2_h1"/>
          <p:cNvSpPr/>
          <p:nvPr/>
        </p:nvSpPr>
        <p:spPr>
          <a:xfrm>
            <a:off x="10074493" y="2025396"/>
            <a:ext cx="91440" cy="9144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43" name="s3_pipe_a0_2_h2"/>
          <p:cNvSpPr/>
          <p:nvPr/>
        </p:nvSpPr>
        <p:spPr>
          <a:xfrm>
            <a:off x="10074493" y="2144268"/>
            <a:ext cx="91440" cy="9144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44" name="s3_pipe_a0_2_tip"/>
          <p:cNvSpPr/>
          <p:nvPr/>
        </p:nvSpPr>
        <p:spPr>
          <a:xfrm>
            <a:off x="10165933" y="2084832"/>
            <a:ext cx="45720" cy="9144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45" name="s3_pipe_c0_3_sh"/>
          <p:cNvSpPr/>
          <p:nvPr/>
        </p:nvSpPr>
        <p:spPr>
          <a:xfrm>
            <a:off x="10303093" y="1984248"/>
            <a:ext cx="540593" cy="3383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46" name="s3_pipe_c0_3"/>
          <p:cNvSpPr/>
          <p:nvPr/>
        </p:nvSpPr>
        <p:spPr>
          <a:xfrm>
            <a:off x="10275661" y="1956816"/>
            <a:ext cx="540593" cy="338328"/>
          </a:xfrm>
          <a:prstGeom prst="rect">
            <a:avLst/>
          </a:prstGeom>
          <a:solidFill>
            <a:srgbClr val="FFFFFF"/>
          </a:solidFill>
          <a:ln w="17780">
            <a:solidFill>
              <a:srgbClr val="1B1D22"/>
            </a:solidFill>
            <a:prstDash val="solid"/>
          </a:ln>
        </p:spPr>
      </p:sp>
      <p:sp>
        <p:nvSpPr>
          <p:cNvPr id="47" name="s3_pipe_c0_3_t"/>
          <p:cNvSpPr/>
          <p:nvPr/>
        </p:nvSpPr>
        <p:spPr>
          <a:xfrm>
            <a:off x="10275661" y="1956816"/>
            <a:ext cx="540593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SEAL</a:t>
            </a:r>
            <a:endParaRPr lang="en-US" sz="900" dirty="0"/>
          </a:p>
        </p:txBody>
      </p:sp>
      <p:sp>
        <p:nvSpPr>
          <p:cNvPr id="48" name="s3_pipe_c1_0_sh"/>
          <p:cNvSpPr/>
          <p:nvPr/>
        </p:nvSpPr>
        <p:spPr>
          <a:xfrm>
            <a:off x="6931152" y="2487168"/>
            <a:ext cx="616306" cy="3383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49" name="s3_pipe_c1_0"/>
          <p:cNvSpPr/>
          <p:nvPr/>
        </p:nvSpPr>
        <p:spPr>
          <a:xfrm>
            <a:off x="6903720" y="2459736"/>
            <a:ext cx="616306" cy="338328"/>
          </a:xfrm>
          <a:prstGeom prst="rect">
            <a:avLst/>
          </a:prstGeom>
          <a:solidFill>
            <a:srgbClr val="FFFFFF"/>
          </a:solidFill>
          <a:ln w="17780">
            <a:solidFill>
              <a:srgbClr val="1B1D22"/>
            </a:solidFill>
            <a:prstDash val="solid"/>
          </a:ln>
        </p:spPr>
      </p:sp>
      <p:sp>
        <p:nvSpPr>
          <p:cNvPr id="50" name="s3_pipe_c1_0_t"/>
          <p:cNvSpPr/>
          <p:nvPr/>
        </p:nvSpPr>
        <p:spPr>
          <a:xfrm>
            <a:off x="6903720" y="2459736"/>
            <a:ext cx="61630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INDEX</a:t>
            </a:r>
            <a:endParaRPr lang="en-US" sz="900" dirty="0"/>
          </a:p>
        </p:txBody>
      </p:sp>
      <p:sp>
        <p:nvSpPr>
          <p:cNvPr id="51" name="s3_pipe_a1_0_shaft"/>
          <p:cNvSpPr/>
          <p:nvPr/>
        </p:nvSpPr>
        <p:spPr>
          <a:xfrm>
            <a:off x="7611466" y="2612898"/>
            <a:ext cx="164592" cy="4114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52" name="s3_pipe_a1_0_h1"/>
          <p:cNvSpPr/>
          <p:nvPr/>
        </p:nvSpPr>
        <p:spPr>
          <a:xfrm>
            <a:off x="7776058" y="2528316"/>
            <a:ext cx="91440" cy="9144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53" name="s3_pipe_a1_0_h2"/>
          <p:cNvSpPr/>
          <p:nvPr/>
        </p:nvSpPr>
        <p:spPr>
          <a:xfrm>
            <a:off x="7776058" y="2647188"/>
            <a:ext cx="91440" cy="9144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54" name="s3_pipe_a1_0_tip"/>
          <p:cNvSpPr/>
          <p:nvPr/>
        </p:nvSpPr>
        <p:spPr>
          <a:xfrm>
            <a:off x="7867498" y="2587752"/>
            <a:ext cx="45720" cy="9144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55" name="s3_pipe_c1_1_sh"/>
          <p:cNvSpPr/>
          <p:nvPr/>
        </p:nvSpPr>
        <p:spPr>
          <a:xfrm>
            <a:off x="8004658" y="2487168"/>
            <a:ext cx="767730" cy="3383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56" name="s3_pipe_c1_1"/>
          <p:cNvSpPr/>
          <p:nvPr/>
        </p:nvSpPr>
        <p:spPr>
          <a:xfrm>
            <a:off x="7977226" y="2459736"/>
            <a:ext cx="767730" cy="338328"/>
          </a:xfrm>
          <a:prstGeom prst="rect">
            <a:avLst/>
          </a:prstGeom>
          <a:solidFill>
            <a:srgbClr val="FFFFFF"/>
          </a:solidFill>
          <a:ln w="17780">
            <a:solidFill>
              <a:srgbClr val="1B1D22"/>
            </a:solidFill>
            <a:prstDash val="solid"/>
          </a:ln>
        </p:spPr>
      </p:sp>
      <p:sp>
        <p:nvSpPr>
          <p:cNvPr id="57" name="s3_pipe_c1_1_t"/>
          <p:cNvSpPr/>
          <p:nvPr/>
        </p:nvSpPr>
        <p:spPr>
          <a:xfrm>
            <a:off x="7977226" y="2459736"/>
            <a:ext cx="76773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INSTALL</a:t>
            </a:r>
            <a:endParaRPr lang="en-US" sz="900" dirty="0"/>
          </a:p>
        </p:txBody>
      </p:sp>
      <p:sp>
        <p:nvSpPr>
          <p:cNvPr id="58" name="s3_pipe_a1_1_shaft"/>
          <p:cNvSpPr/>
          <p:nvPr/>
        </p:nvSpPr>
        <p:spPr>
          <a:xfrm>
            <a:off x="8836396" y="2612898"/>
            <a:ext cx="164592" cy="4114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59" name="s3_pipe_a1_1_h1"/>
          <p:cNvSpPr/>
          <p:nvPr/>
        </p:nvSpPr>
        <p:spPr>
          <a:xfrm>
            <a:off x="9000988" y="2528316"/>
            <a:ext cx="91440" cy="9144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60" name="s3_pipe_a1_1_h2"/>
          <p:cNvSpPr/>
          <p:nvPr/>
        </p:nvSpPr>
        <p:spPr>
          <a:xfrm>
            <a:off x="9000988" y="2647188"/>
            <a:ext cx="91440" cy="9144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61" name="s3_pipe_a1_1_tip"/>
          <p:cNvSpPr/>
          <p:nvPr/>
        </p:nvSpPr>
        <p:spPr>
          <a:xfrm>
            <a:off x="9092428" y="2587752"/>
            <a:ext cx="45720" cy="9144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62" name="s3_pipe_c1_2_sh"/>
          <p:cNvSpPr/>
          <p:nvPr/>
        </p:nvSpPr>
        <p:spPr>
          <a:xfrm>
            <a:off x="9229588" y="2487168"/>
            <a:ext cx="540593" cy="3383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63" name="s3_pipe_c1_2"/>
          <p:cNvSpPr/>
          <p:nvPr/>
        </p:nvSpPr>
        <p:spPr>
          <a:xfrm>
            <a:off x="9202156" y="2459736"/>
            <a:ext cx="540593" cy="338328"/>
          </a:xfrm>
          <a:prstGeom prst="rect">
            <a:avLst/>
          </a:prstGeom>
          <a:solidFill>
            <a:srgbClr val="FFFFFF"/>
          </a:solidFill>
          <a:ln w="17780">
            <a:solidFill>
              <a:srgbClr val="1B1D22"/>
            </a:solidFill>
            <a:prstDash val="solid"/>
          </a:ln>
        </p:spPr>
      </p:sp>
      <p:sp>
        <p:nvSpPr>
          <p:cNvPr id="64" name="s3_pipe_c1_2_t"/>
          <p:cNvSpPr/>
          <p:nvPr/>
        </p:nvSpPr>
        <p:spPr>
          <a:xfrm>
            <a:off x="9202156" y="2459736"/>
            <a:ext cx="540593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LOCK</a:t>
            </a:r>
            <a:endParaRPr lang="en-US" sz="900" dirty="0"/>
          </a:p>
        </p:txBody>
      </p:sp>
      <p:sp>
        <p:nvSpPr>
          <p:cNvPr id="65" name="s3_lock_sh"/>
          <p:cNvSpPr/>
          <p:nvPr/>
        </p:nvSpPr>
        <p:spPr>
          <a:xfrm>
            <a:off x="6679692" y="3268980"/>
            <a:ext cx="5056632" cy="242316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66" name="s3_lock"/>
          <p:cNvSpPr/>
          <p:nvPr/>
        </p:nvSpPr>
        <p:spPr>
          <a:xfrm>
            <a:off x="6629400" y="3218688"/>
            <a:ext cx="5056632" cy="2423160"/>
          </a:xfrm>
          <a:prstGeom prst="rect">
            <a:avLst/>
          </a:prstGeom>
          <a:solidFill>
            <a:srgbClr val="1B1D22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67" name="s3_lock_band"/>
          <p:cNvSpPr/>
          <p:nvPr/>
        </p:nvSpPr>
        <p:spPr>
          <a:xfrm>
            <a:off x="6903720" y="3383280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7CB0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MISSING UPDATER — agentreg.lock</a:t>
            </a:r>
            <a:endParaRPr lang="en-US" sz="950" dirty="0"/>
          </a:p>
        </p:txBody>
      </p:sp>
      <p:sp>
        <p:nvSpPr>
          <p:cNvPr id="68" name="s3_lock_line"/>
          <p:cNvSpPr/>
          <p:nvPr/>
        </p:nvSpPr>
        <p:spPr>
          <a:xfrm>
            <a:off x="6903720" y="3675888"/>
            <a:ext cx="4526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EE7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urn → version → sha256 → per-harness targets</a:t>
            </a:r>
            <a:endParaRPr lang="en-US" sz="1100" dirty="0"/>
          </a:p>
        </p:txBody>
      </p:sp>
      <p:sp>
        <p:nvSpPr>
          <p:cNvPr id="69" name="s3_lock_t"/>
          <p:cNvSpPr/>
          <p:nvPr/>
        </p:nvSpPr>
        <p:spPr>
          <a:xfrm>
            <a:off x="6903720" y="4041648"/>
            <a:ext cx="4526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E9EB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Committed like package-lock.json. agentreg update re-scans an artifact before bumping it — one pin, four harnesses at once.</a:t>
            </a:r>
            <a:endParaRPr lang="en-US" sz="10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E9EB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harness ships a lockfile. This is the wedge.</a:t>
            </a:r>
            <a:endParaRPr lang="en-US" sz="1050" dirty="0"/>
          </a:p>
        </p:txBody>
      </p:sp>
      <p:sp>
        <p:nvSpPr>
          <p:cNvPr id="70" name="s3_lock_note"/>
          <p:cNvSpPr/>
          <p:nvPr/>
        </p:nvSpPr>
        <p:spPr>
          <a:xfrm>
            <a:off x="6903720" y="5138928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9AA0A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auto-update row on every card → what the lock has to own</a:t>
            </a:r>
            <a:endParaRPr lang="en-US" sz="900" dirty="0"/>
          </a:p>
        </p:txBody>
      </p:sp>
      <p:sp>
        <p:nvSpPr>
          <p:cNvPr id="71" name="s3_note_sh"/>
          <p:cNvSpPr/>
          <p:nvPr/>
        </p:nvSpPr>
        <p:spPr>
          <a:xfrm>
            <a:off x="553212" y="5829300"/>
            <a:ext cx="11183112" cy="65836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72" name="s3_note"/>
          <p:cNvSpPr/>
          <p:nvPr/>
        </p:nvSpPr>
        <p:spPr>
          <a:xfrm>
            <a:off x="502920" y="5779008"/>
            <a:ext cx="11183112" cy="658368"/>
          </a:xfrm>
          <a:prstGeom prst="rect">
            <a:avLst/>
          </a:prstGeom>
          <a:solidFill>
            <a:srgbClr val="EFEFEA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73" name="s3_note_t"/>
          <p:cNvSpPr/>
          <p:nvPr/>
        </p:nvSpPr>
        <p:spPr>
          <a:xfrm>
            <a:off x="777240" y="5870448"/>
            <a:ext cx="10607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chapter card ends with a REGISTRY EMISSION block — those mono lines are the fields this record carries.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sections are the matrix rows; this slide is the record.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4_vx_v1"/>
          <p:cNvSpPr/>
          <p:nvPr/>
        </p:nvSpPr>
        <p:spPr>
          <a:xfrm>
            <a:off x="11137392" y="384048"/>
            <a:ext cx="128016" cy="12801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" name="s4_vx_v2"/>
          <p:cNvSpPr/>
          <p:nvPr/>
        </p:nvSpPr>
        <p:spPr>
          <a:xfrm>
            <a:off x="11292840" y="384048"/>
            <a:ext cx="128016" cy="12801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" name="s4_vx_v3"/>
          <p:cNvSpPr/>
          <p:nvPr/>
        </p:nvSpPr>
        <p:spPr>
          <a:xfrm>
            <a:off x="11137392" y="539496"/>
            <a:ext cx="128016" cy="128016"/>
          </a:xfrm>
          <a:prstGeom prst="rect">
            <a:avLst/>
          </a:prstGeom>
          <a:solidFill>
            <a:srgbClr val="D97706"/>
          </a:solidFill>
          <a:ln/>
        </p:spPr>
      </p:sp>
      <p:pic>
        <p:nvPicPr>
          <p:cNvPr id="5" name="s4_kick" descr="assets/k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02336"/>
            <a:ext cx="2325189" cy="182880"/>
          </a:xfrm>
          <a:prstGeom prst="rect">
            <a:avLst/>
          </a:prstGeom>
        </p:spPr>
      </p:pic>
      <p:pic>
        <p:nvPicPr>
          <p:cNvPr id="6" name="s4_title" descr="assets/t0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58368"/>
            <a:ext cx="7268174" cy="475488"/>
          </a:xfrm>
          <a:prstGeom prst="rect">
            <a:avLst/>
          </a:prstGeom>
        </p:spPr>
      </p:pic>
      <p:sp>
        <p:nvSpPr>
          <p:cNvPr id="7" name="s4_spec"/>
          <p:cNvSpPr/>
          <p:nvPr/>
        </p:nvSpPr>
        <p:spPr>
          <a:xfrm>
            <a:off x="502920" y="1216152"/>
            <a:ext cx="10469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ten surfaces × four harnesses at a glance — every row opens a four-slide section next: banner · standards · claude+codex · opencode+pi</a:t>
            </a:r>
            <a:endParaRPr lang="en-US" sz="1100" dirty="0"/>
          </a:p>
        </p:txBody>
      </p:sp>
      <p:sp>
        <p:nvSpPr>
          <p:cNvPr id="8" name="s4_pg"/>
          <p:cNvSpPr/>
          <p:nvPr/>
        </p:nvSpPr>
        <p:spPr>
          <a:xfrm>
            <a:off x="11064240" y="648309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/ 45</a:t>
            </a:r>
            <a:endParaRPr lang="en-US" sz="950" dirty="0"/>
          </a:p>
        </p:txBody>
      </p:sp>
      <p:sp>
        <p:nvSpPr>
          <p:cNvPr id="10" name="s04_mx_sh"/>
          <p:cNvSpPr/>
          <p:nvPr/>
        </p:nvSpPr>
        <p:spPr>
          <a:xfrm>
            <a:off x="553212" y="1531620"/>
            <a:ext cx="11183112" cy="4224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1" name="s04_mx"/>
          <p:cNvSpPr/>
          <p:nvPr/>
        </p:nvSpPr>
        <p:spPr>
          <a:xfrm>
            <a:off x="502920" y="1481328"/>
            <a:ext cx="11183112" cy="4224528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12" name="s04_ch0"/>
          <p:cNvSpPr/>
          <p:nvPr/>
        </p:nvSpPr>
        <p:spPr>
          <a:xfrm>
            <a:off x="777240" y="164592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spc="150" kern="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SURFACE</a:t>
            </a:r>
            <a:endParaRPr lang="en-US" sz="850" dirty="0"/>
          </a:p>
        </p:txBody>
      </p:sp>
      <p:sp>
        <p:nvSpPr>
          <p:cNvPr id="13" name="s04_ch1"/>
          <p:cNvSpPr/>
          <p:nvPr/>
        </p:nvSpPr>
        <p:spPr>
          <a:xfrm>
            <a:off x="2212848" y="1645920"/>
            <a:ext cx="22311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CLAUDE CODE</a:t>
            </a:r>
            <a:endParaRPr lang="en-US" sz="900" dirty="0"/>
          </a:p>
        </p:txBody>
      </p:sp>
      <p:sp>
        <p:nvSpPr>
          <p:cNvPr id="14" name="s04_ch2"/>
          <p:cNvSpPr/>
          <p:nvPr/>
        </p:nvSpPr>
        <p:spPr>
          <a:xfrm>
            <a:off x="4517136" y="1645920"/>
            <a:ext cx="22311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CODEX</a:t>
            </a:r>
            <a:endParaRPr lang="en-US" sz="900" dirty="0"/>
          </a:p>
        </p:txBody>
      </p:sp>
      <p:sp>
        <p:nvSpPr>
          <p:cNvPr id="15" name="s04_ch3"/>
          <p:cNvSpPr/>
          <p:nvPr/>
        </p:nvSpPr>
        <p:spPr>
          <a:xfrm>
            <a:off x="6821424" y="1645920"/>
            <a:ext cx="22311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OPENCODE</a:t>
            </a:r>
            <a:endParaRPr lang="en-US" sz="900" dirty="0"/>
          </a:p>
        </p:txBody>
      </p:sp>
      <p:sp>
        <p:nvSpPr>
          <p:cNvPr id="16" name="s04_ch4"/>
          <p:cNvSpPr/>
          <p:nvPr/>
        </p:nvSpPr>
        <p:spPr>
          <a:xfrm>
            <a:off x="9125712" y="1645920"/>
            <a:ext cx="22311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</a:t>
            </a:r>
            <a:endParaRPr lang="en-US" sz="900" dirty="0"/>
          </a:p>
        </p:txBody>
      </p:sp>
      <p:sp>
        <p:nvSpPr>
          <p:cNvPr id="17" name="s04_hr0"/>
          <p:cNvSpPr/>
          <p:nvPr/>
        </p:nvSpPr>
        <p:spPr>
          <a:xfrm>
            <a:off x="777240" y="1956816"/>
            <a:ext cx="10680192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18" name="s04_r0_lab"/>
          <p:cNvSpPr/>
          <p:nvPr/>
        </p:nvSpPr>
        <p:spPr>
          <a:xfrm>
            <a:off x="777240" y="195681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SKILLS</a:t>
            </a:r>
            <a:endParaRPr lang="en-US" sz="850" dirty="0"/>
          </a:p>
        </p:txBody>
      </p:sp>
      <p:sp>
        <p:nvSpPr>
          <p:cNvPr id="19" name="s04_r0c0_sh"/>
          <p:cNvSpPr/>
          <p:nvPr/>
        </p:nvSpPr>
        <p:spPr>
          <a:xfrm>
            <a:off x="2957718" y="2048256"/>
            <a:ext cx="649956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20" name="s04_r0c0"/>
          <p:cNvSpPr/>
          <p:nvPr/>
        </p:nvSpPr>
        <p:spPr>
          <a:xfrm>
            <a:off x="2930286" y="2020824"/>
            <a:ext cx="649956" cy="287528"/>
          </a:xfrm>
          <a:prstGeom prst="rect">
            <a:avLst/>
          </a:prstGeom>
          <a:solidFill>
            <a:srgbClr val="FBEEDD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21" name="s04_r0c0_t"/>
          <p:cNvSpPr/>
          <p:nvPr/>
        </p:nvSpPr>
        <p:spPr>
          <a:xfrm>
            <a:off x="2930286" y="2020824"/>
            <a:ext cx="649956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OVERLAY</a:t>
            </a:r>
            <a:endParaRPr lang="en-US" sz="700" dirty="0"/>
          </a:p>
        </p:txBody>
      </p:sp>
      <p:sp>
        <p:nvSpPr>
          <p:cNvPr id="22" name="s04_r0d0"/>
          <p:cNvSpPr/>
          <p:nvPr/>
        </p:nvSpPr>
        <p:spPr>
          <a:xfrm>
            <a:off x="3781410" y="2107692"/>
            <a:ext cx="68580" cy="68580"/>
          </a:xfrm>
          <a:prstGeom prst="rect">
            <a:avLst/>
          </a:prstGeom>
          <a:solidFill>
            <a:srgbClr val="C7CAD1"/>
          </a:solidFill>
          <a:ln/>
        </p:spPr>
      </p:sp>
      <p:sp>
        <p:nvSpPr>
          <p:cNvPr id="23" name="s04_r0c1_sh"/>
          <p:cNvSpPr/>
          <p:nvPr/>
        </p:nvSpPr>
        <p:spPr>
          <a:xfrm>
            <a:off x="5262006" y="2048256"/>
            <a:ext cx="649956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24" name="s04_r0c1"/>
          <p:cNvSpPr/>
          <p:nvPr/>
        </p:nvSpPr>
        <p:spPr>
          <a:xfrm>
            <a:off x="5234574" y="2020824"/>
            <a:ext cx="649956" cy="287528"/>
          </a:xfrm>
          <a:prstGeom prst="rect">
            <a:avLst/>
          </a:prstGeom>
          <a:solidFill>
            <a:srgbClr val="FBEEDD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25" name="s04_r0c1_t"/>
          <p:cNvSpPr/>
          <p:nvPr/>
        </p:nvSpPr>
        <p:spPr>
          <a:xfrm>
            <a:off x="5234574" y="2020824"/>
            <a:ext cx="649956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OVERLAY</a:t>
            </a:r>
            <a:endParaRPr lang="en-US" sz="700" dirty="0"/>
          </a:p>
        </p:txBody>
      </p:sp>
      <p:sp>
        <p:nvSpPr>
          <p:cNvPr id="26" name="s04_r0d1"/>
          <p:cNvSpPr/>
          <p:nvPr/>
        </p:nvSpPr>
        <p:spPr>
          <a:xfrm>
            <a:off x="6085698" y="2107692"/>
            <a:ext cx="68580" cy="68580"/>
          </a:xfrm>
          <a:prstGeom prst="rect">
            <a:avLst/>
          </a:prstGeom>
          <a:solidFill>
            <a:srgbClr val="C7CAD1"/>
          </a:solidFill>
          <a:ln/>
        </p:spPr>
      </p:sp>
      <p:sp>
        <p:nvSpPr>
          <p:cNvPr id="27" name="s04_r0c2_sh"/>
          <p:cNvSpPr/>
          <p:nvPr/>
        </p:nvSpPr>
        <p:spPr>
          <a:xfrm>
            <a:off x="7566294" y="2048256"/>
            <a:ext cx="649956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28" name="s04_r0c2"/>
          <p:cNvSpPr/>
          <p:nvPr/>
        </p:nvSpPr>
        <p:spPr>
          <a:xfrm>
            <a:off x="7538862" y="2020824"/>
            <a:ext cx="649956" cy="287528"/>
          </a:xfrm>
          <a:prstGeom prst="rect">
            <a:avLst/>
          </a:prstGeom>
          <a:solidFill>
            <a:srgbClr val="FBEEDD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29" name="s04_r0c2_t"/>
          <p:cNvSpPr/>
          <p:nvPr/>
        </p:nvSpPr>
        <p:spPr>
          <a:xfrm>
            <a:off x="7538862" y="2020824"/>
            <a:ext cx="649956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OVERLAY</a:t>
            </a:r>
            <a:endParaRPr lang="en-US" sz="700" dirty="0"/>
          </a:p>
        </p:txBody>
      </p:sp>
      <p:sp>
        <p:nvSpPr>
          <p:cNvPr id="30" name="s04_r0d2"/>
          <p:cNvSpPr/>
          <p:nvPr/>
        </p:nvSpPr>
        <p:spPr>
          <a:xfrm>
            <a:off x="8389986" y="2107692"/>
            <a:ext cx="68580" cy="6858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1" name="s04_r0c3_sh"/>
          <p:cNvSpPr/>
          <p:nvPr/>
        </p:nvSpPr>
        <p:spPr>
          <a:xfrm>
            <a:off x="9782251" y="2048256"/>
            <a:ext cx="826618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32" name="s04_r0c3"/>
          <p:cNvSpPr/>
          <p:nvPr/>
        </p:nvSpPr>
        <p:spPr>
          <a:xfrm>
            <a:off x="9754819" y="2020824"/>
            <a:ext cx="826618" cy="287528"/>
          </a:xfrm>
          <a:prstGeom prst="rect">
            <a:avLst/>
          </a:prstGeom>
          <a:solidFill>
            <a:srgbClr val="E5F5EA"/>
          </a:solidFill>
          <a:ln w="15875">
            <a:solidFill>
              <a:srgbClr val="16A34A"/>
            </a:solidFill>
            <a:prstDash val="solid"/>
          </a:ln>
        </p:spPr>
      </p:sp>
      <p:sp>
        <p:nvSpPr>
          <p:cNvPr id="33" name="s04_r0c3_t"/>
          <p:cNvSpPr/>
          <p:nvPr/>
        </p:nvSpPr>
        <p:spPr>
          <a:xfrm>
            <a:off x="9754819" y="2020824"/>
            <a:ext cx="826618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COPY-AS-IS</a:t>
            </a:r>
            <a:endParaRPr lang="en-US" sz="700" dirty="0"/>
          </a:p>
        </p:txBody>
      </p:sp>
      <p:sp>
        <p:nvSpPr>
          <p:cNvPr id="34" name="s04_r0d3"/>
          <p:cNvSpPr/>
          <p:nvPr/>
        </p:nvSpPr>
        <p:spPr>
          <a:xfrm>
            <a:off x="10782605" y="2107692"/>
            <a:ext cx="68580" cy="68580"/>
          </a:xfrm>
          <a:prstGeom prst="rect">
            <a:avLst/>
          </a:prstGeom>
          <a:solidFill>
            <a:srgbClr val="C7CAD1"/>
          </a:solidFill>
          <a:ln/>
        </p:spPr>
      </p:sp>
      <p:sp>
        <p:nvSpPr>
          <p:cNvPr id="35" name="s04_hr1"/>
          <p:cNvSpPr/>
          <p:nvPr/>
        </p:nvSpPr>
        <p:spPr>
          <a:xfrm>
            <a:off x="777240" y="2324405"/>
            <a:ext cx="10680192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36" name="s04_r1_lab"/>
          <p:cNvSpPr/>
          <p:nvPr/>
        </p:nvSpPr>
        <p:spPr>
          <a:xfrm>
            <a:off x="777240" y="2324405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COMMANDS</a:t>
            </a:r>
            <a:endParaRPr lang="en-US" sz="850" dirty="0"/>
          </a:p>
        </p:txBody>
      </p:sp>
      <p:sp>
        <p:nvSpPr>
          <p:cNvPr id="37" name="s04_r1c0_sh"/>
          <p:cNvSpPr/>
          <p:nvPr/>
        </p:nvSpPr>
        <p:spPr>
          <a:xfrm>
            <a:off x="2869387" y="2415845"/>
            <a:ext cx="826618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38" name="s04_r1c0"/>
          <p:cNvSpPr/>
          <p:nvPr/>
        </p:nvSpPr>
        <p:spPr>
          <a:xfrm>
            <a:off x="2841955" y="2388413"/>
            <a:ext cx="826618" cy="287528"/>
          </a:xfrm>
          <a:prstGeom prst="rect">
            <a:avLst/>
          </a:prstGeom>
          <a:solidFill>
            <a:srgbClr val="E5F5EA"/>
          </a:solidFill>
          <a:ln w="15875">
            <a:solidFill>
              <a:srgbClr val="16A34A"/>
            </a:solidFill>
            <a:prstDash val="solid"/>
          </a:ln>
        </p:spPr>
      </p:sp>
      <p:sp>
        <p:nvSpPr>
          <p:cNvPr id="39" name="s04_r1c0_t"/>
          <p:cNvSpPr/>
          <p:nvPr/>
        </p:nvSpPr>
        <p:spPr>
          <a:xfrm>
            <a:off x="2841955" y="2388413"/>
            <a:ext cx="826618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COPY-AS-IS</a:t>
            </a:r>
            <a:endParaRPr lang="en-US" sz="700" dirty="0"/>
          </a:p>
        </p:txBody>
      </p:sp>
      <p:sp>
        <p:nvSpPr>
          <p:cNvPr id="40" name="s04_r1d0"/>
          <p:cNvSpPr/>
          <p:nvPr/>
        </p:nvSpPr>
        <p:spPr>
          <a:xfrm>
            <a:off x="3869741" y="2475281"/>
            <a:ext cx="68580" cy="68580"/>
          </a:xfrm>
          <a:prstGeom prst="rect">
            <a:avLst/>
          </a:prstGeom>
          <a:solidFill>
            <a:srgbClr val="C7CAD1"/>
          </a:solidFill>
          <a:ln/>
        </p:spPr>
      </p:sp>
      <p:sp>
        <p:nvSpPr>
          <p:cNvPr id="41" name="s04_r1c1_sh"/>
          <p:cNvSpPr/>
          <p:nvPr/>
        </p:nvSpPr>
        <p:spPr>
          <a:xfrm>
            <a:off x="5173675" y="2415845"/>
            <a:ext cx="826618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42" name="s04_r1c1"/>
          <p:cNvSpPr/>
          <p:nvPr/>
        </p:nvSpPr>
        <p:spPr>
          <a:xfrm>
            <a:off x="5146243" y="2388413"/>
            <a:ext cx="826618" cy="287528"/>
          </a:xfrm>
          <a:prstGeom prst="rect">
            <a:avLst/>
          </a:prstGeom>
          <a:solidFill>
            <a:srgbClr val="E5F5EA"/>
          </a:solidFill>
          <a:ln w="15875">
            <a:solidFill>
              <a:srgbClr val="16A34A"/>
            </a:solidFill>
            <a:prstDash val="solid"/>
          </a:ln>
        </p:spPr>
      </p:sp>
      <p:sp>
        <p:nvSpPr>
          <p:cNvPr id="43" name="s04_r1c1_t"/>
          <p:cNvSpPr/>
          <p:nvPr/>
        </p:nvSpPr>
        <p:spPr>
          <a:xfrm>
            <a:off x="5146243" y="2388413"/>
            <a:ext cx="826618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COPY-AS-IS</a:t>
            </a:r>
            <a:endParaRPr lang="en-US" sz="700" dirty="0"/>
          </a:p>
        </p:txBody>
      </p:sp>
      <p:sp>
        <p:nvSpPr>
          <p:cNvPr id="44" name="s04_r1d1"/>
          <p:cNvSpPr/>
          <p:nvPr/>
        </p:nvSpPr>
        <p:spPr>
          <a:xfrm>
            <a:off x="6174029" y="2475281"/>
            <a:ext cx="68580" cy="68580"/>
          </a:xfrm>
          <a:prstGeom prst="rect">
            <a:avLst/>
          </a:prstGeom>
          <a:solidFill>
            <a:srgbClr val="C7CAD1"/>
          </a:solidFill>
          <a:ln/>
        </p:spPr>
      </p:sp>
      <p:sp>
        <p:nvSpPr>
          <p:cNvPr id="45" name="s04_r1c2_sh"/>
          <p:cNvSpPr/>
          <p:nvPr/>
        </p:nvSpPr>
        <p:spPr>
          <a:xfrm>
            <a:off x="7477963" y="2415845"/>
            <a:ext cx="826618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46" name="s04_r1c2"/>
          <p:cNvSpPr/>
          <p:nvPr/>
        </p:nvSpPr>
        <p:spPr>
          <a:xfrm>
            <a:off x="7450531" y="2388413"/>
            <a:ext cx="826618" cy="287528"/>
          </a:xfrm>
          <a:prstGeom prst="rect">
            <a:avLst/>
          </a:prstGeom>
          <a:solidFill>
            <a:srgbClr val="E5F5EA"/>
          </a:solidFill>
          <a:ln w="15875">
            <a:solidFill>
              <a:srgbClr val="16A34A"/>
            </a:solidFill>
            <a:prstDash val="solid"/>
          </a:ln>
        </p:spPr>
      </p:sp>
      <p:sp>
        <p:nvSpPr>
          <p:cNvPr id="47" name="s04_r1c2_t"/>
          <p:cNvSpPr/>
          <p:nvPr/>
        </p:nvSpPr>
        <p:spPr>
          <a:xfrm>
            <a:off x="7450531" y="2388413"/>
            <a:ext cx="826618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COPY-AS-IS</a:t>
            </a:r>
            <a:endParaRPr lang="en-US" sz="700" dirty="0"/>
          </a:p>
        </p:txBody>
      </p:sp>
      <p:sp>
        <p:nvSpPr>
          <p:cNvPr id="48" name="s04_r1d2"/>
          <p:cNvSpPr/>
          <p:nvPr/>
        </p:nvSpPr>
        <p:spPr>
          <a:xfrm>
            <a:off x="8478317" y="2475281"/>
            <a:ext cx="68580" cy="68580"/>
          </a:xfrm>
          <a:prstGeom prst="rect">
            <a:avLst/>
          </a:prstGeom>
          <a:solidFill>
            <a:srgbClr val="C7CAD1"/>
          </a:solidFill>
          <a:ln/>
        </p:spPr>
      </p:sp>
      <p:sp>
        <p:nvSpPr>
          <p:cNvPr id="49" name="s04_r1c3_sh"/>
          <p:cNvSpPr/>
          <p:nvPr/>
        </p:nvSpPr>
        <p:spPr>
          <a:xfrm>
            <a:off x="9782251" y="2415845"/>
            <a:ext cx="826618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50" name="s04_r1c3"/>
          <p:cNvSpPr/>
          <p:nvPr/>
        </p:nvSpPr>
        <p:spPr>
          <a:xfrm>
            <a:off x="9754819" y="2388413"/>
            <a:ext cx="826618" cy="287528"/>
          </a:xfrm>
          <a:prstGeom prst="rect">
            <a:avLst/>
          </a:prstGeom>
          <a:solidFill>
            <a:srgbClr val="E5F5EA"/>
          </a:solidFill>
          <a:ln w="15875">
            <a:solidFill>
              <a:srgbClr val="16A34A"/>
            </a:solidFill>
            <a:prstDash val="solid"/>
          </a:ln>
        </p:spPr>
      </p:sp>
      <p:sp>
        <p:nvSpPr>
          <p:cNvPr id="51" name="s04_r1c3_t"/>
          <p:cNvSpPr/>
          <p:nvPr/>
        </p:nvSpPr>
        <p:spPr>
          <a:xfrm>
            <a:off x="9754819" y="2388413"/>
            <a:ext cx="826618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COPY-AS-IS</a:t>
            </a:r>
            <a:endParaRPr lang="en-US" sz="700" dirty="0"/>
          </a:p>
        </p:txBody>
      </p:sp>
      <p:sp>
        <p:nvSpPr>
          <p:cNvPr id="52" name="s04_r1d3"/>
          <p:cNvSpPr/>
          <p:nvPr/>
        </p:nvSpPr>
        <p:spPr>
          <a:xfrm>
            <a:off x="10782605" y="2475281"/>
            <a:ext cx="68580" cy="68580"/>
          </a:xfrm>
          <a:prstGeom prst="rect">
            <a:avLst/>
          </a:prstGeom>
          <a:solidFill>
            <a:srgbClr val="C7CAD1"/>
          </a:solidFill>
          <a:ln/>
        </p:spPr>
      </p:sp>
      <p:sp>
        <p:nvSpPr>
          <p:cNvPr id="53" name="s04_hr2"/>
          <p:cNvSpPr/>
          <p:nvPr/>
        </p:nvSpPr>
        <p:spPr>
          <a:xfrm>
            <a:off x="777240" y="2691994"/>
            <a:ext cx="10680192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54" name="s04_r2_lab"/>
          <p:cNvSpPr/>
          <p:nvPr/>
        </p:nvSpPr>
        <p:spPr>
          <a:xfrm>
            <a:off x="777240" y="269199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SUBAGENTS</a:t>
            </a:r>
            <a:endParaRPr lang="en-US" sz="850" dirty="0"/>
          </a:p>
        </p:txBody>
      </p:sp>
      <p:sp>
        <p:nvSpPr>
          <p:cNvPr id="55" name="s04_r2c0_sh"/>
          <p:cNvSpPr/>
          <p:nvPr/>
        </p:nvSpPr>
        <p:spPr>
          <a:xfrm>
            <a:off x="2869387" y="2783434"/>
            <a:ext cx="826618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56" name="s04_r2c0"/>
          <p:cNvSpPr/>
          <p:nvPr/>
        </p:nvSpPr>
        <p:spPr>
          <a:xfrm>
            <a:off x="2841955" y="2756002"/>
            <a:ext cx="826618" cy="287528"/>
          </a:xfrm>
          <a:prstGeom prst="rect">
            <a:avLst/>
          </a:prstGeom>
          <a:solidFill>
            <a:srgbClr val="E5F5EA"/>
          </a:solidFill>
          <a:ln w="15875">
            <a:solidFill>
              <a:srgbClr val="16A34A"/>
            </a:solidFill>
            <a:prstDash val="solid"/>
          </a:ln>
        </p:spPr>
      </p:sp>
      <p:sp>
        <p:nvSpPr>
          <p:cNvPr id="57" name="s04_r2c0_t"/>
          <p:cNvSpPr/>
          <p:nvPr/>
        </p:nvSpPr>
        <p:spPr>
          <a:xfrm>
            <a:off x="2841955" y="2756002"/>
            <a:ext cx="826618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COPY-AS-IS</a:t>
            </a:r>
            <a:endParaRPr lang="en-US" sz="700" dirty="0"/>
          </a:p>
        </p:txBody>
      </p:sp>
      <p:sp>
        <p:nvSpPr>
          <p:cNvPr id="58" name="s04_r2d0"/>
          <p:cNvSpPr/>
          <p:nvPr/>
        </p:nvSpPr>
        <p:spPr>
          <a:xfrm>
            <a:off x="3869741" y="2842870"/>
            <a:ext cx="68580" cy="68580"/>
          </a:xfrm>
          <a:prstGeom prst="rect">
            <a:avLst/>
          </a:prstGeom>
          <a:solidFill>
            <a:srgbClr val="C7CAD1"/>
          </a:solidFill>
          <a:ln/>
        </p:spPr>
      </p:sp>
      <p:sp>
        <p:nvSpPr>
          <p:cNvPr id="59" name="s04_r2c1_sh"/>
          <p:cNvSpPr/>
          <p:nvPr/>
        </p:nvSpPr>
        <p:spPr>
          <a:xfrm>
            <a:off x="5203119" y="2783434"/>
            <a:ext cx="767730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60" name="s04_r2c1"/>
          <p:cNvSpPr/>
          <p:nvPr/>
        </p:nvSpPr>
        <p:spPr>
          <a:xfrm>
            <a:off x="5175687" y="2756002"/>
            <a:ext cx="767730" cy="287528"/>
          </a:xfrm>
          <a:prstGeom prst="rect">
            <a:avLst/>
          </a:prstGeom>
          <a:solidFill>
            <a:srgbClr val="E7EEFD"/>
          </a:solidFill>
          <a:ln w="15875">
            <a:solidFill>
              <a:srgbClr val="2F6FED"/>
            </a:solidFill>
            <a:prstDash val="solid"/>
          </a:ln>
        </p:spPr>
      </p:sp>
      <p:sp>
        <p:nvSpPr>
          <p:cNvPr id="61" name="s04_r2c1_t"/>
          <p:cNvSpPr/>
          <p:nvPr/>
        </p:nvSpPr>
        <p:spPr>
          <a:xfrm>
            <a:off x="5175687" y="2756002"/>
            <a:ext cx="767730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TRANSLATE</a:t>
            </a:r>
            <a:endParaRPr lang="en-US" sz="700" dirty="0"/>
          </a:p>
        </p:txBody>
      </p:sp>
      <p:sp>
        <p:nvSpPr>
          <p:cNvPr id="62" name="s04_r2d1"/>
          <p:cNvSpPr/>
          <p:nvPr/>
        </p:nvSpPr>
        <p:spPr>
          <a:xfrm>
            <a:off x="6144585" y="2842870"/>
            <a:ext cx="68580" cy="68580"/>
          </a:xfrm>
          <a:prstGeom prst="rect">
            <a:avLst/>
          </a:prstGeom>
          <a:solidFill>
            <a:srgbClr val="C7CAD1"/>
          </a:solidFill>
          <a:ln/>
        </p:spPr>
      </p:sp>
      <p:sp>
        <p:nvSpPr>
          <p:cNvPr id="63" name="s04_r2c2_sh"/>
          <p:cNvSpPr/>
          <p:nvPr/>
        </p:nvSpPr>
        <p:spPr>
          <a:xfrm>
            <a:off x="7507407" y="2783434"/>
            <a:ext cx="767730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64" name="s04_r2c2"/>
          <p:cNvSpPr/>
          <p:nvPr/>
        </p:nvSpPr>
        <p:spPr>
          <a:xfrm>
            <a:off x="7479975" y="2756002"/>
            <a:ext cx="767730" cy="287528"/>
          </a:xfrm>
          <a:prstGeom prst="rect">
            <a:avLst/>
          </a:prstGeom>
          <a:solidFill>
            <a:srgbClr val="E7EEFD"/>
          </a:solidFill>
          <a:ln w="15875">
            <a:solidFill>
              <a:srgbClr val="2F6FED"/>
            </a:solidFill>
            <a:prstDash val="solid"/>
          </a:ln>
        </p:spPr>
      </p:sp>
      <p:sp>
        <p:nvSpPr>
          <p:cNvPr id="65" name="s04_r2c2_t"/>
          <p:cNvSpPr/>
          <p:nvPr/>
        </p:nvSpPr>
        <p:spPr>
          <a:xfrm>
            <a:off x="7479975" y="2756002"/>
            <a:ext cx="767730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TRANSLATE</a:t>
            </a:r>
            <a:endParaRPr lang="en-US" sz="700" dirty="0"/>
          </a:p>
        </p:txBody>
      </p:sp>
      <p:sp>
        <p:nvSpPr>
          <p:cNvPr id="66" name="s04_r2d2"/>
          <p:cNvSpPr/>
          <p:nvPr/>
        </p:nvSpPr>
        <p:spPr>
          <a:xfrm>
            <a:off x="8448873" y="2842870"/>
            <a:ext cx="68580" cy="68580"/>
          </a:xfrm>
          <a:prstGeom prst="rect">
            <a:avLst/>
          </a:prstGeom>
          <a:solidFill>
            <a:srgbClr val="C7CAD1"/>
          </a:solidFill>
          <a:ln/>
        </p:spPr>
      </p:sp>
      <p:sp>
        <p:nvSpPr>
          <p:cNvPr id="67" name="s04_r2c3_sh"/>
          <p:cNvSpPr/>
          <p:nvPr/>
        </p:nvSpPr>
        <p:spPr>
          <a:xfrm>
            <a:off x="9782251" y="2783434"/>
            <a:ext cx="826618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68" name="s04_r2c3"/>
          <p:cNvSpPr/>
          <p:nvPr/>
        </p:nvSpPr>
        <p:spPr>
          <a:xfrm>
            <a:off x="9754819" y="2756002"/>
            <a:ext cx="826618" cy="287528"/>
          </a:xfrm>
          <a:prstGeom prst="rect">
            <a:avLst/>
          </a:prstGeom>
          <a:solidFill>
            <a:srgbClr val="EFEFEA"/>
          </a:solidFill>
          <a:ln w="15875">
            <a:solidFill>
              <a:srgbClr val="5C6068"/>
            </a:solidFill>
            <a:prstDash val="solid"/>
          </a:ln>
        </p:spPr>
      </p:sp>
      <p:sp>
        <p:nvSpPr>
          <p:cNvPr id="69" name="s04_r2c3_t"/>
          <p:cNvSpPr/>
          <p:nvPr/>
        </p:nvSpPr>
        <p:spPr>
          <a:xfrm>
            <a:off x="9754819" y="2756002"/>
            <a:ext cx="826618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SURFACE</a:t>
            </a:r>
            <a:endParaRPr lang="en-US" sz="700" dirty="0"/>
          </a:p>
        </p:txBody>
      </p:sp>
      <p:sp>
        <p:nvSpPr>
          <p:cNvPr id="70" name="s04_r2d3"/>
          <p:cNvSpPr/>
          <p:nvPr/>
        </p:nvSpPr>
        <p:spPr>
          <a:xfrm>
            <a:off x="10782605" y="2842870"/>
            <a:ext cx="68580" cy="68580"/>
          </a:xfrm>
          <a:prstGeom prst="rect">
            <a:avLst/>
          </a:prstGeom>
          <a:solidFill>
            <a:srgbClr val="C7CAD1"/>
          </a:solidFill>
          <a:ln/>
        </p:spPr>
      </p:sp>
      <p:sp>
        <p:nvSpPr>
          <p:cNvPr id="71" name="s04_hr3"/>
          <p:cNvSpPr/>
          <p:nvPr/>
        </p:nvSpPr>
        <p:spPr>
          <a:xfrm>
            <a:off x="777240" y="3059582"/>
            <a:ext cx="10680192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72" name="s04_r3_lab"/>
          <p:cNvSpPr/>
          <p:nvPr/>
        </p:nvSpPr>
        <p:spPr>
          <a:xfrm>
            <a:off x="777240" y="305958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HOOKS</a:t>
            </a:r>
            <a:endParaRPr lang="en-US" sz="850" dirty="0"/>
          </a:p>
        </p:txBody>
      </p:sp>
      <p:sp>
        <p:nvSpPr>
          <p:cNvPr id="73" name="s04_r3c0_sh"/>
          <p:cNvSpPr/>
          <p:nvPr/>
        </p:nvSpPr>
        <p:spPr>
          <a:xfrm>
            <a:off x="2869387" y="3151022"/>
            <a:ext cx="826618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74" name="s04_r3c0"/>
          <p:cNvSpPr/>
          <p:nvPr/>
        </p:nvSpPr>
        <p:spPr>
          <a:xfrm>
            <a:off x="2841955" y="3123590"/>
            <a:ext cx="826618" cy="287528"/>
          </a:xfrm>
          <a:prstGeom prst="rect">
            <a:avLst/>
          </a:prstGeom>
          <a:solidFill>
            <a:srgbClr val="E5F5EA"/>
          </a:solidFill>
          <a:ln w="15875">
            <a:solidFill>
              <a:srgbClr val="16A34A"/>
            </a:solidFill>
            <a:prstDash val="solid"/>
          </a:ln>
        </p:spPr>
      </p:sp>
      <p:sp>
        <p:nvSpPr>
          <p:cNvPr id="75" name="s04_r3c0_t"/>
          <p:cNvSpPr/>
          <p:nvPr/>
        </p:nvSpPr>
        <p:spPr>
          <a:xfrm>
            <a:off x="2841955" y="3123590"/>
            <a:ext cx="826618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COPY-AS-IS</a:t>
            </a:r>
            <a:endParaRPr lang="en-US" sz="700" dirty="0"/>
          </a:p>
        </p:txBody>
      </p:sp>
      <p:sp>
        <p:nvSpPr>
          <p:cNvPr id="76" name="s04_r3d0"/>
          <p:cNvSpPr/>
          <p:nvPr/>
        </p:nvSpPr>
        <p:spPr>
          <a:xfrm>
            <a:off x="3869741" y="3210458"/>
            <a:ext cx="68580" cy="68580"/>
          </a:xfrm>
          <a:prstGeom prst="rect">
            <a:avLst/>
          </a:prstGeom>
          <a:solidFill>
            <a:srgbClr val="C7CAD1"/>
          </a:solidFill>
          <a:ln/>
        </p:spPr>
      </p:sp>
      <p:sp>
        <p:nvSpPr>
          <p:cNvPr id="77" name="s04_r3c1_sh"/>
          <p:cNvSpPr/>
          <p:nvPr/>
        </p:nvSpPr>
        <p:spPr>
          <a:xfrm>
            <a:off x="5173675" y="3151022"/>
            <a:ext cx="826618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78" name="s04_r3c1"/>
          <p:cNvSpPr/>
          <p:nvPr/>
        </p:nvSpPr>
        <p:spPr>
          <a:xfrm>
            <a:off x="5146243" y="3123590"/>
            <a:ext cx="826618" cy="287528"/>
          </a:xfrm>
          <a:prstGeom prst="rect">
            <a:avLst/>
          </a:prstGeom>
          <a:solidFill>
            <a:srgbClr val="E5F5EA"/>
          </a:solidFill>
          <a:ln w="15875">
            <a:solidFill>
              <a:srgbClr val="16A34A"/>
            </a:solidFill>
            <a:prstDash val="solid"/>
          </a:ln>
        </p:spPr>
      </p:sp>
      <p:sp>
        <p:nvSpPr>
          <p:cNvPr id="79" name="s04_r3c1_t"/>
          <p:cNvSpPr/>
          <p:nvPr/>
        </p:nvSpPr>
        <p:spPr>
          <a:xfrm>
            <a:off x="5146243" y="3123590"/>
            <a:ext cx="826618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COPY-AS-IS</a:t>
            </a:r>
            <a:endParaRPr lang="en-US" sz="700" dirty="0"/>
          </a:p>
        </p:txBody>
      </p:sp>
      <p:sp>
        <p:nvSpPr>
          <p:cNvPr id="80" name="s04_r3d1"/>
          <p:cNvSpPr/>
          <p:nvPr/>
        </p:nvSpPr>
        <p:spPr>
          <a:xfrm>
            <a:off x="6174029" y="3210458"/>
            <a:ext cx="68580" cy="68580"/>
          </a:xfrm>
          <a:prstGeom prst="rect">
            <a:avLst/>
          </a:prstGeom>
          <a:solidFill>
            <a:srgbClr val="C7CAD1"/>
          </a:solidFill>
          <a:ln/>
        </p:spPr>
      </p:sp>
      <p:sp>
        <p:nvSpPr>
          <p:cNvPr id="81" name="s04_r3c2_sh"/>
          <p:cNvSpPr/>
          <p:nvPr/>
        </p:nvSpPr>
        <p:spPr>
          <a:xfrm>
            <a:off x="7507407" y="3151022"/>
            <a:ext cx="767730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82" name="s04_r3c2"/>
          <p:cNvSpPr/>
          <p:nvPr/>
        </p:nvSpPr>
        <p:spPr>
          <a:xfrm>
            <a:off x="7479975" y="3123590"/>
            <a:ext cx="767730" cy="287528"/>
          </a:xfrm>
          <a:prstGeom prst="rect">
            <a:avLst/>
          </a:prstGeom>
          <a:solidFill>
            <a:srgbClr val="E7EEFD"/>
          </a:solidFill>
          <a:ln w="15875">
            <a:solidFill>
              <a:srgbClr val="2F6FED"/>
            </a:solidFill>
            <a:prstDash val="solid"/>
          </a:ln>
        </p:spPr>
      </p:sp>
      <p:sp>
        <p:nvSpPr>
          <p:cNvPr id="83" name="s04_r3c2_t"/>
          <p:cNvSpPr/>
          <p:nvPr/>
        </p:nvSpPr>
        <p:spPr>
          <a:xfrm>
            <a:off x="7479975" y="3123590"/>
            <a:ext cx="767730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TRANSLATE</a:t>
            </a:r>
            <a:endParaRPr lang="en-US" sz="700" dirty="0"/>
          </a:p>
        </p:txBody>
      </p:sp>
      <p:sp>
        <p:nvSpPr>
          <p:cNvPr id="84" name="s04_r3d2"/>
          <p:cNvSpPr/>
          <p:nvPr/>
        </p:nvSpPr>
        <p:spPr>
          <a:xfrm>
            <a:off x="8448873" y="3210458"/>
            <a:ext cx="68580" cy="6858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85" name="s04_r3c3_sh"/>
          <p:cNvSpPr/>
          <p:nvPr/>
        </p:nvSpPr>
        <p:spPr>
          <a:xfrm>
            <a:off x="9811695" y="3151022"/>
            <a:ext cx="767730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86" name="s04_r3c3"/>
          <p:cNvSpPr/>
          <p:nvPr/>
        </p:nvSpPr>
        <p:spPr>
          <a:xfrm>
            <a:off x="9784263" y="3123590"/>
            <a:ext cx="767730" cy="287528"/>
          </a:xfrm>
          <a:prstGeom prst="rect">
            <a:avLst/>
          </a:prstGeom>
          <a:solidFill>
            <a:srgbClr val="E7EEFD"/>
          </a:solidFill>
          <a:ln w="15875">
            <a:solidFill>
              <a:srgbClr val="2F6FED"/>
            </a:solidFill>
            <a:prstDash val="solid"/>
          </a:ln>
        </p:spPr>
      </p:sp>
      <p:sp>
        <p:nvSpPr>
          <p:cNvPr id="87" name="s04_r3c3_t"/>
          <p:cNvSpPr/>
          <p:nvPr/>
        </p:nvSpPr>
        <p:spPr>
          <a:xfrm>
            <a:off x="9784263" y="3123590"/>
            <a:ext cx="767730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TRANSLATE</a:t>
            </a:r>
            <a:endParaRPr lang="en-US" sz="700" dirty="0"/>
          </a:p>
        </p:txBody>
      </p:sp>
      <p:sp>
        <p:nvSpPr>
          <p:cNvPr id="88" name="s04_r3d3"/>
          <p:cNvSpPr/>
          <p:nvPr/>
        </p:nvSpPr>
        <p:spPr>
          <a:xfrm>
            <a:off x="10753161" y="3210458"/>
            <a:ext cx="68580" cy="68580"/>
          </a:xfrm>
          <a:prstGeom prst="rect">
            <a:avLst/>
          </a:prstGeom>
          <a:solidFill>
            <a:srgbClr val="C7CAD1"/>
          </a:solidFill>
          <a:ln/>
        </p:spPr>
      </p:sp>
      <p:sp>
        <p:nvSpPr>
          <p:cNvPr id="89" name="s04_hr4"/>
          <p:cNvSpPr/>
          <p:nvPr/>
        </p:nvSpPr>
        <p:spPr>
          <a:xfrm>
            <a:off x="777240" y="3427171"/>
            <a:ext cx="10680192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90" name="s04_r4_lab"/>
          <p:cNvSpPr/>
          <p:nvPr/>
        </p:nvSpPr>
        <p:spPr>
          <a:xfrm>
            <a:off x="777240" y="3427171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PLUGINS</a:t>
            </a:r>
            <a:endParaRPr lang="en-US" sz="850" dirty="0"/>
          </a:p>
        </p:txBody>
      </p:sp>
      <p:sp>
        <p:nvSpPr>
          <p:cNvPr id="91" name="s04_r4c0_sh"/>
          <p:cNvSpPr/>
          <p:nvPr/>
        </p:nvSpPr>
        <p:spPr>
          <a:xfrm>
            <a:off x="2898831" y="3518611"/>
            <a:ext cx="767730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92" name="s04_r4c0"/>
          <p:cNvSpPr/>
          <p:nvPr/>
        </p:nvSpPr>
        <p:spPr>
          <a:xfrm>
            <a:off x="2871399" y="3491179"/>
            <a:ext cx="767730" cy="287528"/>
          </a:xfrm>
          <a:prstGeom prst="rect">
            <a:avLst/>
          </a:prstGeom>
          <a:solidFill>
            <a:srgbClr val="E7EEFD"/>
          </a:solidFill>
          <a:ln w="15875">
            <a:solidFill>
              <a:srgbClr val="2F6FED"/>
            </a:solidFill>
            <a:prstDash val="solid"/>
          </a:ln>
        </p:spPr>
      </p:sp>
      <p:sp>
        <p:nvSpPr>
          <p:cNvPr id="93" name="s04_r4c0_t"/>
          <p:cNvSpPr/>
          <p:nvPr/>
        </p:nvSpPr>
        <p:spPr>
          <a:xfrm>
            <a:off x="2871399" y="3491179"/>
            <a:ext cx="767730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TRANSLATE</a:t>
            </a:r>
            <a:endParaRPr lang="en-US" sz="700" dirty="0"/>
          </a:p>
        </p:txBody>
      </p:sp>
      <p:sp>
        <p:nvSpPr>
          <p:cNvPr id="94" name="s04_r4d0"/>
          <p:cNvSpPr/>
          <p:nvPr/>
        </p:nvSpPr>
        <p:spPr>
          <a:xfrm>
            <a:off x="3840297" y="3578047"/>
            <a:ext cx="68580" cy="6858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95" name="s04_r4c1_sh"/>
          <p:cNvSpPr/>
          <p:nvPr/>
        </p:nvSpPr>
        <p:spPr>
          <a:xfrm>
            <a:off x="5262006" y="3518611"/>
            <a:ext cx="649956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96" name="s04_r4c1"/>
          <p:cNvSpPr/>
          <p:nvPr/>
        </p:nvSpPr>
        <p:spPr>
          <a:xfrm>
            <a:off x="5234574" y="3491179"/>
            <a:ext cx="649956" cy="287528"/>
          </a:xfrm>
          <a:prstGeom prst="rect">
            <a:avLst/>
          </a:prstGeom>
          <a:solidFill>
            <a:srgbClr val="FBEEDD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97" name="s04_r4c1_t"/>
          <p:cNvSpPr/>
          <p:nvPr/>
        </p:nvSpPr>
        <p:spPr>
          <a:xfrm>
            <a:off x="5234574" y="3491179"/>
            <a:ext cx="649956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OVERLAY</a:t>
            </a:r>
            <a:endParaRPr lang="en-US" sz="700" dirty="0"/>
          </a:p>
        </p:txBody>
      </p:sp>
      <p:sp>
        <p:nvSpPr>
          <p:cNvPr id="98" name="s04_r4d1"/>
          <p:cNvSpPr/>
          <p:nvPr/>
        </p:nvSpPr>
        <p:spPr>
          <a:xfrm>
            <a:off x="6085698" y="3578047"/>
            <a:ext cx="68580" cy="6858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99" name="s04_r4c2_sh"/>
          <p:cNvSpPr/>
          <p:nvPr/>
        </p:nvSpPr>
        <p:spPr>
          <a:xfrm>
            <a:off x="7507407" y="3518611"/>
            <a:ext cx="767730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00" name="s04_r4c2"/>
          <p:cNvSpPr/>
          <p:nvPr/>
        </p:nvSpPr>
        <p:spPr>
          <a:xfrm>
            <a:off x="7479975" y="3491179"/>
            <a:ext cx="767730" cy="287528"/>
          </a:xfrm>
          <a:prstGeom prst="rect">
            <a:avLst/>
          </a:prstGeom>
          <a:solidFill>
            <a:srgbClr val="E7EEFD"/>
          </a:solidFill>
          <a:ln w="15875">
            <a:solidFill>
              <a:srgbClr val="2F6FED"/>
            </a:solidFill>
            <a:prstDash val="solid"/>
          </a:ln>
        </p:spPr>
      </p:sp>
      <p:sp>
        <p:nvSpPr>
          <p:cNvPr id="101" name="s04_r4c2_t"/>
          <p:cNvSpPr/>
          <p:nvPr/>
        </p:nvSpPr>
        <p:spPr>
          <a:xfrm>
            <a:off x="7479975" y="3491179"/>
            <a:ext cx="767730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TRANSLATE</a:t>
            </a:r>
            <a:endParaRPr lang="en-US" sz="700" dirty="0"/>
          </a:p>
        </p:txBody>
      </p:sp>
      <p:sp>
        <p:nvSpPr>
          <p:cNvPr id="102" name="s04_r4d2"/>
          <p:cNvSpPr/>
          <p:nvPr/>
        </p:nvSpPr>
        <p:spPr>
          <a:xfrm>
            <a:off x="8448873" y="3578047"/>
            <a:ext cx="68580" cy="6858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3" name="s04_r4c3_sh"/>
          <p:cNvSpPr/>
          <p:nvPr/>
        </p:nvSpPr>
        <p:spPr>
          <a:xfrm>
            <a:off x="9811695" y="3518611"/>
            <a:ext cx="767730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04" name="s04_r4c3"/>
          <p:cNvSpPr/>
          <p:nvPr/>
        </p:nvSpPr>
        <p:spPr>
          <a:xfrm>
            <a:off x="9784263" y="3491179"/>
            <a:ext cx="767730" cy="287528"/>
          </a:xfrm>
          <a:prstGeom prst="rect">
            <a:avLst/>
          </a:prstGeom>
          <a:solidFill>
            <a:srgbClr val="E7EEFD"/>
          </a:solidFill>
          <a:ln w="15875">
            <a:solidFill>
              <a:srgbClr val="2F6FED"/>
            </a:solidFill>
            <a:prstDash val="solid"/>
          </a:ln>
        </p:spPr>
      </p:sp>
      <p:sp>
        <p:nvSpPr>
          <p:cNvPr id="105" name="s04_r4c3_t"/>
          <p:cNvSpPr/>
          <p:nvPr/>
        </p:nvSpPr>
        <p:spPr>
          <a:xfrm>
            <a:off x="9784263" y="3491179"/>
            <a:ext cx="767730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TRANSLATE</a:t>
            </a:r>
            <a:endParaRPr lang="en-US" sz="700" dirty="0"/>
          </a:p>
        </p:txBody>
      </p:sp>
      <p:sp>
        <p:nvSpPr>
          <p:cNvPr id="106" name="s04_r4d3"/>
          <p:cNvSpPr/>
          <p:nvPr/>
        </p:nvSpPr>
        <p:spPr>
          <a:xfrm>
            <a:off x="10753161" y="3578047"/>
            <a:ext cx="68580" cy="6858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7" name="s04_hr5"/>
          <p:cNvSpPr/>
          <p:nvPr/>
        </p:nvSpPr>
        <p:spPr>
          <a:xfrm>
            <a:off x="777240" y="3794760"/>
            <a:ext cx="10680192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108" name="s04_r5_lab"/>
          <p:cNvSpPr/>
          <p:nvPr/>
        </p:nvSpPr>
        <p:spPr>
          <a:xfrm>
            <a:off x="777240" y="37947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MCP</a:t>
            </a:r>
            <a:endParaRPr lang="en-US" sz="850" dirty="0"/>
          </a:p>
        </p:txBody>
      </p:sp>
      <p:sp>
        <p:nvSpPr>
          <p:cNvPr id="109" name="s04_r5c0_sh"/>
          <p:cNvSpPr/>
          <p:nvPr/>
        </p:nvSpPr>
        <p:spPr>
          <a:xfrm>
            <a:off x="2869387" y="3886200"/>
            <a:ext cx="826618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10" name="s04_r5c0"/>
          <p:cNvSpPr/>
          <p:nvPr/>
        </p:nvSpPr>
        <p:spPr>
          <a:xfrm>
            <a:off x="2841955" y="3858768"/>
            <a:ext cx="826618" cy="287528"/>
          </a:xfrm>
          <a:prstGeom prst="rect">
            <a:avLst/>
          </a:prstGeom>
          <a:solidFill>
            <a:srgbClr val="E5F5EA"/>
          </a:solidFill>
          <a:ln w="15875">
            <a:solidFill>
              <a:srgbClr val="16A34A"/>
            </a:solidFill>
            <a:prstDash val="solid"/>
          </a:ln>
        </p:spPr>
      </p:sp>
      <p:sp>
        <p:nvSpPr>
          <p:cNvPr id="111" name="s04_r5c0_t"/>
          <p:cNvSpPr/>
          <p:nvPr/>
        </p:nvSpPr>
        <p:spPr>
          <a:xfrm>
            <a:off x="2841955" y="3858768"/>
            <a:ext cx="826618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COPY-AS-IS</a:t>
            </a:r>
            <a:endParaRPr lang="en-US" sz="700" dirty="0"/>
          </a:p>
        </p:txBody>
      </p:sp>
      <p:sp>
        <p:nvSpPr>
          <p:cNvPr id="112" name="s04_r5d0"/>
          <p:cNvSpPr/>
          <p:nvPr/>
        </p:nvSpPr>
        <p:spPr>
          <a:xfrm>
            <a:off x="3869741" y="3945636"/>
            <a:ext cx="68580" cy="68580"/>
          </a:xfrm>
          <a:prstGeom prst="rect">
            <a:avLst/>
          </a:prstGeom>
          <a:solidFill>
            <a:srgbClr val="C7CAD1"/>
          </a:solidFill>
          <a:ln/>
        </p:spPr>
      </p:sp>
      <p:sp>
        <p:nvSpPr>
          <p:cNvPr id="113" name="s04_r5c1_sh"/>
          <p:cNvSpPr/>
          <p:nvPr/>
        </p:nvSpPr>
        <p:spPr>
          <a:xfrm>
            <a:off x="5203119" y="3886200"/>
            <a:ext cx="767730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14" name="s04_r5c1"/>
          <p:cNvSpPr/>
          <p:nvPr/>
        </p:nvSpPr>
        <p:spPr>
          <a:xfrm>
            <a:off x="5175687" y="3858768"/>
            <a:ext cx="767730" cy="287528"/>
          </a:xfrm>
          <a:prstGeom prst="rect">
            <a:avLst/>
          </a:prstGeom>
          <a:solidFill>
            <a:srgbClr val="E7EEFD"/>
          </a:solidFill>
          <a:ln w="15875">
            <a:solidFill>
              <a:srgbClr val="2F6FED"/>
            </a:solidFill>
            <a:prstDash val="solid"/>
          </a:ln>
        </p:spPr>
      </p:sp>
      <p:sp>
        <p:nvSpPr>
          <p:cNvPr id="115" name="s04_r5c1_t"/>
          <p:cNvSpPr/>
          <p:nvPr/>
        </p:nvSpPr>
        <p:spPr>
          <a:xfrm>
            <a:off x="5175687" y="3858768"/>
            <a:ext cx="767730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TRANSLATE</a:t>
            </a:r>
            <a:endParaRPr lang="en-US" sz="700" dirty="0"/>
          </a:p>
        </p:txBody>
      </p:sp>
      <p:sp>
        <p:nvSpPr>
          <p:cNvPr id="116" name="s04_r5d1"/>
          <p:cNvSpPr/>
          <p:nvPr/>
        </p:nvSpPr>
        <p:spPr>
          <a:xfrm>
            <a:off x="6144585" y="3945636"/>
            <a:ext cx="68580" cy="68580"/>
          </a:xfrm>
          <a:prstGeom prst="rect">
            <a:avLst/>
          </a:prstGeom>
          <a:solidFill>
            <a:srgbClr val="C7CAD1"/>
          </a:solidFill>
          <a:ln/>
        </p:spPr>
      </p:sp>
      <p:sp>
        <p:nvSpPr>
          <p:cNvPr id="117" name="s04_r5c2_sh"/>
          <p:cNvSpPr/>
          <p:nvPr/>
        </p:nvSpPr>
        <p:spPr>
          <a:xfrm>
            <a:off x="7507407" y="3886200"/>
            <a:ext cx="767730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18" name="s04_r5c2"/>
          <p:cNvSpPr/>
          <p:nvPr/>
        </p:nvSpPr>
        <p:spPr>
          <a:xfrm>
            <a:off x="7479975" y="3858768"/>
            <a:ext cx="767730" cy="287528"/>
          </a:xfrm>
          <a:prstGeom prst="rect">
            <a:avLst/>
          </a:prstGeom>
          <a:solidFill>
            <a:srgbClr val="E7EEFD"/>
          </a:solidFill>
          <a:ln w="15875">
            <a:solidFill>
              <a:srgbClr val="2F6FED"/>
            </a:solidFill>
            <a:prstDash val="solid"/>
          </a:ln>
        </p:spPr>
      </p:sp>
      <p:sp>
        <p:nvSpPr>
          <p:cNvPr id="119" name="s04_r5c2_t"/>
          <p:cNvSpPr/>
          <p:nvPr/>
        </p:nvSpPr>
        <p:spPr>
          <a:xfrm>
            <a:off x="7479975" y="3858768"/>
            <a:ext cx="767730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TRANSLATE</a:t>
            </a:r>
            <a:endParaRPr lang="en-US" sz="700" dirty="0"/>
          </a:p>
        </p:txBody>
      </p:sp>
      <p:sp>
        <p:nvSpPr>
          <p:cNvPr id="120" name="s04_r5d2"/>
          <p:cNvSpPr/>
          <p:nvPr/>
        </p:nvSpPr>
        <p:spPr>
          <a:xfrm>
            <a:off x="8448873" y="3945636"/>
            <a:ext cx="68580" cy="68580"/>
          </a:xfrm>
          <a:prstGeom prst="rect">
            <a:avLst/>
          </a:prstGeom>
          <a:solidFill>
            <a:srgbClr val="C7CAD1"/>
          </a:solidFill>
          <a:ln/>
        </p:spPr>
      </p:sp>
      <p:sp>
        <p:nvSpPr>
          <p:cNvPr id="121" name="s04_r5c3_sh"/>
          <p:cNvSpPr/>
          <p:nvPr/>
        </p:nvSpPr>
        <p:spPr>
          <a:xfrm>
            <a:off x="9782251" y="3886200"/>
            <a:ext cx="826618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22" name="s04_r5c3"/>
          <p:cNvSpPr/>
          <p:nvPr/>
        </p:nvSpPr>
        <p:spPr>
          <a:xfrm>
            <a:off x="9754819" y="3858768"/>
            <a:ext cx="826618" cy="287528"/>
          </a:xfrm>
          <a:prstGeom prst="rect">
            <a:avLst/>
          </a:prstGeom>
          <a:solidFill>
            <a:srgbClr val="E5F5EA"/>
          </a:solidFill>
          <a:ln w="15875">
            <a:solidFill>
              <a:srgbClr val="16A34A"/>
            </a:solidFill>
            <a:prstDash val="solid"/>
          </a:ln>
        </p:spPr>
      </p:sp>
      <p:sp>
        <p:nvSpPr>
          <p:cNvPr id="123" name="s04_r5c3_t"/>
          <p:cNvSpPr/>
          <p:nvPr/>
        </p:nvSpPr>
        <p:spPr>
          <a:xfrm>
            <a:off x="9754819" y="3858768"/>
            <a:ext cx="826618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COPY-AS-IS</a:t>
            </a:r>
            <a:endParaRPr lang="en-US" sz="700" dirty="0"/>
          </a:p>
        </p:txBody>
      </p:sp>
      <p:sp>
        <p:nvSpPr>
          <p:cNvPr id="124" name="s04_r5d3"/>
          <p:cNvSpPr/>
          <p:nvPr/>
        </p:nvSpPr>
        <p:spPr>
          <a:xfrm>
            <a:off x="10782605" y="3945636"/>
            <a:ext cx="68580" cy="68580"/>
          </a:xfrm>
          <a:prstGeom prst="rect">
            <a:avLst/>
          </a:prstGeom>
          <a:solidFill>
            <a:srgbClr val="C7CAD1"/>
          </a:solidFill>
          <a:ln/>
        </p:spPr>
      </p:sp>
      <p:sp>
        <p:nvSpPr>
          <p:cNvPr id="125" name="s04_hr6"/>
          <p:cNvSpPr/>
          <p:nvPr/>
        </p:nvSpPr>
        <p:spPr>
          <a:xfrm>
            <a:off x="777240" y="4162349"/>
            <a:ext cx="10680192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126" name="s04_r6_lab"/>
          <p:cNvSpPr/>
          <p:nvPr/>
        </p:nvSpPr>
        <p:spPr>
          <a:xfrm>
            <a:off x="777240" y="4162349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LSP</a:t>
            </a:r>
            <a:endParaRPr lang="en-US" sz="850" dirty="0"/>
          </a:p>
        </p:txBody>
      </p:sp>
      <p:sp>
        <p:nvSpPr>
          <p:cNvPr id="127" name="s04_r6c0_sh"/>
          <p:cNvSpPr/>
          <p:nvPr/>
        </p:nvSpPr>
        <p:spPr>
          <a:xfrm>
            <a:off x="2898831" y="4253789"/>
            <a:ext cx="767730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28" name="s04_r6c0"/>
          <p:cNvSpPr/>
          <p:nvPr/>
        </p:nvSpPr>
        <p:spPr>
          <a:xfrm>
            <a:off x="2871399" y="4226357"/>
            <a:ext cx="767730" cy="287528"/>
          </a:xfrm>
          <a:prstGeom prst="rect">
            <a:avLst/>
          </a:prstGeom>
          <a:solidFill>
            <a:srgbClr val="E7EEFD"/>
          </a:solidFill>
          <a:ln w="15875">
            <a:solidFill>
              <a:srgbClr val="2F6FED"/>
            </a:solidFill>
            <a:prstDash val="solid"/>
          </a:ln>
        </p:spPr>
      </p:sp>
      <p:sp>
        <p:nvSpPr>
          <p:cNvPr id="129" name="s04_r6c0_t"/>
          <p:cNvSpPr/>
          <p:nvPr/>
        </p:nvSpPr>
        <p:spPr>
          <a:xfrm>
            <a:off x="2871399" y="4226357"/>
            <a:ext cx="767730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TRANSLATE</a:t>
            </a:r>
            <a:endParaRPr lang="en-US" sz="700" dirty="0"/>
          </a:p>
        </p:txBody>
      </p:sp>
      <p:sp>
        <p:nvSpPr>
          <p:cNvPr id="130" name="s04_r6d0"/>
          <p:cNvSpPr/>
          <p:nvPr/>
        </p:nvSpPr>
        <p:spPr>
          <a:xfrm>
            <a:off x="3840297" y="4313225"/>
            <a:ext cx="68580" cy="68580"/>
          </a:xfrm>
          <a:prstGeom prst="rect">
            <a:avLst/>
          </a:prstGeom>
          <a:solidFill>
            <a:srgbClr val="C7CAD1"/>
          </a:solidFill>
          <a:ln/>
        </p:spPr>
      </p:sp>
      <p:sp>
        <p:nvSpPr>
          <p:cNvPr id="131" name="s04_r6c1_sh"/>
          <p:cNvSpPr/>
          <p:nvPr/>
        </p:nvSpPr>
        <p:spPr>
          <a:xfrm>
            <a:off x="5173675" y="4253789"/>
            <a:ext cx="826618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32" name="s04_r6c1"/>
          <p:cNvSpPr/>
          <p:nvPr/>
        </p:nvSpPr>
        <p:spPr>
          <a:xfrm>
            <a:off x="5146243" y="4226357"/>
            <a:ext cx="826618" cy="287528"/>
          </a:xfrm>
          <a:prstGeom prst="rect">
            <a:avLst/>
          </a:prstGeom>
          <a:solidFill>
            <a:srgbClr val="EFEFEA"/>
          </a:solidFill>
          <a:ln w="15875">
            <a:solidFill>
              <a:srgbClr val="5C6068"/>
            </a:solidFill>
            <a:prstDash val="solid"/>
          </a:ln>
        </p:spPr>
      </p:sp>
      <p:sp>
        <p:nvSpPr>
          <p:cNvPr id="133" name="s04_r6c1_t"/>
          <p:cNvSpPr/>
          <p:nvPr/>
        </p:nvSpPr>
        <p:spPr>
          <a:xfrm>
            <a:off x="5146243" y="4226357"/>
            <a:ext cx="826618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SURFACE</a:t>
            </a:r>
            <a:endParaRPr lang="en-US" sz="700" dirty="0"/>
          </a:p>
        </p:txBody>
      </p:sp>
      <p:sp>
        <p:nvSpPr>
          <p:cNvPr id="134" name="s04_r6d1"/>
          <p:cNvSpPr/>
          <p:nvPr/>
        </p:nvSpPr>
        <p:spPr>
          <a:xfrm>
            <a:off x="6174029" y="4313225"/>
            <a:ext cx="68580" cy="68580"/>
          </a:xfrm>
          <a:prstGeom prst="rect">
            <a:avLst/>
          </a:prstGeom>
          <a:solidFill>
            <a:srgbClr val="C7CAD1"/>
          </a:solidFill>
          <a:ln/>
        </p:spPr>
      </p:sp>
      <p:sp>
        <p:nvSpPr>
          <p:cNvPr id="135" name="s04_r6c2_sh"/>
          <p:cNvSpPr/>
          <p:nvPr/>
        </p:nvSpPr>
        <p:spPr>
          <a:xfrm>
            <a:off x="7477963" y="4253789"/>
            <a:ext cx="826618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36" name="s04_r6c2"/>
          <p:cNvSpPr/>
          <p:nvPr/>
        </p:nvSpPr>
        <p:spPr>
          <a:xfrm>
            <a:off x="7450531" y="4226357"/>
            <a:ext cx="826618" cy="287528"/>
          </a:xfrm>
          <a:prstGeom prst="rect">
            <a:avLst/>
          </a:prstGeom>
          <a:solidFill>
            <a:srgbClr val="EFEFEA"/>
          </a:solidFill>
          <a:ln w="15875">
            <a:solidFill>
              <a:srgbClr val="5C6068"/>
            </a:solidFill>
            <a:prstDash val="solid"/>
          </a:ln>
        </p:spPr>
      </p:sp>
      <p:sp>
        <p:nvSpPr>
          <p:cNvPr id="137" name="s04_r6c2_t"/>
          <p:cNvSpPr/>
          <p:nvPr/>
        </p:nvSpPr>
        <p:spPr>
          <a:xfrm>
            <a:off x="7450531" y="4226357"/>
            <a:ext cx="826618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SURFACE</a:t>
            </a:r>
            <a:endParaRPr lang="en-US" sz="700" dirty="0"/>
          </a:p>
        </p:txBody>
      </p:sp>
      <p:sp>
        <p:nvSpPr>
          <p:cNvPr id="138" name="s04_r6d2"/>
          <p:cNvSpPr/>
          <p:nvPr/>
        </p:nvSpPr>
        <p:spPr>
          <a:xfrm>
            <a:off x="8478317" y="4313225"/>
            <a:ext cx="68580" cy="68580"/>
          </a:xfrm>
          <a:prstGeom prst="rect">
            <a:avLst/>
          </a:prstGeom>
          <a:solidFill>
            <a:srgbClr val="C7CAD1"/>
          </a:solidFill>
          <a:ln/>
        </p:spPr>
      </p:sp>
      <p:sp>
        <p:nvSpPr>
          <p:cNvPr id="139" name="s04_r6c3_sh"/>
          <p:cNvSpPr/>
          <p:nvPr/>
        </p:nvSpPr>
        <p:spPr>
          <a:xfrm>
            <a:off x="9782251" y="4253789"/>
            <a:ext cx="826618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40" name="s04_r6c3"/>
          <p:cNvSpPr/>
          <p:nvPr/>
        </p:nvSpPr>
        <p:spPr>
          <a:xfrm>
            <a:off x="9754819" y="4226357"/>
            <a:ext cx="826618" cy="287528"/>
          </a:xfrm>
          <a:prstGeom prst="rect">
            <a:avLst/>
          </a:prstGeom>
          <a:solidFill>
            <a:srgbClr val="EFEFEA"/>
          </a:solidFill>
          <a:ln w="15875">
            <a:solidFill>
              <a:srgbClr val="5C6068"/>
            </a:solidFill>
            <a:prstDash val="solid"/>
          </a:ln>
        </p:spPr>
      </p:sp>
      <p:sp>
        <p:nvSpPr>
          <p:cNvPr id="141" name="s04_r6c3_t"/>
          <p:cNvSpPr/>
          <p:nvPr/>
        </p:nvSpPr>
        <p:spPr>
          <a:xfrm>
            <a:off x="9754819" y="4226357"/>
            <a:ext cx="826618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SURFACE</a:t>
            </a:r>
            <a:endParaRPr lang="en-US" sz="700" dirty="0"/>
          </a:p>
        </p:txBody>
      </p:sp>
      <p:sp>
        <p:nvSpPr>
          <p:cNvPr id="142" name="s04_r6d3"/>
          <p:cNvSpPr/>
          <p:nvPr/>
        </p:nvSpPr>
        <p:spPr>
          <a:xfrm>
            <a:off x="10782605" y="4313225"/>
            <a:ext cx="68580" cy="68580"/>
          </a:xfrm>
          <a:prstGeom prst="rect">
            <a:avLst/>
          </a:prstGeom>
          <a:solidFill>
            <a:srgbClr val="C7CAD1"/>
          </a:solidFill>
          <a:ln/>
        </p:spPr>
      </p:sp>
      <p:sp>
        <p:nvSpPr>
          <p:cNvPr id="143" name="s04_hr7"/>
          <p:cNvSpPr/>
          <p:nvPr/>
        </p:nvSpPr>
        <p:spPr>
          <a:xfrm>
            <a:off x="777240" y="4529938"/>
            <a:ext cx="10680192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144" name="s04_r7_lab"/>
          <p:cNvSpPr/>
          <p:nvPr/>
        </p:nvSpPr>
        <p:spPr>
          <a:xfrm>
            <a:off x="777240" y="452993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CUSTOM TOOLS</a:t>
            </a:r>
            <a:endParaRPr lang="en-US" sz="850" dirty="0"/>
          </a:p>
        </p:txBody>
      </p:sp>
      <p:sp>
        <p:nvSpPr>
          <p:cNvPr id="145" name="s04_r7c0_sh"/>
          <p:cNvSpPr/>
          <p:nvPr/>
        </p:nvSpPr>
        <p:spPr>
          <a:xfrm>
            <a:off x="2869387" y="4621378"/>
            <a:ext cx="826618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46" name="s04_r7c0"/>
          <p:cNvSpPr/>
          <p:nvPr/>
        </p:nvSpPr>
        <p:spPr>
          <a:xfrm>
            <a:off x="2841955" y="4593946"/>
            <a:ext cx="826618" cy="287528"/>
          </a:xfrm>
          <a:prstGeom prst="rect">
            <a:avLst/>
          </a:prstGeom>
          <a:solidFill>
            <a:srgbClr val="EFEFEA"/>
          </a:solidFill>
          <a:ln w="15875">
            <a:solidFill>
              <a:srgbClr val="5C6068"/>
            </a:solidFill>
            <a:prstDash val="solid"/>
          </a:ln>
        </p:spPr>
      </p:sp>
      <p:sp>
        <p:nvSpPr>
          <p:cNvPr id="147" name="s04_r7c0_t"/>
          <p:cNvSpPr/>
          <p:nvPr/>
        </p:nvSpPr>
        <p:spPr>
          <a:xfrm>
            <a:off x="2841955" y="4593946"/>
            <a:ext cx="826618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SURFACE</a:t>
            </a:r>
            <a:endParaRPr lang="en-US" sz="700" dirty="0"/>
          </a:p>
        </p:txBody>
      </p:sp>
      <p:sp>
        <p:nvSpPr>
          <p:cNvPr id="148" name="s04_r7d0"/>
          <p:cNvSpPr/>
          <p:nvPr/>
        </p:nvSpPr>
        <p:spPr>
          <a:xfrm>
            <a:off x="3869741" y="4680814"/>
            <a:ext cx="68580" cy="68580"/>
          </a:xfrm>
          <a:prstGeom prst="rect">
            <a:avLst/>
          </a:prstGeom>
          <a:solidFill>
            <a:srgbClr val="C7CAD1"/>
          </a:solidFill>
          <a:ln/>
        </p:spPr>
      </p:sp>
      <p:sp>
        <p:nvSpPr>
          <p:cNvPr id="149" name="s04_r7c1_sh"/>
          <p:cNvSpPr/>
          <p:nvPr/>
        </p:nvSpPr>
        <p:spPr>
          <a:xfrm>
            <a:off x="5173675" y="4621378"/>
            <a:ext cx="826618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50" name="s04_r7c1"/>
          <p:cNvSpPr/>
          <p:nvPr/>
        </p:nvSpPr>
        <p:spPr>
          <a:xfrm>
            <a:off x="5146243" y="4593946"/>
            <a:ext cx="826618" cy="287528"/>
          </a:xfrm>
          <a:prstGeom prst="rect">
            <a:avLst/>
          </a:prstGeom>
          <a:solidFill>
            <a:srgbClr val="EFEFEA"/>
          </a:solidFill>
          <a:ln w="15875">
            <a:solidFill>
              <a:srgbClr val="5C6068"/>
            </a:solidFill>
            <a:prstDash val="solid"/>
          </a:ln>
        </p:spPr>
      </p:sp>
      <p:sp>
        <p:nvSpPr>
          <p:cNvPr id="151" name="s04_r7c1_t"/>
          <p:cNvSpPr/>
          <p:nvPr/>
        </p:nvSpPr>
        <p:spPr>
          <a:xfrm>
            <a:off x="5146243" y="4593946"/>
            <a:ext cx="826618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SURFACE</a:t>
            </a:r>
            <a:endParaRPr lang="en-US" sz="700" dirty="0"/>
          </a:p>
        </p:txBody>
      </p:sp>
      <p:sp>
        <p:nvSpPr>
          <p:cNvPr id="152" name="s04_r7d1"/>
          <p:cNvSpPr/>
          <p:nvPr/>
        </p:nvSpPr>
        <p:spPr>
          <a:xfrm>
            <a:off x="6174029" y="4680814"/>
            <a:ext cx="68580" cy="68580"/>
          </a:xfrm>
          <a:prstGeom prst="rect">
            <a:avLst/>
          </a:prstGeom>
          <a:solidFill>
            <a:srgbClr val="C7CAD1"/>
          </a:solidFill>
          <a:ln/>
        </p:spPr>
      </p:sp>
      <p:sp>
        <p:nvSpPr>
          <p:cNvPr id="153" name="s04_r7c2_sh"/>
          <p:cNvSpPr/>
          <p:nvPr/>
        </p:nvSpPr>
        <p:spPr>
          <a:xfrm>
            <a:off x="7507407" y="4621378"/>
            <a:ext cx="767730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54" name="s04_r7c2"/>
          <p:cNvSpPr/>
          <p:nvPr/>
        </p:nvSpPr>
        <p:spPr>
          <a:xfrm>
            <a:off x="7479975" y="4593946"/>
            <a:ext cx="767730" cy="287528"/>
          </a:xfrm>
          <a:prstGeom prst="rect">
            <a:avLst/>
          </a:prstGeom>
          <a:solidFill>
            <a:srgbClr val="E7EEFD"/>
          </a:solidFill>
          <a:ln w="15875">
            <a:solidFill>
              <a:srgbClr val="2F6FED"/>
            </a:solidFill>
            <a:prstDash val="solid"/>
          </a:ln>
        </p:spPr>
      </p:sp>
      <p:sp>
        <p:nvSpPr>
          <p:cNvPr id="155" name="s04_r7c2_t"/>
          <p:cNvSpPr/>
          <p:nvPr/>
        </p:nvSpPr>
        <p:spPr>
          <a:xfrm>
            <a:off x="7479975" y="4593946"/>
            <a:ext cx="767730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TRANSLATE</a:t>
            </a:r>
            <a:endParaRPr lang="en-US" sz="700" dirty="0"/>
          </a:p>
        </p:txBody>
      </p:sp>
      <p:sp>
        <p:nvSpPr>
          <p:cNvPr id="156" name="s04_r7d2"/>
          <p:cNvSpPr/>
          <p:nvPr/>
        </p:nvSpPr>
        <p:spPr>
          <a:xfrm>
            <a:off x="8448873" y="4680814"/>
            <a:ext cx="68580" cy="6858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7" name="s04_r7c3_sh"/>
          <p:cNvSpPr/>
          <p:nvPr/>
        </p:nvSpPr>
        <p:spPr>
          <a:xfrm>
            <a:off x="9811695" y="4621378"/>
            <a:ext cx="767730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58" name="s04_r7c3"/>
          <p:cNvSpPr/>
          <p:nvPr/>
        </p:nvSpPr>
        <p:spPr>
          <a:xfrm>
            <a:off x="9784263" y="4593946"/>
            <a:ext cx="767730" cy="287528"/>
          </a:xfrm>
          <a:prstGeom prst="rect">
            <a:avLst/>
          </a:prstGeom>
          <a:solidFill>
            <a:srgbClr val="E7EEFD"/>
          </a:solidFill>
          <a:ln w="15875">
            <a:solidFill>
              <a:srgbClr val="2F6FED"/>
            </a:solidFill>
            <a:prstDash val="solid"/>
          </a:ln>
        </p:spPr>
      </p:sp>
      <p:sp>
        <p:nvSpPr>
          <p:cNvPr id="159" name="s04_r7c3_t"/>
          <p:cNvSpPr/>
          <p:nvPr/>
        </p:nvSpPr>
        <p:spPr>
          <a:xfrm>
            <a:off x="9784263" y="4593946"/>
            <a:ext cx="767730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TRANSLATE</a:t>
            </a:r>
            <a:endParaRPr lang="en-US" sz="700" dirty="0"/>
          </a:p>
        </p:txBody>
      </p:sp>
      <p:sp>
        <p:nvSpPr>
          <p:cNvPr id="160" name="s04_r7d3"/>
          <p:cNvSpPr/>
          <p:nvPr/>
        </p:nvSpPr>
        <p:spPr>
          <a:xfrm>
            <a:off x="10753161" y="4680814"/>
            <a:ext cx="68580" cy="6858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61" name="s04_hr8"/>
          <p:cNvSpPr/>
          <p:nvPr/>
        </p:nvSpPr>
        <p:spPr>
          <a:xfrm>
            <a:off x="777240" y="4897526"/>
            <a:ext cx="10680192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162" name="s04_r8_lab"/>
          <p:cNvSpPr/>
          <p:nvPr/>
        </p:nvSpPr>
        <p:spPr>
          <a:xfrm>
            <a:off x="777240" y="489752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 LINE</a:t>
            </a:r>
            <a:endParaRPr lang="en-US" sz="850" dirty="0"/>
          </a:p>
        </p:txBody>
      </p:sp>
      <p:sp>
        <p:nvSpPr>
          <p:cNvPr id="163" name="s04_r8c0_sh"/>
          <p:cNvSpPr/>
          <p:nvPr/>
        </p:nvSpPr>
        <p:spPr>
          <a:xfrm>
            <a:off x="2869387" y="4988966"/>
            <a:ext cx="826618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64" name="s04_r8c0"/>
          <p:cNvSpPr/>
          <p:nvPr/>
        </p:nvSpPr>
        <p:spPr>
          <a:xfrm>
            <a:off x="2841955" y="4961534"/>
            <a:ext cx="826618" cy="287528"/>
          </a:xfrm>
          <a:prstGeom prst="rect">
            <a:avLst/>
          </a:prstGeom>
          <a:solidFill>
            <a:srgbClr val="E5F5EA"/>
          </a:solidFill>
          <a:ln w="15875">
            <a:solidFill>
              <a:srgbClr val="16A34A"/>
            </a:solidFill>
            <a:prstDash val="solid"/>
          </a:ln>
        </p:spPr>
      </p:sp>
      <p:sp>
        <p:nvSpPr>
          <p:cNvPr id="165" name="s04_r8c0_t"/>
          <p:cNvSpPr/>
          <p:nvPr/>
        </p:nvSpPr>
        <p:spPr>
          <a:xfrm>
            <a:off x="2841955" y="4961534"/>
            <a:ext cx="826618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COPY-AS-IS</a:t>
            </a:r>
            <a:endParaRPr lang="en-US" sz="700" dirty="0"/>
          </a:p>
        </p:txBody>
      </p:sp>
      <p:sp>
        <p:nvSpPr>
          <p:cNvPr id="166" name="s04_r8d0"/>
          <p:cNvSpPr/>
          <p:nvPr/>
        </p:nvSpPr>
        <p:spPr>
          <a:xfrm>
            <a:off x="3869741" y="5048402"/>
            <a:ext cx="68580" cy="68580"/>
          </a:xfrm>
          <a:prstGeom prst="rect">
            <a:avLst/>
          </a:prstGeom>
          <a:solidFill>
            <a:srgbClr val="C7CAD1"/>
          </a:solidFill>
          <a:ln/>
        </p:spPr>
      </p:sp>
      <p:sp>
        <p:nvSpPr>
          <p:cNvPr id="167" name="s04_r8c1_sh"/>
          <p:cNvSpPr/>
          <p:nvPr/>
        </p:nvSpPr>
        <p:spPr>
          <a:xfrm>
            <a:off x="5173675" y="4988966"/>
            <a:ext cx="826618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68" name="s04_r8c1"/>
          <p:cNvSpPr/>
          <p:nvPr/>
        </p:nvSpPr>
        <p:spPr>
          <a:xfrm>
            <a:off x="5146243" y="4961534"/>
            <a:ext cx="826618" cy="287528"/>
          </a:xfrm>
          <a:prstGeom prst="rect">
            <a:avLst/>
          </a:prstGeom>
          <a:solidFill>
            <a:srgbClr val="EFEFEA"/>
          </a:solidFill>
          <a:ln w="15875">
            <a:solidFill>
              <a:srgbClr val="5C6068"/>
            </a:solidFill>
            <a:prstDash val="solid"/>
          </a:ln>
        </p:spPr>
      </p:sp>
      <p:sp>
        <p:nvSpPr>
          <p:cNvPr id="169" name="s04_r8c1_t"/>
          <p:cNvSpPr/>
          <p:nvPr/>
        </p:nvSpPr>
        <p:spPr>
          <a:xfrm>
            <a:off x="5146243" y="4961534"/>
            <a:ext cx="826618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SURFACE</a:t>
            </a:r>
            <a:endParaRPr lang="en-US" sz="700" dirty="0"/>
          </a:p>
        </p:txBody>
      </p:sp>
      <p:sp>
        <p:nvSpPr>
          <p:cNvPr id="170" name="s04_r8d1"/>
          <p:cNvSpPr/>
          <p:nvPr/>
        </p:nvSpPr>
        <p:spPr>
          <a:xfrm>
            <a:off x="6174029" y="5048402"/>
            <a:ext cx="68580" cy="68580"/>
          </a:xfrm>
          <a:prstGeom prst="rect">
            <a:avLst/>
          </a:prstGeom>
          <a:solidFill>
            <a:srgbClr val="C7CAD1"/>
          </a:solidFill>
          <a:ln/>
        </p:spPr>
      </p:sp>
      <p:sp>
        <p:nvSpPr>
          <p:cNvPr id="171" name="s04_r8c2_sh"/>
          <p:cNvSpPr/>
          <p:nvPr/>
        </p:nvSpPr>
        <p:spPr>
          <a:xfrm>
            <a:off x="7477963" y="4988966"/>
            <a:ext cx="826618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72" name="s04_r8c2"/>
          <p:cNvSpPr/>
          <p:nvPr/>
        </p:nvSpPr>
        <p:spPr>
          <a:xfrm>
            <a:off x="7450531" y="4961534"/>
            <a:ext cx="826618" cy="287528"/>
          </a:xfrm>
          <a:prstGeom prst="rect">
            <a:avLst/>
          </a:prstGeom>
          <a:solidFill>
            <a:srgbClr val="EFEFEA"/>
          </a:solidFill>
          <a:ln w="15875">
            <a:solidFill>
              <a:srgbClr val="5C6068"/>
            </a:solidFill>
            <a:prstDash val="solid"/>
          </a:ln>
        </p:spPr>
      </p:sp>
      <p:sp>
        <p:nvSpPr>
          <p:cNvPr id="173" name="s04_r8c2_t"/>
          <p:cNvSpPr/>
          <p:nvPr/>
        </p:nvSpPr>
        <p:spPr>
          <a:xfrm>
            <a:off x="7450531" y="4961534"/>
            <a:ext cx="826618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SURFACE</a:t>
            </a:r>
            <a:endParaRPr lang="en-US" sz="700" dirty="0"/>
          </a:p>
        </p:txBody>
      </p:sp>
      <p:sp>
        <p:nvSpPr>
          <p:cNvPr id="174" name="s04_r8d2"/>
          <p:cNvSpPr/>
          <p:nvPr/>
        </p:nvSpPr>
        <p:spPr>
          <a:xfrm>
            <a:off x="8478317" y="5048402"/>
            <a:ext cx="68580" cy="68580"/>
          </a:xfrm>
          <a:prstGeom prst="rect">
            <a:avLst/>
          </a:prstGeom>
          <a:solidFill>
            <a:srgbClr val="C7CAD1"/>
          </a:solidFill>
          <a:ln/>
        </p:spPr>
      </p:sp>
      <p:sp>
        <p:nvSpPr>
          <p:cNvPr id="175" name="s04_r8c3_sh"/>
          <p:cNvSpPr/>
          <p:nvPr/>
        </p:nvSpPr>
        <p:spPr>
          <a:xfrm>
            <a:off x="9870582" y="4988966"/>
            <a:ext cx="649956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76" name="s04_r8c3"/>
          <p:cNvSpPr/>
          <p:nvPr/>
        </p:nvSpPr>
        <p:spPr>
          <a:xfrm>
            <a:off x="9843150" y="4961534"/>
            <a:ext cx="649956" cy="287528"/>
          </a:xfrm>
          <a:prstGeom prst="rect">
            <a:avLst/>
          </a:prstGeom>
          <a:solidFill>
            <a:srgbClr val="FBEEDD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177" name="s04_r8c3_t"/>
          <p:cNvSpPr/>
          <p:nvPr/>
        </p:nvSpPr>
        <p:spPr>
          <a:xfrm>
            <a:off x="9843150" y="4961534"/>
            <a:ext cx="649956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OVERLAY</a:t>
            </a:r>
            <a:endParaRPr lang="en-US" sz="700" dirty="0"/>
          </a:p>
        </p:txBody>
      </p:sp>
      <p:sp>
        <p:nvSpPr>
          <p:cNvPr id="178" name="s04_r8d3"/>
          <p:cNvSpPr/>
          <p:nvPr/>
        </p:nvSpPr>
        <p:spPr>
          <a:xfrm>
            <a:off x="10694274" y="5048402"/>
            <a:ext cx="68580" cy="68580"/>
          </a:xfrm>
          <a:prstGeom prst="rect">
            <a:avLst/>
          </a:prstGeom>
          <a:solidFill>
            <a:srgbClr val="C7CAD1"/>
          </a:solidFill>
          <a:ln/>
        </p:spPr>
      </p:sp>
      <p:sp>
        <p:nvSpPr>
          <p:cNvPr id="179" name="s04_hr9"/>
          <p:cNvSpPr/>
          <p:nvPr/>
        </p:nvSpPr>
        <p:spPr>
          <a:xfrm>
            <a:off x="777240" y="5265115"/>
            <a:ext cx="10680192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180" name="s04_r9_lab"/>
          <p:cNvSpPr/>
          <p:nvPr/>
        </p:nvSpPr>
        <p:spPr>
          <a:xfrm>
            <a:off x="777240" y="5265115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EXEC POLICY</a:t>
            </a:r>
            <a:endParaRPr lang="en-US" sz="850" dirty="0"/>
          </a:p>
        </p:txBody>
      </p:sp>
      <p:sp>
        <p:nvSpPr>
          <p:cNvPr id="181" name="s04_r9c0_sh"/>
          <p:cNvSpPr/>
          <p:nvPr/>
        </p:nvSpPr>
        <p:spPr>
          <a:xfrm>
            <a:off x="2957718" y="5356555"/>
            <a:ext cx="649956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82" name="s04_r9c0"/>
          <p:cNvSpPr/>
          <p:nvPr/>
        </p:nvSpPr>
        <p:spPr>
          <a:xfrm>
            <a:off x="2930286" y="5329123"/>
            <a:ext cx="649956" cy="287528"/>
          </a:xfrm>
          <a:prstGeom prst="rect">
            <a:avLst/>
          </a:prstGeom>
          <a:solidFill>
            <a:srgbClr val="FBEEDD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183" name="s04_r9c0_t"/>
          <p:cNvSpPr/>
          <p:nvPr/>
        </p:nvSpPr>
        <p:spPr>
          <a:xfrm>
            <a:off x="2930286" y="5329123"/>
            <a:ext cx="649956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OVERLAY</a:t>
            </a:r>
            <a:endParaRPr lang="en-US" sz="700" dirty="0"/>
          </a:p>
        </p:txBody>
      </p:sp>
      <p:sp>
        <p:nvSpPr>
          <p:cNvPr id="184" name="s04_r9d0"/>
          <p:cNvSpPr/>
          <p:nvPr/>
        </p:nvSpPr>
        <p:spPr>
          <a:xfrm>
            <a:off x="3781410" y="5415991"/>
            <a:ext cx="68580" cy="68580"/>
          </a:xfrm>
          <a:prstGeom prst="rect">
            <a:avLst/>
          </a:prstGeom>
          <a:solidFill>
            <a:srgbClr val="C7CAD1"/>
          </a:solidFill>
          <a:ln/>
        </p:spPr>
      </p:sp>
      <p:sp>
        <p:nvSpPr>
          <p:cNvPr id="185" name="s04_r9c1_sh"/>
          <p:cNvSpPr/>
          <p:nvPr/>
        </p:nvSpPr>
        <p:spPr>
          <a:xfrm>
            <a:off x="5173675" y="5356555"/>
            <a:ext cx="826618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86" name="s04_r9c1"/>
          <p:cNvSpPr/>
          <p:nvPr/>
        </p:nvSpPr>
        <p:spPr>
          <a:xfrm>
            <a:off x="5146243" y="5329123"/>
            <a:ext cx="826618" cy="287528"/>
          </a:xfrm>
          <a:prstGeom prst="rect">
            <a:avLst/>
          </a:prstGeom>
          <a:solidFill>
            <a:srgbClr val="E5F5EA"/>
          </a:solidFill>
          <a:ln w="15875">
            <a:solidFill>
              <a:srgbClr val="16A34A"/>
            </a:solidFill>
            <a:prstDash val="solid"/>
          </a:ln>
        </p:spPr>
      </p:sp>
      <p:sp>
        <p:nvSpPr>
          <p:cNvPr id="187" name="s04_r9c1_t"/>
          <p:cNvSpPr/>
          <p:nvPr/>
        </p:nvSpPr>
        <p:spPr>
          <a:xfrm>
            <a:off x="5146243" y="5329123"/>
            <a:ext cx="826618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COPY-AS-IS</a:t>
            </a:r>
            <a:endParaRPr lang="en-US" sz="700" dirty="0"/>
          </a:p>
        </p:txBody>
      </p:sp>
      <p:sp>
        <p:nvSpPr>
          <p:cNvPr id="188" name="s04_r9d1"/>
          <p:cNvSpPr/>
          <p:nvPr/>
        </p:nvSpPr>
        <p:spPr>
          <a:xfrm>
            <a:off x="6174029" y="5415991"/>
            <a:ext cx="68580" cy="68580"/>
          </a:xfrm>
          <a:prstGeom prst="rect">
            <a:avLst/>
          </a:prstGeom>
          <a:solidFill>
            <a:srgbClr val="C7CAD1"/>
          </a:solidFill>
          <a:ln/>
        </p:spPr>
      </p:sp>
      <p:sp>
        <p:nvSpPr>
          <p:cNvPr id="189" name="s04_r9c2_sh"/>
          <p:cNvSpPr/>
          <p:nvPr/>
        </p:nvSpPr>
        <p:spPr>
          <a:xfrm>
            <a:off x="7566294" y="5356555"/>
            <a:ext cx="649956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90" name="s04_r9c2"/>
          <p:cNvSpPr/>
          <p:nvPr/>
        </p:nvSpPr>
        <p:spPr>
          <a:xfrm>
            <a:off x="7538862" y="5329123"/>
            <a:ext cx="649956" cy="287528"/>
          </a:xfrm>
          <a:prstGeom prst="rect">
            <a:avLst/>
          </a:prstGeom>
          <a:solidFill>
            <a:srgbClr val="FBEEDD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191" name="s04_r9c2_t"/>
          <p:cNvSpPr/>
          <p:nvPr/>
        </p:nvSpPr>
        <p:spPr>
          <a:xfrm>
            <a:off x="7538862" y="5329123"/>
            <a:ext cx="649956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OVERLAY</a:t>
            </a:r>
            <a:endParaRPr lang="en-US" sz="700" dirty="0"/>
          </a:p>
        </p:txBody>
      </p:sp>
      <p:sp>
        <p:nvSpPr>
          <p:cNvPr id="192" name="s04_r9d2"/>
          <p:cNvSpPr/>
          <p:nvPr/>
        </p:nvSpPr>
        <p:spPr>
          <a:xfrm>
            <a:off x="8389986" y="5415991"/>
            <a:ext cx="68580" cy="68580"/>
          </a:xfrm>
          <a:prstGeom prst="rect">
            <a:avLst/>
          </a:prstGeom>
          <a:solidFill>
            <a:srgbClr val="C7CAD1"/>
          </a:solidFill>
          <a:ln/>
        </p:spPr>
      </p:sp>
      <p:sp>
        <p:nvSpPr>
          <p:cNvPr id="193" name="s04_r9c3_sh"/>
          <p:cNvSpPr/>
          <p:nvPr/>
        </p:nvSpPr>
        <p:spPr>
          <a:xfrm>
            <a:off x="9782251" y="5356555"/>
            <a:ext cx="826618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94" name="s04_r9c3"/>
          <p:cNvSpPr/>
          <p:nvPr/>
        </p:nvSpPr>
        <p:spPr>
          <a:xfrm>
            <a:off x="9754819" y="5329123"/>
            <a:ext cx="826618" cy="287528"/>
          </a:xfrm>
          <a:prstGeom prst="rect">
            <a:avLst/>
          </a:prstGeom>
          <a:solidFill>
            <a:srgbClr val="EFEFEA"/>
          </a:solidFill>
          <a:ln w="15875">
            <a:solidFill>
              <a:srgbClr val="5C6068"/>
            </a:solidFill>
            <a:prstDash val="solid"/>
          </a:ln>
        </p:spPr>
      </p:sp>
      <p:sp>
        <p:nvSpPr>
          <p:cNvPr id="195" name="s04_r9c3_t"/>
          <p:cNvSpPr/>
          <p:nvPr/>
        </p:nvSpPr>
        <p:spPr>
          <a:xfrm>
            <a:off x="9754819" y="5329123"/>
            <a:ext cx="826618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SURFACE</a:t>
            </a:r>
            <a:endParaRPr lang="en-US" sz="700" dirty="0"/>
          </a:p>
        </p:txBody>
      </p:sp>
      <p:sp>
        <p:nvSpPr>
          <p:cNvPr id="196" name="s04_r9d3"/>
          <p:cNvSpPr/>
          <p:nvPr/>
        </p:nvSpPr>
        <p:spPr>
          <a:xfrm>
            <a:off x="10782605" y="5415991"/>
            <a:ext cx="68580" cy="68580"/>
          </a:xfrm>
          <a:prstGeom prst="rect">
            <a:avLst/>
          </a:prstGeom>
          <a:solidFill>
            <a:srgbClr val="C7CAD1"/>
          </a:solidFill>
          <a:ln/>
        </p:spPr>
      </p:sp>
      <p:sp>
        <p:nvSpPr>
          <p:cNvPr id="197" name="s04_hr10"/>
          <p:cNvSpPr/>
          <p:nvPr/>
        </p:nvSpPr>
        <p:spPr>
          <a:xfrm>
            <a:off x="777240" y="5632704"/>
            <a:ext cx="10680192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198" name="s04_key_sh"/>
          <p:cNvSpPr/>
          <p:nvPr/>
        </p:nvSpPr>
        <p:spPr>
          <a:xfrm>
            <a:off x="553212" y="5884164"/>
            <a:ext cx="11183112" cy="621792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99" name="s04_key"/>
          <p:cNvSpPr/>
          <p:nvPr/>
        </p:nvSpPr>
        <p:spPr>
          <a:xfrm>
            <a:off x="502920" y="5833872"/>
            <a:ext cx="11183112" cy="621792"/>
          </a:xfrm>
          <a:prstGeom prst="rect">
            <a:avLst/>
          </a:prstGeom>
          <a:solidFill>
            <a:srgbClr val="EFEFEA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200" name="s04_dot1"/>
          <p:cNvSpPr/>
          <p:nvPr/>
        </p:nvSpPr>
        <p:spPr>
          <a:xfrm>
            <a:off x="777240" y="6035040"/>
            <a:ext cx="82296" cy="8229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01" name="s04_lg1"/>
          <p:cNvSpPr/>
          <p:nvPr/>
        </p:nvSpPr>
        <p:spPr>
          <a:xfrm>
            <a:off x="914400" y="59436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 updates itself once installed</a:t>
            </a:r>
            <a:endParaRPr lang="en-US" sz="900" dirty="0"/>
          </a:p>
        </p:txBody>
      </p:sp>
      <p:sp>
        <p:nvSpPr>
          <p:cNvPr id="202" name="s04_dot2"/>
          <p:cNvSpPr/>
          <p:nvPr/>
        </p:nvSpPr>
        <p:spPr>
          <a:xfrm>
            <a:off x="3063240" y="6035040"/>
            <a:ext cx="82296" cy="82296"/>
          </a:xfrm>
          <a:prstGeom prst="rect">
            <a:avLst/>
          </a:prstGeom>
          <a:solidFill>
            <a:srgbClr val="C7CAD1"/>
          </a:solidFill>
          <a:ln/>
        </p:spPr>
      </p:sp>
      <p:sp>
        <p:nvSpPr>
          <p:cNvPr id="203" name="s04_lg2"/>
          <p:cNvSpPr/>
          <p:nvPr/>
        </p:nvSpPr>
        <p:spPr>
          <a:xfrm>
            <a:off x="3200400" y="59436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 manual — the lockfile owns updates</a:t>
            </a:r>
            <a:endParaRPr lang="en-US" sz="900" dirty="0"/>
          </a:p>
        </p:txBody>
      </p:sp>
      <p:sp>
        <p:nvSpPr>
          <p:cNvPr id="204" name="s04_take"/>
          <p:cNvSpPr/>
          <p:nvPr/>
        </p:nvSpPr>
        <p:spPr>
          <a:xfrm>
            <a:off x="6035040" y="5943600"/>
            <a:ext cx="5394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skills: overlay everywhere, translate only metadata · mcp: json everywhere except codex toml · only plugins self-update — lockfile covers the rest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5_vx_v1"/>
          <p:cNvSpPr/>
          <p:nvPr/>
        </p:nvSpPr>
        <p:spPr>
          <a:xfrm>
            <a:off x="11137392" y="384048"/>
            <a:ext cx="128016" cy="12801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" name="s5_vx_v2"/>
          <p:cNvSpPr/>
          <p:nvPr/>
        </p:nvSpPr>
        <p:spPr>
          <a:xfrm>
            <a:off x="11292840" y="384048"/>
            <a:ext cx="128016" cy="12801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" name="s5_vx_v3"/>
          <p:cNvSpPr/>
          <p:nvPr/>
        </p:nvSpPr>
        <p:spPr>
          <a:xfrm>
            <a:off x="11137392" y="539496"/>
            <a:ext cx="128016" cy="128016"/>
          </a:xfrm>
          <a:prstGeom prst="rect">
            <a:avLst/>
          </a:prstGeom>
          <a:solidFill>
            <a:srgbClr val="D97706"/>
          </a:solidFill>
          <a:ln/>
        </p:spPr>
      </p:sp>
      <p:pic>
        <p:nvPicPr>
          <p:cNvPr id="5" name="s5_kick" descr="assets/skb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02336"/>
            <a:ext cx="2481943" cy="182880"/>
          </a:xfrm>
          <a:prstGeom prst="rect">
            <a:avLst/>
          </a:prstGeom>
        </p:spPr>
      </p:pic>
      <p:pic>
        <p:nvPicPr>
          <p:cNvPr id="6" name="s5_title" descr="assets/srf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58368"/>
            <a:ext cx="2377440" cy="475488"/>
          </a:xfrm>
          <a:prstGeom prst="rect">
            <a:avLst/>
          </a:prstGeom>
        </p:spPr>
      </p:pic>
      <p:sp>
        <p:nvSpPr>
          <p:cNvPr id="7" name="s5_spec"/>
          <p:cNvSpPr/>
          <p:nvPr/>
        </p:nvSpPr>
        <p:spPr>
          <a:xfrm>
            <a:off x="502920" y="1216152"/>
            <a:ext cx="10469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Folders of SKILL.md instructions every harness loads on demand — the universal artifact</a:t>
            </a:r>
            <a:endParaRPr lang="en-US" sz="1100" dirty="0"/>
          </a:p>
        </p:txBody>
      </p:sp>
      <p:sp>
        <p:nvSpPr>
          <p:cNvPr id="8" name="s5_pg"/>
          <p:cNvSpPr/>
          <p:nvPr/>
        </p:nvSpPr>
        <p:spPr>
          <a:xfrm>
            <a:off x="11064240" y="648309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/ 45</a:t>
            </a:r>
            <a:endParaRPr lang="en-US" sz="950" dirty="0"/>
          </a:p>
        </p:txBody>
      </p:sp>
      <p:sp>
        <p:nvSpPr>
          <p:cNvPr id="10" name="s5_min_sh"/>
          <p:cNvSpPr/>
          <p:nvPr/>
        </p:nvSpPr>
        <p:spPr>
          <a:xfrm>
            <a:off x="553212" y="1531620"/>
            <a:ext cx="5669280" cy="416052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1" name="s5_min"/>
          <p:cNvSpPr/>
          <p:nvPr/>
        </p:nvSpPr>
        <p:spPr>
          <a:xfrm>
            <a:off x="502920" y="1481328"/>
            <a:ext cx="5669280" cy="416052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12" name="s5_mb"/>
          <p:cNvSpPr/>
          <p:nvPr/>
        </p:nvSpPr>
        <p:spPr>
          <a:xfrm>
            <a:off x="777240" y="162763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REGISTRY MINIMUM — WHAT WE STORE</a:t>
            </a:r>
            <a:endParaRPr lang="en-US" sz="950" dirty="0"/>
          </a:p>
        </p:txBody>
      </p:sp>
      <p:sp>
        <p:nvSpPr>
          <p:cNvPr id="13" name="s5_mk0"/>
          <p:cNvSpPr/>
          <p:nvPr/>
        </p:nvSpPr>
        <p:spPr>
          <a:xfrm>
            <a:off x="777240" y="19202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spec fields</a:t>
            </a:r>
            <a:endParaRPr lang="en-US" sz="900" dirty="0"/>
          </a:p>
        </p:txBody>
      </p:sp>
      <p:sp>
        <p:nvSpPr>
          <p:cNvPr id="14" name="s5_mv0"/>
          <p:cNvSpPr/>
          <p:nvPr/>
        </p:nvSpPr>
        <p:spPr>
          <a:xfrm>
            <a:off x="2240280" y="192024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+ description (2 required fields)</a:t>
            </a:r>
            <a:endParaRPr lang="en-US" sz="850" dirty="0"/>
          </a:p>
        </p:txBody>
      </p:sp>
      <p:sp>
        <p:nvSpPr>
          <p:cNvPr id="15" name="s5_mhr0"/>
          <p:cNvSpPr/>
          <p:nvPr/>
        </p:nvSpPr>
        <p:spPr>
          <a:xfrm>
            <a:off x="777240" y="2304288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16" name="s5_mk1"/>
          <p:cNvSpPr/>
          <p:nvPr/>
        </p:nvSpPr>
        <p:spPr>
          <a:xfrm>
            <a:off x="777240" y="230428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versionSeal</a:t>
            </a:r>
            <a:endParaRPr lang="en-US" sz="900" dirty="0"/>
          </a:p>
        </p:txBody>
      </p:sp>
      <p:sp>
        <p:nvSpPr>
          <p:cNvPr id="17" name="s5_mv1"/>
          <p:cNvSpPr/>
          <p:nvPr/>
        </p:nvSpPr>
        <p:spPr>
          <a:xfrm>
            <a:off x="2240280" y="230428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semver + contentSha256 — spec has no version</a:t>
            </a:r>
            <a:endParaRPr lang="en-US" sz="850" dirty="0"/>
          </a:p>
        </p:txBody>
      </p:sp>
      <p:sp>
        <p:nvSpPr>
          <p:cNvPr id="18" name="s5_mhr1"/>
          <p:cNvSpPr/>
          <p:nvPr/>
        </p:nvSpPr>
        <p:spPr>
          <a:xfrm>
            <a:off x="777240" y="2688336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19" name="s5_mk2"/>
          <p:cNvSpPr/>
          <p:nvPr/>
        </p:nvSpPr>
        <p:spPr>
          <a:xfrm>
            <a:off x="777240" y="2688336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 tree</a:t>
            </a:r>
            <a:endParaRPr lang="en-US" sz="900" dirty="0"/>
          </a:p>
        </p:txBody>
      </p:sp>
      <p:sp>
        <p:nvSpPr>
          <p:cNvPr id="20" name="s5_mv2"/>
          <p:cNvSpPr/>
          <p:nvPr/>
        </p:nvSpPr>
        <p:spPr>
          <a:xfrm>
            <a:off x="2240280" y="2688336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skillDir + entry + files[] for copy installs</a:t>
            </a:r>
            <a:endParaRPr lang="en-US" sz="850" dirty="0"/>
          </a:p>
        </p:txBody>
      </p:sp>
      <p:sp>
        <p:nvSpPr>
          <p:cNvPr id="21" name="s5_mhr2"/>
          <p:cNvSpPr/>
          <p:nvPr/>
        </p:nvSpPr>
        <p:spPr>
          <a:xfrm>
            <a:off x="777240" y="3072384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2" name="s5_mk3"/>
          <p:cNvSpPr/>
          <p:nvPr/>
        </p:nvSpPr>
        <p:spPr>
          <a:xfrm>
            <a:off x="777240" y="3072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meta</a:t>
            </a:r>
            <a:endParaRPr lang="en-US" sz="900" dirty="0"/>
          </a:p>
        </p:txBody>
      </p:sp>
      <p:sp>
        <p:nvSpPr>
          <p:cNvPr id="23" name="s5_mv3"/>
          <p:cNvSpPr/>
          <p:nvPr/>
        </p:nvSpPr>
        <p:spPr>
          <a:xfrm>
            <a:off x="2240280" y="3072384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license, compatibility, author, repo, keywords</a:t>
            </a:r>
            <a:endParaRPr lang="en-US" sz="850" dirty="0"/>
          </a:p>
        </p:txBody>
      </p:sp>
      <p:sp>
        <p:nvSpPr>
          <p:cNvPr id="24" name="s5_mhr3"/>
          <p:cNvSpPr/>
          <p:nvPr/>
        </p:nvSpPr>
        <p:spPr>
          <a:xfrm>
            <a:off x="777240" y="3456432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5" name="s5_mk4"/>
          <p:cNvSpPr/>
          <p:nvPr/>
        </p:nvSpPr>
        <p:spPr>
          <a:xfrm>
            <a:off x="777240" y="3456432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overlays</a:t>
            </a:r>
            <a:endParaRPr lang="en-US" sz="900" dirty="0"/>
          </a:p>
        </p:txBody>
      </p:sp>
      <p:sp>
        <p:nvSpPr>
          <p:cNvPr id="26" name="s5_mv4"/>
          <p:cNvSpPr/>
          <p:nvPr/>
        </p:nvSpPr>
        <p:spPr>
          <a:xfrm>
            <a:off x="2240280" y="3456432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frontmatter · openai.yaml · metadata.opencode</a:t>
            </a:r>
            <a:endParaRPr lang="en-US" sz="850" dirty="0"/>
          </a:p>
        </p:txBody>
      </p:sp>
      <p:sp>
        <p:nvSpPr>
          <p:cNvPr id="27" name="s5_mhr4"/>
          <p:cNvSpPr/>
          <p:nvPr/>
        </p:nvSpPr>
        <p:spPr>
          <a:xfrm>
            <a:off x="777240" y="3840480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8" name="s5_mk5"/>
          <p:cNvSpPr/>
          <p:nvPr/>
        </p:nvSpPr>
        <p:spPr>
          <a:xfrm>
            <a:off x="777240" y="384048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compat</a:t>
            </a:r>
            <a:endParaRPr lang="en-US" sz="900" dirty="0"/>
          </a:p>
        </p:txBody>
      </p:sp>
      <p:sp>
        <p:nvSpPr>
          <p:cNvPr id="29" name="s5_mv5"/>
          <p:cNvSpPr/>
          <p:nvPr/>
        </p:nvSpPr>
        <p:spPr>
          <a:xfrm>
            <a:off x="2240280" y="384048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per-harness supported/surfaces/via matrix</a:t>
            </a:r>
            <a:endParaRPr lang="en-US" sz="850" dirty="0"/>
          </a:p>
        </p:txBody>
      </p:sp>
      <p:sp>
        <p:nvSpPr>
          <p:cNvPr id="30" name="s5_mhr5"/>
          <p:cNvSpPr/>
          <p:nvPr/>
        </p:nvSpPr>
        <p:spPr>
          <a:xfrm>
            <a:off x="777240" y="4224528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31" name="s5_mwhy"/>
          <p:cNvSpPr/>
          <p:nvPr/>
        </p:nvSpPr>
        <p:spPr>
          <a:xfrm>
            <a:off x="777240" y="498348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SKILL.md ships 6 spec fields and no version — the registry owns identity, seal and per-harness copies.</a:t>
            </a:r>
            <a:endParaRPr lang="en-US" sz="950" dirty="0"/>
          </a:p>
        </p:txBody>
      </p:sp>
      <p:sp>
        <p:nvSpPr>
          <p:cNvPr id="32" name="s5_row_sh"/>
          <p:cNvSpPr/>
          <p:nvPr/>
        </p:nvSpPr>
        <p:spPr>
          <a:xfrm>
            <a:off x="6451092" y="1531620"/>
            <a:ext cx="5285232" cy="310896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33" name="s5_row"/>
          <p:cNvSpPr/>
          <p:nvPr/>
        </p:nvSpPr>
        <p:spPr>
          <a:xfrm>
            <a:off x="6400800" y="1481328"/>
            <a:ext cx="5285232" cy="310896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34" name="s5_rb"/>
          <p:cNvSpPr/>
          <p:nvPr/>
        </p:nvSpPr>
        <p:spPr>
          <a:xfrm>
            <a:off x="6675120" y="1627632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MATRIX ROW</a:t>
            </a:r>
            <a:endParaRPr lang="en-US" sz="1050" dirty="0"/>
          </a:p>
        </p:txBody>
      </p:sp>
      <p:sp>
        <p:nvSpPr>
          <p:cNvPr id="35" name="s5_rb0"/>
          <p:cNvSpPr/>
          <p:nvPr/>
        </p:nvSpPr>
        <p:spPr>
          <a:xfrm>
            <a:off x="6675120" y="2139696"/>
            <a:ext cx="109728" cy="109728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6" name="s5_rk0"/>
          <p:cNvSpPr/>
          <p:nvPr/>
        </p:nvSpPr>
        <p:spPr>
          <a:xfrm>
            <a:off x="6894576" y="1938528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CLAUDE CODE</a:t>
            </a:r>
            <a:endParaRPr lang="en-US" sz="950" dirty="0"/>
          </a:p>
        </p:txBody>
      </p:sp>
      <p:sp>
        <p:nvSpPr>
          <p:cNvPr id="37" name="s5_rc0_sh"/>
          <p:cNvSpPr/>
          <p:nvPr/>
        </p:nvSpPr>
        <p:spPr>
          <a:xfrm>
            <a:off x="8302752" y="2075688"/>
            <a:ext cx="649956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38" name="s5_rc0"/>
          <p:cNvSpPr/>
          <p:nvPr/>
        </p:nvSpPr>
        <p:spPr>
          <a:xfrm>
            <a:off x="8275320" y="2048256"/>
            <a:ext cx="649956" cy="287528"/>
          </a:xfrm>
          <a:prstGeom prst="rect">
            <a:avLst/>
          </a:prstGeom>
          <a:solidFill>
            <a:srgbClr val="FBEEDD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39" name="s5_rc0_t"/>
          <p:cNvSpPr/>
          <p:nvPr/>
        </p:nvSpPr>
        <p:spPr>
          <a:xfrm>
            <a:off x="8275320" y="2048256"/>
            <a:ext cx="649956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OVERLAY</a:t>
            </a:r>
            <a:endParaRPr lang="en-US" sz="700" dirty="0"/>
          </a:p>
        </p:txBody>
      </p:sp>
      <p:sp>
        <p:nvSpPr>
          <p:cNvPr id="40" name="s5_rd0"/>
          <p:cNvSpPr/>
          <p:nvPr/>
        </p:nvSpPr>
        <p:spPr>
          <a:xfrm>
            <a:off x="9035004" y="2157984"/>
            <a:ext cx="68580" cy="68580"/>
          </a:xfrm>
          <a:prstGeom prst="rect">
            <a:avLst/>
          </a:prstGeom>
          <a:solidFill>
            <a:srgbClr val="C7CAD1"/>
          </a:solidFill>
          <a:ln/>
        </p:spPr>
      </p:sp>
      <p:sp>
        <p:nvSpPr>
          <p:cNvPr id="41" name="s5_rb1"/>
          <p:cNvSpPr/>
          <p:nvPr/>
        </p:nvSpPr>
        <p:spPr>
          <a:xfrm>
            <a:off x="6675120" y="2651760"/>
            <a:ext cx="109728" cy="109728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5_rk1"/>
          <p:cNvSpPr/>
          <p:nvPr/>
        </p:nvSpPr>
        <p:spPr>
          <a:xfrm>
            <a:off x="6894576" y="2450592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CODEX</a:t>
            </a:r>
            <a:endParaRPr lang="en-US" sz="950" dirty="0"/>
          </a:p>
        </p:txBody>
      </p:sp>
      <p:sp>
        <p:nvSpPr>
          <p:cNvPr id="43" name="s5_rc1_sh"/>
          <p:cNvSpPr/>
          <p:nvPr/>
        </p:nvSpPr>
        <p:spPr>
          <a:xfrm>
            <a:off x="8302752" y="2587752"/>
            <a:ext cx="649956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44" name="s5_rc1"/>
          <p:cNvSpPr/>
          <p:nvPr/>
        </p:nvSpPr>
        <p:spPr>
          <a:xfrm>
            <a:off x="8275320" y="2560320"/>
            <a:ext cx="649956" cy="287528"/>
          </a:xfrm>
          <a:prstGeom prst="rect">
            <a:avLst/>
          </a:prstGeom>
          <a:solidFill>
            <a:srgbClr val="FBEEDD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45" name="s5_rc1_t"/>
          <p:cNvSpPr/>
          <p:nvPr/>
        </p:nvSpPr>
        <p:spPr>
          <a:xfrm>
            <a:off x="8275320" y="2560320"/>
            <a:ext cx="649956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OVERLAY</a:t>
            </a:r>
            <a:endParaRPr lang="en-US" sz="700" dirty="0"/>
          </a:p>
        </p:txBody>
      </p:sp>
      <p:sp>
        <p:nvSpPr>
          <p:cNvPr id="46" name="s5_rd1"/>
          <p:cNvSpPr/>
          <p:nvPr/>
        </p:nvSpPr>
        <p:spPr>
          <a:xfrm>
            <a:off x="9035004" y="2670048"/>
            <a:ext cx="68580" cy="68580"/>
          </a:xfrm>
          <a:prstGeom prst="rect">
            <a:avLst/>
          </a:prstGeom>
          <a:solidFill>
            <a:srgbClr val="C7CAD1"/>
          </a:solidFill>
          <a:ln/>
        </p:spPr>
      </p:sp>
      <p:sp>
        <p:nvSpPr>
          <p:cNvPr id="47" name="s5_rb2"/>
          <p:cNvSpPr/>
          <p:nvPr/>
        </p:nvSpPr>
        <p:spPr>
          <a:xfrm>
            <a:off x="6675120" y="3163824"/>
            <a:ext cx="109728" cy="109728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48" name="s5_rk2"/>
          <p:cNvSpPr/>
          <p:nvPr/>
        </p:nvSpPr>
        <p:spPr>
          <a:xfrm>
            <a:off x="6894576" y="2962656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OPENCODE</a:t>
            </a:r>
            <a:endParaRPr lang="en-US" sz="950" dirty="0"/>
          </a:p>
        </p:txBody>
      </p:sp>
      <p:sp>
        <p:nvSpPr>
          <p:cNvPr id="49" name="s5_rc2_sh"/>
          <p:cNvSpPr/>
          <p:nvPr/>
        </p:nvSpPr>
        <p:spPr>
          <a:xfrm>
            <a:off x="8302752" y="3099816"/>
            <a:ext cx="649956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50" name="s5_rc2"/>
          <p:cNvSpPr/>
          <p:nvPr/>
        </p:nvSpPr>
        <p:spPr>
          <a:xfrm>
            <a:off x="8275320" y="3072384"/>
            <a:ext cx="649956" cy="287528"/>
          </a:xfrm>
          <a:prstGeom prst="rect">
            <a:avLst/>
          </a:prstGeom>
          <a:solidFill>
            <a:srgbClr val="FBEEDD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51" name="s5_rc2_t"/>
          <p:cNvSpPr/>
          <p:nvPr/>
        </p:nvSpPr>
        <p:spPr>
          <a:xfrm>
            <a:off x="8275320" y="3072384"/>
            <a:ext cx="649956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OVERLAY</a:t>
            </a:r>
            <a:endParaRPr lang="en-US" sz="700" dirty="0"/>
          </a:p>
        </p:txBody>
      </p:sp>
      <p:sp>
        <p:nvSpPr>
          <p:cNvPr id="52" name="s5_rd2"/>
          <p:cNvSpPr/>
          <p:nvPr/>
        </p:nvSpPr>
        <p:spPr>
          <a:xfrm>
            <a:off x="9035004" y="3182112"/>
            <a:ext cx="68580" cy="6858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53" name="s5_rb3"/>
          <p:cNvSpPr/>
          <p:nvPr/>
        </p:nvSpPr>
        <p:spPr>
          <a:xfrm>
            <a:off x="6675120" y="3675888"/>
            <a:ext cx="109728" cy="10972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4" name="s5_rk3"/>
          <p:cNvSpPr/>
          <p:nvPr/>
        </p:nvSpPr>
        <p:spPr>
          <a:xfrm>
            <a:off x="6894576" y="3474720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</a:t>
            </a:r>
            <a:endParaRPr lang="en-US" sz="950" dirty="0"/>
          </a:p>
        </p:txBody>
      </p:sp>
      <p:sp>
        <p:nvSpPr>
          <p:cNvPr id="55" name="s5_rc3_sh"/>
          <p:cNvSpPr/>
          <p:nvPr/>
        </p:nvSpPr>
        <p:spPr>
          <a:xfrm>
            <a:off x="8302752" y="3611880"/>
            <a:ext cx="826618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56" name="s5_rc3"/>
          <p:cNvSpPr/>
          <p:nvPr/>
        </p:nvSpPr>
        <p:spPr>
          <a:xfrm>
            <a:off x="8275320" y="3584448"/>
            <a:ext cx="826618" cy="287528"/>
          </a:xfrm>
          <a:prstGeom prst="rect">
            <a:avLst/>
          </a:prstGeom>
          <a:solidFill>
            <a:srgbClr val="E5F5EA"/>
          </a:solidFill>
          <a:ln w="15875">
            <a:solidFill>
              <a:srgbClr val="16A34A"/>
            </a:solidFill>
            <a:prstDash val="solid"/>
          </a:ln>
        </p:spPr>
      </p:sp>
      <p:sp>
        <p:nvSpPr>
          <p:cNvPr id="57" name="s5_rc3_t"/>
          <p:cNvSpPr/>
          <p:nvPr/>
        </p:nvSpPr>
        <p:spPr>
          <a:xfrm>
            <a:off x="8275320" y="3584448"/>
            <a:ext cx="826618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COPY-AS-IS</a:t>
            </a:r>
            <a:endParaRPr lang="en-US" sz="700" dirty="0"/>
          </a:p>
        </p:txBody>
      </p:sp>
      <p:sp>
        <p:nvSpPr>
          <p:cNvPr id="58" name="s5_rd3"/>
          <p:cNvSpPr/>
          <p:nvPr/>
        </p:nvSpPr>
        <p:spPr>
          <a:xfrm>
            <a:off x="9211666" y="3694176"/>
            <a:ext cx="68580" cy="68580"/>
          </a:xfrm>
          <a:prstGeom prst="rect">
            <a:avLst/>
          </a:prstGeom>
          <a:solidFill>
            <a:srgbClr val="C7CAD1"/>
          </a:solidFill>
          <a:ln/>
        </p:spPr>
      </p:sp>
      <p:sp>
        <p:nvSpPr>
          <p:cNvPr id="59" name="s5_rhr"/>
          <p:cNvSpPr/>
          <p:nvPr/>
        </p:nvSpPr>
        <p:spPr>
          <a:xfrm>
            <a:off x="6675120" y="3986784"/>
            <a:ext cx="475488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60" name="s5_rsum"/>
          <p:cNvSpPr/>
          <p:nvPr/>
        </p:nvSpPr>
        <p:spPr>
          <a:xfrm>
            <a:off x="6675120" y="4133088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Overlay on three, copy-as-is on Pi — one spec-pure SKILL.md, only vendor metadata keys differ.</a:t>
            </a:r>
            <a:endParaRPr lang="en-US" sz="950" dirty="0"/>
          </a:p>
        </p:txBody>
      </p:sp>
      <p:sp>
        <p:nvSpPr>
          <p:cNvPr id="61" name="s5_au_sh"/>
          <p:cNvSpPr/>
          <p:nvPr/>
        </p:nvSpPr>
        <p:spPr>
          <a:xfrm>
            <a:off x="6451092" y="4777740"/>
            <a:ext cx="5285232" cy="155448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62" name="s5_au"/>
          <p:cNvSpPr/>
          <p:nvPr/>
        </p:nvSpPr>
        <p:spPr>
          <a:xfrm>
            <a:off x="6400800" y="4727448"/>
            <a:ext cx="5285232" cy="1554480"/>
          </a:xfrm>
          <a:prstGeom prst="rect">
            <a:avLst/>
          </a:prstGeom>
          <a:solidFill>
            <a:srgbClr val="EFEFEA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63" name="s5_ab"/>
          <p:cNvSpPr/>
          <p:nvPr/>
        </p:nvSpPr>
        <p:spPr>
          <a:xfrm>
            <a:off x="6675120" y="4873752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AUTO-UPDATE FOR THIS SURFACE</a:t>
            </a:r>
            <a:endParaRPr lang="en-US" sz="1000" dirty="0"/>
          </a:p>
        </p:txBody>
      </p:sp>
      <p:sp>
        <p:nvSpPr>
          <p:cNvPr id="64" name="s5_at"/>
          <p:cNvSpPr/>
          <p:nvPr/>
        </p:nvSpPr>
        <p:spPr>
          <a:xfrm>
            <a:off x="6675120" y="5157216"/>
            <a:ext cx="4754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OpenCode's catalog self-updates; Codex re-copy + restart, Claude drops manual, Pi packaged via pi update. agentreg.lock pins urn→ver→sha.</a:t>
            </a:r>
            <a:endParaRPr lang="en-US" sz="1000" dirty="0"/>
          </a:p>
        </p:txBody>
      </p:sp>
      <p:sp>
        <p:nvSpPr>
          <p:cNvPr id="65" name="s5_sec_sh"/>
          <p:cNvSpPr/>
          <p:nvPr/>
        </p:nvSpPr>
        <p:spPr>
          <a:xfrm>
            <a:off x="553212" y="4777740"/>
            <a:ext cx="5669280" cy="155448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66" name="s5_sec"/>
          <p:cNvSpPr/>
          <p:nvPr/>
        </p:nvSpPr>
        <p:spPr>
          <a:xfrm>
            <a:off x="502920" y="4727448"/>
            <a:ext cx="5669280" cy="1554480"/>
          </a:xfrm>
          <a:prstGeom prst="rect">
            <a:avLst/>
          </a:prstGeom>
          <a:solidFill>
            <a:srgbClr val="E7EEFD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67" name="s5_secb"/>
          <p:cNvSpPr/>
          <p:nvPr/>
        </p:nvSpPr>
        <p:spPr>
          <a:xfrm>
            <a:off x="777240" y="487375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THIS SECTION</a:t>
            </a:r>
            <a:endParaRPr lang="en-US" sz="1000" dirty="0"/>
          </a:p>
        </p:txBody>
      </p:sp>
      <p:sp>
        <p:nvSpPr>
          <p:cNvPr id="68" name="s5_sc0_sh"/>
          <p:cNvSpPr/>
          <p:nvPr/>
        </p:nvSpPr>
        <p:spPr>
          <a:xfrm>
            <a:off x="804672" y="5221224"/>
            <a:ext cx="692018" cy="3383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69" name="s5_sc0"/>
          <p:cNvSpPr/>
          <p:nvPr/>
        </p:nvSpPr>
        <p:spPr>
          <a:xfrm>
            <a:off x="777240" y="5193792"/>
            <a:ext cx="692018" cy="338328"/>
          </a:xfrm>
          <a:prstGeom prst="rect">
            <a:avLst/>
          </a:prstGeom>
          <a:solidFill>
            <a:srgbClr val="2F6FED"/>
          </a:solidFill>
          <a:ln w="17780">
            <a:solidFill>
              <a:srgbClr val="2F6FED"/>
            </a:solidFill>
            <a:prstDash val="solid"/>
          </a:ln>
        </p:spPr>
      </p:sp>
      <p:sp>
        <p:nvSpPr>
          <p:cNvPr id="70" name="s5_sc0_t"/>
          <p:cNvSpPr/>
          <p:nvPr/>
        </p:nvSpPr>
        <p:spPr>
          <a:xfrm>
            <a:off x="777240" y="5193792"/>
            <a:ext cx="69201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BANNER</a:t>
            </a:r>
            <a:endParaRPr lang="en-US" sz="900" dirty="0"/>
          </a:p>
        </p:txBody>
      </p:sp>
      <p:sp>
        <p:nvSpPr>
          <p:cNvPr id="71" name="s5_sc1_sh"/>
          <p:cNvSpPr/>
          <p:nvPr/>
        </p:nvSpPr>
        <p:spPr>
          <a:xfrm>
            <a:off x="1606418" y="5221224"/>
            <a:ext cx="919155" cy="3383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72" name="s5_sc1"/>
          <p:cNvSpPr/>
          <p:nvPr/>
        </p:nvSpPr>
        <p:spPr>
          <a:xfrm>
            <a:off x="1578986" y="5193792"/>
            <a:ext cx="919155" cy="338328"/>
          </a:xfrm>
          <a:prstGeom prst="rect">
            <a:avLst/>
          </a:prstGeom>
          <a:solidFill>
            <a:srgbClr val="FFFFFF"/>
          </a:solidFill>
          <a:ln w="17780">
            <a:solidFill>
              <a:srgbClr val="1B1D22"/>
            </a:solidFill>
            <a:prstDash val="solid"/>
          </a:ln>
        </p:spPr>
      </p:sp>
      <p:sp>
        <p:nvSpPr>
          <p:cNvPr id="73" name="s5_sc1_t"/>
          <p:cNvSpPr/>
          <p:nvPr/>
        </p:nvSpPr>
        <p:spPr>
          <a:xfrm>
            <a:off x="1578986" y="5193792"/>
            <a:ext cx="919155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STANDARDS</a:t>
            </a:r>
            <a:endParaRPr lang="en-US" sz="900" dirty="0"/>
          </a:p>
        </p:txBody>
      </p:sp>
      <p:sp>
        <p:nvSpPr>
          <p:cNvPr id="74" name="s5_sc2_sh"/>
          <p:cNvSpPr/>
          <p:nvPr/>
        </p:nvSpPr>
        <p:spPr>
          <a:xfrm>
            <a:off x="2635301" y="5221224"/>
            <a:ext cx="1297716" cy="3383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75" name="s5_sc2"/>
          <p:cNvSpPr/>
          <p:nvPr/>
        </p:nvSpPr>
        <p:spPr>
          <a:xfrm>
            <a:off x="2607869" y="5193792"/>
            <a:ext cx="1297716" cy="338328"/>
          </a:xfrm>
          <a:prstGeom prst="rect">
            <a:avLst/>
          </a:prstGeom>
          <a:solidFill>
            <a:srgbClr val="FFFFFF"/>
          </a:solidFill>
          <a:ln w="17780">
            <a:solidFill>
              <a:srgbClr val="1B1D22"/>
            </a:solidFill>
            <a:prstDash val="solid"/>
          </a:ln>
        </p:spPr>
      </p:sp>
      <p:sp>
        <p:nvSpPr>
          <p:cNvPr id="76" name="s5_sc2_t"/>
          <p:cNvSpPr/>
          <p:nvPr/>
        </p:nvSpPr>
        <p:spPr>
          <a:xfrm>
            <a:off x="2607869" y="5193792"/>
            <a:ext cx="129771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CLAUDE + CODEX</a:t>
            </a:r>
            <a:endParaRPr lang="en-US" sz="900" dirty="0"/>
          </a:p>
        </p:txBody>
      </p:sp>
      <p:sp>
        <p:nvSpPr>
          <p:cNvPr id="77" name="s5_sc3_sh"/>
          <p:cNvSpPr/>
          <p:nvPr/>
        </p:nvSpPr>
        <p:spPr>
          <a:xfrm>
            <a:off x="4042745" y="5221224"/>
            <a:ext cx="1222004" cy="3383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78" name="s5_sc3"/>
          <p:cNvSpPr/>
          <p:nvPr/>
        </p:nvSpPr>
        <p:spPr>
          <a:xfrm>
            <a:off x="4015313" y="5193792"/>
            <a:ext cx="1222004" cy="338328"/>
          </a:xfrm>
          <a:prstGeom prst="rect">
            <a:avLst/>
          </a:prstGeom>
          <a:solidFill>
            <a:srgbClr val="FFFFFF"/>
          </a:solidFill>
          <a:ln w="17780">
            <a:solidFill>
              <a:srgbClr val="1B1D22"/>
            </a:solidFill>
            <a:prstDash val="solid"/>
          </a:ln>
        </p:spPr>
      </p:sp>
      <p:sp>
        <p:nvSpPr>
          <p:cNvPr id="79" name="s5_sc3_t"/>
          <p:cNvSpPr/>
          <p:nvPr/>
        </p:nvSpPr>
        <p:spPr>
          <a:xfrm>
            <a:off x="4015313" y="5193792"/>
            <a:ext cx="122200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OPENCODE + PI</a:t>
            </a:r>
            <a:endParaRPr lang="en-US" sz="900" dirty="0"/>
          </a:p>
        </p:txBody>
      </p:sp>
      <p:sp>
        <p:nvSpPr>
          <p:cNvPr id="80" name="s5_sect"/>
          <p:cNvSpPr/>
          <p:nvPr/>
        </p:nvSpPr>
        <p:spPr>
          <a:xfrm>
            <a:off x="777240" y="5779008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 slides per surface — spec state, then the harnesses in two pairs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6_vx_v1"/>
          <p:cNvSpPr/>
          <p:nvPr/>
        </p:nvSpPr>
        <p:spPr>
          <a:xfrm>
            <a:off x="11137392" y="384048"/>
            <a:ext cx="128016" cy="12801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" name="s6_vx_v2"/>
          <p:cNvSpPr/>
          <p:nvPr/>
        </p:nvSpPr>
        <p:spPr>
          <a:xfrm>
            <a:off x="11292840" y="384048"/>
            <a:ext cx="128016" cy="12801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" name="s6_vx_v3"/>
          <p:cNvSpPr/>
          <p:nvPr/>
        </p:nvSpPr>
        <p:spPr>
          <a:xfrm>
            <a:off x="11137392" y="539496"/>
            <a:ext cx="128016" cy="128016"/>
          </a:xfrm>
          <a:prstGeom prst="rect">
            <a:avLst/>
          </a:prstGeom>
          <a:solidFill>
            <a:srgbClr val="D97706"/>
          </a:solidFill>
          <a:ln/>
        </p:spPr>
      </p:sp>
      <p:pic>
        <p:nvPicPr>
          <p:cNvPr id="5" name="s6_kick" descr="assets/sks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02336"/>
            <a:ext cx="3579223" cy="182880"/>
          </a:xfrm>
          <a:prstGeom prst="rect">
            <a:avLst/>
          </a:prstGeom>
        </p:spPr>
      </p:pic>
      <p:pic>
        <p:nvPicPr>
          <p:cNvPr id="6" name="s6_title" descr="assets/st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58368"/>
            <a:ext cx="8490857" cy="475488"/>
          </a:xfrm>
          <a:prstGeom prst="rect">
            <a:avLst/>
          </a:prstGeom>
        </p:spPr>
      </p:pic>
      <p:sp>
        <p:nvSpPr>
          <p:cNvPr id="7" name="s6_spec"/>
          <p:cNvSpPr/>
          <p:nvPr/>
        </p:nvSpPr>
        <p:spPr>
          <a:xfrm>
            <a:off x="502920" y="1216152"/>
            <a:ext cx="10469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skills specification state — fields, rules, how the four diverge, and what the registry does about it</a:t>
            </a:r>
            <a:endParaRPr lang="en-US" sz="1100" dirty="0"/>
          </a:p>
        </p:txBody>
      </p:sp>
      <p:sp>
        <p:nvSpPr>
          <p:cNvPr id="8" name="s6_pg"/>
          <p:cNvSpPr/>
          <p:nvPr/>
        </p:nvSpPr>
        <p:spPr>
          <a:xfrm>
            <a:off x="11064240" y="648309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/ 45</a:t>
            </a:r>
            <a:endParaRPr lang="en-US" sz="950" dirty="0"/>
          </a:p>
        </p:txBody>
      </p:sp>
      <p:sp>
        <p:nvSpPr>
          <p:cNvPr id="10" name="s6_f_sh"/>
          <p:cNvSpPr/>
          <p:nvPr/>
        </p:nvSpPr>
        <p:spPr>
          <a:xfrm>
            <a:off x="553212" y="1531620"/>
            <a:ext cx="5669280" cy="416052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1" name="s6_f"/>
          <p:cNvSpPr/>
          <p:nvPr/>
        </p:nvSpPr>
        <p:spPr>
          <a:xfrm>
            <a:off x="502920" y="1481328"/>
            <a:ext cx="5669280" cy="416052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12" name="s6_fb"/>
          <p:cNvSpPr/>
          <p:nvPr/>
        </p:nvSpPr>
        <p:spPr>
          <a:xfrm>
            <a:off x="777240" y="162763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FIELDS</a:t>
            </a:r>
            <a:endParaRPr lang="en-US" sz="1050" dirty="0"/>
          </a:p>
        </p:txBody>
      </p:sp>
      <p:sp>
        <p:nvSpPr>
          <p:cNvPr id="13" name="s6_fk0"/>
          <p:cNvSpPr/>
          <p:nvPr/>
        </p:nvSpPr>
        <p:spPr>
          <a:xfrm>
            <a:off x="777240" y="1920240"/>
            <a:ext cx="14173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900" dirty="0"/>
          </a:p>
        </p:txBody>
      </p:sp>
      <p:sp>
        <p:nvSpPr>
          <p:cNvPr id="14" name="s6_fv0"/>
          <p:cNvSpPr/>
          <p:nvPr/>
        </p:nvSpPr>
        <p:spPr>
          <a:xfrm>
            <a:off x="2240280" y="1920240"/>
            <a:ext cx="365760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req; 1–64 chars [a-z0-9-]; must match dir name</a:t>
            </a:r>
            <a:endParaRPr lang="en-US" sz="850" dirty="0"/>
          </a:p>
        </p:txBody>
      </p:sp>
      <p:sp>
        <p:nvSpPr>
          <p:cNvPr id="15" name="s6_fhr0"/>
          <p:cNvSpPr/>
          <p:nvPr/>
        </p:nvSpPr>
        <p:spPr>
          <a:xfrm>
            <a:off x="777240" y="2272284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16" name="s6_fk1"/>
          <p:cNvSpPr/>
          <p:nvPr/>
        </p:nvSpPr>
        <p:spPr>
          <a:xfrm>
            <a:off x="777240" y="2272284"/>
            <a:ext cx="14173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</a:t>
            </a:r>
            <a:endParaRPr lang="en-US" sz="900" dirty="0"/>
          </a:p>
        </p:txBody>
      </p:sp>
      <p:sp>
        <p:nvSpPr>
          <p:cNvPr id="17" name="s6_fv1"/>
          <p:cNvSpPr/>
          <p:nvPr/>
        </p:nvSpPr>
        <p:spPr>
          <a:xfrm>
            <a:off x="2240280" y="2272284"/>
            <a:ext cx="365760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req; 1–1024 chars; what + when; keyword-rich</a:t>
            </a:r>
            <a:endParaRPr lang="en-US" sz="850" dirty="0"/>
          </a:p>
        </p:txBody>
      </p:sp>
      <p:sp>
        <p:nvSpPr>
          <p:cNvPr id="18" name="s6_fhr1"/>
          <p:cNvSpPr/>
          <p:nvPr/>
        </p:nvSpPr>
        <p:spPr>
          <a:xfrm>
            <a:off x="777240" y="2624328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19" name="s6_fk2"/>
          <p:cNvSpPr/>
          <p:nvPr/>
        </p:nvSpPr>
        <p:spPr>
          <a:xfrm>
            <a:off x="777240" y="2624328"/>
            <a:ext cx="14173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license</a:t>
            </a:r>
            <a:endParaRPr lang="en-US" sz="900" dirty="0"/>
          </a:p>
        </p:txBody>
      </p:sp>
      <p:sp>
        <p:nvSpPr>
          <p:cNvPr id="20" name="s6_fv2"/>
          <p:cNvSpPr/>
          <p:nvPr/>
        </p:nvSpPr>
        <p:spPr>
          <a:xfrm>
            <a:off x="2240280" y="2624328"/>
            <a:ext cx="365760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opt; license name or pointer to bundled file</a:t>
            </a:r>
            <a:endParaRPr lang="en-US" sz="850" dirty="0"/>
          </a:p>
        </p:txBody>
      </p:sp>
      <p:sp>
        <p:nvSpPr>
          <p:cNvPr id="21" name="s6_fhr2"/>
          <p:cNvSpPr/>
          <p:nvPr/>
        </p:nvSpPr>
        <p:spPr>
          <a:xfrm>
            <a:off x="777240" y="2976372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2" name="s6_fk3"/>
          <p:cNvSpPr/>
          <p:nvPr/>
        </p:nvSpPr>
        <p:spPr>
          <a:xfrm>
            <a:off x="777240" y="2976372"/>
            <a:ext cx="14173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compatibility</a:t>
            </a:r>
            <a:endParaRPr lang="en-US" sz="900" dirty="0"/>
          </a:p>
        </p:txBody>
      </p:sp>
      <p:sp>
        <p:nvSpPr>
          <p:cNvPr id="23" name="s6_fv3"/>
          <p:cNvSpPr/>
          <p:nvPr/>
        </p:nvSpPr>
        <p:spPr>
          <a:xfrm>
            <a:off x="2240280" y="2976372"/>
            <a:ext cx="365760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opt; 1–500 chars; env requirements</a:t>
            </a:r>
            <a:endParaRPr lang="en-US" sz="850" dirty="0"/>
          </a:p>
        </p:txBody>
      </p:sp>
      <p:sp>
        <p:nvSpPr>
          <p:cNvPr id="24" name="s6_fhr3"/>
          <p:cNvSpPr/>
          <p:nvPr/>
        </p:nvSpPr>
        <p:spPr>
          <a:xfrm>
            <a:off x="777240" y="3328416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5" name="s6_fk4"/>
          <p:cNvSpPr/>
          <p:nvPr/>
        </p:nvSpPr>
        <p:spPr>
          <a:xfrm>
            <a:off x="777240" y="3328416"/>
            <a:ext cx="14173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metadata</a:t>
            </a:r>
            <a:endParaRPr lang="en-US" sz="900" dirty="0"/>
          </a:p>
        </p:txBody>
      </p:sp>
      <p:sp>
        <p:nvSpPr>
          <p:cNvPr id="26" name="s6_fv4"/>
          <p:cNvSpPr/>
          <p:nvPr/>
        </p:nvSpPr>
        <p:spPr>
          <a:xfrm>
            <a:off x="2240280" y="3328416"/>
            <a:ext cx="365760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opt; string→string map; sanctioned extension channel</a:t>
            </a:r>
            <a:endParaRPr lang="en-US" sz="850" dirty="0"/>
          </a:p>
        </p:txBody>
      </p:sp>
      <p:sp>
        <p:nvSpPr>
          <p:cNvPr id="27" name="s6_fhr4"/>
          <p:cNvSpPr/>
          <p:nvPr/>
        </p:nvSpPr>
        <p:spPr>
          <a:xfrm>
            <a:off x="777240" y="3680460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8" name="s6_fk5"/>
          <p:cNvSpPr/>
          <p:nvPr/>
        </p:nvSpPr>
        <p:spPr>
          <a:xfrm>
            <a:off x="777240" y="3680460"/>
            <a:ext cx="14173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allowed-tools</a:t>
            </a:r>
            <a:endParaRPr lang="en-US" sz="900" dirty="0"/>
          </a:p>
        </p:txBody>
      </p:sp>
      <p:sp>
        <p:nvSpPr>
          <p:cNvPr id="29" name="s6_fv5"/>
          <p:cNvSpPr/>
          <p:nvPr/>
        </p:nvSpPr>
        <p:spPr>
          <a:xfrm>
            <a:off x="2240280" y="3680460"/>
            <a:ext cx="365760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opt; experimental; support varies by client</a:t>
            </a:r>
            <a:endParaRPr lang="en-US" sz="850" dirty="0"/>
          </a:p>
        </p:txBody>
      </p:sp>
      <p:sp>
        <p:nvSpPr>
          <p:cNvPr id="30" name="s6_rb"/>
          <p:cNvSpPr/>
          <p:nvPr/>
        </p:nvSpPr>
        <p:spPr>
          <a:xfrm>
            <a:off x="777240" y="4114800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 RULES</a:t>
            </a:r>
            <a:endParaRPr lang="en-US" sz="900" dirty="0"/>
          </a:p>
        </p:txBody>
      </p:sp>
      <p:sp>
        <p:nvSpPr>
          <p:cNvPr id="31" name="s6_rb0"/>
          <p:cNvSpPr/>
          <p:nvPr/>
        </p:nvSpPr>
        <p:spPr>
          <a:xfrm>
            <a:off x="777240" y="4425696"/>
            <a:ext cx="82296" cy="8229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2" name="s6_rt0"/>
          <p:cNvSpPr/>
          <p:nvPr/>
        </p:nvSpPr>
        <p:spPr>
          <a:xfrm>
            <a:off x="941832" y="4379976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name+description required; all other fields optional</a:t>
            </a:r>
            <a:endParaRPr lang="en-US" sz="900" dirty="0"/>
          </a:p>
        </p:txBody>
      </p:sp>
      <p:sp>
        <p:nvSpPr>
          <p:cNvPr id="33" name="s6_rb1"/>
          <p:cNvSpPr/>
          <p:nvPr/>
        </p:nvSpPr>
        <p:spPr>
          <a:xfrm>
            <a:off x="777240" y="4727448"/>
            <a:ext cx="82296" cy="8229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4" name="s6_rt1"/>
          <p:cNvSpPr/>
          <p:nvPr/>
        </p:nvSpPr>
        <p:spPr>
          <a:xfrm>
            <a:off x="941832" y="4681728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Respect char limits: name ≤64, description ≤1024</a:t>
            </a:r>
            <a:endParaRPr lang="en-US" sz="900" dirty="0"/>
          </a:p>
        </p:txBody>
      </p:sp>
      <p:sp>
        <p:nvSpPr>
          <p:cNvPr id="35" name="s6_rb2"/>
          <p:cNvSpPr/>
          <p:nvPr/>
        </p:nvSpPr>
        <p:spPr>
          <a:xfrm>
            <a:off x="777240" y="5029200"/>
            <a:ext cx="82296" cy="8229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6" name="s6_rt2"/>
          <p:cNvSpPr/>
          <p:nvPr/>
        </p:nvSpPr>
        <p:spPr>
          <a:xfrm>
            <a:off x="941832" y="4983480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metadata map is the only sanctioned extension channel</a:t>
            </a:r>
            <a:endParaRPr lang="en-US" sz="900" dirty="0"/>
          </a:p>
        </p:txBody>
      </p:sp>
      <p:sp>
        <p:nvSpPr>
          <p:cNvPr id="37" name="s6_rb3"/>
          <p:cNvSpPr/>
          <p:nvPr/>
        </p:nvSpPr>
        <p:spPr>
          <a:xfrm>
            <a:off x="777240" y="5330952"/>
            <a:ext cx="82296" cy="8229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8" name="s6_rt3"/>
          <p:cNvSpPr/>
          <p:nvPr/>
        </p:nvSpPr>
        <p:spPr>
          <a:xfrm>
            <a:off x="941832" y="5285232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Vendor top-level fields break claude.ai — use overlays</a:t>
            </a:r>
            <a:endParaRPr lang="en-US" sz="900" dirty="0"/>
          </a:p>
        </p:txBody>
      </p:sp>
      <p:sp>
        <p:nvSpPr>
          <p:cNvPr id="39" name="s6_h_sh"/>
          <p:cNvSpPr/>
          <p:nvPr/>
        </p:nvSpPr>
        <p:spPr>
          <a:xfrm>
            <a:off x="6451092" y="1531620"/>
            <a:ext cx="5285232" cy="288036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40" name="s6_h"/>
          <p:cNvSpPr/>
          <p:nvPr/>
        </p:nvSpPr>
        <p:spPr>
          <a:xfrm>
            <a:off x="6400800" y="1481328"/>
            <a:ext cx="5285232" cy="288036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41" name="s6_hb"/>
          <p:cNvSpPr/>
          <p:nvPr/>
        </p:nvSpPr>
        <p:spPr>
          <a:xfrm>
            <a:off x="6675120" y="1627632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THE FOUR IMPLEMENT IT</a:t>
            </a:r>
            <a:endParaRPr lang="en-US" sz="1050" dirty="0"/>
          </a:p>
        </p:txBody>
      </p:sp>
      <p:sp>
        <p:nvSpPr>
          <p:cNvPr id="42" name="s6_hb0"/>
          <p:cNvSpPr/>
          <p:nvPr/>
        </p:nvSpPr>
        <p:spPr>
          <a:xfrm>
            <a:off x="6675120" y="2157984"/>
            <a:ext cx="109728" cy="109728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43" name="s6_hk0"/>
          <p:cNvSpPr/>
          <p:nvPr/>
        </p:nvSpPr>
        <p:spPr>
          <a:xfrm>
            <a:off x="6894576" y="1938528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CLAUDE CODE</a:t>
            </a:r>
            <a:endParaRPr lang="en-US" sz="1000" dirty="0"/>
          </a:p>
        </p:txBody>
      </p:sp>
      <p:sp>
        <p:nvSpPr>
          <p:cNvPr id="44" name="s6_hv0"/>
          <p:cNvSpPr/>
          <p:nvPr/>
        </p:nvSpPr>
        <p:spPr>
          <a:xfrm>
            <a:off x="8275320" y="1938528"/>
            <a:ext cx="3154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Adds extras; claude.ai hard-errors non-spec fields</a:t>
            </a:r>
            <a:endParaRPr lang="en-US" sz="900" dirty="0"/>
          </a:p>
        </p:txBody>
      </p:sp>
      <p:sp>
        <p:nvSpPr>
          <p:cNvPr id="45" name="s6_hhr0"/>
          <p:cNvSpPr/>
          <p:nvPr/>
        </p:nvSpPr>
        <p:spPr>
          <a:xfrm>
            <a:off x="6675120" y="2505456"/>
            <a:ext cx="475488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46" name="s6_hb1"/>
          <p:cNvSpPr/>
          <p:nvPr/>
        </p:nvSpPr>
        <p:spPr>
          <a:xfrm>
            <a:off x="6675120" y="2734056"/>
            <a:ext cx="109728" cy="109728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7" name="s6_hk1"/>
          <p:cNvSpPr/>
          <p:nvPr/>
        </p:nvSpPr>
        <p:spPr>
          <a:xfrm>
            <a:off x="6894576" y="2514600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CODEX</a:t>
            </a:r>
            <a:endParaRPr lang="en-US" sz="1000" dirty="0"/>
          </a:p>
        </p:txBody>
      </p:sp>
      <p:sp>
        <p:nvSpPr>
          <p:cNvPr id="48" name="s6_hv1"/>
          <p:cNvSpPr/>
          <p:nvPr/>
        </p:nvSpPr>
        <p:spPr>
          <a:xfrm>
            <a:off x="8275320" y="2514600"/>
            <a:ext cx="3154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 fields + agents/openai.yaml sidecar</a:t>
            </a:r>
            <a:endParaRPr lang="en-US" sz="900" dirty="0"/>
          </a:p>
        </p:txBody>
      </p:sp>
      <p:sp>
        <p:nvSpPr>
          <p:cNvPr id="49" name="s6_hhr1"/>
          <p:cNvSpPr/>
          <p:nvPr/>
        </p:nvSpPr>
        <p:spPr>
          <a:xfrm>
            <a:off x="6675120" y="3081528"/>
            <a:ext cx="475488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50" name="s6_hb2"/>
          <p:cNvSpPr/>
          <p:nvPr/>
        </p:nvSpPr>
        <p:spPr>
          <a:xfrm>
            <a:off x="6675120" y="3310128"/>
            <a:ext cx="109728" cy="109728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51" name="s6_hk2"/>
          <p:cNvSpPr/>
          <p:nvPr/>
        </p:nvSpPr>
        <p:spPr>
          <a:xfrm>
            <a:off x="6894576" y="3090672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OPENCODE</a:t>
            </a:r>
            <a:endParaRPr lang="en-US" sz="1000" dirty="0"/>
          </a:p>
        </p:txBody>
      </p:sp>
      <p:sp>
        <p:nvSpPr>
          <p:cNvPr id="52" name="s6_hv2"/>
          <p:cNvSpPr/>
          <p:nvPr/>
        </p:nvSpPr>
        <p:spPr>
          <a:xfrm>
            <a:off x="8275320" y="3090672"/>
            <a:ext cx="3154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metadata.opencode/* keys; license ignored</a:t>
            </a:r>
            <a:endParaRPr lang="en-US" sz="900" dirty="0"/>
          </a:p>
        </p:txBody>
      </p:sp>
      <p:sp>
        <p:nvSpPr>
          <p:cNvPr id="53" name="s6_hhr2"/>
          <p:cNvSpPr/>
          <p:nvPr/>
        </p:nvSpPr>
        <p:spPr>
          <a:xfrm>
            <a:off x="6675120" y="3657600"/>
            <a:ext cx="475488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54" name="s6_hb3"/>
          <p:cNvSpPr/>
          <p:nvPr/>
        </p:nvSpPr>
        <p:spPr>
          <a:xfrm>
            <a:off x="6675120" y="3886200"/>
            <a:ext cx="109728" cy="10972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5" name="s6_hk3"/>
          <p:cNvSpPr/>
          <p:nvPr/>
        </p:nvSpPr>
        <p:spPr>
          <a:xfrm>
            <a:off x="6894576" y="3666744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</a:t>
            </a:r>
            <a:endParaRPr lang="en-US" sz="1000" dirty="0"/>
          </a:p>
        </p:txBody>
      </p:sp>
      <p:sp>
        <p:nvSpPr>
          <p:cNvPr id="56" name="s6_hv3"/>
          <p:cNvSpPr/>
          <p:nvPr/>
        </p:nvSpPr>
        <p:spPr>
          <a:xfrm>
            <a:off x="8275320" y="3666744"/>
            <a:ext cx="3154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 fields; name need not match dir</a:t>
            </a:r>
            <a:endParaRPr lang="en-US" sz="900" dirty="0"/>
          </a:p>
        </p:txBody>
      </p:sp>
      <p:sp>
        <p:nvSpPr>
          <p:cNvPr id="57" name="s6_st_sh"/>
          <p:cNvSpPr/>
          <p:nvPr/>
        </p:nvSpPr>
        <p:spPr>
          <a:xfrm>
            <a:off x="6451092" y="4549140"/>
            <a:ext cx="5285232" cy="114300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58" name="s6_st"/>
          <p:cNvSpPr/>
          <p:nvPr/>
        </p:nvSpPr>
        <p:spPr>
          <a:xfrm>
            <a:off x="6400800" y="4498848"/>
            <a:ext cx="5285232" cy="1143000"/>
          </a:xfrm>
          <a:prstGeom prst="rect">
            <a:avLst/>
          </a:prstGeom>
          <a:solidFill>
            <a:srgbClr val="1B1D22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59" name="s6_sb"/>
          <p:cNvSpPr/>
          <p:nvPr/>
        </p:nvSpPr>
        <p:spPr>
          <a:xfrm>
            <a:off x="6675120" y="46268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7CB0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REGISTRY STANCE</a:t>
            </a:r>
            <a:endParaRPr lang="en-US" sz="900" dirty="0"/>
          </a:p>
        </p:txBody>
      </p:sp>
      <p:sp>
        <p:nvSpPr>
          <p:cNvPr id="60" name="s6_stt"/>
          <p:cNvSpPr/>
          <p:nvPr/>
        </p:nvSpPr>
        <p:spPr>
          <a:xfrm>
            <a:off x="6675120" y="4882896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Spec-pure SKILL.md + namespaced metadata keys — the one artifact all four consume</a:t>
            </a:r>
            <a:endParaRPr lang="en-US" sz="1100" dirty="0"/>
          </a:p>
        </p:txBody>
      </p:sp>
      <p:sp>
        <p:nvSpPr>
          <p:cNvPr id="61" name="s6_g_sh"/>
          <p:cNvSpPr/>
          <p:nvPr/>
        </p:nvSpPr>
        <p:spPr>
          <a:xfrm>
            <a:off x="553212" y="5829300"/>
            <a:ext cx="11183112" cy="65836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62" name="s6_g"/>
          <p:cNvSpPr/>
          <p:nvPr/>
        </p:nvSpPr>
        <p:spPr>
          <a:xfrm>
            <a:off x="502920" y="5779008"/>
            <a:ext cx="11183112" cy="658368"/>
          </a:xfrm>
          <a:prstGeom prst="rect">
            <a:avLst/>
          </a:prstGeom>
          <a:solidFill>
            <a:srgbClr val="EFEFEA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63" name="s6_gt"/>
          <p:cNvSpPr/>
          <p:nvPr/>
        </p:nvSpPr>
        <p:spPr>
          <a:xfrm>
            <a:off x="777240" y="5852160"/>
            <a:ext cx="10607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GAPS THE REGISTRY OWNS — No version field; registry must own semver + seals  ·  No dependencies, signing, or discovery paths in spec  ·  allowed-tools experimental — support varies by client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7_vx_v1"/>
          <p:cNvSpPr/>
          <p:nvPr/>
        </p:nvSpPr>
        <p:spPr>
          <a:xfrm>
            <a:off x="11137392" y="384048"/>
            <a:ext cx="128016" cy="12801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" name="s7_vx_v2"/>
          <p:cNvSpPr/>
          <p:nvPr/>
        </p:nvSpPr>
        <p:spPr>
          <a:xfrm>
            <a:off x="11292840" y="384048"/>
            <a:ext cx="128016" cy="12801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" name="s7_vx_v3"/>
          <p:cNvSpPr/>
          <p:nvPr/>
        </p:nvSpPr>
        <p:spPr>
          <a:xfrm>
            <a:off x="11137392" y="539496"/>
            <a:ext cx="128016" cy="128016"/>
          </a:xfrm>
          <a:prstGeom prst="rect">
            <a:avLst/>
          </a:prstGeom>
          <a:solidFill>
            <a:srgbClr val="D97706"/>
          </a:solidFill>
          <a:ln/>
        </p:spPr>
      </p:sp>
      <p:pic>
        <p:nvPicPr>
          <p:cNvPr id="5" name="s7_kick" descr="assets/skc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02336"/>
            <a:ext cx="5146766" cy="182880"/>
          </a:xfrm>
          <a:prstGeom prst="rect">
            <a:avLst/>
          </a:prstGeom>
        </p:spPr>
      </p:pic>
      <p:pic>
        <p:nvPicPr>
          <p:cNvPr id="6" name="s7_title" descr="assets/srf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58368"/>
            <a:ext cx="2377440" cy="475488"/>
          </a:xfrm>
          <a:prstGeom prst="rect">
            <a:avLst/>
          </a:prstGeom>
        </p:spPr>
      </p:pic>
      <p:sp>
        <p:nvSpPr>
          <p:cNvPr id="7" name="s7_spec"/>
          <p:cNvSpPr/>
          <p:nvPr/>
        </p:nvSpPr>
        <p:spPr>
          <a:xfrm>
            <a:off x="502920" y="1216152"/>
            <a:ext cx="10469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SKILLS in claude code + codex — the two most popular first</a:t>
            </a:r>
            <a:endParaRPr lang="en-US" sz="1100" dirty="0"/>
          </a:p>
        </p:txBody>
      </p:sp>
      <p:sp>
        <p:nvSpPr>
          <p:cNvPr id="8" name="s7_pg"/>
          <p:cNvSpPr/>
          <p:nvPr/>
        </p:nvSpPr>
        <p:spPr>
          <a:xfrm>
            <a:off x="11064240" y="648309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/ 45</a:t>
            </a:r>
            <a:endParaRPr lang="en-US" sz="950" dirty="0"/>
          </a:p>
        </p:txBody>
      </p:sp>
      <p:sp>
        <p:nvSpPr>
          <p:cNvPr id="10" name="s7_c0_sh"/>
          <p:cNvSpPr/>
          <p:nvPr/>
        </p:nvSpPr>
        <p:spPr>
          <a:xfrm>
            <a:off x="553212" y="1531620"/>
            <a:ext cx="5477256" cy="489204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1" name="s7_c0"/>
          <p:cNvSpPr/>
          <p:nvPr/>
        </p:nvSpPr>
        <p:spPr>
          <a:xfrm>
            <a:off x="502920" y="1481328"/>
            <a:ext cx="5477256" cy="489204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12" name="s7_c0_sq"/>
          <p:cNvSpPr/>
          <p:nvPr/>
        </p:nvSpPr>
        <p:spPr>
          <a:xfrm>
            <a:off x="731520" y="1673352"/>
            <a:ext cx="137160" cy="13716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3" name="s7_c0_topic"/>
          <p:cNvSpPr/>
          <p:nvPr/>
        </p:nvSpPr>
        <p:spPr>
          <a:xfrm>
            <a:off x="960120" y="1609344"/>
            <a:ext cx="40237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50" kern="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SKILLS</a:t>
            </a:r>
            <a:endParaRPr lang="en-US" sz="1300" dirty="0"/>
          </a:p>
        </p:txBody>
      </p:sp>
      <p:sp>
        <p:nvSpPr>
          <p:cNvPr id="14" name="s7_c0_vc_sh"/>
          <p:cNvSpPr/>
          <p:nvPr/>
        </p:nvSpPr>
        <p:spPr>
          <a:xfrm>
            <a:off x="5038710" y="1636776"/>
            <a:ext cx="767730" cy="3383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5" name="s7_c0_vc"/>
          <p:cNvSpPr/>
          <p:nvPr/>
        </p:nvSpPr>
        <p:spPr>
          <a:xfrm>
            <a:off x="5011278" y="1609344"/>
            <a:ext cx="767730" cy="338328"/>
          </a:xfrm>
          <a:prstGeom prst="rect">
            <a:avLst/>
          </a:prstGeom>
          <a:solidFill>
            <a:srgbClr val="FBEEDD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16" name="s7_c0_vc_t"/>
          <p:cNvSpPr/>
          <p:nvPr/>
        </p:nvSpPr>
        <p:spPr>
          <a:xfrm>
            <a:off x="5011278" y="1609344"/>
            <a:ext cx="76773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OVERLAY</a:t>
            </a:r>
            <a:endParaRPr lang="en-US" sz="900" dirty="0"/>
          </a:p>
        </p:txBody>
      </p:sp>
      <p:sp>
        <p:nvSpPr>
          <p:cNvPr id="17" name="s7_c0_why"/>
          <p:cNvSpPr/>
          <p:nvPr/>
        </p:nvSpPr>
        <p:spPr>
          <a:xfrm>
            <a:off x="731520" y="2011680"/>
            <a:ext cx="5020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i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 Skills spec native; Claude extras via overlay</a:t>
            </a:r>
            <a:endParaRPr lang="en-US" sz="850" dirty="0"/>
          </a:p>
        </p:txBody>
      </p:sp>
      <p:sp>
        <p:nvSpPr>
          <p:cNvPr id="18" name="s7_c0_what"/>
          <p:cNvSpPr/>
          <p:nvPr/>
        </p:nvSpPr>
        <p:spPr>
          <a:xfrm>
            <a:off x="731520" y="2340864"/>
            <a:ext cx="5020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Folders of SKILL.md instructions the model auto-loads when relevant</a:t>
            </a:r>
            <a:endParaRPr lang="en-US" sz="1050" dirty="0"/>
          </a:p>
        </p:txBody>
      </p:sp>
      <p:sp>
        <p:nvSpPr>
          <p:cNvPr id="19" name="s7_c0_hr1"/>
          <p:cNvSpPr/>
          <p:nvPr/>
        </p:nvSpPr>
        <p:spPr>
          <a:xfrm>
            <a:off x="731520" y="2798064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0" name="s7_c0_k0"/>
          <p:cNvSpPr/>
          <p:nvPr/>
        </p:nvSpPr>
        <p:spPr>
          <a:xfrm>
            <a:off x="731520" y="2852928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</a:t>
            </a:r>
            <a:endParaRPr lang="en-US" sz="850" dirty="0"/>
          </a:p>
        </p:txBody>
      </p:sp>
      <p:sp>
        <p:nvSpPr>
          <p:cNvPr id="21" name="s7_c0_v0"/>
          <p:cNvSpPr/>
          <p:nvPr/>
        </p:nvSpPr>
        <p:spPr>
          <a:xfrm>
            <a:off x="1883664" y="2852928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.claude/skills/ · ~/.claude/skills/ · enterprise · plugin</a:t>
            </a:r>
            <a:endParaRPr lang="en-US" sz="900" dirty="0"/>
          </a:p>
        </p:txBody>
      </p:sp>
      <p:sp>
        <p:nvSpPr>
          <p:cNvPr id="22" name="s7_c0_hr2"/>
          <p:cNvSpPr/>
          <p:nvPr/>
        </p:nvSpPr>
        <p:spPr>
          <a:xfrm>
            <a:off x="731520" y="3273552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3" name="s7_c0_k1"/>
          <p:cNvSpPr/>
          <p:nvPr/>
        </p:nvSpPr>
        <p:spPr>
          <a:xfrm>
            <a:off x="731520" y="3273552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FORMAT</a:t>
            </a:r>
            <a:endParaRPr lang="en-US" sz="850" dirty="0"/>
          </a:p>
        </p:txBody>
      </p:sp>
      <p:sp>
        <p:nvSpPr>
          <p:cNvPr id="24" name="s7_c0_v1"/>
          <p:cNvSpPr/>
          <p:nvPr/>
        </p:nvSpPr>
        <p:spPr>
          <a:xfrm>
            <a:off x="1883664" y="3273552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SKILL.md + YAML frontmatter (open Agent Skills spec)</a:t>
            </a:r>
            <a:endParaRPr lang="en-US" sz="900" dirty="0"/>
          </a:p>
        </p:txBody>
      </p:sp>
      <p:sp>
        <p:nvSpPr>
          <p:cNvPr id="25" name="s7_c0_hr3"/>
          <p:cNvSpPr/>
          <p:nvPr/>
        </p:nvSpPr>
        <p:spPr>
          <a:xfrm>
            <a:off x="731520" y="3694176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6" name="s7_c0_k2"/>
          <p:cNvSpPr/>
          <p:nvPr/>
        </p:nvSpPr>
        <p:spPr>
          <a:xfrm>
            <a:off x="731520" y="3694176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</a:t>
            </a:r>
            <a:endParaRPr lang="en-US" sz="850" dirty="0"/>
          </a:p>
        </p:txBody>
      </p:sp>
      <p:sp>
        <p:nvSpPr>
          <p:cNvPr id="27" name="s7_c0_v2"/>
          <p:cNvSpPr/>
          <p:nvPr/>
        </p:nvSpPr>
        <p:spPr>
          <a:xfrm>
            <a:off x="1883664" y="3694176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/skills · /reload-skills · /skill-doctor · claude plugin init</a:t>
            </a:r>
            <a:endParaRPr lang="en-US" sz="900" dirty="0"/>
          </a:p>
        </p:txBody>
      </p:sp>
      <p:sp>
        <p:nvSpPr>
          <p:cNvPr id="28" name="s7_c0_hr4"/>
          <p:cNvSpPr/>
          <p:nvPr/>
        </p:nvSpPr>
        <p:spPr>
          <a:xfrm>
            <a:off x="731520" y="4114800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9" name="s7_c0_k3"/>
          <p:cNvSpPr/>
          <p:nvPr/>
        </p:nvSpPr>
        <p:spPr>
          <a:xfrm>
            <a:off x="731520" y="4114800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AUTO-UPDATE</a:t>
            </a:r>
            <a:endParaRPr lang="en-US" sz="850" dirty="0"/>
          </a:p>
        </p:txBody>
      </p:sp>
      <p:sp>
        <p:nvSpPr>
          <p:cNvPr id="30" name="s7_c0_v3"/>
          <p:cNvSpPr/>
          <p:nvPr/>
        </p:nvSpPr>
        <p:spPr>
          <a:xfrm>
            <a:off x="1883664" y="4114800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 — unversioned file drop, no update mechanism; only plugins auto-update</a:t>
            </a:r>
            <a:endParaRPr lang="en-US" sz="900" dirty="0"/>
          </a:p>
        </p:txBody>
      </p:sp>
      <p:sp>
        <p:nvSpPr>
          <p:cNvPr id="31" name="s7_c0_emp"/>
          <p:cNvSpPr/>
          <p:nvPr/>
        </p:nvSpPr>
        <p:spPr>
          <a:xfrm>
            <a:off x="704088" y="4626864"/>
            <a:ext cx="5074920" cy="1581912"/>
          </a:xfrm>
          <a:prstGeom prst="rect">
            <a:avLst/>
          </a:prstGeom>
          <a:solidFill>
            <a:srgbClr val="FBEEDD"/>
          </a:solidFill>
          <a:ln/>
        </p:spPr>
      </p:sp>
      <p:sp>
        <p:nvSpPr>
          <p:cNvPr id="32" name="s7_c0_emb"/>
          <p:cNvSpPr/>
          <p:nvPr/>
        </p:nvSpPr>
        <p:spPr>
          <a:xfrm>
            <a:off x="886968" y="4736592"/>
            <a:ext cx="4709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spc="200" kern="0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REGISTRY EMISSION</a:t>
            </a:r>
            <a:endParaRPr lang="en-US" sz="800" dirty="0"/>
          </a:p>
        </p:txBody>
      </p:sp>
      <p:sp>
        <p:nvSpPr>
          <p:cNvPr id="33" name="s7_c0_em"/>
          <p:cNvSpPr/>
          <p:nvPr/>
        </p:nvSpPr>
        <p:spPr>
          <a:xfrm>
            <a:off x="886968" y="4956048"/>
            <a:ext cx="470916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install.claude: copy → .claude/skills/&lt;n&gt;/</a:t>
            </a:r>
            <a:endParaRPr lang="en-US" sz="9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scopes: project | user | enterprise | plugin</a:t>
            </a:r>
            <a:endParaRPr lang="en-US" sz="9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overlay: when_to_use, argument-hint, context: fork</a:t>
            </a:r>
            <a:endParaRPr lang="en-US" sz="900" dirty="0"/>
          </a:p>
        </p:txBody>
      </p:sp>
      <p:sp>
        <p:nvSpPr>
          <p:cNvPr id="34" name="s7_c1_sh"/>
          <p:cNvSpPr/>
          <p:nvPr/>
        </p:nvSpPr>
        <p:spPr>
          <a:xfrm>
            <a:off x="6259068" y="1531620"/>
            <a:ext cx="5477256" cy="489204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35" name="s7_c1"/>
          <p:cNvSpPr/>
          <p:nvPr/>
        </p:nvSpPr>
        <p:spPr>
          <a:xfrm>
            <a:off x="6208776" y="1481328"/>
            <a:ext cx="5477256" cy="489204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36" name="s7_c1_sq"/>
          <p:cNvSpPr/>
          <p:nvPr/>
        </p:nvSpPr>
        <p:spPr>
          <a:xfrm>
            <a:off x="6437376" y="1673352"/>
            <a:ext cx="137160" cy="13716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7" name="s7_c1_topic"/>
          <p:cNvSpPr/>
          <p:nvPr/>
        </p:nvSpPr>
        <p:spPr>
          <a:xfrm>
            <a:off x="6665976" y="1609344"/>
            <a:ext cx="40237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50" kern="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SKILLS</a:t>
            </a:r>
            <a:endParaRPr lang="en-US" sz="1300" dirty="0"/>
          </a:p>
        </p:txBody>
      </p:sp>
      <p:sp>
        <p:nvSpPr>
          <p:cNvPr id="38" name="s7_c1_vc_sh"/>
          <p:cNvSpPr/>
          <p:nvPr/>
        </p:nvSpPr>
        <p:spPr>
          <a:xfrm>
            <a:off x="10744566" y="1636776"/>
            <a:ext cx="767730" cy="3383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39" name="s7_c1_vc"/>
          <p:cNvSpPr/>
          <p:nvPr/>
        </p:nvSpPr>
        <p:spPr>
          <a:xfrm>
            <a:off x="10717134" y="1609344"/>
            <a:ext cx="767730" cy="338328"/>
          </a:xfrm>
          <a:prstGeom prst="rect">
            <a:avLst/>
          </a:prstGeom>
          <a:solidFill>
            <a:srgbClr val="FBEEDD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40" name="s7_c1_vc_t"/>
          <p:cNvSpPr/>
          <p:nvPr/>
        </p:nvSpPr>
        <p:spPr>
          <a:xfrm>
            <a:off x="10717134" y="1609344"/>
            <a:ext cx="76773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OVERLAY</a:t>
            </a:r>
            <a:endParaRPr lang="en-US" sz="900" dirty="0"/>
          </a:p>
        </p:txBody>
      </p:sp>
      <p:sp>
        <p:nvSpPr>
          <p:cNvPr id="41" name="s7_c1_why"/>
          <p:cNvSpPr/>
          <p:nvPr/>
        </p:nvSpPr>
        <p:spPr>
          <a:xfrm>
            <a:off x="6437376" y="2011680"/>
            <a:ext cx="5020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i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Spec-pure SKILL.md works; openai.yaml is Codex-only metadata</a:t>
            </a:r>
            <a:endParaRPr lang="en-US" sz="850" dirty="0"/>
          </a:p>
        </p:txBody>
      </p:sp>
      <p:sp>
        <p:nvSpPr>
          <p:cNvPr id="42" name="s7_c1_what"/>
          <p:cNvSpPr/>
          <p:nvPr/>
        </p:nvSpPr>
        <p:spPr>
          <a:xfrm>
            <a:off x="6437376" y="2340864"/>
            <a:ext cx="5020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Reusable instruction folders Codex auto-discovers and loads on demand.</a:t>
            </a:r>
            <a:endParaRPr lang="en-US" sz="1050" dirty="0"/>
          </a:p>
        </p:txBody>
      </p:sp>
      <p:sp>
        <p:nvSpPr>
          <p:cNvPr id="43" name="s7_c1_hr1"/>
          <p:cNvSpPr/>
          <p:nvPr/>
        </p:nvSpPr>
        <p:spPr>
          <a:xfrm>
            <a:off x="6437376" y="2798064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44" name="s7_c1_k0"/>
          <p:cNvSpPr/>
          <p:nvPr/>
        </p:nvSpPr>
        <p:spPr>
          <a:xfrm>
            <a:off x="6437376" y="2852928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</a:t>
            </a:r>
            <a:endParaRPr lang="en-US" sz="850" dirty="0"/>
          </a:p>
        </p:txBody>
      </p:sp>
      <p:sp>
        <p:nvSpPr>
          <p:cNvPr id="45" name="s7_c1_v0"/>
          <p:cNvSpPr/>
          <p:nvPr/>
        </p:nvSpPr>
        <p:spPr>
          <a:xfrm>
            <a:off x="7589520" y="2852928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.agents/skills · ~/.agents/skills · /etc/codex/skills</a:t>
            </a:r>
            <a:endParaRPr lang="en-US" sz="900" dirty="0"/>
          </a:p>
        </p:txBody>
      </p:sp>
      <p:sp>
        <p:nvSpPr>
          <p:cNvPr id="46" name="s7_c1_hr2"/>
          <p:cNvSpPr/>
          <p:nvPr/>
        </p:nvSpPr>
        <p:spPr>
          <a:xfrm>
            <a:off x="6437376" y="3273552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47" name="s7_c1_k1"/>
          <p:cNvSpPr/>
          <p:nvPr/>
        </p:nvSpPr>
        <p:spPr>
          <a:xfrm>
            <a:off x="6437376" y="3273552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FORMAT</a:t>
            </a:r>
            <a:endParaRPr lang="en-US" sz="850" dirty="0"/>
          </a:p>
        </p:txBody>
      </p:sp>
      <p:sp>
        <p:nvSpPr>
          <p:cNvPr id="48" name="s7_c1_v1"/>
          <p:cNvSpPr/>
          <p:nvPr/>
        </p:nvSpPr>
        <p:spPr>
          <a:xfrm>
            <a:off x="7589520" y="3273552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SKILL.md + agents/openai.yaml sidecar (interface, policy)</a:t>
            </a:r>
            <a:endParaRPr lang="en-US" sz="900" dirty="0"/>
          </a:p>
        </p:txBody>
      </p:sp>
      <p:sp>
        <p:nvSpPr>
          <p:cNvPr id="49" name="s7_c1_hr3"/>
          <p:cNvSpPr/>
          <p:nvPr/>
        </p:nvSpPr>
        <p:spPr>
          <a:xfrm>
            <a:off x="6437376" y="3694176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50" name="s7_c1_k2"/>
          <p:cNvSpPr/>
          <p:nvPr/>
        </p:nvSpPr>
        <p:spPr>
          <a:xfrm>
            <a:off x="6437376" y="3694176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</a:t>
            </a:r>
            <a:endParaRPr lang="en-US" sz="850" dirty="0"/>
          </a:p>
        </p:txBody>
      </p:sp>
      <p:sp>
        <p:nvSpPr>
          <p:cNvPr id="51" name="s7_c1_v2"/>
          <p:cNvSpPr/>
          <p:nvPr/>
        </p:nvSpPr>
        <p:spPr>
          <a:xfrm>
            <a:off x="7589520" y="3694176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/skills · $skill-installer · [[skills.config]] + restart</a:t>
            </a:r>
            <a:endParaRPr lang="en-US" sz="900" dirty="0"/>
          </a:p>
        </p:txBody>
      </p:sp>
      <p:sp>
        <p:nvSpPr>
          <p:cNvPr id="52" name="s7_c1_hr4"/>
          <p:cNvSpPr/>
          <p:nvPr/>
        </p:nvSpPr>
        <p:spPr>
          <a:xfrm>
            <a:off x="6437376" y="4114800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53" name="s7_c1_k3"/>
          <p:cNvSpPr/>
          <p:nvPr/>
        </p:nvSpPr>
        <p:spPr>
          <a:xfrm>
            <a:off x="6437376" y="4114800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AUTO-UPDATE</a:t>
            </a:r>
            <a:endParaRPr lang="en-US" sz="850" dirty="0"/>
          </a:p>
        </p:txBody>
      </p:sp>
      <p:sp>
        <p:nvSpPr>
          <p:cNvPr id="54" name="s7_c1_v3"/>
          <p:cNvSpPr/>
          <p:nvPr/>
        </p:nvSpPr>
        <p:spPr>
          <a:xfrm>
            <a:off x="7589520" y="4114800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No. $skill-installer installs once; update = re-copy dir; restart required.</a:t>
            </a:r>
            <a:endParaRPr lang="en-US" sz="900" dirty="0"/>
          </a:p>
        </p:txBody>
      </p:sp>
      <p:sp>
        <p:nvSpPr>
          <p:cNvPr id="55" name="s7_c1_emp"/>
          <p:cNvSpPr/>
          <p:nvPr/>
        </p:nvSpPr>
        <p:spPr>
          <a:xfrm>
            <a:off x="6409944" y="4626864"/>
            <a:ext cx="5074920" cy="1581912"/>
          </a:xfrm>
          <a:prstGeom prst="rect">
            <a:avLst/>
          </a:prstGeom>
          <a:solidFill>
            <a:srgbClr val="E5F5EA"/>
          </a:solidFill>
          <a:ln/>
        </p:spPr>
      </p:sp>
      <p:sp>
        <p:nvSpPr>
          <p:cNvPr id="56" name="s7_c1_emb"/>
          <p:cNvSpPr/>
          <p:nvPr/>
        </p:nvSpPr>
        <p:spPr>
          <a:xfrm>
            <a:off x="6592824" y="4736592"/>
            <a:ext cx="4709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spc="200" kern="0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REGISTRY EMISSION</a:t>
            </a:r>
            <a:endParaRPr lang="en-US" sz="800" dirty="0"/>
          </a:p>
        </p:txBody>
      </p:sp>
      <p:sp>
        <p:nvSpPr>
          <p:cNvPr id="57" name="s7_c1_em"/>
          <p:cNvSpPr/>
          <p:nvPr/>
        </p:nvSpPr>
        <p:spPr>
          <a:xfrm>
            <a:off x="6592824" y="4956048"/>
            <a:ext cx="470916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install.codex: copy → ~/.agents/skills/&lt;n&gt;/</a:t>
            </a:r>
            <a:endParaRPr lang="en-US" sz="9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sidecar: agents/openai.yaml (interface, policy)</a:t>
            </a:r>
            <a:endParaRPr lang="en-US" sz="9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opt: [[skills.config]] path=&lt;p&gt; in config.toml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8_vx_v1"/>
          <p:cNvSpPr/>
          <p:nvPr/>
        </p:nvSpPr>
        <p:spPr>
          <a:xfrm>
            <a:off x="11137392" y="384048"/>
            <a:ext cx="128016" cy="12801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" name="s8_vx_v2"/>
          <p:cNvSpPr/>
          <p:nvPr/>
        </p:nvSpPr>
        <p:spPr>
          <a:xfrm>
            <a:off x="11292840" y="384048"/>
            <a:ext cx="128016" cy="12801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" name="s8_vx_v3"/>
          <p:cNvSpPr/>
          <p:nvPr/>
        </p:nvSpPr>
        <p:spPr>
          <a:xfrm>
            <a:off x="11137392" y="539496"/>
            <a:ext cx="128016" cy="128016"/>
          </a:xfrm>
          <a:prstGeom prst="rect">
            <a:avLst/>
          </a:prstGeom>
          <a:solidFill>
            <a:srgbClr val="D97706"/>
          </a:solidFill>
          <a:ln/>
        </p:spPr>
      </p:sp>
      <p:pic>
        <p:nvPicPr>
          <p:cNvPr id="5" name="s8_kick" descr="assets/sko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02336"/>
            <a:ext cx="4990011" cy="182880"/>
          </a:xfrm>
          <a:prstGeom prst="rect">
            <a:avLst/>
          </a:prstGeom>
        </p:spPr>
      </p:pic>
      <p:pic>
        <p:nvPicPr>
          <p:cNvPr id="6" name="s8_title" descr="assets/srf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58368"/>
            <a:ext cx="2377440" cy="475488"/>
          </a:xfrm>
          <a:prstGeom prst="rect">
            <a:avLst/>
          </a:prstGeom>
        </p:spPr>
      </p:pic>
      <p:sp>
        <p:nvSpPr>
          <p:cNvPr id="7" name="s8_spec"/>
          <p:cNvSpPr/>
          <p:nvPr/>
        </p:nvSpPr>
        <p:spPr>
          <a:xfrm>
            <a:off x="502920" y="1216152"/>
            <a:ext cx="10469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SKILLS in opencode + pi</a:t>
            </a:r>
            <a:endParaRPr lang="en-US" sz="1100" dirty="0"/>
          </a:p>
        </p:txBody>
      </p:sp>
      <p:sp>
        <p:nvSpPr>
          <p:cNvPr id="8" name="s8_pg"/>
          <p:cNvSpPr/>
          <p:nvPr/>
        </p:nvSpPr>
        <p:spPr>
          <a:xfrm>
            <a:off x="11064240" y="648309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/ 45</a:t>
            </a:r>
            <a:endParaRPr lang="en-US" sz="950" dirty="0"/>
          </a:p>
        </p:txBody>
      </p:sp>
      <p:sp>
        <p:nvSpPr>
          <p:cNvPr id="10" name="s8_c0_sh"/>
          <p:cNvSpPr/>
          <p:nvPr/>
        </p:nvSpPr>
        <p:spPr>
          <a:xfrm>
            <a:off x="553212" y="1531620"/>
            <a:ext cx="5477256" cy="489204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1" name="s8_c0"/>
          <p:cNvSpPr/>
          <p:nvPr/>
        </p:nvSpPr>
        <p:spPr>
          <a:xfrm>
            <a:off x="502920" y="1481328"/>
            <a:ext cx="5477256" cy="489204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12" name="s8_c0_sq"/>
          <p:cNvSpPr/>
          <p:nvPr/>
        </p:nvSpPr>
        <p:spPr>
          <a:xfrm>
            <a:off x="731520" y="1673352"/>
            <a:ext cx="137160" cy="137160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13" name="s8_c0_topic"/>
          <p:cNvSpPr/>
          <p:nvPr/>
        </p:nvSpPr>
        <p:spPr>
          <a:xfrm>
            <a:off x="960120" y="1609344"/>
            <a:ext cx="40237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50" kern="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SKILLS</a:t>
            </a:r>
            <a:endParaRPr lang="en-US" sz="1300" dirty="0"/>
          </a:p>
        </p:txBody>
      </p:sp>
      <p:sp>
        <p:nvSpPr>
          <p:cNvPr id="14" name="s8_c0_vc_sh"/>
          <p:cNvSpPr/>
          <p:nvPr/>
        </p:nvSpPr>
        <p:spPr>
          <a:xfrm>
            <a:off x="5038710" y="1636776"/>
            <a:ext cx="767730" cy="3383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5" name="s8_c0_vc"/>
          <p:cNvSpPr/>
          <p:nvPr/>
        </p:nvSpPr>
        <p:spPr>
          <a:xfrm>
            <a:off x="5011278" y="1609344"/>
            <a:ext cx="767730" cy="338328"/>
          </a:xfrm>
          <a:prstGeom prst="rect">
            <a:avLst/>
          </a:prstGeom>
          <a:solidFill>
            <a:srgbClr val="FBEEDD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16" name="s8_c0_vc_t"/>
          <p:cNvSpPr/>
          <p:nvPr/>
        </p:nvSpPr>
        <p:spPr>
          <a:xfrm>
            <a:off x="5011278" y="1609344"/>
            <a:ext cx="76773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OVERLAY</a:t>
            </a:r>
            <a:endParaRPr lang="en-US" sz="900" dirty="0"/>
          </a:p>
        </p:txBody>
      </p:sp>
      <p:sp>
        <p:nvSpPr>
          <p:cNvPr id="17" name="s8_c0_why"/>
          <p:cNvSpPr/>
          <p:nvPr/>
        </p:nvSpPr>
        <p:spPr>
          <a:xfrm>
            <a:off x="731520" y="2011680"/>
            <a:ext cx="5020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i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portable SKILL.md + metadata.opencode/* overlay</a:t>
            </a:r>
            <a:endParaRPr lang="en-US" sz="850" dirty="0"/>
          </a:p>
        </p:txBody>
      </p:sp>
      <p:sp>
        <p:nvSpPr>
          <p:cNvPr id="18" name="s8_c0_what"/>
          <p:cNvSpPr/>
          <p:nvPr/>
        </p:nvSpPr>
        <p:spPr>
          <a:xfrm>
            <a:off x="731520" y="2340864"/>
            <a:ext cx="5020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Native Agent Skills: SKILL.md folders the model loads on demand</a:t>
            </a:r>
            <a:endParaRPr lang="en-US" sz="1050" dirty="0"/>
          </a:p>
        </p:txBody>
      </p:sp>
      <p:sp>
        <p:nvSpPr>
          <p:cNvPr id="19" name="s8_c0_hr1"/>
          <p:cNvSpPr/>
          <p:nvPr/>
        </p:nvSpPr>
        <p:spPr>
          <a:xfrm>
            <a:off x="731520" y="2798064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0" name="s8_c0_k0"/>
          <p:cNvSpPr/>
          <p:nvPr/>
        </p:nvSpPr>
        <p:spPr>
          <a:xfrm>
            <a:off x="731520" y="2852928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</a:t>
            </a:r>
            <a:endParaRPr lang="en-US" sz="850" dirty="0"/>
          </a:p>
        </p:txBody>
      </p:sp>
      <p:sp>
        <p:nvSpPr>
          <p:cNvPr id="21" name="s8_c0_v0"/>
          <p:cNvSpPr/>
          <p:nvPr/>
        </p:nvSpPr>
        <p:spPr>
          <a:xfrm>
            <a:off x="1883664" y="2852928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.opencode/skills · .agents/skills · ~/.config/opencode/skills</a:t>
            </a:r>
            <a:endParaRPr lang="en-US" sz="900" dirty="0"/>
          </a:p>
        </p:txBody>
      </p:sp>
      <p:sp>
        <p:nvSpPr>
          <p:cNvPr id="22" name="s8_c0_hr2"/>
          <p:cNvSpPr/>
          <p:nvPr/>
        </p:nvSpPr>
        <p:spPr>
          <a:xfrm>
            <a:off x="731520" y="3273552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3" name="s8_c0_k1"/>
          <p:cNvSpPr/>
          <p:nvPr/>
        </p:nvSpPr>
        <p:spPr>
          <a:xfrm>
            <a:off x="731520" y="3273552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FORMAT</a:t>
            </a:r>
            <a:endParaRPr lang="en-US" sz="850" dirty="0"/>
          </a:p>
        </p:txBody>
      </p:sp>
      <p:sp>
        <p:nvSpPr>
          <p:cNvPr id="24" name="s8_c0_v1"/>
          <p:cNvSpPr/>
          <p:nvPr/>
        </p:nvSpPr>
        <p:spPr>
          <a:xfrm>
            <a:off x="1883664" y="3273552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SKILL.md + YAML frontmatter (Anthropic-compatible)</a:t>
            </a:r>
            <a:endParaRPr lang="en-US" sz="900" dirty="0"/>
          </a:p>
        </p:txBody>
      </p:sp>
      <p:sp>
        <p:nvSpPr>
          <p:cNvPr id="25" name="s8_c0_hr3"/>
          <p:cNvSpPr/>
          <p:nvPr/>
        </p:nvSpPr>
        <p:spPr>
          <a:xfrm>
            <a:off x="731520" y="3694176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6" name="s8_c0_k2"/>
          <p:cNvSpPr/>
          <p:nvPr/>
        </p:nvSpPr>
        <p:spPr>
          <a:xfrm>
            <a:off x="731520" y="3694176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</a:t>
            </a:r>
            <a:endParaRPr lang="en-US" sz="850" dirty="0"/>
          </a:p>
        </p:txBody>
      </p:sp>
      <p:sp>
        <p:nvSpPr>
          <p:cNvPr id="27" name="s8_c0_v2"/>
          <p:cNvSpPr/>
          <p:nvPr/>
        </p:nvSpPr>
        <p:spPr>
          <a:xfrm>
            <a:off x="1883664" y="3694176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none — file drop · config skills[] paths · catalog URL</a:t>
            </a:r>
            <a:endParaRPr lang="en-US" sz="900" dirty="0"/>
          </a:p>
        </p:txBody>
      </p:sp>
      <p:sp>
        <p:nvSpPr>
          <p:cNvPr id="28" name="s8_c0_hr4"/>
          <p:cNvSpPr/>
          <p:nvPr/>
        </p:nvSpPr>
        <p:spPr>
          <a:xfrm>
            <a:off x="731520" y="4114800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9" name="s8_c0_k3"/>
          <p:cNvSpPr/>
          <p:nvPr/>
        </p:nvSpPr>
        <p:spPr>
          <a:xfrm>
            <a:off x="731520" y="4114800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AUTO-UPDATE</a:t>
            </a:r>
            <a:endParaRPr lang="en-US" sz="850" dirty="0"/>
          </a:p>
        </p:txBody>
      </p:sp>
      <p:sp>
        <p:nvSpPr>
          <p:cNvPr id="30" name="s8_c0_v3"/>
          <p:cNvSpPr/>
          <p:nvPr/>
        </p:nvSpPr>
        <p:spPr>
          <a:xfrm>
            <a:off x="1883664" y="4114800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6A3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Yes — catalog caches per version; bump = update. Most registry-ready</a:t>
            </a:r>
            <a:endParaRPr lang="en-US" sz="900" dirty="0"/>
          </a:p>
        </p:txBody>
      </p:sp>
      <p:sp>
        <p:nvSpPr>
          <p:cNvPr id="31" name="s8_c0_emp"/>
          <p:cNvSpPr/>
          <p:nvPr/>
        </p:nvSpPr>
        <p:spPr>
          <a:xfrm>
            <a:off x="704088" y="4626864"/>
            <a:ext cx="5074920" cy="1581912"/>
          </a:xfrm>
          <a:prstGeom prst="rect">
            <a:avLst/>
          </a:prstGeom>
          <a:solidFill>
            <a:srgbClr val="E7EEFD"/>
          </a:solidFill>
          <a:ln/>
        </p:spPr>
      </p:sp>
      <p:sp>
        <p:nvSpPr>
          <p:cNvPr id="32" name="s8_c0_emb"/>
          <p:cNvSpPr/>
          <p:nvPr/>
        </p:nvSpPr>
        <p:spPr>
          <a:xfrm>
            <a:off x="886968" y="4736592"/>
            <a:ext cx="4709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spc="200" kern="0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REGISTRY EMISSION</a:t>
            </a:r>
            <a:endParaRPr lang="en-US" sz="800" dirty="0"/>
          </a:p>
        </p:txBody>
      </p:sp>
      <p:sp>
        <p:nvSpPr>
          <p:cNvPr id="33" name="s8_c0_em"/>
          <p:cNvSpPr/>
          <p:nvPr/>
        </p:nvSpPr>
        <p:spPr>
          <a:xfrm>
            <a:off x="886968" y="4956048"/>
            <a:ext cx="470916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 → .opencode/skills/ (beats .agents, .claude)</a:t>
            </a:r>
            <a:endParaRPr lang="en-US" sz="9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alt: add catalog URL to config skills[] (v2)</a:t>
            </a:r>
            <a:endParaRPr lang="en-US" sz="9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overlay: metadata.opencode/slash, autoinvoke</a:t>
            </a:r>
            <a:endParaRPr lang="en-US" sz="900" dirty="0"/>
          </a:p>
        </p:txBody>
      </p:sp>
      <p:sp>
        <p:nvSpPr>
          <p:cNvPr id="34" name="s8_c1_sh"/>
          <p:cNvSpPr/>
          <p:nvPr/>
        </p:nvSpPr>
        <p:spPr>
          <a:xfrm>
            <a:off x="6259068" y="1531620"/>
            <a:ext cx="5477256" cy="489204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35" name="s8_c1"/>
          <p:cNvSpPr/>
          <p:nvPr/>
        </p:nvSpPr>
        <p:spPr>
          <a:xfrm>
            <a:off x="6208776" y="1481328"/>
            <a:ext cx="5477256" cy="489204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36" name="s8_c1_sq"/>
          <p:cNvSpPr/>
          <p:nvPr/>
        </p:nvSpPr>
        <p:spPr>
          <a:xfrm>
            <a:off x="6437376" y="1673352"/>
            <a:ext cx="137160" cy="13716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7" name="s8_c1_topic"/>
          <p:cNvSpPr/>
          <p:nvPr/>
        </p:nvSpPr>
        <p:spPr>
          <a:xfrm>
            <a:off x="6665976" y="1609344"/>
            <a:ext cx="37965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50" kern="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SKILLS</a:t>
            </a:r>
            <a:endParaRPr lang="en-US" sz="1300" dirty="0"/>
          </a:p>
        </p:txBody>
      </p:sp>
      <p:sp>
        <p:nvSpPr>
          <p:cNvPr id="38" name="s8_c1_vc_sh"/>
          <p:cNvSpPr/>
          <p:nvPr/>
        </p:nvSpPr>
        <p:spPr>
          <a:xfrm>
            <a:off x="10517429" y="1636776"/>
            <a:ext cx="994867" cy="3383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39" name="s8_c1_vc"/>
          <p:cNvSpPr/>
          <p:nvPr/>
        </p:nvSpPr>
        <p:spPr>
          <a:xfrm>
            <a:off x="10489997" y="1609344"/>
            <a:ext cx="994867" cy="338328"/>
          </a:xfrm>
          <a:prstGeom prst="rect">
            <a:avLst/>
          </a:prstGeom>
          <a:solidFill>
            <a:srgbClr val="E5F5EA"/>
          </a:solidFill>
          <a:ln w="15875">
            <a:solidFill>
              <a:srgbClr val="16A34A"/>
            </a:solidFill>
            <a:prstDash val="solid"/>
          </a:ln>
        </p:spPr>
      </p:sp>
      <p:sp>
        <p:nvSpPr>
          <p:cNvPr id="40" name="s8_c1_vc_t"/>
          <p:cNvSpPr/>
          <p:nvPr/>
        </p:nvSpPr>
        <p:spPr>
          <a:xfrm>
            <a:off x="10489997" y="1609344"/>
            <a:ext cx="99486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COPY-AS-IS</a:t>
            </a:r>
            <a:endParaRPr lang="en-US" sz="900" dirty="0"/>
          </a:p>
        </p:txBody>
      </p:sp>
      <p:sp>
        <p:nvSpPr>
          <p:cNvPr id="41" name="s8_c1_why"/>
          <p:cNvSpPr/>
          <p:nvPr/>
        </p:nvSpPr>
        <p:spPr>
          <a:xfrm>
            <a:off x="6437376" y="2011680"/>
            <a:ext cx="5020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i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agentskills.io spec; un-gated drop into ~/.agents/skills</a:t>
            </a:r>
            <a:endParaRPr lang="en-US" sz="850" dirty="0"/>
          </a:p>
        </p:txBody>
      </p:sp>
      <p:sp>
        <p:nvSpPr>
          <p:cNvPr id="42" name="s8_c1_what"/>
          <p:cNvSpPr/>
          <p:nvPr/>
        </p:nvSpPr>
        <p:spPr>
          <a:xfrm>
            <a:off x="6437376" y="2340864"/>
            <a:ext cx="5020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Folders of instructions the agent discovers and reads only when needed</a:t>
            </a:r>
            <a:endParaRPr lang="en-US" sz="1050" dirty="0"/>
          </a:p>
        </p:txBody>
      </p:sp>
      <p:sp>
        <p:nvSpPr>
          <p:cNvPr id="43" name="s8_c1_hr1"/>
          <p:cNvSpPr/>
          <p:nvPr/>
        </p:nvSpPr>
        <p:spPr>
          <a:xfrm>
            <a:off x="6437376" y="2798064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44" name="s8_c1_k0"/>
          <p:cNvSpPr/>
          <p:nvPr/>
        </p:nvSpPr>
        <p:spPr>
          <a:xfrm>
            <a:off x="6437376" y="2852928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</a:t>
            </a:r>
            <a:endParaRPr lang="en-US" sz="850" dirty="0"/>
          </a:p>
        </p:txBody>
      </p:sp>
      <p:sp>
        <p:nvSpPr>
          <p:cNvPr id="45" name="s8_c1_v0"/>
          <p:cNvSpPr/>
          <p:nvPr/>
        </p:nvSpPr>
        <p:spPr>
          <a:xfrm>
            <a:off x="7589520" y="2852928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~/.pi/agent/skills · ~/.agents/skills · .pi/skills</a:t>
            </a:r>
            <a:endParaRPr lang="en-US" sz="900" dirty="0"/>
          </a:p>
        </p:txBody>
      </p:sp>
      <p:sp>
        <p:nvSpPr>
          <p:cNvPr id="46" name="s8_c1_hr2"/>
          <p:cNvSpPr/>
          <p:nvPr/>
        </p:nvSpPr>
        <p:spPr>
          <a:xfrm>
            <a:off x="6437376" y="3273552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47" name="s8_c1_k1"/>
          <p:cNvSpPr/>
          <p:nvPr/>
        </p:nvSpPr>
        <p:spPr>
          <a:xfrm>
            <a:off x="6437376" y="3273552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FORMAT</a:t>
            </a:r>
            <a:endParaRPr lang="en-US" sz="850" dirty="0"/>
          </a:p>
        </p:txBody>
      </p:sp>
      <p:sp>
        <p:nvSpPr>
          <p:cNvPr id="48" name="s8_c1_v1"/>
          <p:cNvSpPr/>
          <p:nvPr/>
        </p:nvSpPr>
        <p:spPr>
          <a:xfrm>
            <a:off x="7589520" y="3273552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SKILL.md dir; Agent Skills spec YAML frontmatter</a:t>
            </a:r>
            <a:endParaRPr lang="en-US" sz="900" dirty="0"/>
          </a:p>
        </p:txBody>
      </p:sp>
      <p:sp>
        <p:nvSpPr>
          <p:cNvPr id="49" name="s8_c1_hr3"/>
          <p:cNvSpPr/>
          <p:nvPr/>
        </p:nvSpPr>
        <p:spPr>
          <a:xfrm>
            <a:off x="6437376" y="3694176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50" name="s8_c1_k2"/>
          <p:cNvSpPr/>
          <p:nvPr/>
        </p:nvSpPr>
        <p:spPr>
          <a:xfrm>
            <a:off x="6437376" y="3694176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</a:t>
            </a:r>
            <a:endParaRPr lang="en-US" sz="850" dirty="0"/>
          </a:p>
        </p:txBody>
      </p:sp>
      <p:sp>
        <p:nvSpPr>
          <p:cNvPr id="51" name="s8_c1_v2"/>
          <p:cNvSpPr/>
          <p:nvPr/>
        </p:nvSpPr>
        <p:spPr>
          <a:xfrm>
            <a:off x="7589520" y="3694176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/skill:&lt;name&gt; · enableSkillCommands · !glob/+path filters</a:t>
            </a:r>
            <a:endParaRPr lang="en-US" sz="900" dirty="0"/>
          </a:p>
        </p:txBody>
      </p:sp>
      <p:sp>
        <p:nvSpPr>
          <p:cNvPr id="52" name="s8_c1_hr4"/>
          <p:cNvSpPr/>
          <p:nvPr/>
        </p:nvSpPr>
        <p:spPr>
          <a:xfrm>
            <a:off x="6437376" y="4114800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53" name="s8_c1_k3"/>
          <p:cNvSpPr/>
          <p:nvPr/>
        </p:nvSpPr>
        <p:spPr>
          <a:xfrm>
            <a:off x="6437376" y="4114800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AUTO-UPDATE</a:t>
            </a:r>
            <a:endParaRPr lang="en-US" sz="850" dirty="0"/>
          </a:p>
        </p:txBody>
      </p:sp>
      <p:sp>
        <p:nvSpPr>
          <p:cNvPr id="54" name="s8_c1_v3"/>
          <p:cNvSpPr/>
          <p:nvPr/>
        </p:nvSpPr>
        <p:spPr>
          <a:xfrm>
            <a:off x="7589520" y="4114800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 pi packages: pi update --extensions; standalone dirs manual</a:t>
            </a:r>
            <a:endParaRPr lang="en-US" sz="900" dirty="0"/>
          </a:p>
        </p:txBody>
      </p:sp>
      <p:sp>
        <p:nvSpPr>
          <p:cNvPr id="55" name="s8_c1_emp"/>
          <p:cNvSpPr/>
          <p:nvPr/>
        </p:nvSpPr>
        <p:spPr>
          <a:xfrm>
            <a:off x="6409944" y="4626864"/>
            <a:ext cx="5074920" cy="1581912"/>
          </a:xfrm>
          <a:prstGeom prst="rect">
            <a:avLst/>
          </a:prstGeom>
          <a:solidFill>
            <a:srgbClr val="EFE9FB"/>
          </a:solidFill>
          <a:ln/>
        </p:spPr>
      </p:sp>
      <p:sp>
        <p:nvSpPr>
          <p:cNvPr id="56" name="s8_c1_emb"/>
          <p:cNvSpPr/>
          <p:nvPr/>
        </p:nvSpPr>
        <p:spPr>
          <a:xfrm>
            <a:off x="6592824" y="4736592"/>
            <a:ext cx="4709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spc="200" kern="0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REGISTRY EMISSION</a:t>
            </a:r>
            <a:endParaRPr lang="en-US" sz="800" dirty="0"/>
          </a:p>
        </p:txBody>
      </p:sp>
      <p:sp>
        <p:nvSpPr>
          <p:cNvPr id="57" name="s8_c1_em"/>
          <p:cNvSpPr/>
          <p:nvPr/>
        </p:nvSpPr>
        <p:spPr>
          <a:xfrm>
            <a:off x="6592824" y="4956048"/>
            <a:ext cx="470916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install.pi: pi install npm:&lt;pkg&gt;@&lt;ver&gt;</a:t>
            </a:r>
            <a:endParaRPr lang="en-US" sz="9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alt: copy-dir → ~/.agents/skills/&lt;name&gt;/</a:t>
            </a:r>
            <a:endParaRPr lang="en-US" sz="9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lockfile: .pi/settings.json (project)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9_vx_v1"/>
          <p:cNvSpPr/>
          <p:nvPr/>
        </p:nvSpPr>
        <p:spPr>
          <a:xfrm>
            <a:off x="11137392" y="384048"/>
            <a:ext cx="128016" cy="12801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" name="s9_vx_v2"/>
          <p:cNvSpPr/>
          <p:nvPr/>
        </p:nvSpPr>
        <p:spPr>
          <a:xfrm>
            <a:off x="11292840" y="384048"/>
            <a:ext cx="128016" cy="12801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" name="s9_vx_v3"/>
          <p:cNvSpPr/>
          <p:nvPr/>
        </p:nvSpPr>
        <p:spPr>
          <a:xfrm>
            <a:off x="11137392" y="539496"/>
            <a:ext cx="128016" cy="128016"/>
          </a:xfrm>
          <a:prstGeom prst="rect">
            <a:avLst/>
          </a:prstGeom>
          <a:solidFill>
            <a:srgbClr val="D97706"/>
          </a:solidFill>
          <a:ln/>
        </p:spPr>
      </p:sp>
      <p:pic>
        <p:nvPicPr>
          <p:cNvPr id="5" name="s9_kick" descr="assets/skb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02336"/>
            <a:ext cx="2795451" cy="182880"/>
          </a:xfrm>
          <a:prstGeom prst="rect">
            <a:avLst/>
          </a:prstGeom>
        </p:spPr>
      </p:pic>
      <p:pic>
        <p:nvPicPr>
          <p:cNvPr id="6" name="s9_title" descr="assets/srf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58368"/>
            <a:ext cx="3192562" cy="475488"/>
          </a:xfrm>
          <a:prstGeom prst="rect">
            <a:avLst/>
          </a:prstGeom>
        </p:spPr>
      </p:pic>
      <p:sp>
        <p:nvSpPr>
          <p:cNvPr id="7" name="s9_spec"/>
          <p:cNvSpPr/>
          <p:nvPr/>
        </p:nvSpPr>
        <p:spPr>
          <a:xfrm>
            <a:off x="502920" y="1216152"/>
            <a:ext cx="10469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Markdown files that become /slash-command prompts — legacy everywhere, absorbed by skills</a:t>
            </a:r>
            <a:endParaRPr lang="en-US" sz="1100" dirty="0"/>
          </a:p>
        </p:txBody>
      </p:sp>
      <p:sp>
        <p:nvSpPr>
          <p:cNvPr id="8" name="s9_pg"/>
          <p:cNvSpPr/>
          <p:nvPr/>
        </p:nvSpPr>
        <p:spPr>
          <a:xfrm>
            <a:off x="11064240" y="648309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/ 45</a:t>
            </a:r>
            <a:endParaRPr lang="en-US" sz="950" dirty="0"/>
          </a:p>
        </p:txBody>
      </p:sp>
      <p:sp>
        <p:nvSpPr>
          <p:cNvPr id="10" name="s9_min_sh"/>
          <p:cNvSpPr/>
          <p:nvPr/>
        </p:nvSpPr>
        <p:spPr>
          <a:xfrm>
            <a:off x="553212" y="1531620"/>
            <a:ext cx="5669280" cy="416052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1" name="s9_min"/>
          <p:cNvSpPr/>
          <p:nvPr/>
        </p:nvSpPr>
        <p:spPr>
          <a:xfrm>
            <a:off x="502920" y="1481328"/>
            <a:ext cx="5669280" cy="416052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12" name="s9_mb"/>
          <p:cNvSpPr/>
          <p:nvPr/>
        </p:nvSpPr>
        <p:spPr>
          <a:xfrm>
            <a:off x="777240" y="162763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REGISTRY MINIMUM — WHAT WE STORE</a:t>
            </a:r>
            <a:endParaRPr lang="en-US" sz="950" dirty="0"/>
          </a:p>
        </p:txBody>
      </p:sp>
      <p:sp>
        <p:nvSpPr>
          <p:cNvPr id="13" name="s9_mk0"/>
          <p:cNvSpPr/>
          <p:nvPr/>
        </p:nvSpPr>
        <p:spPr>
          <a:xfrm>
            <a:off x="777240" y="19202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900" dirty="0"/>
          </a:p>
        </p:txBody>
      </p:sp>
      <p:sp>
        <p:nvSpPr>
          <p:cNvPr id="14" name="s9_mv0"/>
          <p:cNvSpPr/>
          <p:nvPr/>
        </p:nvSpPr>
        <p:spPr>
          <a:xfrm>
            <a:off x="2240280" y="192024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filename IS the command: review.md → /review</a:t>
            </a:r>
            <a:endParaRPr lang="en-US" sz="850" dirty="0"/>
          </a:p>
        </p:txBody>
      </p:sp>
      <p:sp>
        <p:nvSpPr>
          <p:cNvPr id="15" name="s9_mhr0"/>
          <p:cNvSpPr/>
          <p:nvPr/>
        </p:nvSpPr>
        <p:spPr>
          <a:xfrm>
            <a:off x="777240" y="2304288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16" name="s9_mk1"/>
          <p:cNvSpPr/>
          <p:nvPr/>
        </p:nvSpPr>
        <p:spPr>
          <a:xfrm>
            <a:off x="777240" y="230428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frontmatter</a:t>
            </a:r>
            <a:endParaRPr lang="en-US" sz="900" dirty="0"/>
          </a:p>
        </p:txBody>
      </p:sp>
      <p:sp>
        <p:nvSpPr>
          <p:cNvPr id="17" name="s9_mv1"/>
          <p:cNvSpPr/>
          <p:nvPr/>
        </p:nvSpPr>
        <p:spPr>
          <a:xfrm>
            <a:off x="2240280" y="230428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 + argument-hint (all 4 dialects)</a:t>
            </a:r>
            <a:endParaRPr lang="en-US" sz="850" dirty="0"/>
          </a:p>
        </p:txBody>
      </p:sp>
      <p:sp>
        <p:nvSpPr>
          <p:cNvPr id="18" name="s9_mhr1"/>
          <p:cNvSpPr/>
          <p:nvPr/>
        </p:nvSpPr>
        <p:spPr>
          <a:xfrm>
            <a:off x="777240" y="2688336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19" name="s9_mk2"/>
          <p:cNvSpPr/>
          <p:nvPr/>
        </p:nvSpPr>
        <p:spPr>
          <a:xfrm>
            <a:off x="777240" y="2688336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prompt body</a:t>
            </a:r>
            <a:endParaRPr lang="en-US" sz="900" dirty="0"/>
          </a:p>
        </p:txBody>
      </p:sp>
      <p:sp>
        <p:nvSpPr>
          <p:cNvPr id="20" name="s9_mv2"/>
          <p:cNvSpPr/>
          <p:nvPr/>
        </p:nvSpPr>
        <p:spPr>
          <a:xfrm>
            <a:off x="2240280" y="2688336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markdown template; $1..$n argument slots</a:t>
            </a:r>
            <a:endParaRPr lang="en-US" sz="850" dirty="0"/>
          </a:p>
        </p:txBody>
      </p:sp>
      <p:sp>
        <p:nvSpPr>
          <p:cNvPr id="21" name="s9_mhr2"/>
          <p:cNvSpPr/>
          <p:nvPr/>
        </p:nvSpPr>
        <p:spPr>
          <a:xfrm>
            <a:off x="777240" y="3072384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2" name="s9_mk3"/>
          <p:cNvSpPr/>
          <p:nvPr/>
        </p:nvSpPr>
        <p:spPr>
          <a:xfrm>
            <a:off x="777240" y="3072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versionSeal</a:t>
            </a:r>
            <a:endParaRPr lang="en-US" sz="900" dirty="0"/>
          </a:p>
        </p:txBody>
      </p:sp>
      <p:sp>
        <p:nvSpPr>
          <p:cNvPr id="23" name="s9_mv3"/>
          <p:cNvSpPr/>
          <p:nvPr/>
        </p:nvSpPr>
        <p:spPr>
          <a:xfrm>
            <a:off x="2240280" y="3072384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semver + sha — nothing versions a command</a:t>
            </a:r>
            <a:endParaRPr lang="en-US" sz="850" dirty="0"/>
          </a:p>
        </p:txBody>
      </p:sp>
      <p:sp>
        <p:nvSpPr>
          <p:cNvPr id="24" name="s9_mhr3"/>
          <p:cNvSpPr/>
          <p:nvPr/>
        </p:nvSpPr>
        <p:spPr>
          <a:xfrm>
            <a:off x="777240" y="3456432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5" name="s9_mk4"/>
          <p:cNvSpPr/>
          <p:nvPr/>
        </p:nvSpPr>
        <p:spPr>
          <a:xfrm>
            <a:off x="777240" y="3456432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targets</a:t>
            </a:r>
            <a:endParaRPr lang="en-US" sz="900" dirty="0"/>
          </a:p>
        </p:txBody>
      </p:sp>
      <p:sp>
        <p:nvSpPr>
          <p:cNvPr id="26" name="s9_mv4"/>
          <p:cNvSpPr/>
          <p:nvPr/>
        </p:nvSpPr>
        <p:spPr>
          <a:xfrm>
            <a:off x="2240280" y="3456432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commands|prompts dir per harness (4 paths)</a:t>
            </a:r>
            <a:endParaRPr lang="en-US" sz="850" dirty="0"/>
          </a:p>
        </p:txBody>
      </p:sp>
      <p:sp>
        <p:nvSpPr>
          <p:cNvPr id="27" name="s9_mhr4"/>
          <p:cNvSpPr/>
          <p:nvPr/>
        </p:nvSpPr>
        <p:spPr>
          <a:xfrm>
            <a:off x="777240" y="3840480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8" name="s9_mk5"/>
          <p:cNvSpPr/>
          <p:nvPr/>
        </p:nvSpPr>
        <p:spPr>
          <a:xfrm>
            <a:off x="777240" y="384048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deprecation</a:t>
            </a:r>
            <a:endParaRPr lang="en-US" sz="900" dirty="0"/>
          </a:p>
        </p:txBody>
      </p:sp>
      <p:sp>
        <p:nvSpPr>
          <p:cNvPr id="29" name="s9_mv5"/>
          <p:cNvSpPr/>
          <p:nvPr/>
        </p:nvSpPr>
        <p:spPr>
          <a:xfrm>
            <a:off x="2240280" y="384048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legacy (claude) · deprecated + user-only (codex)</a:t>
            </a:r>
            <a:endParaRPr lang="en-US" sz="850" dirty="0"/>
          </a:p>
        </p:txBody>
      </p:sp>
      <p:sp>
        <p:nvSpPr>
          <p:cNvPr id="30" name="s9_mhr5"/>
          <p:cNvSpPr/>
          <p:nvPr/>
        </p:nvSpPr>
        <p:spPr>
          <a:xfrm>
            <a:off x="777240" y="4224528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31" name="s9_mwhy"/>
          <p:cNvSpPr/>
          <p:nvPr/>
        </p:nvSpPr>
        <p:spPr>
          <a:xfrm>
            <a:off x="777240" y="498348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markdown shape drops as-is into four prompts dirs; the record adds identity, hash, per-harness paths.</a:t>
            </a:r>
            <a:endParaRPr lang="en-US" sz="950" dirty="0"/>
          </a:p>
        </p:txBody>
      </p:sp>
      <p:sp>
        <p:nvSpPr>
          <p:cNvPr id="32" name="s9_row_sh"/>
          <p:cNvSpPr/>
          <p:nvPr/>
        </p:nvSpPr>
        <p:spPr>
          <a:xfrm>
            <a:off x="6451092" y="1531620"/>
            <a:ext cx="5285232" cy="310896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33" name="s9_row"/>
          <p:cNvSpPr/>
          <p:nvPr/>
        </p:nvSpPr>
        <p:spPr>
          <a:xfrm>
            <a:off x="6400800" y="1481328"/>
            <a:ext cx="5285232" cy="310896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34" name="s9_rb"/>
          <p:cNvSpPr/>
          <p:nvPr/>
        </p:nvSpPr>
        <p:spPr>
          <a:xfrm>
            <a:off x="6675120" y="1627632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MATRIX ROW</a:t>
            </a:r>
            <a:endParaRPr lang="en-US" sz="1050" dirty="0"/>
          </a:p>
        </p:txBody>
      </p:sp>
      <p:sp>
        <p:nvSpPr>
          <p:cNvPr id="35" name="s9_rb0"/>
          <p:cNvSpPr/>
          <p:nvPr/>
        </p:nvSpPr>
        <p:spPr>
          <a:xfrm>
            <a:off x="6675120" y="2139696"/>
            <a:ext cx="109728" cy="109728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6" name="s9_rk0"/>
          <p:cNvSpPr/>
          <p:nvPr/>
        </p:nvSpPr>
        <p:spPr>
          <a:xfrm>
            <a:off x="6894576" y="1938528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CLAUDE CODE</a:t>
            </a:r>
            <a:endParaRPr lang="en-US" sz="950" dirty="0"/>
          </a:p>
        </p:txBody>
      </p:sp>
      <p:sp>
        <p:nvSpPr>
          <p:cNvPr id="37" name="s9_rc0_sh"/>
          <p:cNvSpPr/>
          <p:nvPr/>
        </p:nvSpPr>
        <p:spPr>
          <a:xfrm>
            <a:off x="8302752" y="2075688"/>
            <a:ext cx="826618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38" name="s9_rc0"/>
          <p:cNvSpPr/>
          <p:nvPr/>
        </p:nvSpPr>
        <p:spPr>
          <a:xfrm>
            <a:off x="8275320" y="2048256"/>
            <a:ext cx="826618" cy="287528"/>
          </a:xfrm>
          <a:prstGeom prst="rect">
            <a:avLst/>
          </a:prstGeom>
          <a:solidFill>
            <a:srgbClr val="E5F5EA"/>
          </a:solidFill>
          <a:ln w="15875">
            <a:solidFill>
              <a:srgbClr val="16A34A"/>
            </a:solidFill>
            <a:prstDash val="solid"/>
          </a:ln>
        </p:spPr>
      </p:sp>
      <p:sp>
        <p:nvSpPr>
          <p:cNvPr id="39" name="s9_rc0_t"/>
          <p:cNvSpPr/>
          <p:nvPr/>
        </p:nvSpPr>
        <p:spPr>
          <a:xfrm>
            <a:off x="8275320" y="2048256"/>
            <a:ext cx="826618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COPY-AS-IS</a:t>
            </a:r>
            <a:endParaRPr lang="en-US" sz="700" dirty="0"/>
          </a:p>
        </p:txBody>
      </p:sp>
      <p:sp>
        <p:nvSpPr>
          <p:cNvPr id="40" name="s9_rd0"/>
          <p:cNvSpPr/>
          <p:nvPr/>
        </p:nvSpPr>
        <p:spPr>
          <a:xfrm>
            <a:off x="9211666" y="2157984"/>
            <a:ext cx="68580" cy="68580"/>
          </a:xfrm>
          <a:prstGeom prst="rect">
            <a:avLst/>
          </a:prstGeom>
          <a:solidFill>
            <a:srgbClr val="C7CAD1"/>
          </a:solidFill>
          <a:ln/>
        </p:spPr>
      </p:sp>
      <p:sp>
        <p:nvSpPr>
          <p:cNvPr id="41" name="s9_rb1"/>
          <p:cNvSpPr/>
          <p:nvPr/>
        </p:nvSpPr>
        <p:spPr>
          <a:xfrm>
            <a:off x="6675120" y="2651760"/>
            <a:ext cx="109728" cy="109728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9_rk1"/>
          <p:cNvSpPr/>
          <p:nvPr/>
        </p:nvSpPr>
        <p:spPr>
          <a:xfrm>
            <a:off x="6894576" y="2450592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CODEX</a:t>
            </a:r>
            <a:endParaRPr lang="en-US" sz="950" dirty="0"/>
          </a:p>
        </p:txBody>
      </p:sp>
      <p:sp>
        <p:nvSpPr>
          <p:cNvPr id="43" name="s9_rc1_sh"/>
          <p:cNvSpPr/>
          <p:nvPr/>
        </p:nvSpPr>
        <p:spPr>
          <a:xfrm>
            <a:off x="8302752" y="2587752"/>
            <a:ext cx="826618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44" name="s9_rc1"/>
          <p:cNvSpPr/>
          <p:nvPr/>
        </p:nvSpPr>
        <p:spPr>
          <a:xfrm>
            <a:off x="8275320" y="2560320"/>
            <a:ext cx="826618" cy="287528"/>
          </a:xfrm>
          <a:prstGeom prst="rect">
            <a:avLst/>
          </a:prstGeom>
          <a:solidFill>
            <a:srgbClr val="E5F5EA"/>
          </a:solidFill>
          <a:ln w="15875">
            <a:solidFill>
              <a:srgbClr val="16A34A"/>
            </a:solidFill>
            <a:prstDash val="solid"/>
          </a:ln>
        </p:spPr>
      </p:sp>
      <p:sp>
        <p:nvSpPr>
          <p:cNvPr id="45" name="s9_rc1_t"/>
          <p:cNvSpPr/>
          <p:nvPr/>
        </p:nvSpPr>
        <p:spPr>
          <a:xfrm>
            <a:off x="8275320" y="2560320"/>
            <a:ext cx="826618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COPY-AS-IS</a:t>
            </a:r>
            <a:endParaRPr lang="en-US" sz="700" dirty="0"/>
          </a:p>
        </p:txBody>
      </p:sp>
      <p:sp>
        <p:nvSpPr>
          <p:cNvPr id="46" name="s9_rd1"/>
          <p:cNvSpPr/>
          <p:nvPr/>
        </p:nvSpPr>
        <p:spPr>
          <a:xfrm>
            <a:off x="9211666" y="2670048"/>
            <a:ext cx="68580" cy="68580"/>
          </a:xfrm>
          <a:prstGeom prst="rect">
            <a:avLst/>
          </a:prstGeom>
          <a:solidFill>
            <a:srgbClr val="C7CAD1"/>
          </a:solidFill>
          <a:ln/>
        </p:spPr>
      </p:sp>
      <p:sp>
        <p:nvSpPr>
          <p:cNvPr id="47" name="s9_rb2"/>
          <p:cNvSpPr/>
          <p:nvPr/>
        </p:nvSpPr>
        <p:spPr>
          <a:xfrm>
            <a:off x="6675120" y="3163824"/>
            <a:ext cx="109728" cy="109728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48" name="s9_rk2"/>
          <p:cNvSpPr/>
          <p:nvPr/>
        </p:nvSpPr>
        <p:spPr>
          <a:xfrm>
            <a:off x="6894576" y="2962656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OPENCODE</a:t>
            </a:r>
            <a:endParaRPr lang="en-US" sz="950" dirty="0"/>
          </a:p>
        </p:txBody>
      </p:sp>
      <p:sp>
        <p:nvSpPr>
          <p:cNvPr id="49" name="s9_rc2_sh"/>
          <p:cNvSpPr/>
          <p:nvPr/>
        </p:nvSpPr>
        <p:spPr>
          <a:xfrm>
            <a:off x="8302752" y="3099816"/>
            <a:ext cx="826618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50" name="s9_rc2"/>
          <p:cNvSpPr/>
          <p:nvPr/>
        </p:nvSpPr>
        <p:spPr>
          <a:xfrm>
            <a:off x="8275320" y="3072384"/>
            <a:ext cx="826618" cy="287528"/>
          </a:xfrm>
          <a:prstGeom prst="rect">
            <a:avLst/>
          </a:prstGeom>
          <a:solidFill>
            <a:srgbClr val="E5F5EA"/>
          </a:solidFill>
          <a:ln w="15875">
            <a:solidFill>
              <a:srgbClr val="16A34A"/>
            </a:solidFill>
            <a:prstDash val="solid"/>
          </a:ln>
        </p:spPr>
      </p:sp>
      <p:sp>
        <p:nvSpPr>
          <p:cNvPr id="51" name="s9_rc2_t"/>
          <p:cNvSpPr/>
          <p:nvPr/>
        </p:nvSpPr>
        <p:spPr>
          <a:xfrm>
            <a:off x="8275320" y="3072384"/>
            <a:ext cx="826618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COPY-AS-IS</a:t>
            </a:r>
            <a:endParaRPr lang="en-US" sz="700" dirty="0"/>
          </a:p>
        </p:txBody>
      </p:sp>
      <p:sp>
        <p:nvSpPr>
          <p:cNvPr id="52" name="s9_rd2"/>
          <p:cNvSpPr/>
          <p:nvPr/>
        </p:nvSpPr>
        <p:spPr>
          <a:xfrm>
            <a:off x="9211666" y="3182112"/>
            <a:ext cx="68580" cy="68580"/>
          </a:xfrm>
          <a:prstGeom prst="rect">
            <a:avLst/>
          </a:prstGeom>
          <a:solidFill>
            <a:srgbClr val="C7CAD1"/>
          </a:solidFill>
          <a:ln/>
        </p:spPr>
      </p:sp>
      <p:sp>
        <p:nvSpPr>
          <p:cNvPr id="53" name="s9_rb3"/>
          <p:cNvSpPr/>
          <p:nvPr/>
        </p:nvSpPr>
        <p:spPr>
          <a:xfrm>
            <a:off x="6675120" y="3675888"/>
            <a:ext cx="109728" cy="10972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4" name="s9_rk3"/>
          <p:cNvSpPr/>
          <p:nvPr/>
        </p:nvSpPr>
        <p:spPr>
          <a:xfrm>
            <a:off x="6894576" y="3474720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</a:t>
            </a:r>
            <a:endParaRPr lang="en-US" sz="950" dirty="0"/>
          </a:p>
        </p:txBody>
      </p:sp>
      <p:sp>
        <p:nvSpPr>
          <p:cNvPr id="55" name="s9_rc3_sh"/>
          <p:cNvSpPr/>
          <p:nvPr/>
        </p:nvSpPr>
        <p:spPr>
          <a:xfrm>
            <a:off x="8302752" y="3611880"/>
            <a:ext cx="826618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56" name="s9_rc3"/>
          <p:cNvSpPr/>
          <p:nvPr/>
        </p:nvSpPr>
        <p:spPr>
          <a:xfrm>
            <a:off x="8275320" y="3584448"/>
            <a:ext cx="826618" cy="287528"/>
          </a:xfrm>
          <a:prstGeom prst="rect">
            <a:avLst/>
          </a:prstGeom>
          <a:solidFill>
            <a:srgbClr val="E5F5EA"/>
          </a:solidFill>
          <a:ln w="15875">
            <a:solidFill>
              <a:srgbClr val="16A34A"/>
            </a:solidFill>
            <a:prstDash val="solid"/>
          </a:ln>
        </p:spPr>
      </p:sp>
      <p:sp>
        <p:nvSpPr>
          <p:cNvPr id="57" name="s9_rc3_t"/>
          <p:cNvSpPr/>
          <p:nvPr/>
        </p:nvSpPr>
        <p:spPr>
          <a:xfrm>
            <a:off x="8275320" y="3584448"/>
            <a:ext cx="826618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COPY-AS-IS</a:t>
            </a:r>
            <a:endParaRPr lang="en-US" sz="700" dirty="0"/>
          </a:p>
        </p:txBody>
      </p:sp>
      <p:sp>
        <p:nvSpPr>
          <p:cNvPr id="58" name="s9_rd3"/>
          <p:cNvSpPr/>
          <p:nvPr/>
        </p:nvSpPr>
        <p:spPr>
          <a:xfrm>
            <a:off x="9211666" y="3694176"/>
            <a:ext cx="68580" cy="68580"/>
          </a:xfrm>
          <a:prstGeom prst="rect">
            <a:avLst/>
          </a:prstGeom>
          <a:solidFill>
            <a:srgbClr val="C7CAD1"/>
          </a:solidFill>
          <a:ln/>
        </p:spPr>
      </p:sp>
      <p:sp>
        <p:nvSpPr>
          <p:cNvPr id="59" name="s9_rhr"/>
          <p:cNvSpPr/>
          <p:nvPr/>
        </p:nvSpPr>
        <p:spPr>
          <a:xfrm>
            <a:off x="6675120" y="3986784"/>
            <a:ext cx="475488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60" name="s9_rsum"/>
          <p:cNvSpPr/>
          <p:nvPr/>
        </p:nvSpPr>
        <p:spPr>
          <a:xfrm>
            <a:off x="6675120" y="4133088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Copy-as-is ×4 — the only row where one file lands unchanged everywhere; Codex deprecated + user-only, Claude legacy.</a:t>
            </a:r>
            <a:endParaRPr lang="en-US" sz="950" dirty="0"/>
          </a:p>
        </p:txBody>
      </p:sp>
      <p:sp>
        <p:nvSpPr>
          <p:cNvPr id="61" name="s9_au_sh"/>
          <p:cNvSpPr/>
          <p:nvPr/>
        </p:nvSpPr>
        <p:spPr>
          <a:xfrm>
            <a:off x="6451092" y="4777740"/>
            <a:ext cx="5285232" cy="155448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62" name="s9_au"/>
          <p:cNvSpPr/>
          <p:nvPr/>
        </p:nvSpPr>
        <p:spPr>
          <a:xfrm>
            <a:off x="6400800" y="4727448"/>
            <a:ext cx="5285232" cy="1554480"/>
          </a:xfrm>
          <a:prstGeom prst="rect">
            <a:avLst/>
          </a:prstGeom>
          <a:solidFill>
            <a:srgbClr val="EFEFEA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63" name="s9_ab"/>
          <p:cNvSpPr/>
          <p:nvPr/>
        </p:nvSpPr>
        <p:spPr>
          <a:xfrm>
            <a:off x="6675120" y="4873752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AUTO-UPDATE FOR THIS SURFACE</a:t>
            </a:r>
            <a:endParaRPr lang="en-US" sz="1000" dirty="0"/>
          </a:p>
        </p:txBody>
      </p:sp>
      <p:sp>
        <p:nvSpPr>
          <p:cNvPr id="64" name="s9_at"/>
          <p:cNvSpPr/>
          <p:nvPr/>
        </p:nvSpPr>
        <p:spPr>
          <a:xfrm>
            <a:off x="6675120" y="5157216"/>
            <a:ext cx="4754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auto-update anywhere: manual file replaces; Pi refreshes prompts only inside packages. agentreg.lock is the sole version pin.</a:t>
            </a:r>
            <a:endParaRPr lang="en-US" sz="1000" dirty="0"/>
          </a:p>
        </p:txBody>
      </p:sp>
      <p:sp>
        <p:nvSpPr>
          <p:cNvPr id="65" name="s9_sec_sh"/>
          <p:cNvSpPr/>
          <p:nvPr/>
        </p:nvSpPr>
        <p:spPr>
          <a:xfrm>
            <a:off x="553212" y="4777740"/>
            <a:ext cx="5669280" cy="155448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66" name="s9_sec"/>
          <p:cNvSpPr/>
          <p:nvPr/>
        </p:nvSpPr>
        <p:spPr>
          <a:xfrm>
            <a:off x="502920" y="4727448"/>
            <a:ext cx="5669280" cy="1554480"/>
          </a:xfrm>
          <a:prstGeom prst="rect">
            <a:avLst/>
          </a:prstGeom>
          <a:solidFill>
            <a:srgbClr val="E7EEFD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67" name="s9_secb"/>
          <p:cNvSpPr/>
          <p:nvPr/>
        </p:nvSpPr>
        <p:spPr>
          <a:xfrm>
            <a:off x="777240" y="487375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THIS SECTION</a:t>
            </a:r>
            <a:endParaRPr lang="en-US" sz="1000" dirty="0"/>
          </a:p>
        </p:txBody>
      </p:sp>
      <p:sp>
        <p:nvSpPr>
          <p:cNvPr id="68" name="s9_sc0_sh"/>
          <p:cNvSpPr/>
          <p:nvPr/>
        </p:nvSpPr>
        <p:spPr>
          <a:xfrm>
            <a:off x="804672" y="5221224"/>
            <a:ext cx="692018" cy="3383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69" name="s9_sc0"/>
          <p:cNvSpPr/>
          <p:nvPr/>
        </p:nvSpPr>
        <p:spPr>
          <a:xfrm>
            <a:off x="777240" y="5193792"/>
            <a:ext cx="692018" cy="338328"/>
          </a:xfrm>
          <a:prstGeom prst="rect">
            <a:avLst/>
          </a:prstGeom>
          <a:solidFill>
            <a:srgbClr val="2F6FED"/>
          </a:solidFill>
          <a:ln w="17780">
            <a:solidFill>
              <a:srgbClr val="2F6FED"/>
            </a:solidFill>
            <a:prstDash val="solid"/>
          </a:ln>
        </p:spPr>
      </p:sp>
      <p:sp>
        <p:nvSpPr>
          <p:cNvPr id="70" name="s9_sc0_t"/>
          <p:cNvSpPr/>
          <p:nvPr/>
        </p:nvSpPr>
        <p:spPr>
          <a:xfrm>
            <a:off x="777240" y="5193792"/>
            <a:ext cx="69201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BANNER</a:t>
            </a:r>
            <a:endParaRPr lang="en-US" sz="900" dirty="0"/>
          </a:p>
        </p:txBody>
      </p:sp>
      <p:sp>
        <p:nvSpPr>
          <p:cNvPr id="71" name="s9_sc1_sh"/>
          <p:cNvSpPr/>
          <p:nvPr/>
        </p:nvSpPr>
        <p:spPr>
          <a:xfrm>
            <a:off x="1606418" y="5221224"/>
            <a:ext cx="919155" cy="3383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72" name="s9_sc1"/>
          <p:cNvSpPr/>
          <p:nvPr/>
        </p:nvSpPr>
        <p:spPr>
          <a:xfrm>
            <a:off x="1578986" y="5193792"/>
            <a:ext cx="919155" cy="338328"/>
          </a:xfrm>
          <a:prstGeom prst="rect">
            <a:avLst/>
          </a:prstGeom>
          <a:solidFill>
            <a:srgbClr val="FFFFFF"/>
          </a:solidFill>
          <a:ln w="17780">
            <a:solidFill>
              <a:srgbClr val="1B1D22"/>
            </a:solidFill>
            <a:prstDash val="solid"/>
          </a:ln>
        </p:spPr>
      </p:sp>
      <p:sp>
        <p:nvSpPr>
          <p:cNvPr id="73" name="s9_sc1_t"/>
          <p:cNvSpPr/>
          <p:nvPr/>
        </p:nvSpPr>
        <p:spPr>
          <a:xfrm>
            <a:off x="1578986" y="5193792"/>
            <a:ext cx="919155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STANDARDS</a:t>
            </a:r>
            <a:endParaRPr lang="en-US" sz="900" dirty="0"/>
          </a:p>
        </p:txBody>
      </p:sp>
      <p:sp>
        <p:nvSpPr>
          <p:cNvPr id="74" name="s9_sc2_sh"/>
          <p:cNvSpPr/>
          <p:nvPr/>
        </p:nvSpPr>
        <p:spPr>
          <a:xfrm>
            <a:off x="2635301" y="5221224"/>
            <a:ext cx="1297716" cy="3383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75" name="s9_sc2"/>
          <p:cNvSpPr/>
          <p:nvPr/>
        </p:nvSpPr>
        <p:spPr>
          <a:xfrm>
            <a:off x="2607869" y="5193792"/>
            <a:ext cx="1297716" cy="338328"/>
          </a:xfrm>
          <a:prstGeom prst="rect">
            <a:avLst/>
          </a:prstGeom>
          <a:solidFill>
            <a:srgbClr val="FFFFFF"/>
          </a:solidFill>
          <a:ln w="17780">
            <a:solidFill>
              <a:srgbClr val="1B1D22"/>
            </a:solidFill>
            <a:prstDash val="solid"/>
          </a:ln>
        </p:spPr>
      </p:sp>
      <p:sp>
        <p:nvSpPr>
          <p:cNvPr id="76" name="s9_sc2_t"/>
          <p:cNvSpPr/>
          <p:nvPr/>
        </p:nvSpPr>
        <p:spPr>
          <a:xfrm>
            <a:off x="2607869" y="5193792"/>
            <a:ext cx="129771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CLAUDE + CODEX</a:t>
            </a:r>
            <a:endParaRPr lang="en-US" sz="900" dirty="0"/>
          </a:p>
        </p:txBody>
      </p:sp>
      <p:sp>
        <p:nvSpPr>
          <p:cNvPr id="77" name="s9_sc3_sh"/>
          <p:cNvSpPr/>
          <p:nvPr/>
        </p:nvSpPr>
        <p:spPr>
          <a:xfrm>
            <a:off x="4042745" y="5221224"/>
            <a:ext cx="1222004" cy="3383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78" name="s9_sc3"/>
          <p:cNvSpPr/>
          <p:nvPr/>
        </p:nvSpPr>
        <p:spPr>
          <a:xfrm>
            <a:off x="4015313" y="5193792"/>
            <a:ext cx="1222004" cy="338328"/>
          </a:xfrm>
          <a:prstGeom prst="rect">
            <a:avLst/>
          </a:prstGeom>
          <a:solidFill>
            <a:srgbClr val="FFFFFF"/>
          </a:solidFill>
          <a:ln w="17780">
            <a:solidFill>
              <a:srgbClr val="1B1D22"/>
            </a:solidFill>
            <a:prstDash val="solid"/>
          </a:ln>
        </p:spPr>
      </p:sp>
      <p:sp>
        <p:nvSpPr>
          <p:cNvPr id="79" name="s9_sc3_t"/>
          <p:cNvSpPr/>
          <p:nvPr/>
        </p:nvSpPr>
        <p:spPr>
          <a:xfrm>
            <a:off x="4015313" y="5193792"/>
            <a:ext cx="122200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OPENCODE + PI</a:t>
            </a:r>
            <a:endParaRPr lang="en-US" sz="900" dirty="0"/>
          </a:p>
        </p:txBody>
      </p:sp>
      <p:sp>
        <p:nvSpPr>
          <p:cNvPr id="80" name="s9_sect"/>
          <p:cNvSpPr/>
          <p:nvPr/>
        </p:nvSpPr>
        <p:spPr>
          <a:xfrm>
            <a:off x="777240" y="5779008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 slides per surface — spec state, then the harnesses in two pairs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10_vx_v1"/>
          <p:cNvSpPr/>
          <p:nvPr/>
        </p:nvSpPr>
        <p:spPr>
          <a:xfrm>
            <a:off x="11137392" y="384048"/>
            <a:ext cx="128016" cy="12801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" name="s10_vx_v2"/>
          <p:cNvSpPr/>
          <p:nvPr/>
        </p:nvSpPr>
        <p:spPr>
          <a:xfrm>
            <a:off x="11292840" y="384048"/>
            <a:ext cx="128016" cy="12801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" name="s10_vx_v3"/>
          <p:cNvSpPr/>
          <p:nvPr/>
        </p:nvSpPr>
        <p:spPr>
          <a:xfrm>
            <a:off x="11137392" y="539496"/>
            <a:ext cx="128016" cy="128016"/>
          </a:xfrm>
          <a:prstGeom prst="rect">
            <a:avLst/>
          </a:prstGeom>
          <a:solidFill>
            <a:srgbClr val="D97706"/>
          </a:solidFill>
          <a:ln/>
        </p:spPr>
      </p:sp>
      <p:pic>
        <p:nvPicPr>
          <p:cNvPr id="5" name="s10_kick" descr="assets/sks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02336"/>
            <a:ext cx="3892731" cy="182880"/>
          </a:xfrm>
          <a:prstGeom prst="rect">
            <a:avLst/>
          </a:prstGeom>
        </p:spPr>
      </p:pic>
      <p:pic>
        <p:nvPicPr>
          <p:cNvPr id="6" name="s10_title" descr="assets/st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58368"/>
            <a:ext cx="4415246" cy="475488"/>
          </a:xfrm>
          <a:prstGeom prst="rect">
            <a:avLst/>
          </a:prstGeom>
        </p:spPr>
      </p:pic>
      <p:sp>
        <p:nvSpPr>
          <p:cNvPr id="7" name="s10_spec"/>
          <p:cNvSpPr/>
          <p:nvPr/>
        </p:nvSpPr>
        <p:spPr>
          <a:xfrm>
            <a:off x="502920" y="1216152"/>
            <a:ext cx="10469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commands specification state — fields, rules, how the four diverge, and what the registry does about it</a:t>
            </a:r>
            <a:endParaRPr lang="en-US" sz="1100" dirty="0"/>
          </a:p>
        </p:txBody>
      </p:sp>
      <p:sp>
        <p:nvSpPr>
          <p:cNvPr id="8" name="s10_pg"/>
          <p:cNvSpPr/>
          <p:nvPr/>
        </p:nvSpPr>
        <p:spPr>
          <a:xfrm>
            <a:off x="11064240" y="648309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/ 45</a:t>
            </a:r>
            <a:endParaRPr lang="en-US" sz="950" dirty="0"/>
          </a:p>
        </p:txBody>
      </p:sp>
      <p:sp>
        <p:nvSpPr>
          <p:cNvPr id="10" name="s10_f_sh"/>
          <p:cNvSpPr/>
          <p:nvPr/>
        </p:nvSpPr>
        <p:spPr>
          <a:xfrm>
            <a:off x="553212" y="1531620"/>
            <a:ext cx="5669280" cy="416052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1" name="s10_f"/>
          <p:cNvSpPr/>
          <p:nvPr/>
        </p:nvSpPr>
        <p:spPr>
          <a:xfrm>
            <a:off x="502920" y="1481328"/>
            <a:ext cx="5669280" cy="416052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12" name="s10_fb"/>
          <p:cNvSpPr/>
          <p:nvPr/>
        </p:nvSpPr>
        <p:spPr>
          <a:xfrm>
            <a:off x="777240" y="162763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FIELDS</a:t>
            </a:r>
            <a:endParaRPr lang="en-US" sz="1050" dirty="0"/>
          </a:p>
        </p:txBody>
      </p:sp>
      <p:sp>
        <p:nvSpPr>
          <p:cNvPr id="13" name="s10_fk0"/>
          <p:cNvSpPr/>
          <p:nvPr/>
        </p:nvSpPr>
        <p:spPr>
          <a:xfrm>
            <a:off x="777240" y="1920240"/>
            <a:ext cx="14173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</a:t>
            </a:r>
            <a:endParaRPr lang="en-US" sz="900" dirty="0"/>
          </a:p>
        </p:txBody>
      </p:sp>
      <p:sp>
        <p:nvSpPr>
          <p:cNvPr id="14" name="s10_fv0"/>
          <p:cNvSpPr/>
          <p:nvPr/>
        </p:nvSpPr>
        <p:spPr>
          <a:xfrm>
            <a:off x="2240280" y="1920240"/>
            <a:ext cx="365760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 de-facto; what+when — mirrors SKILL.md</a:t>
            </a:r>
            <a:endParaRPr lang="en-US" sz="850" dirty="0"/>
          </a:p>
        </p:txBody>
      </p:sp>
      <p:sp>
        <p:nvSpPr>
          <p:cNvPr id="15" name="s10_fhr0"/>
          <p:cNvSpPr/>
          <p:nvPr/>
        </p:nvSpPr>
        <p:spPr>
          <a:xfrm>
            <a:off x="777240" y="2272284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16" name="s10_fk1"/>
          <p:cNvSpPr/>
          <p:nvPr/>
        </p:nvSpPr>
        <p:spPr>
          <a:xfrm>
            <a:off x="777240" y="2272284"/>
            <a:ext cx="14173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argument-hint</a:t>
            </a:r>
            <a:endParaRPr lang="en-US" sz="900" dirty="0"/>
          </a:p>
        </p:txBody>
      </p:sp>
      <p:sp>
        <p:nvSpPr>
          <p:cNvPr id="17" name="s10_fv1"/>
          <p:cNvSpPr/>
          <p:nvPr/>
        </p:nvSpPr>
        <p:spPr>
          <a:xfrm>
            <a:off x="2240280" y="2272284"/>
            <a:ext cx="365760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opt; usage hint shown at slash invocation</a:t>
            </a:r>
            <a:endParaRPr lang="en-US" sz="850" dirty="0"/>
          </a:p>
        </p:txBody>
      </p:sp>
      <p:sp>
        <p:nvSpPr>
          <p:cNvPr id="18" name="s10_fhr1"/>
          <p:cNvSpPr/>
          <p:nvPr/>
        </p:nvSpPr>
        <p:spPr>
          <a:xfrm>
            <a:off x="777240" y="2624328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19" name="s10_fk2"/>
          <p:cNvSpPr/>
          <p:nvPr/>
        </p:nvSpPr>
        <p:spPr>
          <a:xfrm>
            <a:off x="777240" y="2624328"/>
            <a:ext cx="14173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arguments</a:t>
            </a:r>
            <a:endParaRPr lang="en-US" sz="900" dirty="0"/>
          </a:p>
        </p:txBody>
      </p:sp>
      <p:sp>
        <p:nvSpPr>
          <p:cNvPr id="20" name="s10_fv2"/>
          <p:cNvSpPr/>
          <p:nvPr/>
        </p:nvSpPr>
        <p:spPr>
          <a:xfrm>
            <a:off x="2240280" y="2624328"/>
            <a:ext cx="365760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$ARGUMENTS + $1..$N placeholders in body</a:t>
            </a:r>
            <a:endParaRPr lang="en-US" sz="850" dirty="0"/>
          </a:p>
        </p:txBody>
      </p:sp>
      <p:sp>
        <p:nvSpPr>
          <p:cNvPr id="21" name="s10_fhr2"/>
          <p:cNvSpPr/>
          <p:nvPr/>
        </p:nvSpPr>
        <p:spPr>
          <a:xfrm>
            <a:off x="777240" y="2976372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2" name="s10_fk3"/>
          <p:cNvSpPr/>
          <p:nvPr/>
        </p:nvSpPr>
        <p:spPr>
          <a:xfrm>
            <a:off x="777240" y="2976372"/>
            <a:ext cx="14173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agent/model</a:t>
            </a:r>
            <a:endParaRPr lang="en-US" sz="900" dirty="0"/>
          </a:p>
        </p:txBody>
      </p:sp>
      <p:sp>
        <p:nvSpPr>
          <p:cNvPr id="23" name="s10_fv3"/>
          <p:cNvSpPr/>
          <p:nvPr/>
        </p:nvSpPr>
        <p:spPr>
          <a:xfrm>
            <a:off x="2240280" y="2976372"/>
            <a:ext cx="365760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opt (opencode): agent, subtask, model keys</a:t>
            </a:r>
            <a:endParaRPr lang="en-US" sz="850" dirty="0"/>
          </a:p>
        </p:txBody>
      </p:sp>
      <p:sp>
        <p:nvSpPr>
          <p:cNvPr id="24" name="s10_fhr3"/>
          <p:cNvSpPr/>
          <p:nvPr/>
        </p:nvSpPr>
        <p:spPr>
          <a:xfrm>
            <a:off x="777240" y="3328416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5" name="s10_fk4"/>
          <p:cNvSpPr/>
          <p:nvPr/>
        </p:nvSpPr>
        <p:spPr>
          <a:xfrm>
            <a:off x="777240" y="3328416"/>
            <a:ext cx="14173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filename</a:t>
            </a:r>
            <a:endParaRPr lang="en-US" sz="900" dirty="0"/>
          </a:p>
        </p:txBody>
      </p:sp>
      <p:sp>
        <p:nvSpPr>
          <p:cNvPr id="26" name="s10_fv4"/>
          <p:cNvSpPr/>
          <p:nvPr/>
        </p:nvSpPr>
        <p:spPr>
          <a:xfrm>
            <a:off x="2240280" y="3328416"/>
            <a:ext cx="365760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 path = command name + namespace</a:t>
            </a:r>
            <a:endParaRPr lang="en-US" sz="850" dirty="0"/>
          </a:p>
        </p:txBody>
      </p:sp>
      <p:sp>
        <p:nvSpPr>
          <p:cNvPr id="27" name="s10_fhr4"/>
          <p:cNvSpPr/>
          <p:nvPr/>
        </p:nvSpPr>
        <p:spPr>
          <a:xfrm>
            <a:off x="777240" y="3680460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8" name="s10_fk5"/>
          <p:cNvSpPr/>
          <p:nvPr/>
        </p:nvSpPr>
        <p:spPr>
          <a:xfrm>
            <a:off x="777240" y="3680460"/>
            <a:ext cx="14173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dirs</a:t>
            </a:r>
            <a:endParaRPr lang="en-US" sz="900" dirty="0"/>
          </a:p>
        </p:txBody>
      </p:sp>
      <p:sp>
        <p:nvSpPr>
          <p:cNvPr id="29" name="s10_fv5"/>
          <p:cNvSpPr/>
          <p:nvPr/>
        </p:nvSpPr>
        <p:spPr>
          <a:xfrm>
            <a:off x="2240280" y="3680460"/>
            <a:ext cx="365760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commands/ vs prompts/ — per-harness paths</a:t>
            </a:r>
            <a:endParaRPr lang="en-US" sz="850" dirty="0"/>
          </a:p>
        </p:txBody>
      </p:sp>
      <p:sp>
        <p:nvSpPr>
          <p:cNvPr id="30" name="s10_rb"/>
          <p:cNvSpPr/>
          <p:nvPr/>
        </p:nvSpPr>
        <p:spPr>
          <a:xfrm>
            <a:off x="777240" y="4114800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 RULES</a:t>
            </a:r>
            <a:endParaRPr lang="en-US" sz="900" dirty="0"/>
          </a:p>
        </p:txBody>
      </p:sp>
      <p:sp>
        <p:nvSpPr>
          <p:cNvPr id="31" name="s10_rb0"/>
          <p:cNvSpPr/>
          <p:nvPr/>
        </p:nvSpPr>
        <p:spPr>
          <a:xfrm>
            <a:off x="777240" y="4425696"/>
            <a:ext cx="82296" cy="8229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2" name="s10_rt0"/>
          <p:cNvSpPr/>
          <p:nvPr/>
        </p:nvSpPr>
        <p:spPr>
          <a:xfrm>
            <a:off x="941832" y="4379976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De-facto: no commands spec — rides skills frontmatter</a:t>
            </a:r>
            <a:endParaRPr lang="en-US" sz="900" dirty="0"/>
          </a:p>
        </p:txBody>
      </p:sp>
      <p:sp>
        <p:nvSpPr>
          <p:cNvPr id="33" name="s10_rb1"/>
          <p:cNvSpPr/>
          <p:nvPr/>
        </p:nvSpPr>
        <p:spPr>
          <a:xfrm>
            <a:off x="777240" y="4727448"/>
            <a:ext cx="82296" cy="8229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4" name="s10_rt1"/>
          <p:cNvSpPr/>
          <p:nvPr/>
        </p:nvSpPr>
        <p:spPr>
          <a:xfrm>
            <a:off x="941832" y="4681728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Filename is the identity: /cmd = file path in dirs</a:t>
            </a:r>
            <a:endParaRPr lang="en-US" sz="900" dirty="0"/>
          </a:p>
        </p:txBody>
      </p:sp>
      <p:sp>
        <p:nvSpPr>
          <p:cNvPr id="35" name="s10_rb2"/>
          <p:cNvSpPr/>
          <p:nvPr/>
        </p:nvSpPr>
        <p:spPr>
          <a:xfrm>
            <a:off x="777240" y="5029200"/>
            <a:ext cx="82296" cy="8229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6" name="s10_rt2"/>
          <p:cNvSpPr/>
          <p:nvPr/>
        </p:nvSpPr>
        <p:spPr>
          <a:xfrm>
            <a:off x="941832" y="4983480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Emit as skill first — claude merged, codex deprecated</a:t>
            </a:r>
            <a:endParaRPr lang="en-US" sz="900" dirty="0"/>
          </a:p>
        </p:txBody>
      </p:sp>
      <p:sp>
        <p:nvSpPr>
          <p:cNvPr id="37" name="s10_rb3"/>
          <p:cNvSpPr/>
          <p:nvPr/>
        </p:nvSpPr>
        <p:spPr>
          <a:xfrm>
            <a:off x="777240" y="5330952"/>
            <a:ext cx="82296" cy="8229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8" name="s10_rt3"/>
          <p:cNvSpPr/>
          <p:nvPr/>
        </p:nvSpPr>
        <p:spPr>
          <a:xfrm>
            <a:off x="941832" y="5285232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Codex prompts user-only — never repo-share there</a:t>
            </a:r>
            <a:endParaRPr lang="en-US" sz="900" dirty="0"/>
          </a:p>
        </p:txBody>
      </p:sp>
      <p:sp>
        <p:nvSpPr>
          <p:cNvPr id="39" name="s10_h_sh"/>
          <p:cNvSpPr/>
          <p:nvPr/>
        </p:nvSpPr>
        <p:spPr>
          <a:xfrm>
            <a:off x="6451092" y="1531620"/>
            <a:ext cx="5285232" cy="288036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40" name="s10_h"/>
          <p:cNvSpPr/>
          <p:nvPr/>
        </p:nvSpPr>
        <p:spPr>
          <a:xfrm>
            <a:off x="6400800" y="1481328"/>
            <a:ext cx="5285232" cy="288036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41" name="s10_hb"/>
          <p:cNvSpPr/>
          <p:nvPr/>
        </p:nvSpPr>
        <p:spPr>
          <a:xfrm>
            <a:off x="6675120" y="1627632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THE FOUR IMPLEMENT IT</a:t>
            </a:r>
            <a:endParaRPr lang="en-US" sz="1050" dirty="0"/>
          </a:p>
        </p:txBody>
      </p:sp>
      <p:sp>
        <p:nvSpPr>
          <p:cNvPr id="42" name="s10_hb0"/>
          <p:cNvSpPr/>
          <p:nvPr/>
        </p:nvSpPr>
        <p:spPr>
          <a:xfrm>
            <a:off x="6675120" y="2157984"/>
            <a:ext cx="109728" cy="109728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43" name="s10_hk0"/>
          <p:cNvSpPr/>
          <p:nvPr/>
        </p:nvSpPr>
        <p:spPr>
          <a:xfrm>
            <a:off x="6894576" y="1938528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CLAUDE CODE</a:t>
            </a:r>
            <a:endParaRPr lang="en-US" sz="1000" dirty="0"/>
          </a:p>
        </p:txBody>
      </p:sp>
      <p:sp>
        <p:nvSpPr>
          <p:cNvPr id="44" name="s10_hv0"/>
          <p:cNvSpPr/>
          <p:nvPr/>
        </p:nvSpPr>
        <p:spPr>
          <a:xfrm>
            <a:off x="8275320" y="1938528"/>
            <a:ext cx="3154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.claude/commands; merged into skills, works</a:t>
            </a:r>
            <a:endParaRPr lang="en-US" sz="900" dirty="0"/>
          </a:p>
        </p:txBody>
      </p:sp>
      <p:sp>
        <p:nvSpPr>
          <p:cNvPr id="45" name="s10_hhr0"/>
          <p:cNvSpPr/>
          <p:nvPr/>
        </p:nvSpPr>
        <p:spPr>
          <a:xfrm>
            <a:off x="6675120" y="2505456"/>
            <a:ext cx="475488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46" name="s10_hb1"/>
          <p:cNvSpPr/>
          <p:nvPr/>
        </p:nvSpPr>
        <p:spPr>
          <a:xfrm>
            <a:off x="6675120" y="2734056"/>
            <a:ext cx="109728" cy="109728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7" name="s10_hk1"/>
          <p:cNvSpPr/>
          <p:nvPr/>
        </p:nvSpPr>
        <p:spPr>
          <a:xfrm>
            <a:off x="6894576" y="2514600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CODEX</a:t>
            </a:r>
            <a:endParaRPr lang="en-US" sz="1000" dirty="0"/>
          </a:p>
        </p:txBody>
      </p:sp>
      <p:sp>
        <p:nvSpPr>
          <p:cNvPr id="48" name="s10_hv1"/>
          <p:cNvSpPr/>
          <p:nvPr/>
        </p:nvSpPr>
        <p:spPr>
          <a:xfrm>
            <a:off x="8275320" y="2514600"/>
            <a:ext cx="3154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~/.codex/prompts flat md; DEPRECATED, user-only</a:t>
            </a:r>
            <a:endParaRPr lang="en-US" sz="900" dirty="0"/>
          </a:p>
        </p:txBody>
      </p:sp>
      <p:sp>
        <p:nvSpPr>
          <p:cNvPr id="49" name="s10_hhr1"/>
          <p:cNvSpPr/>
          <p:nvPr/>
        </p:nvSpPr>
        <p:spPr>
          <a:xfrm>
            <a:off x="6675120" y="3081528"/>
            <a:ext cx="475488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50" name="s10_hb2"/>
          <p:cNvSpPr/>
          <p:nvPr/>
        </p:nvSpPr>
        <p:spPr>
          <a:xfrm>
            <a:off x="6675120" y="3310128"/>
            <a:ext cx="109728" cy="109728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51" name="s10_hk2"/>
          <p:cNvSpPr/>
          <p:nvPr/>
        </p:nvSpPr>
        <p:spPr>
          <a:xfrm>
            <a:off x="6894576" y="3090672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OPENCODE</a:t>
            </a:r>
            <a:endParaRPr lang="en-US" sz="1000" dirty="0"/>
          </a:p>
        </p:txBody>
      </p:sp>
      <p:sp>
        <p:nvSpPr>
          <p:cNvPr id="52" name="s10_hv2"/>
          <p:cNvSpPr/>
          <p:nvPr/>
        </p:nvSpPr>
        <p:spPr>
          <a:xfrm>
            <a:off x="8275320" y="3090672"/>
            <a:ext cx="3154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.opencode/commands; nested dirs = namespace</a:t>
            </a:r>
            <a:endParaRPr lang="en-US" sz="900" dirty="0"/>
          </a:p>
        </p:txBody>
      </p:sp>
      <p:sp>
        <p:nvSpPr>
          <p:cNvPr id="53" name="s10_hhr2"/>
          <p:cNvSpPr/>
          <p:nvPr/>
        </p:nvSpPr>
        <p:spPr>
          <a:xfrm>
            <a:off x="6675120" y="3657600"/>
            <a:ext cx="475488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54" name="s10_hb3"/>
          <p:cNvSpPr/>
          <p:nvPr/>
        </p:nvSpPr>
        <p:spPr>
          <a:xfrm>
            <a:off x="6675120" y="3886200"/>
            <a:ext cx="109728" cy="10972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5" name="s10_hk3"/>
          <p:cNvSpPr/>
          <p:nvPr/>
        </p:nvSpPr>
        <p:spPr>
          <a:xfrm>
            <a:off x="6894576" y="3666744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</a:t>
            </a:r>
            <a:endParaRPr lang="en-US" sz="1000" dirty="0"/>
          </a:p>
        </p:txBody>
      </p:sp>
      <p:sp>
        <p:nvSpPr>
          <p:cNvPr id="56" name="s10_hv3"/>
          <p:cNvSpPr/>
          <p:nvPr/>
        </p:nvSpPr>
        <p:spPr>
          <a:xfrm>
            <a:off x="8275320" y="3666744"/>
            <a:ext cx="3154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~/.pi/agent/prompts; filename is the command</a:t>
            </a:r>
            <a:endParaRPr lang="en-US" sz="900" dirty="0"/>
          </a:p>
        </p:txBody>
      </p:sp>
      <p:sp>
        <p:nvSpPr>
          <p:cNvPr id="57" name="s10_st_sh"/>
          <p:cNvSpPr/>
          <p:nvPr/>
        </p:nvSpPr>
        <p:spPr>
          <a:xfrm>
            <a:off x="6451092" y="4549140"/>
            <a:ext cx="5285232" cy="114300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58" name="s10_st"/>
          <p:cNvSpPr/>
          <p:nvPr/>
        </p:nvSpPr>
        <p:spPr>
          <a:xfrm>
            <a:off x="6400800" y="4498848"/>
            <a:ext cx="5285232" cy="1143000"/>
          </a:xfrm>
          <a:prstGeom prst="rect">
            <a:avLst/>
          </a:prstGeom>
          <a:solidFill>
            <a:srgbClr val="1B1D22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59" name="s10_sb"/>
          <p:cNvSpPr/>
          <p:nvPr/>
        </p:nvSpPr>
        <p:spPr>
          <a:xfrm>
            <a:off x="6675120" y="46268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7CB0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REGISTRY STANCE</a:t>
            </a:r>
            <a:endParaRPr lang="en-US" sz="900" dirty="0"/>
          </a:p>
        </p:txBody>
      </p:sp>
      <p:sp>
        <p:nvSpPr>
          <p:cNvPr id="60" name="s10_stt"/>
          <p:cNvSpPr/>
          <p:nvPr/>
        </p:nvSpPr>
        <p:spPr>
          <a:xfrm>
            <a:off x="6675120" y="4882896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command is a skill with a filename — emit the skill, drop legacy .md where paths still load</a:t>
            </a:r>
            <a:endParaRPr lang="en-US" sz="1100" dirty="0"/>
          </a:p>
        </p:txBody>
      </p:sp>
      <p:sp>
        <p:nvSpPr>
          <p:cNvPr id="61" name="s10_g_sh"/>
          <p:cNvSpPr/>
          <p:nvPr/>
        </p:nvSpPr>
        <p:spPr>
          <a:xfrm>
            <a:off x="553212" y="5829300"/>
            <a:ext cx="11183112" cy="65836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62" name="s10_g"/>
          <p:cNvSpPr/>
          <p:nvPr/>
        </p:nvSpPr>
        <p:spPr>
          <a:xfrm>
            <a:off x="502920" y="5779008"/>
            <a:ext cx="11183112" cy="658368"/>
          </a:xfrm>
          <a:prstGeom prst="rect">
            <a:avLst/>
          </a:prstGeom>
          <a:solidFill>
            <a:srgbClr val="EFEFEA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63" name="s10_gt"/>
          <p:cNvSpPr/>
          <p:nvPr/>
        </p:nvSpPr>
        <p:spPr>
          <a:xfrm>
            <a:off x="777240" y="5852160"/>
            <a:ext cx="10607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GAPS THE REGISTRY OWNS — No spec, no shared dir; filename rules differ  ·  Codex user-only blocks repo-distributed commands  ·  Registry must dual-emit command + skill artifact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11_vx_v1"/>
          <p:cNvSpPr/>
          <p:nvPr/>
        </p:nvSpPr>
        <p:spPr>
          <a:xfrm>
            <a:off x="11137392" y="384048"/>
            <a:ext cx="128016" cy="12801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" name="s11_vx_v2"/>
          <p:cNvSpPr/>
          <p:nvPr/>
        </p:nvSpPr>
        <p:spPr>
          <a:xfrm>
            <a:off x="11292840" y="384048"/>
            <a:ext cx="128016" cy="12801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" name="s11_vx_v3"/>
          <p:cNvSpPr/>
          <p:nvPr/>
        </p:nvSpPr>
        <p:spPr>
          <a:xfrm>
            <a:off x="11137392" y="539496"/>
            <a:ext cx="128016" cy="128016"/>
          </a:xfrm>
          <a:prstGeom prst="rect">
            <a:avLst/>
          </a:prstGeom>
          <a:solidFill>
            <a:srgbClr val="D97706"/>
          </a:solidFill>
          <a:ln/>
        </p:spPr>
      </p:sp>
      <p:pic>
        <p:nvPicPr>
          <p:cNvPr id="5" name="s11_kick" descr="assets/skc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02336"/>
            <a:ext cx="5460274" cy="182880"/>
          </a:xfrm>
          <a:prstGeom prst="rect">
            <a:avLst/>
          </a:prstGeom>
        </p:spPr>
      </p:pic>
      <p:pic>
        <p:nvPicPr>
          <p:cNvPr id="6" name="s11_title" descr="assets/srf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58368"/>
            <a:ext cx="3192562" cy="475488"/>
          </a:xfrm>
          <a:prstGeom prst="rect">
            <a:avLst/>
          </a:prstGeom>
        </p:spPr>
      </p:pic>
      <p:sp>
        <p:nvSpPr>
          <p:cNvPr id="7" name="s11_spec"/>
          <p:cNvSpPr/>
          <p:nvPr/>
        </p:nvSpPr>
        <p:spPr>
          <a:xfrm>
            <a:off x="502920" y="1216152"/>
            <a:ext cx="10469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COMMANDS in claude code + codex — the two most popular first</a:t>
            </a:r>
            <a:endParaRPr lang="en-US" sz="1100" dirty="0"/>
          </a:p>
        </p:txBody>
      </p:sp>
      <p:sp>
        <p:nvSpPr>
          <p:cNvPr id="8" name="s11_pg"/>
          <p:cNvSpPr/>
          <p:nvPr/>
        </p:nvSpPr>
        <p:spPr>
          <a:xfrm>
            <a:off x="11064240" y="648309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/ 45</a:t>
            </a:r>
            <a:endParaRPr lang="en-US" sz="950" dirty="0"/>
          </a:p>
        </p:txBody>
      </p:sp>
      <p:sp>
        <p:nvSpPr>
          <p:cNvPr id="10" name="s11_c0_sh"/>
          <p:cNvSpPr/>
          <p:nvPr/>
        </p:nvSpPr>
        <p:spPr>
          <a:xfrm>
            <a:off x="553212" y="1531620"/>
            <a:ext cx="5477256" cy="489204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1" name="s11_c0"/>
          <p:cNvSpPr/>
          <p:nvPr/>
        </p:nvSpPr>
        <p:spPr>
          <a:xfrm>
            <a:off x="502920" y="1481328"/>
            <a:ext cx="5477256" cy="489204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12" name="s11_c0_sq"/>
          <p:cNvSpPr/>
          <p:nvPr/>
        </p:nvSpPr>
        <p:spPr>
          <a:xfrm>
            <a:off x="731520" y="1673352"/>
            <a:ext cx="137160" cy="13716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3" name="s11_c0_topic"/>
          <p:cNvSpPr/>
          <p:nvPr/>
        </p:nvSpPr>
        <p:spPr>
          <a:xfrm>
            <a:off x="960120" y="1609344"/>
            <a:ext cx="37965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50" kern="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COMMANDS</a:t>
            </a:r>
            <a:endParaRPr lang="en-US" sz="1300" dirty="0"/>
          </a:p>
        </p:txBody>
      </p:sp>
      <p:sp>
        <p:nvSpPr>
          <p:cNvPr id="14" name="s11_c0_vc_sh"/>
          <p:cNvSpPr/>
          <p:nvPr/>
        </p:nvSpPr>
        <p:spPr>
          <a:xfrm>
            <a:off x="4811573" y="1636776"/>
            <a:ext cx="994867" cy="3383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5" name="s11_c0_vc"/>
          <p:cNvSpPr/>
          <p:nvPr/>
        </p:nvSpPr>
        <p:spPr>
          <a:xfrm>
            <a:off x="4784141" y="1609344"/>
            <a:ext cx="994867" cy="338328"/>
          </a:xfrm>
          <a:prstGeom prst="rect">
            <a:avLst/>
          </a:prstGeom>
          <a:solidFill>
            <a:srgbClr val="E5F5EA"/>
          </a:solidFill>
          <a:ln w="15875">
            <a:solidFill>
              <a:srgbClr val="16A34A"/>
            </a:solidFill>
            <a:prstDash val="solid"/>
          </a:ln>
        </p:spPr>
      </p:sp>
      <p:sp>
        <p:nvSpPr>
          <p:cNvPr id="16" name="s11_c0_vc_t"/>
          <p:cNvSpPr/>
          <p:nvPr/>
        </p:nvSpPr>
        <p:spPr>
          <a:xfrm>
            <a:off x="4784141" y="1609344"/>
            <a:ext cx="99486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COPY-AS-IS</a:t>
            </a:r>
            <a:endParaRPr lang="en-US" sz="900" dirty="0"/>
          </a:p>
        </p:txBody>
      </p:sp>
      <p:sp>
        <p:nvSpPr>
          <p:cNvPr id="17" name="s11_c0_why"/>
          <p:cNvSpPr/>
          <p:nvPr/>
        </p:nvSpPr>
        <p:spPr>
          <a:xfrm>
            <a:off x="731520" y="2011680"/>
            <a:ext cx="5020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i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frontmatter as skills; drop works as-is</a:t>
            </a:r>
            <a:endParaRPr lang="en-US" sz="850" dirty="0"/>
          </a:p>
        </p:txBody>
      </p:sp>
      <p:sp>
        <p:nvSpPr>
          <p:cNvPr id="18" name="s11_c0_what"/>
          <p:cNvSpPr/>
          <p:nvPr/>
        </p:nvSpPr>
        <p:spPr>
          <a:xfrm>
            <a:off x="731520" y="2340864"/>
            <a:ext cx="5020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Markdown files that become /slash-command prompts; absorbed by skills</a:t>
            </a:r>
            <a:endParaRPr lang="en-US" sz="1050" dirty="0"/>
          </a:p>
        </p:txBody>
      </p:sp>
      <p:sp>
        <p:nvSpPr>
          <p:cNvPr id="19" name="s11_c0_hr1"/>
          <p:cNvSpPr/>
          <p:nvPr/>
        </p:nvSpPr>
        <p:spPr>
          <a:xfrm>
            <a:off x="731520" y="2798064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0" name="s11_c0_k0"/>
          <p:cNvSpPr/>
          <p:nvPr/>
        </p:nvSpPr>
        <p:spPr>
          <a:xfrm>
            <a:off x="731520" y="2852928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</a:t>
            </a:r>
            <a:endParaRPr lang="en-US" sz="850" dirty="0"/>
          </a:p>
        </p:txBody>
      </p:sp>
      <p:sp>
        <p:nvSpPr>
          <p:cNvPr id="21" name="s11_c0_v0"/>
          <p:cNvSpPr/>
          <p:nvPr/>
        </p:nvSpPr>
        <p:spPr>
          <a:xfrm>
            <a:off x="1883664" y="2852928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.claude/commands/ · ~/.claude/commands/</a:t>
            </a:r>
            <a:endParaRPr lang="en-US" sz="900" dirty="0"/>
          </a:p>
        </p:txBody>
      </p:sp>
      <p:sp>
        <p:nvSpPr>
          <p:cNvPr id="22" name="s11_c0_hr2"/>
          <p:cNvSpPr/>
          <p:nvPr/>
        </p:nvSpPr>
        <p:spPr>
          <a:xfrm>
            <a:off x="731520" y="3273552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3" name="s11_c0_k1"/>
          <p:cNvSpPr/>
          <p:nvPr/>
        </p:nvSpPr>
        <p:spPr>
          <a:xfrm>
            <a:off x="731520" y="3273552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FORMAT</a:t>
            </a:r>
            <a:endParaRPr lang="en-US" sz="850" dirty="0"/>
          </a:p>
        </p:txBody>
      </p:sp>
      <p:sp>
        <p:nvSpPr>
          <p:cNvPr id="24" name="s11_c0_v1"/>
          <p:cNvSpPr/>
          <p:nvPr/>
        </p:nvSpPr>
        <p:spPr>
          <a:xfrm>
            <a:off x="1883664" y="3273552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.md file + skills-style YAML frontmatter</a:t>
            </a:r>
            <a:endParaRPr lang="en-US" sz="900" dirty="0"/>
          </a:p>
        </p:txBody>
      </p:sp>
      <p:sp>
        <p:nvSpPr>
          <p:cNvPr id="25" name="s11_c0_hr3"/>
          <p:cNvSpPr/>
          <p:nvPr/>
        </p:nvSpPr>
        <p:spPr>
          <a:xfrm>
            <a:off x="731520" y="3694176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6" name="s11_c0_k2"/>
          <p:cNvSpPr/>
          <p:nvPr/>
        </p:nvSpPr>
        <p:spPr>
          <a:xfrm>
            <a:off x="731520" y="3694176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</a:t>
            </a:r>
            <a:endParaRPr lang="en-US" sz="850" dirty="0"/>
          </a:p>
        </p:txBody>
      </p:sp>
      <p:sp>
        <p:nvSpPr>
          <p:cNvPr id="27" name="s11_c0_v2"/>
          <p:cNvSpPr/>
          <p:nvPr/>
        </p:nvSpPr>
        <p:spPr>
          <a:xfrm>
            <a:off x="1883664" y="3694176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 CLI — file drop → /name (subdirs → /db:migrate)</a:t>
            </a:r>
            <a:endParaRPr lang="en-US" sz="900" dirty="0"/>
          </a:p>
        </p:txBody>
      </p:sp>
      <p:sp>
        <p:nvSpPr>
          <p:cNvPr id="28" name="s11_c0_hr4"/>
          <p:cNvSpPr/>
          <p:nvPr/>
        </p:nvSpPr>
        <p:spPr>
          <a:xfrm>
            <a:off x="731520" y="4114800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9" name="s11_c0_k3"/>
          <p:cNvSpPr/>
          <p:nvPr/>
        </p:nvSpPr>
        <p:spPr>
          <a:xfrm>
            <a:off x="731520" y="4114800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AUTO-UPDATE</a:t>
            </a:r>
            <a:endParaRPr lang="en-US" sz="850" dirty="0"/>
          </a:p>
        </p:txBody>
      </p:sp>
      <p:sp>
        <p:nvSpPr>
          <p:cNvPr id="30" name="s11_c0_v3"/>
          <p:cNvSpPr/>
          <p:nvPr/>
        </p:nvSpPr>
        <p:spPr>
          <a:xfrm>
            <a:off x="1883664" y="4114800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 — legacy unversioned drop; no update path; superseded by skills</a:t>
            </a:r>
            <a:endParaRPr lang="en-US" sz="900" dirty="0"/>
          </a:p>
        </p:txBody>
      </p:sp>
      <p:sp>
        <p:nvSpPr>
          <p:cNvPr id="31" name="s11_c0_emp"/>
          <p:cNvSpPr/>
          <p:nvPr/>
        </p:nvSpPr>
        <p:spPr>
          <a:xfrm>
            <a:off x="704088" y="4626864"/>
            <a:ext cx="5074920" cy="1581912"/>
          </a:xfrm>
          <a:prstGeom prst="rect">
            <a:avLst/>
          </a:prstGeom>
          <a:solidFill>
            <a:srgbClr val="FBEEDD"/>
          </a:solidFill>
          <a:ln/>
        </p:spPr>
      </p:sp>
      <p:sp>
        <p:nvSpPr>
          <p:cNvPr id="32" name="s11_c0_emb"/>
          <p:cNvSpPr/>
          <p:nvPr/>
        </p:nvSpPr>
        <p:spPr>
          <a:xfrm>
            <a:off x="886968" y="4736592"/>
            <a:ext cx="4709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spc="200" kern="0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REGISTRY EMISSION</a:t>
            </a:r>
            <a:endParaRPr lang="en-US" sz="800" dirty="0"/>
          </a:p>
        </p:txBody>
      </p:sp>
      <p:sp>
        <p:nvSpPr>
          <p:cNvPr id="33" name="s11_c0_em"/>
          <p:cNvSpPr/>
          <p:nvPr/>
        </p:nvSpPr>
        <p:spPr>
          <a:xfrm>
            <a:off x="886968" y="4956048"/>
            <a:ext cx="470916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install.claude: copy → .claude/commands/&lt;n&gt;.md</a:t>
            </a:r>
            <a:endParaRPr lang="en-US" sz="9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prefer: emit as skill (commands merged in)</a:t>
            </a:r>
            <a:endParaRPr lang="en-US" sz="9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nested: commands/db/migrate.md → /db:migrate</a:t>
            </a:r>
            <a:endParaRPr lang="en-US" sz="900" dirty="0"/>
          </a:p>
        </p:txBody>
      </p:sp>
      <p:sp>
        <p:nvSpPr>
          <p:cNvPr id="34" name="s11_c1_sh"/>
          <p:cNvSpPr/>
          <p:nvPr/>
        </p:nvSpPr>
        <p:spPr>
          <a:xfrm>
            <a:off x="6259068" y="1531620"/>
            <a:ext cx="5477256" cy="489204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35" name="s11_c1"/>
          <p:cNvSpPr/>
          <p:nvPr/>
        </p:nvSpPr>
        <p:spPr>
          <a:xfrm>
            <a:off x="6208776" y="1481328"/>
            <a:ext cx="5477256" cy="489204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36" name="s11_c1_sq"/>
          <p:cNvSpPr/>
          <p:nvPr/>
        </p:nvSpPr>
        <p:spPr>
          <a:xfrm>
            <a:off x="6437376" y="1673352"/>
            <a:ext cx="137160" cy="13716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7" name="s11_c1_topic"/>
          <p:cNvSpPr/>
          <p:nvPr/>
        </p:nvSpPr>
        <p:spPr>
          <a:xfrm>
            <a:off x="6665976" y="1609344"/>
            <a:ext cx="37965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50" kern="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COMMANDS</a:t>
            </a:r>
            <a:endParaRPr lang="en-US" sz="1300" dirty="0"/>
          </a:p>
        </p:txBody>
      </p:sp>
      <p:sp>
        <p:nvSpPr>
          <p:cNvPr id="38" name="s11_c1_vc_sh"/>
          <p:cNvSpPr/>
          <p:nvPr/>
        </p:nvSpPr>
        <p:spPr>
          <a:xfrm>
            <a:off x="10517429" y="1636776"/>
            <a:ext cx="994867" cy="3383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39" name="s11_c1_vc"/>
          <p:cNvSpPr/>
          <p:nvPr/>
        </p:nvSpPr>
        <p:spPr>
          <a:xfrm>
            <a:off x="10489997" y="1609344"/>
            <a:ext cx="994867" cy="338328"/>
          </a:xfrm>
          <a:prstGeom prst="rect">
            <a:avLst/>
          </a:prstGeom>
          <a:solidFill>
            <a:srgbClr val="E5F5EA"/>
          </a:solidFill>
          <a:ln w="15875">
            <a:solidFill>
              <a:srgbClr val="16A34A"/>
            </a:solidFill>
            <a:prstDash val="solid"/>
          </a:ln>
        </p:spPr>
      </p:sp>
      <p:sp>
        <p:nvSpPr>
          <p:cNvPr id="40" name="s11_c1_vc_t"/>
          <p:cNvSpPr/>
          <p:nvPr/>
        </p:nvSpPr>
        <p:spPr>
          <a:xfrm>
            <a:off x="10489997" y="1609344"/>
            <a:ext cx="99486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COPY-AS-IS</a:t>
            </a:r>
            <a:endParaRPr lang="en-US" sz="900" dirty="0"/>
          </a:p>
        </p:txBody>
      </p:sp>
      <p:sp>
        <p:nvSpPr>
          <p:cNvPr id="41" name="s11_c1_why"/>
          <p:cNvSpPr/>
          <p:nvPr/>
        </p:nvSpPr>
        <p:spPr>
          <a:xfrm>
            <a:off x="6437376" y="2011680"/>
            <a:ext cx="5020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i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md drops in; deprecated + user-only → warn</a:t>
            </a:r>
            <a:endParaRPr lang="en-US" sz="850" dirty="0"/>
          </a:p>
        </p:txBody>
      </p:sp>
      <p:sp>
        <p:nvSpPr>
          <p:cNvPr id="42" name="s11_c1_what"/>
          <p:cNvSpPr/>
          <p:nvPr/>
        </p:nvSpPr>
        <p:spPr>
          <a:xfrm>
            <a:off x="6437376" y="2340864"/>
            <a:ext cx="5020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 prompt templates as slash commands; deprecated for skills.</a:t>
            </a:r>
            <a:endParaRPr lang="en-US" sz="1050" dirty="0"/>
          </a:p>
        </p:txBody>
      </p:sp>
      <p:sp>
        <p:nvSpPr>
          <p:cNvPr id="43" name="s11_c1_hr1"/>
          <p:cNvSpPr/>
          <p:nvPr/>
        </p:nvSpPr>
        <p:spPr>
          <a:xfrm>
            <a:off x="6437376" y="2798064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44" name="s11_c1_k0"/>
          <p:cNvSpPr/>
          <p:nvPr/>
        </p:nvSpPr>
        <p:spPr>
          <a:xfrm>
            <a:off x="6437376" y="2852928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</a:t>
            </a:r>
            <a:endParaRPr lang="en-US" sz="850" dirty="0"/>
          </a:p>
        </p:txBody>
      </p:sp>
      <p:sp>
        <p:nvSpPr>
          <p:cNvPr id="45" name="s11_c1_v0"/>
          <p:cNvSpPr/>
          <p:nvPr/>
        </p:nvSpPr>
        <p:spPr>
          <a:xfrm>
            <a:off x="7589520" y="2852928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~/.codex/prompts/ (user-only, flat md files)</a:t>
            </a:r>
            <a:endParaRPr lang="en-US" sz="900" dirty="0"/>
          </a:p>
        </p:txBody>
      </p:sp>
      <p:sp>
        <p:nvSpPr>
          <p:cNvPr id="46" name="s11_c1_hr2"/>
          <p:cNvSpPr/>
          <p:nvPr/>
        </p:nvSpPr>
        <p:spPr>
          <a:xfrm>
            <a:off x="6437376" y="3273552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47" name="s11_c1_k1"/>
          <p:cNvSpPr/>
          <p:nvPr/>
        </p:nvSpPr>
        <p:spPr>
          <a:xfrm>
            <a:off x="6437376" y="3273552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FORMAT</a:t>
            </a:r>
            <a:endParaRPr lang="en-US" sz="850" dirty="0"/>
          </a:p>
        </p:txBody>
      </p:sp>
      <p:sp>
        <p:nvSpPr>
          <p:cNvPr id="48" name="s11_c1_v1"/>
          <p:cNvSpPr/>
          <p:nvPr/>
        </p:nvSpPr>
        <p:spPr>
          <a:xfrm>
            <a:off x="7589520" y="3273552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*.md + frontmatter description, argument-hint</a:t>
            </a:r>
            <a:endParaRPr lang="en-US" sz="900" dirty="0"/>
          </a:p>
        </p:txBody>
      </p:sp>
      <p:sp>
        <p:nvSpPr>
          <p:cNvPr id="49" name="s11_c1_hr3"/>
          <p:cNvSpPr/>
          <p:nvPr/>
        </p:nvSpPr>
        <p:spPr>
          <a:xfrm>
            <a:off x="6437376" y="3694176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50" name="s11_c1_k2"/>
          <p:cNvSpPr/>
          <p:nvPr/>
        </p:nvSpPr>
        <p:spPr>
          <a:xfrm>
            <a:off x="6437376" y="3694176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</a:t>
            </a:r>
            <a:endParaRPr lang="en-US" sz="850" dirty="0"/>
          </a:p>
        </p:txBody>
      </p:sp>
      <p:sp>
        <p:nvSpPr>
          <p:cNvPr id="51" name="s11_c1_v2"/>
          <p:cNvSpPr/>
          <p:nvPr/>
        </p:nvSpPr>
        <p:spPr>
          <a:xfrm>
            <a:off x="7589520" y="3694176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/prompts:&lt;name&gt; · file drop + restart</a:t>
            </a:r>
            <a:endParaRPr lang="en-US" sz="900" dirty="0"/>
          </a:p>
        </p:txBody>
      </p:sp>
      <p:sp>
        <p:nvSpPr>
          <p:cNvPr id="52" name="s11_c1_hr4"/>
          <p:cNvSpPr/>
          <p:nvPr/>
        </p:nvSpPr>
        <p:spPr>
          <a:xfrm>
            <a:off x="6437376" y="4114800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53" name="s11_c1_k3"/>
          <p:cNvSpPr/>
          <p:nvPr/>
        </p:nvSpPr>
        <p:spPr>
          <a:xfrm>
            <a:off x="6437376" y="4114800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AUTO-UPDATE</a:t>
            </a:r>
            <a:endParaRPr lang="en-US" sz="850" dirty="0"/>
          </a:p>
        </p:txBody>
      </p:sp>
      <p:sp>
        <p:nvSpPr>
          <p:cNvPr id="54" name="s11_c1_v3"/>
          <p:cNvSpPr/>
          <p:nvPr/>
        </p:nvSpPr>
        <p:spPr>
          <a:xfrm>
            <a:off x="7589520" y="4114800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No. Manual file edits in ~/.codex/prompts/ only; nothing auto-updates.</a:t>
            </a:r>
            <a:endParaRPr lang="en-US" sz="900" dirty="0"/>
          </a:p>
        </p:txBody>
      </p:sp>
      <p:sp>
        <p:nvSpPr>
          <p:cNvPr id="55" name="s11_c1_emp"/>
          <p:cNvSpPr/>
          <p:nvPr/>
        </p:nvSpPr>
        <p:spPr>
          <a:xfrm>
            <a:off x="6409944" y="4626864"/>
            <a:ext cx="5074920" cy="1581912"/>
          </a:xfrm>
          <a:prstGeom prst="rect">
            <a:avLst/>
          </a:prstGeom>
          <a:solidFill>
            <a:srgbClr val="E5F5EA"/>
          </a:solidFill>
          <a:ln/>
        </p:spPr>
      </p:sp>
      <p:sp>
        <p:nvSpPr>
          <p:cNvPr id="56" name="s11_c1_emb"/>
          <p:cNvSpPr/>
          <p:nvPr/>
        </p:nvSpPr>
        <p:spPr>
          <a:xfrm>
            <a:off x="6592824" y="4736592"/>
            <a:ext cx="4709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spc="200" kern="0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REGISTRY EMISSION</a:t>
            </a:r>
            <a:endParaRPr lang="en-US" sz="800" dirty="0"/>
          </a:p>
        </p:txBody>
      </p:sp>
      <p:sp>
        <p:nvSpPr>
          <p:cNvPr id="57" name="s11_c1_em"/>
          <p:cNvSpPr/>
          <p:nvPr/>
        </p:nvSpPr>
        <p:spPr>
          <a:xfrm>
            <a:off x="6592824" y="4956048"/>
            <a:ext cx="470916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install.codex: copy &lt;n&gt;.md → ~/.codex/prompts/</a:t>
            </a:r>
            <a:endParaRPr lang="en-US" sz="9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invoke: /prompts:&lt;n&gt; (restart; user-only)</a:t>
            </a:r>
            <a:endParaRPr lang="en-US" sz="9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warn: DEPRECATED — prefer skill artifact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12_vx_v1"/>
          <p:cNvSpPr/>
          <p:nvPr/>
        </p:nvSpPr>
        <p:spPr>
          <a:xfrm>
            <a:off x="11137392" y="384048"/>
            <a:ext cx="128016" cy="12801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" name="s12_vx_v2"/>
          <p:cNvSpPr/>
          <p:nvPr/>
        </p:nvSpPr>
        <p:spPr>
          <a:xfrm>
            <a:off x="11292840" y="384048"/>
            <a:ext cx="128016" cy="12801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" name="s12_vx_v3"/>
          <p:cNvSpPr/>
          <p:nvPr/>
        </p:nvSpPr>
        <p:spPr>
          <a:xfrm>
            <a:off x="11137392" y="539496"/>
            <a:ext cx="128016" cy="128016"/>
          </a:xfrm>
          <a:prstGeom prst="rect">
            <a:avLst/>
          </a:prstGeom>
          <a:solidFill>
            <a:srgbClr val="D97706"/>
          </a:solidFill>
          <a:ln/>
        </p:spPr>
      </p:sp>
      <p:pic>
        <p:nvPicPr>
          <p:cNvPr id="5" name="s12_kick" descr="assets/sko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02336"/>
            <a:ext cx="5303520" cy="182880"/>
          </a:xfrm>
          <a:prstGeom prst="rect">
            <a:avLst/>
          </a:prstGeom>
        </p:spPr>
      </p:pic>
      <p:pic>
        <p:nvPicPr>
          <p:cNvPr id="6" name="s12_title" descr="assets/srf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58368"/>
            <a:ext cx="3192562" cy="475488"/>
          </a:xfrm>
          <a:prstGeom prst="rect">
            <a:avLst/>
          </a:prstGeom>
        </p:spPr>
      </p:pic>
      <p:sp>
        <p:nvSpPr>
          <p:cNvPr id="7" name="s12_spec"/>
          <p:cNvSpPr/>
          <p:nvPr/>
        </p:nvSpPr>
        <p:spPr>
          <a:xfrm>
            <a:off x="502920" y="1216152"/>
            <a:ext cx="10469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COMMANDS in opencode + pi</a:t>
            </a:r>
            <a:endParaRPr lang="en-US" sz="1100" dirty="0"/>
          </a:p>
        </p:txBody>
      </p:sp>
      <p:sp>
        <p:nvSpPr>
          <p:cNvPr id="8" name="s12_pg"/>
          <p:cNvSpPr/>
          <p:nvPr/>
        </p:nvSpPr>
        <p:spPr>
          <a:xfrm>
            <a:off x="11064240" y="648309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/ 45</a:t>
            </a:r>
            <a:endParaRPr lang="en-US" sz="950" dirty="0"/>
          </a:p>
        </p:txBody>
      </p:sp>
      <p:sp>
        <p:nvSpPr>
          <p:cNvPr id="10" name="s12_c0_sh"/>
          <p:cNvSpPr/>
          <p:nvPr/>
        </p:nvSpPr>
        <p:spPr>
          <a:xfrm>
            <a:off x="553212" y="1531620"/>
            <a:ext cx="5477256" cy="489204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1" name="s12_c0"/>
          <p:cNvSpPr/>
          <p:nvPr/>
        </p:nvSpPr>
        <p:spPr>
          <a:xfrm>
            <a:off x="502920" y="1481328"/>
            <a:ext cx="5477256" cy="489204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12" name="s12_c0_sq"/>
          <p:cNvSpPr/>
          <p:nvPr/>
        </p:nvSpPr>
        <p:spPr>
          <a:xfrm>
            <a:off x="731520" y="1673352"/>
            <a:ext cx="137160" cy="137160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13" name="s12_c0_topic"/>
          <p:cNvSpPr/>
          <p:nvPr/>
        </p:nvSpPr>
        <p:spPr>
          <a:xfrm>
            <a:off x="960120" y="1609344"/>
            <a:ext cx="37965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50" kern="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COMMANDS</a:t>
            </a:r>
            <a:endParaRPr lang="en-US" sz="1300" dirty="0"/>
          </a:p>
        </p:txBody>
      </p:sp>
      <p:sp>
        <p:nvSpPr>
          <p:cNvPr id="14" name="s12_c0_vc_sh"/>
          <p:cNvSpPr/>
          <p:nvPr/>
        </p:nvSpPr>
        <p:spPr>
          <a:xfrm>
            <a:off x="4811573" y="1636776"/>
            <a:ext cx="994867" cy="3383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5" name="s12_c0_vc"/>
          <p:cNvSpPr/>
          <p:nvPr/>
        </p:nvSpPr>
        <p:spPr>
          <a:xfrm>
            <a:off x="4784141" y="1609344"/>
            <a:ext cx="994867" cy="338328"/>
          </a:xfrm>
          <a:prstGeom prst="rect">
            <a:avLst/>
          </a:prstGeom>
          <a:solidFill>
            <a:srgbClr val="E5F5EA"/>
          </a:solidFill>
          <a:ln w="15875">
            <a:solidFill>
              <a:srgbClr val="16A34A"/>
            </a:solidFill>
            <a:prstDash val="solid"/>
          </a:ln>
        </p:spPr>
      </p:sp>
      <p:sp>
        <p:nvSpPr>
          <p:cNvPr id="16" name="s12_c0_vc_t"/>
          <p:cNvSpPr/>
          <p:nvPr/>
        </p:nvSpPr>
        <p:spPr>
          <a:xfrm>
            <a:off x="4784141" y="1609344"/>
            <a:ext cx="99486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COPY-AS-IS</a:t>
            </a:r>
            <a:endParaRPr lang="en-US" sz="900" dirty="0"/>
          </a:p>
        </p:txBody>
      </p:sp>
      <p:sp>
        <p:nvSpPr>
          <p:cNvPr id="17" name="s12_c0_why"/>
          <p:cNvSpPr/>
          <p:nvPr/>
        </p:nvSpPr>
        <p:spPr>
          <a:xfrm>
            <a:off x="731520" y="2011680"/>
            <a:ext cx="5020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i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registry copies md verbatim (design doc §4)</a:t>
            </a:r>
            <a:endParaRPr lang="en-US" sz="850" dirty="0"/>
          </a:p>
        </p:txBody>
      </p:sp>
      <p:sp>
        <p:nvSpPr>
          <p:cNvPr id="18" name="s12_c0_what"/>
          <p:cNvSpPr/>
          <p:nvPr/>
        </p:nvSpPr>
        <p:spPr>
          <a:xfrm>
            <a:off x="731520" y="2340864"/>
            <a:ext cx="5020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Markdown slash commands — reusable prompt templates</a:t>
            </a:r>
            <a:endParaRPr lang="en-US" sz="1050" dirty="0"/>
          </a:p>
        </p:txBody>
      </p:sp>
      <p:sp>
        <p:nvSpPr>
          <p:cNvPr id="19" name="s12_c0_hr1"/>
          <p:cNvSpPr/>
          <p:nvPr/>
        </p:nvSpPr>
        <p:spPr>
          <a:xfrm>
            <a:off x="731520" y="2798064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0" name="s12_c0_k0"/>
          <p:cNvSpPr/>
          <p:nvPr/>
        </p:nvSpPr>
        <p:spPr>
          <a:xfrm>
            <a:off x="731520" y="2852928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</a:t>
            </a:r>
            <a:endParaRPr lang="en-US" sz="850" dirty="0"/>
          </a:p>
        </p:txBody>
      </p:sp>
      <p:sp>
        <p:nvSpPr>
          <p:cNvPr id="21" name="s12_c0_v0"/>
          <p:cNvSpPr/>
          <p:nvPr/>
        </p:nvSpPr>
        <p:spPr>
          <a:xfrm>
            <a:off x="1883664" y="2852928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.opencode/commands/&lt;name&gt;.md · ~/.config/opencode/commands</a:t>
            </a:r>
            <a:endParaRPr lang="en-US" sz="900" dirty="0"/>
          </a:p>
        </p:txBody>
      </p:sp>
      <p:sp>
        <p:nvSpPr>
          <p:cNvPr id="22" name="s12_c0_hr2"/>
          <p:cNvSpPr/>
          <p:nvPr/>
        </p:nvSpPr>
        <p:spPr>
          <a:xfrm>
            <a:off x="731520" y="3273552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3" name="s12_c0_k1"/>
          <p:cNvSpPr/>
          <p:nvPr/>
        </p:nvSpPr>
        <p:spPr>
          <a:xfrm>
            <a:off x="731520" y="3273552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FORMAT</a:t>
            </a:r>
            <a:endParaRPr lang="en-US" sz="850" dirty="0"/>
          </a:p>
        </p:txBody>
      </p:sp>
      <p:sp>
        <p:nvSpPr>
          <p:cNvPr id="24" name="s12_c0_v1"/>
          <p:cNvSpPr/>
          <p:nvPr/>
        </p:nvSpPr>
        <p:spPr>
          <a:xfrm>
            <a:off x="1883664" y="3273552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.md frontmatter: description/agent/subtask/model</a:t>
            </a:r>
            <a:endParaRPr lang="en-US" sz="900" dirty="0"/>
          </a:p>
        </p:txBody>
      </p:sp>
      <p:sp>
        <p:nvSpPr>
          <p:cNvPr id="25" name="s12_c0_hr3"/>
          <p:cNvSpPr/>
          <p:nvPr/>
        </p:nvSpPr>
        <p:spPr>
          <a:xfrm>
            <a:off x="731520" y="3694176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6" name="s12_c0_k2"/>
          <p:cNvSpPr/>
          <p:nvPr/>
        </p:nvSpPr>
        <p:spPr>
          <a:xfrm>
            <a:off x="731520" y="3694176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</a:t>
            </a:r>
            <a:endParaRPr lang="en-US" sz="850" dirty="0"/>
          </a:p>
        </p:txBody>
      </p:sp>
      <p:sp>
        <p:nvSpPr>
          <p:cNvPr id="27" name="s12_c0_v2"/>
          <p:cNvSpPr/>
          <p:nvPr/>
        </p:nvSpPr>
        <p:spPr>
          <a:xfrm>
            <a:off x="1883664" y="3694176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none — file drop; or commands[] config array (v2)</a:t>
            </a:r>
            <a:endParaRPr lang="en-US" sz="900" dirty="0"/>
          </a:p>
        </p:txBody>
      </p:sp>
      <p:sp>
        <p:nvSpPr>
          <p:cNvPr id="28" name="s12_c0_hr4"/>
          <p:cNvSpPr/>
          <p:nvPr/>
        </p:nvSpPr>
        <p:spPr>
          <a:xfrm>
            <a:off x="731520" y="4114800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9" name="s12_c0_k3"/>
          <p:cNvSpPr/>
          <p:nvPr/>
        </p:nvSpPr>
        <p:spPr>
          <a:xfrm>
            <a:off x="731520" y="4114800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AUTO-UPDATE</a:t>
            </a:r>
            <a:endParaRPr lang="en-US" sz="850" dirty="0"/>
          </a:p>
        </p:txBody>
      </p:sp>
      <p:sp>
        <p:nvSpPr>
          <p:cNvPr id="30" name="s12_c0_v3"/>
          <p:cNvSpPr/>
          <p:nvPr/>
        </p:nvSpPr>
        <p:spPr>
          <a:xfrm>
            <a:off x="1883664" y="4114800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 — file drop / commands[] config; replace by hand</a:t>
            </a:r>
            <a:endParaRPr lang="en-US" sz="900" dirty="0"/>
          </a:p>
        </p:txBody>
      </p:sp>
      <p:sp>
        <p:nvSpPr>
          <p:cNvPr id="31" name="s12_c0_emp"/>
          <p:cNvSpPr/>
          <p:nvPr/>
        </p:nvSpPr>
        <p:spPr>
          <a:xfrm>
            <a:off x="704088" y="4626864"/>
            <a:ext cx="5074920" cy="1581912"/>
          </a:xfrm>
          <a:prstGeom prst="rect">
            <a:avLst/>
          </a:prstGeom>
          <a:solidFill>
            <a:srgbClr val="E7EEFD"/>
          </a:solidFill>
          <a:ln/>
        </p:spPr>
      </p:sp>
      <p:sp>
        <p:nvSpPr>
          <p:cNvPr id="32" name="s12_c0_emb"/>
          <p:cNvSpPr/>
          <p:nvPr/>
        </p:nvSpPr>
        <p:spPr>
          <a:xfrm>
            <a:off x="886968" y="4736592"/>
            <a:ext cx="4709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spc="200" kern="0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REGISTRY EMISSION</a:t>
            </a:r>
            <a:endParaRPr lang="en-US" sz="800" dirty="0"/>
          </a:p>
        </p:txBody>
      </p:sp>
      <p:sp>
        <p:nvSpPr>
          <p:cNvPr id="33" name="s12_c0_em"/>
          <p:cNvSpPr/>
          <p:nvPr/>
        </p:nvSpPr>
        <p:spPr>
          <a:xfrm>
            <a:off x="886968" y="4956048"/>
            <a:ext cx="470916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install: copy md → .opencode/commands/&lt;n&gt;.md</a:t>
            </a:r>
            <a:endParaRPr lang="en-US" sz="9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alt: config commands[] {name, template}</a:t>
            </a:r>
            <a:endParaRPr lang="en-US" sz="9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nested dirs namespace: a/b.md → /a/b</a:t>
            </a:r>
            <a:endParaRPr lang="en-US" sz="900" dirty="0"/>
          </a:p>
        </p:txBody>
      </p:sp>
      <p:sp>
        <p:nvSpPr>
          <p:cNvPr id="34" name="s12_c1_sh"/>
          <p:cNvSpPr/>
          <p:nvPr/>
        </p:nvSpPr>
        <p:spPr>
          <a:xfrm>
            <a:off x="6259068" y="1531620"/>
            <a:ext cx="5477256" cy="489204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35" name="s12_c1"/>
          <p:cNvSpPr/>
          <p:nvPr/>
        </p:nvSpPr>
        <p:spPr>
          <a:xfrm>
            <a:off x="6208776" y="1481328"/>
            <a:ext cx="5477256" cy="489204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36" name="s12_c1_sq"/>
          <p:cNvSpPr/>
          <p:nvPr/>
        </p:nvSpPr>
        <p:spPr>
          <a:xfrm>
            <a:off x="6437376" y="1673352"/>
            <a:ext cx="137160" cy="13716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7" name="s12_c1_topic"/>
          <p:cNvSpPr/>
          <p:nvPr/>
        </p:nvSpPr>
        <p:spPr>
          <a:xfrm>
            <a:off x="6665976" y="1609344"/>
            <a:ext cx="37965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50" kern="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COMMANDS</a:t>
            </a:r>
            <a:endParaRPr lang="en-US" sz="1300" dirty="0"/>
          </a:p>
        </p:txBody>
      </p:sp>
      <p:sp>
        <p:nvSpPr>
          <p:cNvPr id="38" name="s12_c1_vc_sh"/>
          <p:cNvSpPr/>
          <p:nvPr/>
        </p:nvSpPr>
        <p:spPr>
          <a:xfrm>
            <a:off x="10517429" y="1636776"/>
            <a:ext cx="994867" cy="3383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39" name="s12_c1_vc"/>
          <p:cNvSpPr/>
          <p:nvPr/>
        </p:nvSpPr>
        <p:spPr>
          <a:xfrm>
            <a:off x="10489997" y="1609344"/>
            <a:ext cx="994867" cy="338328"/>
          </a:xfrm>
          <a:prstGeom prst="rect">
            <a:avLst/>
          </a:prstGeom>
          <a:solidFill>
            <a:srgbClr val="E5F5EA"/>
          </a:solidFill>
          <a:ln w="15875">
            <a:solidFill>
              <a:srgbClr val="16A34A"/>
            </a:solidFill>
            <a:prstDash val="solid"/>
          </a:ln>
        </p:spPr>
      </p:sp>
      <p:sp>
        <p:nvSpPr>
          <p:cNvPr id="40" name="s12_c1_vc_t"/>
          <p:cNvSpPr/>
          <p:nvPr/>
        </p:nvSpPr>
        <p:spPr>
          <a:xfrm>
            <a:off x="10489997" y="1609344"/>
            <a:ext cx="99486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COPY-AS-IS</a:t>
            </a:r>
            <a:endParaRPr lang="en-US" sz="900" dirty="0"/>
          </a:p>
        </p:txBody>
      </p:sp>
      <p:sp>
        <p:nvSpPr>
          <p:cNvPr id="41" name="s12_c1_why"/>
          <p:cNvSpPr/>
          <p:nvPr/>
        </p:nvSpPr>
        <p:spPr>
          <a:xfrm>
            <a:off x="6437376" y="2011680"/>
            <a:ext cx="5020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i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md+frontmatter shape; filename is the command</a:t>
            </a:r>
            <a:endParaRPr lang="en-US" sz="850" dirty="0"/>
          </a:p>
        </p:txBody>
      </p:sp>
      <p:sp>
        <p:nvSpPr>
          <p:cNvPr id="42" name="s12_c1_what"/>
          <p:cNvSpPr/>
          <p:nvPr/>
        </p:nvSpPr>
        <p:spPr>
          <a:xfrm>
            <a:off x="6437376" y="2340864"/>
            <a:ext cx="5020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Markdown prompt templates; the filename becomes the slash command</a:t>
            </a:r>
            <a:endParaRPr lang="en-US" sz="1050" dirty="0"/>
          </a:p>
        </p:txBody>
      </p:sp>
      <p:sp>
        <p:nvSpPr>
          <p:cNvPr id="43" name="s12_c1_hr1"/>
          <p:cNvSpPr/>
          <p:nvPr/>
        </p:nvSpPr>
        <p:spPr>
          <a:xfrm>
            <a:off x="6437376" y="2798064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44" name="s12_c1_k0"/>
          <p:cNvSpPr/>
          <p:nvPr/>
        </p:nvSpPr>
        <p:spPr>
          <a:xfrm>
            <a:off x="6437376" y="2852928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</a:t>
            </a:r>
            <a:endParaRPr lang="en-US" sz="850" dirty="0"/>
          </a:p>
        </p:txBody>
      </p:sp>
      <p:sp>
        <p:nvSpPr>
          <p:cNvPr id="45" name="s12_c1_v0"/>
          <p:cNvSpPr/>
          <p:nvPr/>
        </p:nvSpPr>
        <p:spPr>
          <a:xfrm>
            <a:off x="7589520" y="2852928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~/.pi/agent/prompts · .pi/prompts (trust-gated)</a:t>
            </a:r>
            <a:endParaRPr lang="en-US" sz="900" dirty="0"/>
          </a:p>
        </p:txBody>
      </p:sp>
      <p:sp>
        <p:nvSpPr>
          <p:cNvPr id="46" name="s12_c1_hr2"/>
          <p:cNvSpPr/>
          <p:nvPr/>
        </p:nvSpPr>
        <p:spPr>
          <a:xfrm>
            <a:off x="6437376" y="3273552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47" name="s12_c1_k1"/>
          <p:cNvSpPr/>
          <p:nvPr/>
        </p:nvSpPr>
        <p:spPr>
          <a:xfrm>
            <a:off x="6437376" y="3273552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FORMAT</a:t>
            </a:r>
            <a:endParaRPr lang="en-US" sz="850" dirty="0"/>
          </a:p>
        </p:txBody>
      </p:sp>
      <p:sp>
        <p:nvSpPr>
          <p:cNvPr id="48" name="s12_c1_v1"/>
          <p:cNvSpPr/>
          <p:nvPr/>
        </p:nvSpPr>
        <p:spPr>
          <a:xfrm>
            <a:off x="7589520" y="3273552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.md + frontmatter description/argument-hint; $1..$n args</a:t>
            </a:r>
            <a:endParaRPr lang="en-US" sz="900" dirty="0"/>
          </a:p>
        </p:txBody>
      </p:sp>
      <p:sp>
        <p:nvSpPr>
          <p:cNvPr id="49" name="s12_c1_hr3"/>
          <p:cNvSpPr/>
          <p:nvPr/>
        </p:nvSpPr>
        <p:spPr>
          <a:xfrm>
            <a:off x="6437376" y="3694176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50" name="s12_c1_k2"/>
          <p:cNvSpPr/>
          <p:nvPr/>
        </p:nvSpPr>
        <p:spPr>
          <a:xfrm>
            <a:off x="6437376" y="3694176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</a:t>
            </a:r>
            <a:endParaRPr lang="en-US" sz="850" dirty="0"/>
          </a:p>
        </p:txBody>
      </p:sp>
      <p:sp>
        <p:nvSpPr>
          <p:cNvPr id="51" name="s12_c1_v2"/>
          <p:cNvSpPr/>
          <p:nvPr/>
        </p:nvSpPr>
        <p:spPr>
          <a:xfrm>
            <a:off x="7589520" y="3694176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filename = command: review.md → /review · /reload</a:t>
            </a:r>
            <a:endParaRPr lang="en-US" sz="900" dirty="0"/>
          </a:p>
        </p:txBody>
      </p:sp>
      <p:sp>
        <p:nvSpPr>
          <p:cNvPr id="52" name="s12_c1_hr4"/>
          <p:cNvSpPr/>
          <p:nvPr/>
        </p:nvSpPr>
        <p:spPr>
          <a:xfrm>
            <a:off x="6437376" y="4114800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53" name="s12_c1_k3"/>
          <p:cNvSpPr/>
          <p:nvPr/>
        </p:nvSpPr>
        <p:spPr>
          <a:xfrm>
            <a:off x="6437376" y="4114800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AUTO-UPDATE</a:t>
            </a:r>
            <a:endParaRPr lang="en-US" sz="850" dirty="0"/>
          </a:p>
        </p:txBody>
      </p:sp>
      <p:sp>
        <p:nvSpPr>
          <p:cNvPr id="54" name="s12_c1_v3"/>
          <p:cNvSpPr/>
          <p:nvPr/>
        </p:nvSpPr>
        <p:spPr>
          <a:xfrm>
            <a:off x="7589520" y="4114800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In-package prompts update with pi update; standalone files manual</a:t>
            </a:r>
            <a:endParaRPr lang="en-US" sz="900" dirty="0"/>
          </a:p>
        </p:txBody>
      </p:sp>
      <p:sp>
        <p:nvSpPr>
          <p:cNvPr id="55" name="s12_c1_emp"/>
          <p:cNvSpPr/>
          <p:nvPr/>
        </p:nvSpPr>
        <p:spPr>
          <a:xfrm>
            <a:off x="6409944" y="4626864"/>
            <a:ext cx="5074920" cy="1581912"/>
          </a:xfrm>
          <a:prstGeom prst="rect">
            <a:avLst/>
          </a:prstGeom>
          <a:solidFill>
            <a:srgbClr val="EFE9FB"/>
          </a:solidFill>
          <a:ln/>
        </p:spPr>
      </p:sp>
      <p:sp>
        <p:nvSpPr>
          <p:cNvPr id="56" name="s12_c1_emb"/>
          <p:cNvSpPr/>
          <p:nvPr/>
        </p:nvSpPr>
        <p:spPr>
          <a:xfrm>
            <a:off x="6592824" y="4736592"/>
            <a:ext cx="4709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spc="200" kern="0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REGISTRY EMISSION</a:t>
            </a:r>
            <a:endParaRPr lang="en-US" sz="800" dirty="0"/>
          </a:p>
        </p:txBody>
      </p:sp>
      <p:sp>
        <p:nvSpPr>
          <p:cNvPr id="57" name="s12_c1_em"/>
          <p:cNvSpPr/>
          <p:nvPr/>
        </p:nvSpPr>
        <p:spPr>
          <a:xfrm>
            <a:off x="6592824" y="4956048"/>
            <a:ext cx="470916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install.pi: copy &lt;name&gt;.md → ~/.pi/agent/prompts/</a:t>
            </a:r>
            <a:endParaRPr lang="en-US" sz="9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cmd: /&lt;filename&gt; · args $1..$n ${1:-default}</a:t>
            </a:r>
            <a:endParaRPr lang="en-US" sz="9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lockfile: agentreg.lock (urn→ver→sha→target)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13_vx_v1"/>
          <p:cNvSpPr/>
          <p:nvPr/>
        </p:nvSpPr>
        <p:spPr>
          <a:xfrm>
            <a:off x="11137392" y="384048"/>
            <a:ext cx="128016" cy="12801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" name="s13_vx_v2"/>
          <p:cNvSpPr/>
          <p:nvPr/>
        </p:nvSpPr>
        <p:spPr>
          <a:xfrm>
            <a:off x="11292840" y="384048"/>
            <a:ext cx="128016" cy="12801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" name="s13_vx_v3"/>
          <p:cNvSpPr/>
          <p:nvPr/>
        </p:nvSpPr>
        <p:spPr>
          <a:xfrm>
            <a:off x="11137392" y="539496"/>
            <a:ext cx="128016" cy="128016"/>
          </a:xfrm>
          <a:prstGeom prst="rect">
            <a:avLst/>
          </a:prstGeom>
          <a:solidFill>
            <a:srgbClr val="D97706"/>
          </a:solidFill>
          <a:ln/>
        </p:spPr>
      </p:sp>
      <p:pic>
        <p:nvPicPr>
          <p:cNvPr id="5" name="s13_kick" descr="assets/skb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02336"/>
            <a:ext cx="2952206" cy="182880"/>
          </a:xfrm>
          <a:prstGeom prst="rect">
            <a:avLst/>
          </a:prstGeom>
        </p:spPr>
      </p:pic>
      <p:pic>
        <p:nvPicPr>
          <p:cNvPr id="6" name="s13_title" descr="assets/srf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58368"/>
            <a:ext cx="3600123" cy="475488"/>
          </a:xfrm>
          <a:prstGeom prst="rect">
            <a:avLst/>
          </a:prstGeom>
        </p:spPr>
      </p:pic>
      <p:sp>
        <p:nvSpPr>
          <p:cNvPr id="7" name="s13_spec"/>
          <p:cNvSpPr/>
          <p:nvPr/>
        </p:nvSpPr>
        <p:spPr>
          <a:xfrm>
            <a:off x="502920" y="1216152"/>
            <a:ext cx="10469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Helper agents with their own prompt, model and tool scope — Claude md is the canonical shape</a:t>
            </a:r>
            <a:endParaRPr lang="en-US" sz="1100" dirty="0"/>
          </a:p>
        </p:txBody>
      </p:sp>
      <p:sp>
        <p:nvSpPr>
          <p:cNvPr id="8" name="s13_pg"/>
          <p:cNvSpPr/>
          <p:nvPr/>
        </p:nvSpPr>
        <p:spPr>
          <a:xfrm>
            <a:off x="11064240" y="648309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/ 45</a:t>
            </a:r>
            <a:endParaRPr lang="en-US" sz="950" dirty="0"/>
          </a:p>
        </p:txBody>
      </p:sp>
      <p:sp>
        <p:nvSpPr>
          <p:cNvPr id="10" name="s13_min_sh"/>
          <p:cNvSpPr/>
          <p:nvPr/>
        </p:nvSpPr>
        <p:spPr>
          <a:xfrm>
            <a:off x="553212" y="1531620"/>
            <a:ext cx="5669280" cy="416052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1" name="s13_min"/>
          <p:cNvSpPr/>
          <p:nvPr/>
        </p:nvSpPr>
        <p:spPr>
          <a:xfrm>
            <a:off x="502920" y="1481328"/>
            <a:ext cx="5669280" cy="416052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12" name="s13_mb"/>
          <p:cNvSpPr/>
          <p:nvPr/>
        </p:nvSpPr>
        <p:spPr>
          <a:xfrm>
            <a:off x="777240" y="162763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REGISTRY MINIMUM — WHAT WE STORE</a:t>
            </a:r>
            <a:endParaRPr lang="en-US" sz="950" dirty="0"/>
          </a:p>
        </p:txBody>
      </p:sp>
      <p:sp>
        <p:nvSpPr>
          <p:cNvPr id="13" name="s13_mk0"/>
          <p:cNvSpPr/>
          <p:nvPr/>
        </p:nvSpPr>
        <p:spPr>
          <a:xfrm>
            <a:off x="777240" y="19202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name+desc</a:t>
            </a:r>
            <a:endParaRPr lang="en-US" sz="900" dirty="0"/>
          </a:p>
        </p:txBody>
      </p:sp>
      <p:sp>
        <p:nvSpPr>
          <p:cNvPr id="14" name="s13_mv0"/>
          <p:cNvSpPr/>
          <p:nvPr/>
        </p:nvSpPr>
        <p:spPr>
          <a:xfrm>
            <a:off x="2240280" y="192024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required frontmatter pair in every dialect</a:t>
            </a:r>
            <a:endParaRPr lang="en-US" sz="850" dirty="0"/>
          </a:p>
        </p:txBody>
      </p:sp>
      <p:sp>
        <p:nvSpPr>
          <p:cNvPr id="15" name="s13_mhr0"/>
          <p:cNvSpPr/>
          <p:nvPr/>
        </p:nvSpPr>
        <p:spPr>
          <a:xfrm>
            <a:off x="777240" y="2304288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16" name="s13_mk1"/>
          <p:cNvSpPr/>
          <p:nvPr/>
        </p:nvSpPr>
        <p:spPr>
          <a:xfrm>
            <a:off x="777240" y="230428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system prompt</a:t>
            </a:r>
            <a:endParaRPr lang="en-US" sz="900" dirty="0"/>
          </a:p>
        </p:txBody>
      </p:sp>
      <p:sp>
        <p:nvSpPr>
          <p:cNvPr id="17" name="s13_mv1"/>
          <p:cNvSpPr/>
          <p:nvPr/>
        </p:nvSpPr>
        <p:spPr>
          <a:xfrm>
            <a:off x="2240280" y="230428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md body = prompt; codex developer_instructions</a:t>
            </a:r>
            <a:endParaRPr lang="en-US" sz="850" dirty="0"/>
          </a:p>
        </p:txBody>
      </p:sp>
      <p:sp>
        <p:nvSpPr>
          <p:cNvPr id="18" name="s13_mhr1"/>
          <p:cNvSpPr/>
          <p:nvPr/>
        </p:nvSpPr>
        <p:spPr>
          <a:xfrm>
            <a:off x="777240" y="2688336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19" name="s13_mk2"/>
          <p:cNvSpPr/>
          <p:nvPr/>
        </p:nvSpPr>
        <p:spPr>
          <a:xfrm>
            <a:off x="777240" y="2688336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tools+model</a:t>
            </a:r>
            <a:endParaRPr lang="en-US" sz="900" dirty="0"/>
          </a:p>
        </p:txBody>
      </p:sp>
      <p:sp>
        <p:nvSpPr>
          <p:cNvPr id="20" name="s13_mv2"/>
          <p:cNvSpPr/>
          <p:nvPr/>
        </p:nvSpPr>
        <p:spPr>
          <a:xfrm>
            <a:off x="2240280" y="2688336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 scope, model, memory, isolation flags</a:t>
            </a:r>
            <a:endParaRPr lang="en-US" sz="850" dirty="0"/>
          </a:p>
        </p:txBody>
      </p:sp>
      <p:sp>
        <p:nvSpPr>
          <p:cNvPr id="21" name="s13_mhr2"/>
          <p:cNvSpPr/>
          <p:nvPr/>
        </p:nvSpPr>
        <p:spPr>
          <a:xfrm>
            <a:off x="777240" y="3072384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2" name="s13_mk3"/>
          <p:cNvSpPr/>
          <p:nvPr/>
        </p:nvSpPr>
        <p:spPr>
          <a:xfrm>
            <a:off x="777240" y="3072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translations</a:t>
            </a:r>
            <a:endParaRPr lang="en-US" sz="900" dirty="0"/>
          </a:p>
        </p:txBody>
      </p:sp>
      <p:sp>
        <p:nvSpPr>
          <p:cNvPr id="23" name="s13_mv3"/>
          <p:cNvSpPr/>
          <p:nvPr/>
        </p:nvSpPr>
        <p:spPr>
          <a:xfrm>
            <a:off x="2240280" y="3072384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md → TOML (codex) · mode/perms md (oc)</a:t>
            </a:r>
            <a:endParaRPr lang="en-US" sz="850" dirty="0"/>
          </a:p>
        </p:txBody>
      </p:sp>
      <p:sp>
        <p:nvSpPr>
          <p:cNvPr id="24" name="s13_mhr3"/>
          <p:cNvSpPr/>
          <p:nvPr/>
        </p:nvSpPr>
        <p:spPr>
          <a:xfrm>
            <a:off x="777240" y="3456432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5" name="s13_mk4"/>
          <p:cNvSpPr/>
          <p:nvPr/>
        </p:nvSpPr>
        <p:spPr>
          <a:xfrm>
            <a:off x="777240" y="3456432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trust</a:t>
            </a:r>
            <a:endParaRPr lang="en-US" sz="900" dirty="0"/>
          </a:p>
        </p:txBody>
      </p:sp>
      <p:sp>
        <p:nvSpPr>
          <p:cNvPr id="26" name="s13_mv4"/>
          <p:cNvSpPr/>
          <p:nvPr/>
        </p:nvSpPr>
        <p:spPr>
          <a:xfrm>
            <a:off x="2240280" y="3456432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codex project layer inert until trusted</a:t>
            </a:r>
            <a:endParaRPr lang="en-US" sz="850" dirty="0"/>
          </a:p>
        </p:txBody>
      </p:sp>
      <p:sp>
        <p:nvSpPr>
          <p:cNvPr id="27" name="s13_mhr4"/>
          <p:cNvSpPr/>
          <p:nvPr/>
        </p:nvSpPr>
        <p:spPr>
          <a:xfrm>
            <a:off x="777240" y="3840480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8" name="s13_mk5"/>
          <p:cNvSpPr/>
          <p:nvPr/>
        </p:nvSpPr>
        <p:spPr>
          <a:xfrm>
            <a:off x="777240" y="384048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compat</a:t>
            </a:r>
            <a:endParaRPr lang="en-US" sz="900" dirty="0"/>
          </a:p>
        </p:txBody>
      </p:sp>
      <p:sp>
        <p:nvSpPr>
          <p:cNvPr id="29" name="s13_mv5"/>
          <p:cNvSpPr/>
          <p:nvPr/>
        </p:nvSpPr>
        <p:spPr>
          <a:xfrm>
            <a:off x="2240280" y="384048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 supported=false — example ext only</a:t>
            </a:r>
            <a:endParaRPr lang="en-US" sz="850" dirty="0"/>
          </a:p>
        </p:txBody>
      </p:sp>
      <p:sp>
        <p:nvSpPr>
          <p:cNvPr id="30" name="s13_mhr5"/>
          <p:cNvSpPr/>
          <p:nvPr/>
        </p:nvSpPr>
        <p:spPr>
          <a:xfrm>
            <a:off x="777240" y="4224528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31" name="s13_mwhy"/>
          <p:cNvSpPr/>
          <p:nvPr/>
        </p:nvSpPr>
        <p:spPr>
          <a:xfrm>
            <a:off x="777240" y="498348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Claude md is canonical; Codex wants TOML, OpenCode mode/perms — record stores the neutral form + translations.</a:t>
            </a:r>
            <a:endParaRPr lang="en-US" sz="950" dirty="0"/>
          </a:p>
        </p:txBody>
      </p:sp>
      <p:sp>
        <p:nvSpPr>
          <p:cNvPr id="32" name="s13_row_sh"/>
          <p:cNvSpPr/>
          <p:nvPr/>
        </p:nvSpPr>
        <p:spPr>
          <a:xfrm>
            <a:off x="6451092" y="1531620"/>
            <a:ext cx="5285232" cy="310896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33" name="s13_row"/>
          <p:cNvSpPr/>
          <p:nvPr/>
        </p:nvSpPr>
        <p:spPr>
          <a:xfrm>
            <a:off x="6400800" y="1481328"/>
            <a:ext cx="5285232" cy="310896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34" name="s13_rb"/>
          <p:cNvSpPr/>
          <p:nvPr/>
        </p:nvSpPr>
        <p:spPr>
          <a:xfrm>
            <a:off x="6675120" y="1627632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MATRIX ROW</a:t>
            </a:r>
            <a:endParaRPr lang="en-US" sz="1050" dirty="0"/>
          </a:p>
        </p:txBody>
      </p:sp>
      <p:sp>
        <p:nvSpPr>
          <p:cNvPr id="35" name="s13_rb0"/>
          <p:cNvSpPr/>
          <p:nvPr/>
        </p:nvSpPr>
        <p:spPr>
          <a:xfrm>
            <a:off x="6675120" y="2139696"/>
            <a:ext cx="109728" cy="109728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6" name="s13_rk0"/>
          <p:cNvSpPr/>
          <p:nvPr/>
        </p:nvSpPr>
        <p:spPr>
          <a:xfrm>
            <a:off x="6894576" y="1938528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CLAUDE CODE</a:t>
            </a:r>
            <a:endParaRPr lang="en-US" sz="950" dirty="0"/>
          </a:p>
        </p:txBody>
      </p:sp>
      <p:sp>
        <p:nvSpPr>
          <p:cNvPr id="37" name="s13_rc0_sh"/>
          <p:cNvSpPr/>
          <p:nvPr/>
        </p:nvSpPr>
        <p:spPr>
          <a:xfrm>
            <a:off x="8302752" y="2075688"/>
            <a:ext cx="826618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38" name="s13_rc0"/>
          <p:cNvSpPr/>
          <p:nvPr/>
        </p:nvSpPr>
        <p:spPr>
          <a:xfrm>
            <a:off x="8275320" y="2048256"/>
            <a:ext cx="826618" cy="287528"/>
          </a:xfrm>
          <a:prstGeom prst="rect">
            <a:avLst/>
          </a:prstGeom>
          <a:solidFill>
            <a:srgbClr val="E5F5EA"/>
          </a:solidFill>
          <a:ln w="15875">
            <a:solidFill>
              <a:srgbClr val="16A34A"/>
            </a:solidFill>
            <a:prstDash val="solid"/>
          </a:ln>
        </p:spPr>
      </p:sp>
      <p:sp>
        <p:nvSpPr>
          <p:cNvPr id="39" name="s13_rc0_t"/>
          <p:cNvSpPr/>
          <p:nvPr/>
        </p:nvSpPr>
        <p:spPr>
          <a:xfrm>
            <a:off x="8275320" y="2048256"/>
            <a:ext cx="826618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COPY-AS-IS</a:t>
            </a:r>
            <a:endParaRPr lang="en-US" sz="700" dirty="0"/>
          </a:p>
        </p:txBody>
      </p:sp>
      <p:sp>
        <p:nvSpPr>
          <p:cNvPr id="40" name="s13_rd0"/>
          <p:cNvSpPr/>
          <p:nvPr/>
        </p:nvSpPr>
        <p:spPr>
          <a:xfrm>
            <a:off x="9211666" y="2157984"/>
            <a:ext cx="68580" cy="68580"/>
          </a:xfrm>
          <a:prstGeom prst="rect">
            <a:avLst/>
          </a:prstGeom>
          <a:solidFill>
            <a:srgbClr val="C7CAD1"/>
          </a:solidFill>
          <a:ln/>
        </p:spPr>
      </p:sp>
      <p:sp>
        <p:nvSpPr>
          <p:cNvPr id="41" name="s13_rb1"/>
          <p:cNvSpPr/>
          <p:nvPr/>
        </p:nvSpPr>
        <p:spPr>
          <a:xfrm>
            <a:off x="6675120" y="2651760"/>
            <a:ext cx="109728" cy="109728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13_rk1"/>
          <p:cNvSpPr/>
          <p:nvPr/>
        </p:nvSpPr>
        <p:spPr>
          <a:xfrm>
            <a:off x="6894576" y="2450592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CODEX</a:t>
            </a:r>
            <a:endParaRPr lang="en-US" sz="950" dirty="0"/>
          </a:p>
        </p:txBody>
      </p:sp>
      <p:sp>
        <p:nvSpPr>
          <p:cNvPr id="43" name="s13_rc1_sh"/>
          <p:cNvSpPr/>
          <p:nvPr/>
        </p:nvSpPr>
        <p:spPr>
          <a:xfrm>
            <a:off x="8302752" y="2587752"/>
            <a:ext cx="767730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44" name="s13_rc1"/>
          <p:cNvSpPr/>
          <p:nvPr/>
        </p:nvSpPr>
        <p:spPr>
          <a:xfrm>
            <a:off x="8275320" y="2560320"/>
            <a:ext cx="767730" cy="287528"/>
          </a:xfrm>
          <a:prstGeom prst="rect">
            <a:avLst/>
          </a:prstGeom>
          <a:solidFill>
            <a:srgbClr val="E7EEFD"/>
          </a:solidFill>
          <a:ln w="15875">
            <a:solidFill>
              <a:srgbClr val="2F6FED"/>
            </a:solidFill>
            <a:prstDash val="solid"/>
          </a:ln>
        </p:spPr>
      </p:sp>
      <p:sp>
        <p:nvSpPr>
          <p:cNvPr id="45" name="s13_rc1_t"/>
          <p:cNvSpPr/>
          <p:nvPr/>
        </p:nvSpPr>
        <p:spPr>
          <a:xfrm>
            <a:off x="8275320" y="2560320"/>
            <a:ext cx="767730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TRANSLATE</a:t>
            </a:r>
            <a:endParaRPr lang="en-US" sz="700" dirty="0"/>
          </a:p>
        </p:txBody>
      </p:sp>
      <p:sp>
        <p:nvSpPr>
          <p:cNvPr id="46" name="s13_rd1"/>
          <p:cNvSpPr/>
          <p:nvPr/>
        </p:nvSpPr>
        <p:spPr>
          <a:xfrm>
            <a:off x="9152778" y="2670048"/>
            <a:ext cx="68580" cy="68580"/>
          </a:xfrm>
          <a:prstGeom prst="rect">
            <a:avLst/>
          </a:prstGeom>
          <a:solidFill>
            <a:srgbClr val="C7CAD1"/>
          </a:solidFill>
          <a:ln/>
        </p:spPr>
      </p:sp>
      <p:sp>
        <p:nvSpPr>
          <p:cNvPr id="47" name="s13_rb2"/>
          <p:cNvSpPr/>
          <p:nvPr/>
        </p:nvSpPr>
        <p:spPr>
          <a:xfrm>
            <a:off x="6675120" y="3163824"/>
            <a:ext cx="109728" cy="109728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48" name="s13_rk2"/>
          <p:cNvSpPr/>
          <p:nvPr/>
        </p:nvSpPr>
        <p:spPr>
          <a:xfrm>
            <a:off x="6894576" y="2962656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OPENCODE</a:t>
            </a:r>
            <a:endParaRPr lang="en-US" sz="950" dirty="0"/>
          </a:p>
        </p:txBody>
      </p:sp>
      <p:sp>
        <p:nvSpPr>
          <p:cNvPr id="49" name="s13_rc2_sh"/>
          <p:cNvSpPr/>
          <p:nvPr/>
        </p:nvSpPr>
        <p:spPr>
          <a:xfrm>
            <a:off x="8302752" y="3099816"/>
            <a:ext cx="767730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50" name="s13_rc2"/>
          <p:cNvSpPr/>
          <p:nvPr/>
        </p:nvSpPr>
        <p:spPr>
          <a:xfrm>
            <a:off x="8275320" y="3072384"/>
            <a:ext cx="767730" cy="287528"/>
          </a:xfrm>
          <a:prstGeom prst="rect">
            <a:avLst/>
          </a:prstGeom>
          <a:solidFill>
            <a:srgbClr val="E7EEFD"/>
          </a:solidFill>
          <a:ln w="15875">
            <a:solidFill>
              <a:srgbClr val="2F6FED"/>
            </a:solidFill>
            <a:prstDash val="solid"/>
          </a:ln>
        </p:spPr>
      </p:sp>
      <p:sp>
        <p:nvSpPr>
          <p:cNvPr id="51" name="s13_rc2_t"/>
          <p:cNvSpPr/>
          <p:nvPr/>
        </p:nvSpPr>
        <p:spPr>
          <a:xfrm>
            <a:off x="8275320" y="3072384"/>
            <a:ext cx="767730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TRANSLATE</a:t>
            </a:r>
            <a:endParaRPr lang="en-US" sz="700" dirty="0"/>
          </a:p>
        </p:txBody>
      </p:sp>
      <p:sp>
        <p:nvSpPr>
          <p:cNvPr id="52" name="s13_rd2"/>
          <p:cNvSpPr/>
          <p:nvPr/>
        </p:nvSpPr>
        <p:spPr>
          <a:xfrm>
            <a:off x="9152778" y="3182112"/>
            <a:ext cx="68580" cy="68580"/>
          </a:xfrm>
          <a:prstGeom prst="rect">
            <a:avLst/>
          </a:prstGeom>
          <a:solidFill>
            <a:srgbClr val="C7CAD1"/>
          </a:solidFill>
          <a:ln/>
        </p:spPr>
      </p:sp>
      <p:sp>
        <p:nvSpPr>
          <p:cNvPr id="53" name="s13_rb3"/>
          <p:cNvSpPr/>
          <p:nvPr/>
        </p:nvSpPr>
        <p:spPr>
          <a:xfrm>
            <a:off x="6675120" y="3675888"/>
            <a:ext cx="109728" cy="10972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4" name="s13_rk3"/>
          <p:cNvSpPr/>
          <p:nvPr/>
        </p:nvSpPr>
        <p:spPr>
          <a:xfrm>
            <a:off x="6894576" y="3474720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</a:t>
            </a:r>
            <a:endParaRPr lang="en-US" sz="950" dirty="0"/>
          </a:p>
        </p:txBody>
      </p:sp>
      <p:sp>
        <p:nvSpPr>
          <p:cNvPr id="55" name="s13_rc3_sh"/>
          <p:cNvSpPr/>
          <p:nvPr/>
        </p:nvSpPr>
        <p:spPr>
          <a:xfrm>
            <a:off x="8302752" y="3611880"/>
            <a:ext cx="826618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56" name="s13_rc3"/>
          <p:cNvSpPr/>
          <p:nvPr/>
        </p:nvSpPr>
        <p:spPr>
          <a:xfrm>
            <a:off x="8275320" y="3584448"/>
            <a:ext cx="826618" cy="287528"/>
          </a:xfrm>
          <a:prstGeom prst="rect">
            <a:avLst/>
          </a:prstGeom>
          <a:solidFill>
            <a:srgbClr val="EFEFEA"/>
          </a:solidFill>
          <a:ln w="15875">
            <a:solidFill>
              <a:srgbClr val="5C6068"/>
            </a:solidFill>
            <a:prstDash val="solid"/>
          </a:ln>
        </p:spPr>
      </p:sp>
      <p:sp>
        <p:nvSpPr>
          <p:cNvPr id="57" name="s13_rc3_t"/>
          <p:cNvSpPr/>
          <p:nvPr/>
        </p:nvSpPr>
        <p:spPr>
          <a:xfrm>
            <a:off x="8275320" y="3584448"/>
            <a:ext cx="826618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SURFACE</a:t>
            </a:r>
            <a:endParaRPr lang="en-US" sz="700" dirty="0"/>
          </a:p>
        </p:txBody>
      </p:sp>
      <p:sp>
        <p:nvSpPr>
          <p:cNvPr id="58" name="s13_rd3"/>
          <p:cNvSpPr/>
          <p:nvPr/>
        </p:nvSpPr>
        <p:spPr>
          <a:xfrm>
            <a:off x="9211666" y="3694176"/>
            <a:ext cx="68580" cy="68580"/>
          </a:xfrm>
          <a:prstGeom prst="rect">
            <a:avLst/>
          </a:prstGeom>
          <a:solidFill>
            <a:srgbClr val="C7CAD1"/>
          </a:solidFill>
          <a:ln/>
        </p:spPr>
      </p:sp>
      <p:sp>
        <p:nvSpPr>
          <p:cNvPr id="59" name="s13_rhr"/>
          <p:cNvSpPr/>
          <p:nvPr/>
        </p:nvSpPr>
        <p:spPr>
          <a:xfrm>
            <a:off x="6675120" y="3986784"/>
            <a:ext cx="475488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60" name="s13_rsum"/>
          <p:cNvSpPr/>
          <p:nvPr/>
        </p:nvSpPr>
        <p:spPr>
          <a:xfrm>
            <a:off x="6675120" y="4133088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Claude md is canonical; Codex + OpenCode translate frontmatter; Pi has no core surface (example extension only).</a:t>
            </a:r>
            <a:endParaRPr lang="en-US" sz="950" dirty="0"/>
          </a:p>
        </p:txBody>
      </p:sp>
      <p:sp>
        <p:nvSpPr>
          <p:cNvPr id="61" name="s13_au_sh"/>
          <p:cNvSpPr/>
          <p:nvPr/>
        </p:nvSpPr>
        <p:spPr>
          <a:xfrm>
            <a:off x="6451092" y="4777740"/>
            <a:ext cx="5285232" cy="155448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62" name="s13_au"/>
          <p:cNvSpPr/>
          <p:nvPr/>
        </p:nvSpPr>
        <p:spPr>
          <a:xfrm>
            <a:off x="6400800" y="4727448"/>
            <a:ext cx="5285232" cy="1554480"/>
          </a:xfrm>
          <a:prstGeom prst="rect">
            <a:avLst/>
          </a:prstGeom>
          <a:solidFill>
            <a:srgbClr val="EFEFEA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63" name="s13_ab"/>
          <p:cNvSpPr/>
          <p:nvPr/>
        </p:nvSpPr>
        <p:spPr>
          <a:xfrm>
            <a:off x="6675120" y="4873752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AUTO-UPDATE FOR THIS SURFACE</a:t>
            </a:r>
            <a:endParaRPr lang="en-US" sz="1000" dirty="0"/>
          </a:p>
        </p:txBody>
      </p:sp>
      <p:sp>
        <p:nvSpPr>
          <p:cNvPr id="64" name="s13_at"/>
          <p:cNvSpPr/>
          <p:nvPr/>
        </p:nvSpPr>
        <p:spPr>
          <a:xfrm>
            <a:off x="6675120" y="5157216"/>
            <a:ext cx="4754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Nothing self-updates: manual file edits; plugin-bundled agents ride plugin updates (Claude). Lockfile pins what nothing else versions.</a:t>
            </a:r>
            <a:endParaRPr lang="en-US" sz="1000" dirty="0"/>
          </a:p>
        </p:txBody>
      </p:sp>
      <p:sp>
        <p:nvSpPr>
          <p:cNvPr id="65" name="s13_sec_sh"/>
          <p:cNvSpPr/>
          <p:nvPr/>
        </p:nvSpPr>
        <p:spPr>
          <a:xfrm>
            <a:off x="553212" y="4777740"/>
            <a:ext cx="5669280" cy="155448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66" name="s13_sec"/>
          <p:cNvSpPr/>
          <p:nvPr/>
        </p:nvSpPr>
        <p:spPr>
          <a:xfrm>
            <a:off x="502920" y="4727448"/>
            <a:ext cx="5669280" cy="1554480"/>
          </a:xfrm>
          <a:prstGeom prst="rect">
            <a:avLst/>
          </a:prstGeom>
          <a:solidFill>
            <a:srgbClr val="E7EEFD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67" name="s13_secb"/>
          <p:cNvSpPr/>
          <p:nvPr/>
        </p:nvSpPr>
        <p:spPr>
          <a:xfrm>
            <a:off x="777240" y="487375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THIS SECTION</a:t>
            </a:r>
            <a:endParaRPr lang="en-US" sz="1000" dirty="0"/>
          </a:p>
        </p:txBody>
      </p:sp>
      <p:sp>
        <p:nvSpPr>
          <p:cNvPr id="68" name="s13_sc0_sh"/>
          <p:cNvSpPr/>
          <p:nvPr/>
        </p:nvSpPr>
        <p:spPr>
          <a:xfrm>
            <a:off x="804672" y="5221224"/>
            <a:ext cx="692018" cy="3383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69" name="s13_sc0"/>
          <p:cNvSpPr/>
          <p:nvPr/>
        </p:nvSpPr>
        <p:spPr>
          <a:xfrm>
            <a:off x="777240" y="5193792"/>
            <a:ext cx="692018" cy="338328"/>
          </a:xfrm>
          <a:prstGeom prst="rect">
            <a:avLst/>
          </a:prstGeom>
          <a:solidFill>
            <a:srgbClr val="2F6FED"/>
          </a:solidFill>
          <a:ln w="17780">
            <a:solidFill>
              <a:srgbClr val="2F6FED"/>
            </a:solidFill>
            <a:prstDash val="solid"/>
          </a:ln>
        </p:spPr>
      </p:sp>
      <p:sp>
        <p:nvSpPr>
          <p:cNvPr id="70" name="s13_sc0_t"/>
          <p:cNvSpPr/>
          <p:nvPr/>
        </p:nvSpPr>
        <p:spPr>
          <a:xfrm>
            <a:off x="777240" y="5193792"/>
            <a:ext cx="69201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BANNER</a:t>
            </a:r>
            <a:endParaRPr lang="en-US" sz="900" dirty="0"/>
          </a:p>
        </p:txBody>
      </p:sp>
      <p:sp>
        <p:nvSpPr>
          <p:cNvPr id="71" name="s13_sc1_sh"/>
          <p:cNvSpPr/>
          <p:nvPr/>
        </p:nvSpPr>
        <p:spPr>
          <a:xfrm>
            <a:off x="1606418" y="5221224"/>
            <a:ext cx="919155" cy="3383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72" name="s13_sc1"/>
          <p:cNvSpPr/>
          <p:nvPr/>
        </p:nvSpPr>
        <p:spPr>
          <a:xfrm>
            <a:off x="1578986" y="5193792"/>
            <a:ext cx="919155" cy="338328"/>
          </a:xfrm>
          <a:prstGeom prst="rect">
            <a:avLst/>
          </a:prstGeom>
          <a:solidFill>
            <a:srgbClr val="FFFFFF"/>
          </a:solidFill>
          <a:ln w="17780">
            <a:solidFill>
              <a:srgbClr val="1B1D22"/>
            </a:solidFill>
            <a:prstDash val="solid"/>
          </a:ln>
        </p:spPr>
      </p:sp>
      <p:sp>
        <p:nvSpPr>
          <p:cNvPr id="73" name="s13_sc1_t"/>
          <p:cNvSpPr/>
          <p:nvPr/>
        </p:nvSpPr>
        <p:spPr>
          <a:xfrm>
            <a:off x="1578986" y="5193792"/>
            <a:ext cx="919155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STANDARDS</a:t>
            </a:r>
            <a:endParaRPr lang="en-US" sz="900" dirty="0"/>
          </a:p>
        </p:txBody>
      </p:sp>
      <p:sp>
        <p:nvSpPr>
          <p:cNvPr id="74" name="s13_sc2_sh"/>
          <p:cNvSpPr/>
          <p:nvPr/>
        </p:nvSpPr>
        <p:spPr>
          <a:xfrm>
            <a:off x="2635301" y="5221224"/>
            <a:ext cx="1297716" cy="3383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75" name="s13_sc2"/>
          <p:cNvSpPr/>
          <p:nvPr/>
        </p:nvSpPr>
        <p:spPr>
          <a:xfrm>
            <a:off x="2607869" y="5193792"/>
            <a:ext cx="1297716" cy="338328"/>
          </a:xfrm>
          <a:prstGeom prst="rect">
            <a:avLst/>
          </a:prstGeom>
          <a:solidFill>
            <a:srgbClr val="FFFFFF"/>
          </a:solidFill>
          <a:ln w="17780">
            <a:solidFill>
              <a:srgbClr val="1B1D22"/>
            </a:solidFill>
            <a:prstDash val="solid"/>
          </a:ln>
        </p:spPr>
      </p:sp>
      <p:sp>
        <p:nvSpPr>
          <p:cNvPr id="76" name="s13_sc2_t"/>
          <p:cNvSpPr/>
          <p:nvPr/>
        </p:nvSpPr>
        <p:spPr>
          <a:xfrm>
            <a:off x="2607869" y="5193792"/>
            <a:ext cx="129771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CLAUDE + CODEX</a:t>
            </a:r>
            <a:endParaRPr lang="en-US" sz="900" dirty="0"/>
          </a:p>
        </p:txBody>
      </p:sp>
      <p:sp>
        <p:nvSpPr>
          <p:cNvPr id="77" name="s13_sc3_sh"/>
          <p:cNvSpPr/>
          <p:nvPr/>
        </p:nvSpPr>
        <p:spPr>
          <a:xfrm>
            <a:off x="4042745" y="5221224"/>
            <a:ext cx="1222004" cy="3383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78" name="s13_sc3"/>
          <p:cNvSpPr/>
          <p:nvPr/>
        </p:nvSpPr>
        <p:spPr>
          <a:xfrm>
            <a:off x="4015313" y="5193792"/>
            <a:ext cx="1222004" cy="338328"/>
          </a:xfrm>
          <a:prstGeom prst="rect">
            <a:avLst/>
          </a:prstGeom>
          <a:solidFill>
            <a:srgbClr val="FFFFFF"/>
          </a:solidFill>
          <a:ln w="17780">
            <a:solidFill>
              <a:srgbClr val="1B1D22"/>
            </a:solidFill>
            <a:prstDash val="solid"/>
          </a:ln>
        </p:spPr>
      </p:sp>
      <p:sp>
        <p:nvSpPr>
          <p:cNvPr id="79" name="s13_sc3_t"/>
          <p:cNvSpPr/>
          <p:nvPr/>
        </p:nvSpPr>
        <p:spPr>
          <a:xfrm>
            <a:off x="4015313" y="5193792"/>
            <a:ext cx="122200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OPENCODE + PI</a:t>
            </a:r>
            <a:endParaRPr lang="en-US" sz="900" dirty="0"/>
          </a:p>
        </p:txBody>
      </p:sp>
      <p:sp>
        <p:nvSpPr>
          <p:cNvPr id="80" name="s13_sect"/>
          <p:cNvSpPr/>
          <p:nvPr/>
        </p:nvSpPr>
        <p:spPr>
          <a:xfrm>
            <a:off x="777240" y="5779008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 slides per surface — spec state, then the harnesses in two pairs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14_vx_v1"/>
          <p:cNvSpPr/>
          <p:nvPr/>
        </p:nvSpPr>
        <p:spPr>
          <a:xfrm>
            <a:off x="11137392" y="384048"/>
            <a:ext cx="128016" cy="12801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" name="s14_vx_v2"/>
          <p:cNvSpPr/>
          <p:nvPr/>
        </p:nvSpPr>
        <p:spPr>
          <a:xfrm>
            <a:off x="11292840" y="384048"/>
            <a:ext cx="128016" cy="12801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" name="s14_vx_v3"/>
          <p:cNvSpPr/>
          <p:nvPr/>
        </p:nvSpPr>
        <p:spPr>
          <a:xfrm>
            <a:off x="11137392" y="539496"/>
            <a:ext cx="128016" cy="128016"/>
          </a:xfrm>
          <a:prstGeom prst="rect">
            <a:avLst/>
          </a:prstGeom>
          <a:solidFill>
            <a:srgbClr val="D97706"/>
          </a:solidFill>
          <a:ln/>
        </p:spPr>
      </p:sp>
      <p:pic>
        <p:nvPicPr>
          <p:cNvPr id="5" name="s14_kick" descr="assets/sks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02336"/>
            <a:ext cx="4049486" cy="182880"/>
          </a:xfrm>
          <a:prstGeom prst="rect">
            <a:avLst/>
          </a:prstGeom>
        </p:spPr>
      </p:pic>
      <p:pic>
        <p:nvPicPr>
          <p:cNvPr id="6" name="s14_title" descr="assets/st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58368"/>
            <a:ext cx="8083296" cy="475488"/>
          </a:xfrm>
          <a:prstGeom prst="rect">
            <a:avLst/>
          </a:prstGeom>
        </p:spPr>
      </p:pic>
      <p:sp>
        <p:nvSpPr>
          <p:cNvPr id="7" name="s14_spec"/>
          <p:cNvSpPr/>
          <p:nvPr/>
        </p:nvSpPr>
        <p:spPr>
          <a:xfrm>
            <a:off x="502920" y="1216152"/>
            <a:ext cx="10469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subagents specification state — fields, rules, how the four diverge, and what the registry does about it</a:t>
            </a:r>
            <a:endParaRPr lang="en-US" sz="1100" dirty="0"/>
          </a:p>
        </p:txBody>
      </p:sp>
      <p:sp>
        <p:nvSpPr>
          <p:cNvPr id="8" name="s14_pg"/>
          <p:cNvSpPr/>
          <p:nvPr/>
        </p:nvSpPr>
        <p:spPr>
          <a:xfrm>
            <a:off x="11064240" y="648309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/ 45</a:t>
            </a:r>
            <a:endParaRPr lang="en-US" sz="950" dirty="0"/>
          </a:p>
        </p:txBody>
      </p:sp>
      <p:sp>
        <p:nvSpPr>
          <p:cNvPr id="10" name="s14_f_sh"/>
          <p:cNvSpPr/>
          <p:nvPr/>
        </p:nvSpPr>
        <p:spPr>
          <a:xfrm>
            <a:off x="553212" y="1531620"/>
            <a:ext cx="5669280" cy="416052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1" name="s14_f"/>
          <p:cNvSpPr/>
          <p:nvPr/>
        </p:nvSpPr>
        <p:spPr>
          <a:xfrm>
            <a:off x="502920" y="1481328"/>
            <a:ext cx="5669280" cy="416052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12" name="s14_fb"/>
          <p:cNvSpPr/>
          <p:nvPr/>
        </p:nvSpPr>
        <p:spPr>
          <a:xfrm>
            <a:off x="777240" y="162763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FIELDS</a:t>
            </a:r>
            <a:endParaRPr lang="en-US" sz="1050" dirty="0"/>
          </a:p>
        </p:txBody>
      </p:sp>
      <p:sp>
        <p:nvSpPr>
          <p:cNvPr id="13" name="s14_fk0"/>
          <p:cNvSpPr/>
          <p:nvPr/>
        </p:nvSpPr>
        <p:spPr>
          <a:xfrm>
            <a:off x="777240" y="1920240"/>
            <a:ext cx="14173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900" dirty="0"/>
          </a:p>
        </p:txBody>
      </p:sp>
      <p:sp>
        <p:nvSpPr>
          <p:cNvPr id="14" name="s14_fv0"/>
          <p:cNvSpPr/>
          <p:nvPr/>
        </p:nvSpPr>
        <p:spPr>
          <a:xfrm>
            <a:off x="2240280" y="1920240"/>
            <a:ext cx="365760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 (de-facto); ≤256 chars; no colons</a:t>
            </a:r>
            <a:endParaRPr lang="en-US" sz="850" dirty="0"/>
          </a:p>
        </p:txBody>
      </p:sp>
      <p:sp>
        <p:nvSpPr>
          <p:cNvPr id="15" name="s14_fhr0"/>
          <p:cNvSpPr/>
          <p:nvPr/>
        </p:nvSpPr>
        <p:spPr>
          <a:xfrm>
            <a:off x="777240" y="2272284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16" name="s14_fk1"/>
          <p:cNvSpPr/>
          <p:nvPr/>
        </p:nvSpPr>
        <p:spPr>
          <a:xfrm>
            <a:off x="777240" y="2272284"/>
            <a:ext cx="14173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</a:t>
            </a:r>
            <a:endParaRPr lang="en-US" sz="900" dirty="0"/>
          </a:p>
        </p:txBody>
      </p:sp>
      <p:sp>
        <p:nvSpPr>
          <p:cNvPr id="17" name="s14_fv1"/>
          <p:cNvSpPr/>
          <p:nvPr/>
        </p:nvSpPr>
        <p:spPr>
          <a:xfrm>
            <a:off x="2240280" y="2272284"/>
            <a:ext cx="365760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req; delegation trigger — no whenToUse field</a:t>
            </a:r>
            <a:endParaRPr lang="en-US" sz="850" dirty="0"/>
          </a:p>
        </p:txBody>
      </p:sp>
      <p:sp>
        <p:nvSpPr>
          <p:cNvPr id="18" name="s14_fhr1"/>
          <p:cNvSpPr/>
          <p:nvPr/>
        </p:nvSpPr>
        <p:spPr>
          <a:xfrm>
            <a:off x="777240" y="2624328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19" name="s14_fk2"/>
          <p:cNvSpPr/>
          <p:nvPr/>
        </p:nvSpPr>
        <p:spPr>
          <a:xfrm>
            <a:off x="777240" y="2624328"/>
            <a:ext cx="14173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</a:t>
            </a:r>
            <a:endParaRPr lang="en-US" sz="900" dirty="0"/>
          </a:p>
        </p:txBody>
      </p:sp>
      <p:sp>
        <p:nvSpPr>
          <p:cNvPr id="20" name="s14_fv2"/>
          <p:cNvSpPr/>
          <p:nvPr/>
        </p:nvSpPr>
        <p:spPr>
          <a:xfrm>
            <a:off x="2240280" y="2624328"/>
            <a:ext cx="365760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opt; allowlist; supports mcp__github__*</a:t>
            </a:r>
            <a:endParaRPr lang="en-US" sz="850" dirty="0"/>
          </a:p>
        </p:txBody>
      </p:sp>
      <p:sp>
        <p:nvSpPr>
          <p:cNvPr id="21" name="s14_fhr2"/>
          <p:cNvSpPr/>
          <p:nvPr/>
        </p:nvSpPr>
        <p:spPr>
          <a:xfrm>
            <a:off x="777240" y="2976372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2" name="s14_fk3"/>
          <p:cNvSpPr/>
          <p:nvPr/>
        </p:nvSpPr>
        <p:spPr>
          <a:xfrm>
            <a:off x="777240" y="2976372"/>
            <a:ext cx="14173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</a:t>
            </a:r>
            <a:endParaRPr lang="en-US" sz="900" dirty="0"/>
          </a:p>
        </p:txBody>
      </p:sp>
      <p:sp>
        <p:nvSpPr>
          <p:cNvPr id="23" name="s14_fv3"/>
          <p:cNvSpPr/>
          <p:nvPr/>
        </p:nvSpPr>
        <p:spPr>
          <a:xfrm>
            <a:off x="2240280" y="2976372"/>
            <a:ext cx="365760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opt; sonnet|opus|haiku|&lt;id&gt;|inherit</a:t>
            </a:r>
            <a:endParaRPr lang="en-US" sz="850" dirty="0"/>
          </a:p>
        </p:txBody>
      </p:sp>
      <p:sp>
        <p:nvSpPr>
          <p:cNvPr id="24" name="s14_fhr3"/>
          <p:cNvSpPr/>
          <p:nvPr/>
        </p:nvSpPr>
        <p:spPr>
          <a:xfrm>
            <a:off x="777240" y="3328416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5" name="s14_fk4"/>
          <p:cNvSpPr/>
          <p:nvPr/>
        </p:nvSpPr>
        <p:spPr>
          <a:xfrm>
            <a:off x="777240" y="3328416"/>
            <a:ext cx="14173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skills</a:t>
            </a:r>
            <a:endParaRPr lang="en-US" sz="900" dirty="0"/>
          </a:p>
        </p:txBody>
      </p:sp>
      <p:sp>
        <p:nvSpPr>
          <p:cNvPr id="26" name="s14_fv4"/>
          <p:cNvSpPr/>
          <p:nvPr/>
        </p:nvSpPr>
        <p:spPr>
          <a:xfrm>
            <a:off x="2240280" y="3328416"/>
            <a:ext cx="365760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opt; preload ≤32 skill bodies</a:t>
            </a:r>
            <a:endParaRPr lang="en-US" sz="850" dirty="0"/>
          </a:p>
        </p:txBody>
      </p:sp>
      <p:sp>
        <p:nvSpPr>
          <p:cNvPr id="27" name="s14_fhr4"/>
          <p:cNvSpPr/>
          <p:nvPr/>
        </p:nvSpPr>
        <p:spPr>
          <a:xfrm>
            <a:off x="777240" y="3680460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8" name="s14_fk5"/>
          <p:cNvSpPr/>
          <p:nvPr/>
        </p:nvSpPr>
        <p:spPr>
          <a:xfrm>
            <a:off x="777240" y="3680460"/>
            <a:ext cx="14173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mcpServers</a:t>
            </a:r>
            <a:endParaRPr lang="en-US" sz="900" dirty="0"/>
          </a:p>
        </p:txBody>
      </p:sp>
      <p:sp>
        <p:nvSpPr>
          <p:cNvPr id="29" name="s14_fv5"/>
          <p:cNvSpPr/>
          <p:nvPr/>
        </p:nvSpPr>
        <p:spPr>
          <a:xfrm>
            <a:off x="2240280" y="3680460"/>
            <a:ext cx="365760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opt; per-agent MCP server set</a:t>
            </a:r>
            <a:endParaRPr lang="en-US" sz="850" dirty="0"/>
          </a:p>
        </p:txBody>
      </p:sp>
      <p:sp>
        <p:nvSpPr>
          <p:cNvPr id="30" name="s14_rb"/>
          <p:cNvSpPr/>
          <p:nvPr/>
        </p:nvSpPr>
        <p:spPr>
          <a:xfrm>
            <a:off x="777240" y="4114800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 RULES</a:t>
            </a:r>
            <a:endParaRPr lang="en-US" sz="900" dirty="0"/>
          </a:p>
        </p:txBody>
      </p:sp>
      <p:sp>
        <p:nvSpPr>
          <p:cNvPr id="31" name="s14_rb0"/>
          <p:cNvSpPr/>
          <p:nvPr/>
        </p:nvSpPr>
        <p:spPr>
          <a:xfrm>
            <a:off x="777240" y="4425696"/>
            <a:ext cx="82296" cy="8229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2" name="s14_rt0"/>
          <p:cNvSpPr/>
          <p:nvPr/>
        </p:nvSpPr>
        <p:spPr>
          <a:xfrm>
            <a:off x="941832" y="4379976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Fields below are Claude's de-facto shape — no spec exists</a:t>
            </a:r>
            <a:endParaRPr lang="en-US" sz="900" dirty="0"/>
          </a:p>
        </p:txBody>
      </p:sp>
      <p:sp>
        <p:nvSpPr>
          <p:cNvPr id="33" name="s14_rb1"/>
          <p:cNvSpPr/>
          <p:nvPr/>
        </p:nvSpPr>
        <p:spPr>
          <a:xfrm>
            <a:off x="777240" y="4727448"/>
            <a:ext cx="82296" cy="8229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4" name="s14_rt1"/>
          <p:cNvSpPr/>
          <p:nvPr/>
        </p:nvSpPr>
        <p:spPr>
          <a:xfrm>
            <a:off x="941832" y="4681728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Body of the md file is the system prompt</a:t>
            </a:r>
            <a:endParaRPr lang="en-US" sz="900" dirty="0"/>
          </a:p>
        </p:txBody>
      </p:sp>
      <p:sp>
        <p:nvSpPr>
          <p:cNvPr id="35" name="s14_rb2"/>
          <p:cNvSpPr/>
          <p:nvPr/>
        </p:nvSpPr>
        <p:spPr>
          <a:xfrm>
            <a:off x="777240" y="5029200"/>
            <a:ext cx="82296" cy="8229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6" name="s14_rt2"/>
          <p:cNvSpPr/>
          <p:nvPr/>
        </p:nvSpPr>
        <p:spPr>
          <a:xfrm>
            <a:off x="941832" y="4983480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Codex: TOML requires developer_instructions — generate it</a:t>
            </a:r>
            <a:endParaRPr lang="en-US" sz="900" dirty="0"/>
          </a:p>
        </p:txBody>
      </p:sp>
      <p:sp>
        <p:nvSpPr>
          <p:cNvPr id="37" name="s14_rb3"/>
          <p:cNvSpPr/>
          <p:nvPr/>
        </p:nvSpPr>
        <p:spPr>
          <a:xfrm>
            <a:off x="777240" y="5330952"/>
            <a:ext cx="82296" cy="8229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8" name="s14_rt3"/>
          <p:cNvSpPr/>
          <p:nvPr/>
        </p:nvSpPr>
        <p:spPr>
          <a:xfrm>
            <a:off x="941832" y="5285232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Pi: example extension only; mark unsupported</a:t>
            </a:r>
            <a:endParaRPr lang="en-US" sz="900" dirty="0"/>
          </a:p>
        </p:txBody>
      </p:sp>
      <p:sp>
        <p:nvSpPr>
          <p:cNvPr id="39" name="s14_h_sh"/>
          <p:cNvSpPr/>
          <p:nvPr/>
        </p:nvSpPr>
        <p:spPr>
          <a:xfrm>
            <a:off x="6451092" y="1531620"/>
            <a:ext cx="5285232" cy="288036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40" name="s14_h"/>
          <p:cNvSpPr/>
          <p:nvPr/>
        </p:nvSpPr>
        <p:spPr>
          <a:xfrm>
            <a:off x="6400800" y="1481328"/>
            <a:ext cx="5285232" cy="288036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41" name="s14_hb"/>
          <p:cNvSpPr/>
          <p:nvPr/>
        </p:nvSpPr>
        <p:spPr>
          <a:xfrm>
            <a:off x="6675120" y="1627632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THE FOUR IMPLEMENT IT</a:t>
            </a:r>
            <a:endParaRPr lang="en-US" sz="1050" dirty="0"/>
          </a:p>
        </p:txBody>
      </p:sp>
      <p:sp>
        <p:nvSpPr>
          <p:cNvPr id="42" name="s14_hb0"/>
          <p:cNvSpPr/>
          <p:nvPr/>
        </p:nvSpPr>
        <p:spPr>
          <a:xfrm>
            <a:off x="6675120" y="2157984"/>
            <a:ext cx="109728" cy="109728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43" name="s14_hk0"/>
          <p:cNvSpPr/>
          <p:nvPr/>
        </p:nvSpPr>
        <p:spPr>
          <a:xfrm>
            <a:off x="6894576" y="1938528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CLAUDE CODE</a:t>
            </a:r>
            <a:endParaRPr lang="en-US" sz="1000" dirty="0"/>
          </a:p>
        </p:txBody>
      </p:sp>
      <p:sp>
        <p:nvSpPr>
          <p:cNvPr id="44" name="s14_hv0"/>
          <p:cNvSpPr/>
          <p:nvPr/>
        </p:nvSpPr>
        <p:spPr>
          <a:xfrm>
            <a:off x="8275320" y="1938528"/>
            <a:ext cx="3154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.claude/agents/*.md — the canonical shape</a:t>
            </a:r>
            <a:endParaRPr lang="en-US" sz="900" dirty="0"/>
          </a:p>
        </p:txBody>
      </p:sp>
      <p:sp>
        <p:nvSpPr>
          <p:cNvPr id="45" name="s14_hhr0"/>
          <p:cNvSpPr/>
          <p:nvPr/>
        </p:nvSpPr>
        <p:spPr>
          <a:xfrm>
            <a:off x="6675120" y="2505456"/>
            <a:ext cx="475488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46" name="s14_hb1"/>
          <p:cNvSpPr/>
          <p:nvPr/>
        </p:nvSpPr>
        <p:spPr>
          <a:xfrm>
            <a:off x="6675120" y="2734056"/>
            <a:ext cx="109728" cy="109728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7" name="s14_hk1"/>
          <p:cNvSpPr/>
          <p:nvPr/>
        </p:nvSpPr>
        <p:spPr>
          <a:xfrm>
            <a:off x="6894576" y="2514600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CODEX</a:t>
            </a:r>
            <a:endParaRPr lang="en-US" sz="1000" dirty="0"/>
          </a:p>
        </p:txBody>
      </p:sp>
      <p:sp>
        <p:nvSpPr>
          <p:cNvPr id="48" name="s14_hv1"/>
          <p:cNvSpPr/>
          <p:nvPr/>
        </p:nvSpPr>
        <p:spPr>
          <a:xfrm>
            <a:off x="8275320" y="2514600"/>
            <a:ext cx="3154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.codex/agents/*.toml; 3 fields required</a:t>
            </a:r>
            <a:endParaRPr lang="en-US" sz="900" dirty="0"/>
          </a:p>
        </p:txBody>
      </p:sp>
      <p:sp>
        <p:nvSpPr>
          <p:cNvPr id="49" name="s14_hhr1"/>
          <p:cNvSpPr/>
          <p:nvPr/>
        </p:nvSpPr>
        <p:spPr>
          <a:xfrm>
            <a:off x="6675120" y="3081528"/>
            <a:ext cx="475488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50" name="s14_hb2"/>
          <p:cNvSpPr/>
          <p:nvPr/>
        </p:nvSpPr>
        <p:spPr>
          <a:xfrm>
            <a:off x="6675120" y="3310128"/>
            <a:ext cx="109728" cy="109728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51" name="s14_hk2"/>
          <p:cNvSpPr/>
          <p:nvPr/>
        </p:nvSpPr>
        <p:spPr>
          <a:xfrm>
            <a:off x="6894576" y="3090672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OPENCODE</a:t>
            </a:r>
            <a:endParaRPr lang="en-US" sz="1000" dirty="0"/>
          </a:p>
        </p:txBody>
      </p:sp>
      <p:sp>
        <p:nvSpPr>
          <p:cNvPr id="52" name="s14_hv2"/>
          <p:cNvSpPr/>
          <p:nvPr/>
        </p:nvSpPr>
        <p:spPr>
          <a:xfrm>
            <a:off x="8275320" y="3090672"/>
            <a:ext cx="3154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 dialect: mode + permissions (desc req)</a:t>
            </a:r>
            <a:endParaRPr lang="en-US" sz="900" dirty="0"/>
          </a:p>
        </p:txBody>
      </p:sp>
      <p:sp>
        <p:nvSpPr>
          <p:cNvPr id="53" name="s14_hhr2"/>
          <p:cNvSpPr/>
          <p:nvPr/>
        </p:nvSpPr>
        <p:spPr>
          <a:xfrm>
            <a:off x="6675120" y="3657600"/>
            <a:ext cx="475488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54" name="s14_hb3"/>
          <p:cNvSpPr/>
          <p:nvPr/>
        </p:nvSpPr>
        <p:spPr>
          <a:xfrm>
            <a:off x="6675120" y="3886200"/>
            <a:ext cx="109728" cy="10972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5" name="s14_hk3"/>
          <p:cNvSpPr/>
          <p:nvPr/>
        </p:nvSpPr>
        <p:spPr>
          <a:xfrm>
            <a:off x="6894576" y="3666744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</a:t>
            </a:r>
            <a:endParaRPr lang="en-US" sz="1000" dirty="0"/>
          </a:p>
        </p:txBody>
      </p:sp>
      <p:sp>
        <p:nvSpPr>
          <p:cNvPr id="56" name="s14_hv3"/>
          <p:cNvSpPr/>
          <p:nvPr/>
        </p:nvSpPr>
        <p:spPr>
          <a:xfrm>
            <a:off x="8275320" y="3666744"/>
            <a:ext cx="3154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Example ext only; mirrors Claude shape</a:t>
            </a:r>
            <a:endParaRPr lang="en-US" sz="900" dirty="0"/>
          </a:p>
        </p:txBody>
      </p:sp>
      <p:sp>
        <p:nvSpPr>
          <p:cNvPr id="57" name="s14_st_sh"/>
          <p:cNvSpPr/>
          <p:nvPr/>
        </p:nvSpPr>
        <p:spPr>
          <a:xfrm>
            <a:off x="6451092" y="4549140"/>
            <a:ext cx="5285232" cy="114300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58" name="s14_st"/>
          <p:cNvSpPr/>
          <p:nvPr/>
        </p:nvSpPr>
        <p:spPr>
          <a:xfrm>
            <a:off x="6400800" y="4498848"/>
            <a:ext cx="5285232" cy="1143000"/>
          </a:xfrm>
          <a:prstGeom prst="rect">
            <a:avLst/>
          </a:prstGeom>
          <a:solidFill>
            <a:srgbClr val="1B1D22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59" name="s14_sb"/>
          <p:cNvSpPr/>
          <p:nvPr/>
        </p:nvSpPr>
        <p:spPr>
          <a:xfrm>
            <a:off x="6675120" y="46268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7CB0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REGISTRY STANCE</a:t>
            </a:r>
            <a:endParaRPr lang="en-US" sz="900" dirty="0"/>
          </a:p>
        </p:txBody>
      </p:sp>
      <p:sp>
        <p:nvSpPr>
          <p:cNvPr id="60" name="s14_stt"/>
          <p:cNvSpPr/>
          <p:nvPr/>
        </p:nvSpPr>
        <p:spPr>
          <a:xfrm>
            <a:off x="6675120" y="4882896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Model on the claude md shape; translate to codex TOML; mark pi unsupported</a:t>
            </a:r>
            <a:endParaRPr lang="en-US" sz="1100" dirty="0"/>
          </a:p>
        </p:txBody>
      </p:sp>
      <p:sp>
        <p:nvSpPr>
          <p:cNvPr id="61" name="s14_g_sh"/>
          <p:cNvSpPr/>
          <p:nvPr/>
        </p:nvSpPr>
        <p:spPr>
          <a:xfrm>
            <a:off x="553212" y="5829300"/>
            <a:ext cx="11183112" cy="65836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62" name="s14_g"/>
          <p:cNvSpPr/>
          <p:nvPr/>
        </p:nvSpPr>
        <p:spPr>
          <a:xfrm>
            <a:off x="502920" y="5779008"/>
            <a:ext cx="11183112" cy="658368"/>
          </a:xfrm>
          <a:prstGeom prst="rect">
            <a:avLst/>
          </a:prstGeom>
          <a:solidFill>
            <a:srgbClr val="EFEFEA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63" name="s14_gt"/>
          <p:cNvSpPr/>
          <p:nvPr/>
        </p:nvSpPr>
        <p:spPr>
          <a:xfrm>
            <a:off x="777240" y="5852160"/>
            <a:ext cx="10607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GAPS THE REGISTRY OWNS — No spec, no shared fields, no versioning at all  ·  Each harness needs its own emitter transform  ·  Pi users must install the example extension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15_vx_v1"/>
          <p:cNvSpPr/>
          <p:nvPr/>
        </p:nvSpPr>
        <p:spPr>
          <a:xfrm>
            <a:off x="11137392" y="384048"/>
            <a:ext cx="128016" cy="12801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" name="s15_vx_v2"/>
          <p:cNvSpPr/>
          <p:nvPr/>
        </p:nvSpPr>
        <p:spPr>
          <a:xfrm>
            <a:off x="11292840" y="384048"/>
            <a:ext cx="128016" cy="12801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" name="s15_vx_v3"/>
          <p:cNvSpPr/>
          <p:nvPr/>
        </p:nvSpPr>
        <p:spPr>
          <a:xfrm>
            <a:off x="11137392" y="539496"/>
            <a:ext cx="128016" cy="128016"/>
          </a:xfrm>
          <a:prstGeom prst="rect">
            <a:avLst/>
          </a:prstGeom>
          <a:solidFill>
            <a:srgbClr val="D97706"/>
          </a:solidFill>
          <a:ln/>
        </p:spPr>
      </p:sp>
      <p:pic>
        <p:nvPicPr>
          <p:cNvPr id="5" name="s15_kick" descr="assets/skc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02336"/>
            <a:ext cx="5617029" cy="182880"/>
          </a:xfrm>
          <a:prstGeom prst="rect">
            <a:avLst/>
          </a:prstGeom>
        </p:spPr>
      </p:pic>
      <p:pic>
        <p:nvPicPr>
          <p:cNvPr id="6" name="s15_title" descr="assets/srf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58368"/>
            <a:ext cx="3600123" cy="475488"/>
          </a:xfrm>
          <a:prstGeom prst="rect">
            <a:avLst/>
          </a:prstGeom>
        </p:spPr>
      </p:pic>
      <p:sp>
        <p:nvSpPr>
          <p:cNvPr id="7" name="s15_spec"/>
          <p:cNvSpPr/>
          <p:nvPr/>
        </p:nvSpPr>
        <p:spPr>
          <a:xfrm>
            <a:off x="502920" y="1216152"/>
            <a:ext cx="10469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SUBAGENTS in claude code + codex — the two most popular first</a:t>
            </a:r>
            <a:endParaRPr lang="en-US" sz="1100" dirty="0"/>
          </a:p>
        </p:txBody>
      </p:sp>
      <p:sp>
        <p:nvSpPr>
          <p:cNvPr id="8" name="s15_pg"/>
          <p:cNvSpPr/>
          <p:nvPr/>
        </p:nvSpPr>
        <p:spPr>
          <a:xfrm>
            <a:off x="11064240" y="648309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/ 45</a:t>
            </a:r>
            <a:endParaRPr lang="en-US" sz="950" dirty="0"/>
          </a:p>
        </p:txBody>
      </p:sp>
      <p:sp>
        <p:nvSpPr>
          <p:cNvPr id="10" name="s15_c0_sh"/>
          <p:cNvSpPr/>
          <p:nvPr/>
        </p:nvSpPr>
        <p:spPr>
          <a:xfrm>
            <a:off x="553212" y="1531620"/>
            <a:ext cx="5477256" cy="489204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1" name="s15_c0"/>
          <p:cNvSpPr/>
          <p:nvPr/>
        </p:nvSpPr>
        <p:spPr>
          <a:xfrm>
            <a:off x="502920" y="1481328"/>
            <a:ext cx="5477256" cy="489204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12" name="s15_c0_sq"/>
          <p:cNvSpPr/>
          <p:nvPr/>
        </p:nvSpPr>
        <p:spPr>
          <a:xfrm>
            <a:off x="731520" y="1673352"/>
            <a:ext cx="137160" cy="13716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3" name="s15_c0_topic"/>
          <p:cNvSpPr/>
          <p:nvPr/>
        </p:nvSpPr>
        <p:spPr>
          <a:xfrm>
            <a:off x="960120" y="1609344"/>
            <a:ext cx="37965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50" kern="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SUBAGENTS</a:t>
            </a:r>
            <a:endParaRPr lang="en-US" sz="1300" dirty="0"/>
          </a:p>
        </p:txBody>
      </p:sp>
      <p:sp>
        <p:nvSpPr>
          <p:cNvPr id="14" name="s15_c0_vc_sh"/>
          <p:cNvSpPr/>
          <p:nvPr/>
        </p:nvSpPr>
        <p:spPr>
          <a:xfrm>
            <a:off x="4811573" y="1636776"/>
            <a:ext cx="994867" cy="3383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5" name="s15_c0_vc"/>
          <p:cNvSpPr/>
          <p:nvPr/>
        </p:nvSpPr>
        <p:spPr>
          <a:xfrm>
            <a:off x="4784141" y="1609344"/>
            <a:ext cx="994867" cy="338328"/>
          </a:xfrm>
          <a:prstGeom prst="rect">
            <a:avLst/>
          </a:prstGeom>
          <a:solidFill>
            <a:srgbClr val="E5F5EA"/>
          </a:solidFill>
          <a:ln w="15875">
            <a:solidFill>
              <a:srgbClr val="16A34A"/>
            </a:solidFill>
            <a:prstDash val="solid"/>
          </a:ln>
        </p:spPr>
      </p:sp>
      <p:sp>
        <p:nvSpPr>
          <p:cNvPr id="16" name="s15_c0_vc_t"/>
          <p:cNvSpPr/>
          <p:nvPr/>
        </p:nvSpPr>
        <p:spPr>
          <a:xfrm>
            <a:off x="4784141" y="1609344"/>
            <a:ext cx="99486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COPY-AS-IS</a:t>
            </a:r>
            <a:endParaRPr lang="en-US" sz="900" dirty="0"/>
          </a:p>
        </p:txBody>
      </p:sp>
      <p:sp>
        <p:nvSpPr>
          <p:cNvPr id="17" name="s15_c0_why"/>
          <p:cNvSpPr/>
          <p:nvPr/>
        </p:nvSpPr>
        <p:spPr>
          <a:xfrm>
            <a:off x="731520" y="2011680"/>
            <a:ext cx="5020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i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canonical shape; other harnesses must translate</a:t>
            </a:r>
            <a:endParaRPr lang="en-US" sz="850" dirty="0"/>
          </a:p>
        </p:txBody>
      </p:sp>
      <p:sp>
        <p:nvSpPr>
          <p:cNvPr id="18" name="s15_c0_what"/>
          <p:cNvSpPr/>
          <p:nvPr/>
        </p:nvSpPr>
        <p:spPr>
          <a:xfrm>
            <a:off x="731520" y="2340864"/>
            <a:ext cx="5020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Markdown-defined helper agents with their own prompt &amp; tool scope</a:t>
            </a:r>
            <a:endParaRPr lang="en-US" sz="1050" dirty="0"/>
          </a:p>
        </p:txBody>
      </p:sp>
      <p:sp>
        <p:nvSpPr>
          <p:cNvPr id="19" name="s15_c0_hr1"/>
          <p:cNvSpPr/>
          <p:nvPr/>
        </p:nvSpPr>
        <p:spPr>
          <a:xfrm>
            <a:off x="731520" y="2798064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0" name="s15_c0_k0"/>
          <p:cNvSpPr/>
          <p:nvPr/>
        </p:nvSpPr>
        <p:spPr>
          <a:xfrm>
            <a:off x="731520" y="2852928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</a:t>
            </a:r>
            <a:endParaRPr lang="en-US" sz="850" dirty="0"/>
          </a:p>
        </p:txBody>
      </p:sp>
      <p:sp>
        <p:nvSpPr>
          <p:cNvPr id="21" name="s15_c0_v0"/>
          <p:cNvSpPr/>
          <p:nvPr/>
        </p:nvSpPr>
        <p:spPr>
          <a:xfrm>
            <a:off x="1883664" y="2852928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.claude/agents/ · ~/.claude/agents/ · plugin agents/</a:t>
            </a:r>
            <a:endParaRPr lang="en-US" sz="900" dirty="0"/>
          </a:p>
        </p:txBody>
      </p:sp>
      <p:sp>
        <p:nvSpPr>
          <p:cNvPr id="22" name="s15_c0_hr2"/>
          <p:cNvSpPr/>
          <p:nvPr/>
        </p:nvSpPr>
        <p:spPr>
          <a:xfrm>
            <a:off x="731520" y="3273552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3" name="s15_c0_k1"/>
          <p:cNvSpPr/>
          <p:nvPr/>
        </p:nvSpPr>
        <p:spPr>
          <a:xfrm>
            <a:off x="731520" y="3273552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FORMAT</a:t>
            </a:r>
            <a:endParaRPr lang="en-US" sz="850" dirty="0"/>
          </a:p>
        </p:txBody>
      </p:sp>
      <p:sp>
        <p:nvSpPr>
          <p:cNvPr id="24" name="s15_c0_v1"/>
          <p:cNvSpPr/>
          <p:nvPr/>
        </p:nvSpPr>
        <p:spPr>
          <a:xfrm>
            <a:off x="1883664" y="3273552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*.md + YAML frontmatter; body = system prompt</a:t>
            </a:r>
            <a:endParaRPr lang="en-US" sz="900" dirty="0"/>
          </a:p>
        </p:txBody>
      </p:sp>
      <p:sp>
        <p:nvSpPr>
          <p:cNvPr id="25" name="s15_c0_hr3"/>
          <p:cNvSpPr/>
          <p:nvPr/>
        </p:nvSpPr>
        <p:spPr>
          <a:xfrm>
            <a:off x="731520" y="3694176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6" name="s15_c0_k2"/>
          <p:cNvSpPr/>
          <p:nvPr/>
        </p:nvSpPr>
        <p:spPr>
          <a:xfrm>
            <a:off x="731520" y="3694176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</a:t>
            </a:r>
            <a:endParaRPr lang="en-US" sz="850" dirty="0"/>
          </a:p>
        </p:txBody>
      </p:sp>
      <p:sp>
        <p:nvSpPr>
          <p:cNvPr id="27" name="s15_c0_v2"/>
          <p:cNvSpPr/>
          <p:nvPr/>
        </p:nvSpPr>
        <p:spPr>
          <a:xfrm>
            <a:off x="1883664" y="3694176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 drop · --agents '{...}' flag · /agents</a:t>
            </a:r>
            <a:endParaRPr lang="en-US" sz="900" dirty="0"/>
          </a:p>
        </p:txBody>
      </p:sp>
      <p:sp>
        <p:nvSpPr>
          <p:cNvPr id="28" name="s15_c0_hr4"/>
          <p:cNvSpPr/>
          <p:nvPr/>
        </p:nvSpPr>
        <p:spPr>
          <a:xfrm>
            <a:off x="731520" y="4114800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9" name="s15_c0_k3"/>
          <p:cNvSpPr/>
          <p:nvPr/>
        </p:nvSpPr>
        <p:spPr>
          <a:xfrm>
            <a:off x="731520" y="4114800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AUTO-UPDATE</a:t>
            </a:r>
            <a:endParaRPr lang="en-US" sz="850" dirty="0"/>
          </a:p>
        </p:txBody>
      </p:sp>
      <p:sp>
        <p:nvSpPr>
          <p:cNvPr id="30" name="s15_c0_v3"/>
          <p:cNvSpPr/>
          <p:nvPr/>
        </p:nvSpPr>
        <p:spPr>
          <a:xfrm>
            <a:off x="1883664" y="4114800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 — unversioned file drop; plugin-bundled agents update with the plugin</a:t>
            </a:r>
            <a:endParaRPr lang="en-US" sz="900" dirty="0"/>
          </a:p>
        </p:txBody>
      </p:sp>
      <p:sp>
        <p:nvSpPr>
          <p:cNvPr id="31" name="s15_c0_emp"/>
          <p:cNvSpPr/>
          <p:nvPr/>
        </p:nvSpPr>
        <p:spPr>
          <a:xfrm>
            <a:off x="704088" y="4626864"/>
            <a:ext cx="5074920" cy="1581912"/>
          </a:xfrm>
          <a:prstGeom prst="rect">
            <a:avLst/>
          </a:prstGeom>
          <a:solidFill>
            <a:srgbClr val="FBEEDD"/>
          </a:solidFill>
          <a:ln/>
        </p:spPr>
      </p:sp>
      <p:sp>
        <p:nvSpPr>
          <p:cNvPr id="32" name="s15_c0_emb"/>
          <p:cNvSpPr/>
          <p:nvPr/>
        </p:nvSpPr>
        <p:spPr>
          <a:xfrm>
            <a:off x="886968" y="4736592"/>
            <a:ext cx="4709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spc="200" kern="0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REGISTRY EMISSION</a:t>
            </a:r>
            <a:endParaRPr lang="en-US" sz="800" dirty="0"/>
          </a:p>
        </p:txBody>
      </p:sp>
      <p:sp>
        <p:nvSpPr>
          <p:cNvPr id="33" name="s15_c0_em"/>
          <p:cNvSpPr/>
          <p:nvPr/>
        </p:nvSpPr>
        <p:spPr>
          <a:xfrm>
            <a:off x="886968" y="4956048"/>
            <a:ext cx="470916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install.claude: copy → .claude/agents/&lt;n&gt;.md</a:t>
            </a:r>
            <a:endParaRPr lang="en-US" sz="9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scopes: project | user | org | plugin | --agents</a:t>
            </a:r>
            <a:endParaRPr lang="en-US" sz="9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frontmatter: tools, model, memory, isolation</a:t>
            </a:r>
            <a:endParaRPr lang="en-US" sz="900" dirty="0"/>
          </a:p>
        </p:txBody>
      </p:sp>
      <p:sp>
        <p:nvSpPr>
          <p:cNvPr id="34" name="s15_c1_sh"/>
          <p:cNvSpPr/>
          <p:nvPr/>
        </p:nvSpPr>
        <p:spPr>
          <a:xfrm>
            <a:off x="6259068" y="1531620"/>
            <a:ext cx="5477256" cy="489204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35" name="s15_c1"/>
          <p:cNvSpPr/>
          <p:nvPr/>
        </p:nvSpPr>
        <p:spPr>
          <a:xfrm>
            <a:off x="6208776" y="1481328"/>
            <a:ext cx="5477256" cy="489204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36" name="s15_c1_sq"/>
          <p:cNvSpPr/>
          <p:nvPr/>
        </p:nvSpPr>
        <p:spPr>
          <a:xfrm>
            <a:off x="6437376" y="1673352"/>
            <a:ext cx="137160" cy="13716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7" name="s15_c1_topic"/>
          <p:cNvSpPr/>
          <p:nvPr/>
        </p:nvSpPr>
        <p:spPr>
          <a:xfrm>
            <a:off x="6665976" y="1609344"/>
            <a:ext cx="38723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50" kern="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SUBAGENTS</a:t>
            </a:r>
            <a:endParaRPr lang="en-US" sz="1300" dirty="0"/>
          </a:p>
        </p:txBody>
      </p:sp>
      <p:sp>
        <p:nvSpPr>
          <p:cNvPr id="38" name="s15_c1_vc_sh"/>
          <p:cNvSpPr/>
          <p:nvPr/>
        </p:nvSpPr>
        <p:spPr>
          <a:xfrm>
            <a:off x="10593141" y="1636776"/>
            <a:ext cx="919155" cy="3383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39" name="s15_c1_vc"/>
          <p:cNvSpPr/>
          <p:nvPr/>
        </p:nvSpPr>
        <p:spPr>
          <a:xfrm>
            <a:off x="10565709" y="1609344"/>
            <a:ext cx="919155" cy="338328"/>
          </a:xfrm>
          <a:prstGeom prst="rect">
            <a:avLst/>
          </a:prstGeom>
          <a:solidFill>
            <a:srgbClr val="E7EEFD"/>
          </a:solidFill>
          <a:ln w="15875">
            <a:solidFill>
              <a:srgbClr val="2F6FED"/>
            </a:solidFill>
            <a:prstDash val="solid"/>
          </a:ln>
        </p:spPr>
      </p:sp>
      <p:sp>
        <p:nvSpPr>
          <p:cNvPr id="40" name="s15_c1_vc_t"/>
          <p:cNvSpPr/>
          <p:nvPr/>
        </p:nvSpPr>
        <p:spPr>
          <a:xfrm>
            <a:off x="10565709" y="1609344"/>
            <a:ext cx="919155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TRANSLATE</a:t>
            </a:r>
            <a:endParaRPr lang="en-US" sz="900" dirty="0"/>
          </a:p>
        </p:txBody>
      </p:sp>
      <p:sp>
        <p:nvSpPr>
          <p:cNvPr id="41" name="s15_c1_why"/>
          <p:cNvSpPr/>
          <p:nvPr/>
        </p:nvSpPr>
        <p:spPr>
          <a:xfrm>
            <a:off x="6437376" y="2011680"/>
            <a:ext cx="5020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i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Translate: agent md frontmatter → Codex TOML</a:t>
            </a:r>
            <a:endParaRPr lang="en-US" sz="850" dirty="0"/>
          </a:p>
        </p:txBody>
      </p:sp>
      <p:sp>
        <p:nvSpPr>
          <p:cNvPr id="42" name="s15_c1_what"/>
          <p:cNvSpPr/>
          <p:nvPr/>
        </p:nvSpPr>
        <p:spPr>
          <a:xfrm>
            <a:off x="6437376" y="2340864"/>
            <a:ext cx="5020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Named helper agents with own model settings; spawned via natural language.</a:t>
            </a:r>
            <a:endParaRPr lang="en-US" sz="1050" dirty="0"/>
          </a:p>
        </p:txBody>
      </p:sp>
      <p:sp>
        <p:nvSpPr>
          <p:cNvPr id="43" name="s15_c1_hr1"/>
          <p:cNvSpPr/>
          <p:nvPr/>
        </p:nvSpPr>
        <p:spPr>
          <a:xfrm>
            <a:off x="6437376" y="2798064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44" name="s15_c1_k0"/>
          <p:cNvSpPr/>
          <p:nvPr/>
        </p:nvSpPr>
        <p:spPr>
          <a:xfrm>
            <a:off x="6437376" y="2852928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</a:t>
            </a:r>
            <a:endParaRPr lang="en-US" sz="850" dirty="0"/>
          </a:p>
        </p:txBody>
      </p:sp>
      <p:sp>
        <p:nvSpPr>
          <p:cNvPr id="45" name="s15_c1_v0"/>
          <p:cNvSpPr/>
          <p:nvPr/>
        </p:nvSpPr>
        <p:spPr>
          <a:xfrm>
            <a:off x="7589520" y="2852928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.codex/agents/*.toml (project, trusted) · ~/.codex/agents/</a:t>
            </a:r>
            <a:endParaRPr lang="en-US" sz="900" dirty="0"/>
          </a:p>
        </p:txBody>
      </p:sp>
      <p:sp>
        <p:nvSpPr>
          <p:cNvPr id="46" name="s15_c1_hr2"/>
          <p:cNvSpPr/>
          <p:nvPr/>
        </p:nvSpPr>
        <p:spPr>
          <a:xfrm>
            <a:off x="6437376" y="3273552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47" name="s15_c1_k1"/>
          <p:cNvSpPr/>
          <p:nvPr/>
        </p:nvSpPr>
        <p:spPr>
          <a:xfrm>
            <a:off x="6437376" y="3273552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FORMAT</a:t>
            </a:r>
            <a:endParaRPr lang="en-US" sz="850" dirty="0"/>
          </a:p>
        </p:txBody>
      </p:sp>
      <p:sp>
        <p:nvSpPr>
          <p:cNvPr id="48" name="s15_c1_v1"/>
          <p:cNvSpPr/>
          <p:nvPr/>
        </p:nvSpPr>
        <p:spPr>
          <a:xfrm>
            <a:off x="7589520" y="3273552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TOML; required name, description, developer_instructions</a:t>
            </a:r>
            <a:endParaRPr lang="en-US" sz="900" dirty="0"/>
          </a:p>
        </p:txBody>
      </p:sp>
      <p:sp>
        <p:nvSpPr>
          <p:cNvPr id="49" name="s15_c1_hr3"/>
          <p:cNvSpPr/>
          <p:nvPr/>
        </p:nvSpPr>
        <p:spPr>
          <a:xfrm>
            <a:off x="6437376" y="3694176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50" name="s15_c1_k2"/>
          <p:cNvSpPr/>
          <p:nvPr/>
        </p:nvSpPr>
        <p:spPr>
          <a:xfrm>
            <a:off x="6437376" y="3694176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</a:t>
            </a:r>
            <a:endParaRPr lang="en-US" sz="850" dirty="0"/>
          </a:p>
        </p:txBody>
      </p:sp>
      <p:sp>
        <p:nvSpPr>
          <p:cNvPr id="51" name="s15_c1_v2"/>
          <p:cNvSpPr/>
          <p:nvPr/>
        </p:nvSpPr>
        <p:spPr>
          <a:xfrm>
            <a:off x="7589520" y="3694176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/subagents · file drop; project layer needs trust</a:t>
            </a:r>
            <a:endParaRPr lang="en-US" sz="900" dirty="0"/>
          </a:p>
        </p:txBody>
      </p:sp>
      <p:sp>
        <p:nvSpPr>
          <p:cNvPr id="52" name="s15_c1_hr4"/>
          <p:cNvSpPr/>
          <p:nvPr/>
        </p:nvSpPr>
        <p:spPr>
          <a:xfrm>
            <a:off x="6437376" y="4114800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53" name="s15_c1_k3"/>
          <p:cNvSpPr/>
          <p:nvPr/>
        </p:nvSpPr>
        <p:spPr>
          <a:xfrm>
            <a:off x="6437376" y="4114800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AUTO-UPDATE</a:t>
            </a:r>
            <a:endParaRPr lang="en-US" sz="850" dirty="0"/>
          </a:p>
        </p:txBody>
      </p:sp>
      <p:sp>
        <p:nvSpPr>
          <p:cNvPr id="54" name="s15_c1_v3"/>
          <p:cNvSpPr/>
          <p:nvPr/>
        </p:nvSpPr>
        <p:spPr>
          <a:xfrm>
            <a:off x="7589520" y="4114800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No. Manual TOML file edits only; nothing auto-updates agent files.</a:t>
            </a:r>
            <a:endParaRPr lang="en-US" sz="900" dirty="0"/>
          </a:p>
        </p:txBody>
      </p:sp>
      <p:sp>
        <p:nvSpPr>
          <p:cNvPr id="55" name="s15_c1_emp"/>
          <p:cNvSpPr/>
          <p:nvPr/>
        </p:nvSpPr>
        <p:spPr>
          <a:xfrm>
            <a:off x="6409944" y="4626864"/>
            <a:ext cx="5074920" cy="1581912"/>
          </a:xfrm>
          <a:prstGeom prst="rect">
            <a:avLst/>
          </a:prstGeom>
          <a:solidFill>
            <a:srgbClr val="E5F5EA"/>
          </a:solidFill>
          <a:ln/>
        </p:spPr>
      </p:sp>
      <p:sp>
        <p:nvSpPr>
          <p:cNvPr id="56" name="s15_c1_emb"/>
          <p:cNvSpPr/>
          <p:nvPr/>
        </p:nvSpPr>
        <p:spPr>
          <a:xfrm>
            <a:off x="6592824" y="4736592"/>
            <a:ext cx="4709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spc="200" kern="0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REGISTRY EMISSION</a:t>
            </a:r>
            <a:endParaRPr lang="en-US" sz="800" dirty="0"/>
          </a:p>
        </p:txBody>
      </p:sp>
      <p:sp>
        <p:nvSpPr>
          <p:cNvPr id="57" name="s15_c1_em"/>
          <p:cNvSpPr/>
          <p:nvPr/>
        </p:nvSpPr>
        <p:spPr>
          <a:xfrm>
            <a:off x="6592824" y="4956048"/>
            <a:ext cx="470916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translate: agent .md → .codex/agents/&lt;n&gt;.toml</a:t>
            </a:r>
            <a:endParaRPr lang="en-US" sz="9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fields: name, description, developer_instructions</a:t>
            </a:r>
            <a:endParaRPr lang="en-US" sz="9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cannot raise parent sandbox/approval (inherited)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16_vx_v1"/>
          <p:cNvSpPr/>
          <p:nvPr/>
        </p:nvSpPr>
        <p:spPr>
          <a:xfrm>
            <a:off x="11137392" y="384048"/>
            <a:ext cx="128016" cy="12801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" name="s16_vx_v2"/>
          <p:cNvSpPr/>
          <p:nvPr/>
        </p:nvSpPr>
        <p:spPr>
          <a:xfrm>
            <a:off x="11292840" y="384048"/>
            <a:ext cx="128016" cy="12801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" name="s16_vx_v3"/>
          <p:cNvSpPr/>
          <p:nvPr/>
        </p:nvSpPr>
        <p:spPr>
          <a:xfrm>
            <a:off x="11137392" y="539496"/>
            <a:ext cx="128016" cy="128016"/>
          </a:xfrm>
          <a:prstGeom prst="rect">
            <a:avLst/>
          </a:prstGeom>
          <a:solidFill>
            <a:srgbClr val="D97706"/>
          </a:solidFill>
          <a:ln/>
        </p:spPr>
      </p:sp>
      <p:pic>
        <p:nvPicPr>
          <p:cNvPr id="5" name="s16_kick" descr="assets/sko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02336"/>
            <a:ext cx="5460274" cy="182880"/>
          </a:xfrm>
          <a:prstGeom prst="rect">
            <a:avLst/>
          </a:prstGeom>
        </p:spPr>
      </p:pic>
      <p:pic>
        <p:nvPicPr>
          <p:cNvPr id="6" name="s16_title" descr="assets/srf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58368"/>
            <a:ext cx="3600123" cy="475488"/>
          </a:xfrm>
          <a:prstGeom prst="rect">
            <a:avLst/>
          </a:prstGeom>
        </p:spPr>
      </p:pic>
      <p:sp>
        <p:nvSpPr>
          <p:cNvPr id="7" name="s16_spec"/>
          <p:cNvSpPr/>
          <p:nvPr/>
        </p:nvSpPr>
        <p:spPr>
          <a:xfrm>
            <a:off x="502920" y="1216152"/>
            <a:ext cx="10469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SUBAGENTS in opencode + pi</a:t>
            </a:r>
            <a:endParaRPr lang="en-US" sz="1100" dirty="0"/>
          </a:p>
        </p:txBody>
      </p:sp>
      <p:sp>
        <p:nvSpPr>
          <p:cNvPr id="8" name="s16_pg"/>
          <p:cNvSpPr/>
          <p:nvPr/>
        </p:nvSpPr>
        <p:spPr>
          <a:xfrm>
            <a:off x="11064240" y="648309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 / 45</a:t>
            </a:r>
            <a:endParaRPr lang="en-US" sz="950" dirty="0"/>
          </a:p>
        </p:txBody>
      </p:sp>
      <p:sp>
        <p:nvSpPr>
          <p:cNvPr id="10" name="s16_c0_sh"/>
          <p:cNvSpPr/>
          <p:nvPr/>
        </p:nvSpPr>
        <p:spPr>
          <a:xfrm>
            <a:off x="553212" y="1531620"/>
            <a:ext cx="5477256" cy="489204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1" name="s16_c0"/>
          <p:cNvSpPr/>
          <p:nvPr/>
        </p:nvSpPr>
        <p:spPr>
          <a:xfrm>
            <a:off x="502920" y="1481328"/>
            <a:ext cx="5477256" cy="489204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12" name="s16_c0_sq"/>
          <p:cNvSpPr/>
          <p:nvPr/>
        </p:nvSpPr>
        <p:spPr>
          <a:xfrm>
            <a:off x="731520" y="1673352"/>
            <a:ext cx="137160" cy="137160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13" name="s16_c0_topic"/>
          <p:cNvSpPr/>
          <p:nvPr/>
        </p:nvSpPr>
        <p:spPr>
          <a:xfrm>
            <a:off x="960120" y="1609344"/>
            <a:ext cx="38723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50" kern="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SUBAGENTS</a:t>
            </a:r>
            <a:endParaRPr lang="en-US" sz="1300" dirty="0"/>
          </a:p>
        </p:txBody>
      </p:sp>
      <p:sp>
        <p:nvSpPr>
          <p:cNvPr id="14" name="s16_c0_vc_sh"/>
          <p:cNvSpPr/>
          <p:nvPr/>
        </p:nvSpPr>
        <p:spPr>
          <a:xfrm>
            <a:off x="4887285" y="1636776"/>
            <a:ext cx="919155" cy="3383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5" name="s16_c0_vc"/>
          <p:cNvSpPr/>
          <p:nvPr/>
        </p:nvSpPr>
        <p:spPr>
          <a:xfrm>
            <a:off x="4859853" y="1609344"/>
            <a:ext cx="919155" cy="338328"/>
          </a:xfrm>
          <a:prstGeom prst="rect">
            <a:avLst/>
          </a:prstGeom>
          <a:solidFill>
            <a:srgbClr val="E7EEFD"/>
          </a:solidFill>
          <a:ln w="15875">
            <a:solidFill>
              <a:srgbClr val="2F6FED"/>
            </a:solidFill>
            <a:prstDash val="solid"/>
          </a:ln>
        </p:spPr>
      </p:sp>
      <p:sp>
        <p:nvSpPr>
          <p:cNvPr id="16" name="s16_c0_vc_t"/>
          <p:cNvSpPr/>
          <p:nvPr/>
        </p:nvSpPr>
        <p:spPr>
          <a:xfrm>
            <a:off x="4859853" y="1609344"/>
            <a:ext cx="919155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TRANSLATE</a:t>
            </a:r>
            <a:endParaRPr lang="en-US" sz="900" dirty="0"/>
          </a:p>
        </p:txBody>
      </p:sp>
      <p:sp>
        <p:nvSpPr>
          <p:cNvPr id="17" name="s16_c0_why"/>
          <p:cNvSpPr/>
          <p:nvPr/>
        </p:nvSpPr>
        <p:spPr>
          <a:xfrm>
            <a:off x="731520" y="2011680"/>
            <a:ext cx="5020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i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canonical agent → .md frontmatter (mode/perms)</a:t>
            </a:r>
            <a:endParaRPr lang="en-US" sz="850" dirty="0"/>
          </a:p>
        </p:txBody>
      </p:sp>
      <p:sp>
        <p:nvSpPr>
          <p:cNvPr id="18" name="s16_c0_what"/>
          <p:cNvSpPr/>
          <p:nvPr/>
        </p:nvSpPr>
        <p:spPr>
          <a:xfrm>
            <a:off x="731520" y="2340864"/>
            <a:ext cx="5020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Markdown sub-agent definitions with own model and permissions</a:t>
            </a:r>
            <a:endParaRPr lang="en-US" sz="1050" dirty="0"/>
          </a:p>
        </p:txBody>
      </p:sp>
      <p:sp>
        <p:nvSpPr>
          <p:cNvPr id="19" name="s16_c0_hr1"/>
          <p:cNvSpPr/>
          <p:nvPr/>
        </p:nvSpPr>
        <p:spPr>
          <a:xfrm>
            <a:off x="731520" y="2798064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0" name="s16_c0_k0"/>
          <p:cNvSpPr/>
          <p:nvPr/>
        </p:nvSpPr>
        <p:spPr>
          <a:xfrm>
            <a:off x="731520" y="2852928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</a:t>
            </a:r>
            <a:endParaRPr lang="en-US" sz="850" dirty="0"/>
          </a:p>
        </p:txBody>
      </p:sp>
      <p:sp>
        <p:nvSpPr>
          <p:cNvPr id="21" name="s16_c0_v0"/>
          <p:cNvSpPr/>
          <p:nvPr/>
        </p:nvSpPr>
        <p:spPr>
          <a:xfrm>
            <a:off x="1883664" y="2852928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.opencode/agents/&lt;name&gt;.md · ~/.config/opencode/agents</a:t>
            </a:r>
            <a:endParaRPr lang="en-US" sz="900" dirty="0"/>
          </a:p>
        </p:txBody>
      </p:sp>
      <p:sp>
        <p:nvSpPr>
          <p:cNvPr id="22" name="s16_c0_hr2"/>
          <p:cNvSpPr/>
          <p:nvPr/>
        </p:nvSpPr>
        <p:spPr>
          <a:xfrm>
            <a:off x="731520" y="3273552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3" name="s16_c0_k1"/>
          <p:cNvSpPr/>
          <p:nvPr/>
        </p:nvSpPr>
        <p:spPr>
          <a:xfrm>
            <a:off x="731520" y="3273552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FORMAT</a:t>
            </a:r>
            <a:endParaRPr lang="en-US" sz="850" dirty="0"/>
          </a:p>
        </p:txBody>
      </p:sp>
      <p:sp>
        <p:nvSpPr>
          <p:cNvPr id="24" name="s16_c0_v1"/>
          <p:cNvSpPr/>
          <p:nvPr/>
        </p:nvSpPr>
        <p:spPr>
          <a:xfrm>
            <a:off x="1883664" y="3273552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.md frontmatter: description, mode, model, permission</a:t>
            </a:r>
            <a:endParaRPr lang="en-US" sz="900" dirty="0"/>
          </a:p>
        </p:txBody>
      </p:sp>
      <p:sp>
        <p:nvSpPr>
          <p:cNvPr id="25" name="s16_c0_hr3"/>
          <p:cNvSpPr/>
          <p:nvPr/>
        </p:nvSpPr>
        <p:spPr>
          <a:xfrm>
            <a:off x="731520" y="3694176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6" name="s16_c0_k2"/>
          <p:cNvSpPr/>
          <p:nvPr/>
        </p:nvSpPr>
        <p:spPr>
          <a:xfrm>
            <a:off x="731520" y="3694176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</a:t>
            </a:r>
            <a:endParaRPr lang="en-US" sz="850" dirty="0"/>
          </a:p>
        </p:txBody>
      </p:sp>
      <p:sp>
        <p:nvSpPr>
          <p:cNvPr id="27" name="s16_c0_v2"/>
          <p:cNvSpPr/>
          <p:nvPr/>
        </p:nvSpPr>
        <p:spPr>
          <a:xfrm>
            <a:off x="1883664" y="3694176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opencode agent add · list · remove</a:t>
            </a:r>
            <a:endParaRPr lang="en-US" sz="900" dirty="0"/>
          </a:p>
        </p:txBody>
      </p:sp>
      <p:sp>
        <p:nvSpPr>
          <p:cNvPr id="28" name="s16_c0_hr4"/>
          <p:cNvSpPr/>
          <p:nvPr/>
        </p:nvSpPr>
        <p:spPr>
          <a:xfrm>
            <a:off x="731520" y="4114800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9" name="s16_c0_k3"/>
          <p:cNvSpPr/>
          <p:nvPr/>
        </p:nvSpPr>
        <p:spPr>
          <a:xfrm>
            <a:off x="731520" y="4114800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AUTO-UPDATE</a:t>
            </a:r>
            <a:endParaRPr lang="en-US" sz="850" dirty="0"/>
          </a:p>
        </p:txBody>
      </p:sp>
      <p:sp>
        <p:nvSpPr>
          <p:cNvPr id="30" name="s16_c0_v3"/>
          <p:cNvSpPr/>
          <p:nvPr/>
        </p:nvSpPr>
        <p:spPr>
          <a:xfrm>
            <a:off x="1883664" y="4114800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 — replace the .md by hand; CLI only scaffolds</a:t>
            </a:r>
            <a:endParaRPr lang="en-US" sz="900" dirty="0"/>
          </a:p>
        </p:txBody>
      </p:sp>
      <p:sp>
        <p:nvSpPr>
          <p:cNvPr id="31" name="s16_c0_emp"/>
          <p:cNvSpPr/>
          <p:nvPr/>
        </p:nvSpPr>
        <p:spPr>
          <a:xfrm>
            <a:off x="704088" y="4626864"/>
            <a:ext cx="5074920" cy="1581912"/>
          </a:xfrm>
          <a:prstGeom prst="rect">
            <a:avLst/>
          </a:prstGeom>
          <a:solidFill>
            <a:srgbClr val="E7EEFD"/>
          </a:solidFill>
          <a:ln/>
        </p:spPr>
      </p:sp>
      <p:sp>
        <p:nvSpPr>
          <p:cNvPr id="32" name="s16_c0_emb"/>
          <p:cNvSpPr/>
          <p:nvPr/>
        </p:nvSpPr>
        <p:spPr>
          <a:xfrm>
            <a:off x="886968" y="4736592"/>
            <a:ext cx="4709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spc="200" kern="0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REGISTRY EMISSION</a:t>
            </a:r>
            <a:endParaRPr lang="en-US" sz="800" dirty="0"/>
          </a:p>
        </p:txBody>
      </p:sp>
      <p:sp>
        <p:nvSpPr>
          <p:cNvPr id="33" name="s16_c0_em"/>
          <p:cNvSpPr/>
          <p:nvPr/>
        </p:nvSpPr>
        <p:spPr>
          <a:xfrm>
            <a:off x="886968" y="4956048"/>
            <a:ext cx="470916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emit .md: mode=subagent + permission map</a:t>
            </a:r>
            <a:endParaRPr lang="en-US" sz="9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target: .opencode/agents/&lt;n&gt;.md (id=filename)</a:t>
            </a:r>
            <a:endParaRPr lang="en-US" sz="9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built-ins: build plan general explore scout</a:t>
            </a:r>
            <a:endParaRPr lang="en-US" sz="900" dirty="0"/>
          </a:p>
        </p:txBody>
      </p:sp>
      <p:sp>
        <p:nvSpPr>
          <p:cNvPr id="34" name="s16_c1_sh"/>
          <p:cNvSpPr/>
          <p:nvPr/>
        </p:nvSpPr>
        <p:spPr>
          <a:xfrm>
            <a:off x="6259068" y="1531620"/>
            <a:ext cx="5477256" cy="489204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35" name="s16_c1"/>
          <p:cNvSpPr/>
          <p:nvPr/>
        </p:nvSpPr>
        <p:spPr>
          <a:xfrm>
            <a:off x="6208776" y="1481328"/>
            <a:ext cx="5477256" cy="489204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36" name="s16_c1_sq"/>
          <p:cNvSpPr/>
          <p:nvPr/>
        </p:nvSpPr>
        <p:spPr>
          <a:xfrm>
            <a:off x="6437376" y="1673352"/>
            <a:ext cx="137160" cy="13716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7" name="s16_c1_topic"/>
          <p:cNvSpPr/>
          <p:nvPr/>
        </p:nvSpPr>
        <p:spPr>
          <a:xfrm>
            <a:off x="6665976" y="1609344"/>
            <a:ext cx="37965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50" kern="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SUBAGENTS</a:t>
            </a:r>
            <a:endParaRPr lang="en-US" sz="1300" dirty="0"/>
          </a:p>
        </p:txBody>
      </p:sp>
      <p:sp>
        <p:nvSpPr>
          <p:cNvPr id="38" name="s16_c1_vc_sh"/>
          <p:cNvSpPr/>
          <p:nvPr/>
        </p:nvSpPr>
        <p:spPr>
          <a:xfrm>
            <a:off x="10517429" y="1636776"/>
            <a:ext cx="994867" cy="3383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39" name="s16_c1_vc"/>
          <p:cNvSpPr/>
          <p:nvPr/>
        </p:nvSpPr>
        <p:spPr>
          <a:xfrm>
            <a:off x="10489997" y="1609344"/>
            <a:ext cx="994867" cy="338328"/>
          </a:xfrm>
          <a:prstGeom prst="rect">
            <a:avLst/>
          </a:prstGeom>
          <a:solidFill>
            <a:srgbClr val="EFEFEA"/>
          </a:solidFill>
          <a:ln w="15875">
            <a:solidFill>
              <a:srgbClr val="5C6068"/>
            </a:solidFill>
            <a:prstDash val="solid"/>
          </a:ln>
        </p:spPr>
      </p:sp>
      <p:sp>
        <p:nvSpPr>
          <p:cNvPr id="40" name="s16_c1_vc_t"/>
          <p:cNvSpPr/>
          <p:nvPr/>
        </p:nvSpPr>
        <p:spPr>
          <a:xfrm>
            <a:off x="10489997" y="1609344"/>
            <a:ext cx="99486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SURFACE</a:t>
            </a:r>
            <a:endParaRPr lang="en-US" sz="900" dirty="0"/>
          </a:p>
        </p:txBody>
      </p:sp>
      <p:sp>
        <p:nvSpPr>
          <p:cNvPr id="41" name="s16_c1_why"/>
          <p:cNvSpPr/>
          <p:nvPr/>
        </p:nvSpPr>
        <p:spPr>
          <a:xfrm>
            <a:off x="6437376" y="2011680"/>
            <a:ext cx="5020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i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Example-level pattern, not core; promotion UNVERIFIED</a:t>
            </a:r>
            <a:endParaRPr lang="en-US" sz="850" dirty="0"/>
          </a:p>
        </p:txBody>
      </p:sp>
      <p:sp>
        <p:nvSpPr>
          <p:cNvPr id="42" name="s16_c1_what"/>
          <p:cNvSpPr/>
          <p:nvPr/>
        </p:nvSpPr>
        <p:spPr>
          <a:xfrm>
            <a:off x="6437376" y="2340864"/>
            <a:ext cx="5020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built-in subagents; an official example extension adds markdown agents</a:t>
            </a:r>
            <a:endParaRPr lang="en-US" sz="1050" dirty="0"/>
          </a:p>
        </p:txBody>
      </p:sp>
      <p:sp>
        <p:nvSpPr>
          <p:cNvPr id="43" name="s16_c1_hr1"/>
          <p:cNvSpPr/>
          <p:nvPr/>
        </p:nvSpPr>
        <p:spPr>
          <a:xfrm>
            <a:off x="6437376" y="2798064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44" name="s16_c1_k0"/>
          <p:cNvSpPr/>
          <p:nvPr/>
        </p:nvSpPr>
        <p:spPr>
          <a:xfrm>
            <a:off x="6437376" y="2852928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</a:t>
            </a:r>
            <a:endParaRPr lang="en-US" sz="850" dirty="0"/>
          </a:p>
        </p:txBody>
      </p:sp>
      <p:sp>
        <p:nvSpPr>
          <p:cNvPr id="45" name="s16_c1_v0"/>
          <p:cNvSpPr/>
          <p:nvPr/>
        </p:nvSpPr>
        <p:spPr>
          <a:xfrm>
            <a:off x="7589520" y="2852928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~/.pi/agent/agents · .pi/agents (via example ext)</a:t>
            </a:r>
            <a:endParaRPr lang="en-US" sz="900" dirty="0"/>
          </a:p>
        </p:txBody>
      </p:sp>
      <p:sp>
        <p:nvSpPr>
          <p:cNvPr id="46" name="s16_c1_hr2"/>
          <p:cNvSpPr/>
          <p:nvPr/>
        </p:nvSpPr>
        <p:spPr>
          <a:xfrm>
            <a:off x="6437376" y="3273552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47" name="s16_c1_k1"/>
          <p:cNvSpPr/>
          <p:nvPr/>
        </p:nvSpPr>
        <p:spPr>
          <a:xfrm>
            <a:off x="6437376" y="3273552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FORMAT</a:t>
            </a:r>
            <a:endParaRPr lang="en-US" sz="850" dirty="0"/>
          </a:p>
        </p:txBody>
      </p:sp>
      <p:sp>
        <p:nvSpPr>
          <p:cNvPr id="48" name="s16_c1_v1"/>
          <p:cNvSpPr/>
          <p:nvPr/>
        </p:nvSpPr>
        <p:spPr>
          <a:xfrm>
            <a:off x="7589520" y="3273552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.md + frontmatter name/description/tools/model</a:t>
            </a:r>
            <a:endParaRPr lang="en-US" sz="900" dirty="0"/>
          </a:p>
        </p:txBody>
      </p:sp>
      <p:sp>
        <p:nvSpPr>
          <p:cNvPr id="49" name="s16_c1_hr3"/>
          <p:cNvSpPr/>
          <p:nvPr/>
        </p:nvSpPr>
        <p:spPr>
          <a:xfrm>
            <a:off x="6437376" y="3694176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50" name="s16_c1_k2"/>
          <p:cNvSpPr/>
          <p:nvPr/>
        </p:nvSpPr>
        <p:spPr>
          <a:xfrm>
            <a:off x="6437376" y="3694176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</a:t>
            </a:r>
            <a:endParaRPr lang="en-US" sz="850" dirty="0"/>
          </a:p>
        </p:txBody>
      </p:sp>
      <p:sp>
        <p:nvSpPr>
          <p:cNvPr id="51" name="s16_c1_v2"/>
          <p:cNvSpPr/>
          <p:nvPr/>
        </p:nvSpPr>
        <p:spPr>
          <a:xfrm>
            <a:off x="7589520" y="3694176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install subagent example extension (symlink per README)</a:t>
            </a:r>
            <a:endParaRPr lang="en-US" sz="900" dirty="0"/>
          </a:p>
        </p:txBody>
      </p:sp>
      <p:sp>
        <p:nvSpPr>
          <p:cNvPr id="52" name="s16_c1_hr4"/>
          <p:cNvSpPr/>
          <p:nvPr/>
        </p:nvSpPr>
        <p:spPr>
          <a:xfrm>
            <a:off x="6437376" y="4114800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53" name="s16_c1_k3"/>
          <p:cNvSpPr/>
          <p:nvPr/>
        </p:nvSpPr>
        <p:spPr>
          <a:xfrm>
            <a:off x="6437376" y="4114800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AUTO-UPDATE</a:t>
            </a:r>
            <a:endParaRPr lang="en-US" sz="850" dirty="0"/>
          </a:p>
        </p:txBody>
      </p:sp>
      <p:sp>
        <p:nvSpPr>
          <p:cNvPr id="54" name="s16_c1_v3"/>
          <p:cNvSpPr/>
          <p:nvPr/>
        </p:nvSpPr>
        <p:spPr>
          <a:xfrm>
            <a:off x="7589520" y="4114800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Only via npm package pi update; core ships no subagent surface</a:t>
            </a:r>
            <a:endParaRPr lang="en-US" sz="900" dirty="0"/>
          </a:p>
        </p:txBody>
      </p:sp>
      <p:sp>
        <p:nvSpPr>
          <p:cNvPr id="55" name="s16_c1_emp"/>
          <p:cNvSpPr/>
          <p:nvPr/>
        </p:nvSpPr>
        <p:spPr>
          <a:xfrm>
            <a:off x="6409944" y="4626864"/>
            <a:ext cx="5074920" cy="1581912"/>
          </a:xfrm>
          <a:prstGeom prst="rect">
            <a:avLst/>
          </a:prstGeom>
          <a:solidFill>
            <a:srgbClr val="EFE9FB"/>
          </a:solidFill>
          <a:ln/>
        </p:spPr>
      </p:sp>
      <p:sp>
        <p:nvSpPr>
          <p:cNvPr id="56" name="s16_c1_emb"/>
          <p:cNvSpPr/>
          <p:nvPr/>
        </p:nvSpPr>
        <p:spPr>
          <a:xfrm>
            <a:off x="6592824" y="4736592"/>
            <a:ext cx="4709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spc="200" kern="0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REGISTRY EMISSION</a:t>
            </a:r>
            <a:endParaRPr lang="en-US" sz="800" dirty="0"/>
          </a:p>
        </p:txBody>
      </p:sp>
      <p:sp>
        <p:nvSpPr>
          <p:cNvPr id="57" name="s16_c1_em"/>
          <p:cNvSpPr/>
          <p:nvPr/>
        </p:nvSpPr>
        <p:spPr>
          <a:xfrm>
            <a:off x="6592824" y="4956048"/>
            <a:ext cx="470916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compatibility.pi: supported=false (example-only)</a:t>
            </a:r>
            <a:endParaRPr lang="en-US" sz="9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emitted: copy md + install subagent ext</a:t>
            </a:r>
            <a:endParaRPr lang="en-US" sz="9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tier: review (ships extension code)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17_vx_v1"/>
          <p:cNvSpPr/>
          <p:nvPr/>
        </p:nvSpPr>
        <p:spPr>
          <a:xfrm>
            <a:off x="11137392" y="384048"/>
            <a:ext cx="128016" cy="12801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" name="s17_vx_v2"/>
          <p:cNvSpPr/>
          <p:nvPr/>
        </p:nvSpPr>
        <p:spPr>
          <a:xfrm>
            <a:off x="11292840" y="384048"/>
            <a:ext cx="128016" cy="12801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" name="s17_vx_v3"/>
          <p:cNvSpPr/>
          <p:nvPr/>
        </p:nvSpPr>
        <p:spPr>
          <a:xfrm>
            <a:off x="11137392" y="539496"/>
            <a:ext cx="128016" cy="128016"/>
          </a:xfrm>
          <a:prstGeom prst="rect">
            <a:avLst/>
          </a:prstGeom>
          <a:solidFill>
            <a:srgbClr val="D97706"/>
          </a:solidFill>
          <a:ln/>
        </p:spPr>
      </p:sp>
      <p:pic>
        <p:nvPicPr>
          <p:cNvPr id="5" name="s17_kick" descr="assets/skb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02336"/>
            <a:ext cx="2325189" cy="182880"/>
          </a:xfrm>
          <a:prstGeom prst="rect">
            <a:avLst/>
          </a:prstGeom>
        </p:spPr>
      </p:pic>
      <p:pic>
        <p:nvPicPr>
          <p:cNvPr id="6" name="s17_title" descr="assets/srf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58368"/>
            <a:ext cx="1969879" cy="475488"/>
          </a:xfrm>
          <a:prstGeom prst="rect">
            <a:avLst/>
          </a:prstGeom>
        </p:spPr>
      </p:pic>
      <p:sp>
        <p:nvSpPr>
          <p:cNvPr id="7" name="s17_spec"/>
          <p:cNvSpPr/>
          <p:nvPr/>
        </p:nvSpPr>
        <p:spPr>
          <a:xfrm>
            <a:off x="502920" y="1216152"/>
            <a:ext cx="10469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Lifecycle-event handlers — Claude-shape JSON for two harnesses, generated TypeScript for two</a:t>
            </a:r>
            <a:endParaRPr lang="en-US" sz="1100" dirty="0"/>
          </a:p>
        </p:txBody>
      </p:sp>
      <p:sp>
        <p:nvSpPr>
          <p:cNvPr id="8" name="s17_pg"/>
          <p:cNvSpPr/>
          <p:nvPr/>
        </p:nvSpPr>
        <p:spPr>
          <a:xfrm>
            <a:off x="11064240" y="648309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 / 45</a:t>
            </a:r>
            <a:endParaRPr lang="en-US" sz="950" dirty="0"/>
          </a:p>
        </p:txBody>
      </p:sp>
      <p:sp>
        <p:nvSpPr>
          <p:cNvPr id="10" name="s17_min_sh"/>
          <p:cNvSpPr/>
          <p:nvPr/>
        </p:nvSpPr>
        <p:spPr>
          <a:xfrm>
            <a:off x="553212" y="1531620"/>
            <a:ext cx="5669280" cy="416052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1" name="s17_min"/>
          <p:cNvSpPr/>
          <p:nvPr/>
        </p:nvSpPr>
        <p:spPr>
          <a:xfrm>
            <a:off x="502920" y="1481328"/>
            <a:ext cx="5669280" cy="416052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12" name="s17_mb"/>
          <p:cNvSpPr/>
          <p:nvPr/>
        </p:nvSpPr>
        <p:spPr>
          <a:xfrm>
            <a:off x="777240" y="162763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REGISTRY MINIMUM — WHAT WE STORE</a:t>
            </a:r>
            <a:endParaRPr lang="en-US" sz="950" dirty="0"/>
          </a:p>
        </p:txBody>
      </p:sp>
      <p:sp>
        <p:nvSpPr>
          <p:cNvPr id="13" name="s17_mk0"/>
          <p:cNvSpPr/>
          <p:nvPr/>
        </p:nvSpPr>
        <p:spPr>
          <a:xfrm>
            <a:off x="777240" y="19202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event map</a:t>
            </a:r>
            <a:endParaRPr lang="en-US" sz="900" dirty="0"/>
          </a:p>
        </p:txBody>
      </p:sp>
      <p:sp>
        <p:nvSpPr>
          <p:cNvPr id="14" name="s17_mv0"/>
          <p:cNvSpPr/>
          <p:nvPr/>
        </p:nvSpPr>
        <p:spPr>
          <a:xfrm>
            <a:off x="2240280" y="192024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30 events · codex 12 · oc/pi tool.*</a:t>
            </a:r>
            <a:endParaRPr lang="en-US" sz="850" dirty="0"/>
          </a:p>
        </p:txBody>
      </p:sp>
      <p:sp>
        <p:nvSpPr>
          <p:cNvPr id="15" name="s17_mhr0"/>
          <p:cNvSpPr/>
          <p:nvPr/>
        </p:nvSpPr>
        <p:spPr>
          <a:xfrm>
            <a:off x="777240" y="2304288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16" name="s17_mk1"/>
          <p:cNvSpPr/>
          <p:nvPr/>
        </p:nvSpPr>
        <p:spPr>
          <a:xfrm>
            <a:off x="777240" y="230428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hook chain</a:t>
            </a:r>
            <a:endParaRPr lang="en-US" sz="900" dirty="0"/>
          </a:p>
        </p:txBody>
      </p:sp>
      <p:sp>
        <p:nvSpPr>
          <p:cNvPr id="17" name="s17_mv1"/>
          <p:cNvSpPr/>
          <p:nvPr/>
        </p:nvSpPr>
        <p:spPr>
          <a:xfrm>
            <a:off x="2240280" y="230428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Event → matcher → handler (5 types)</a:t>
            </a:r>
            <a:endParaRPr lang="en-US" sz="850" dirty="0"/>
          </a:p>
        </p:txBody>
      </p:sp>
      <p:sp>
        <p:nvSpPr>
          <p:cNvPr id="18" name="s17_mhr1"/>
          <p:cNvSpPr/>
          <p:nvPr/>
        </p:nvSpPr>
        <p:spPr>
          <a:xfrm>
            <a:off x="777240" y="2688336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19" name="s17_mk2"/>
          <p:cNvSpPr/>
          <p:nvPr/>
        </p:nvSpPr>
        <p:spPr>
          <a:xfrm>
            <a:off x="777240" y="2688336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handler</a:t>
            </a:r>
            <a:endParaRPr lang="en-US" sz="900" dirty="0"/>
          </a:p>
        </p:txBody>
      </p:sp>
      <p:sp>
        <p:nvSpPr>
          <p:cNvPr id="20" name="s17_mv2"/>
          <p:cNvSpPr/>
          <p:nvPr/>
        </p:nvSpPr>
        <p:spPr>
          <a:xfrm>
            <a:off x="2240280" y="2688336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command/script + CLAUDE_PLUGIN_ROOT env</a:t>
            </a:r>
            <a:endParaRPr lang="en-US" sz="850" dirty="0"/>
          </a:p>
        </p:txBody>
      </p:sp>
      <p:sp>
        <p:nvSpPr>
          <p:cNvPr id="21" name="s17_mhr2"/>
          <p:cNvSpPr/>
          <p:nvPr/>
        </p:nvSpPr>
        <p:spPr>
          <a:xfrm>
            <a:off x="777240" y="3072384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2" name="s17_mk3"/>
          <p:cNvSpPr/>
          <p:nvPr/>
        </p:nvSpPr>
        <p:spPr>
          <a:xfrm>
            <a:off x="777240" y="3072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adapters</a:t>
            </a:r>
            <a:endParaRPr lang="en-US" sz="900" dirty="0"/>
          </a:p>
        </p:txBody>
      </p:sp>
      <p:sp>
        <p:nvSpPr>
          <p:cNvPr id="23" name="s17_mv3"/>
          <p:cNvSpPr/>
          <p:nvPr/>
        </p:nvSpPr>
        <p:spPr>
          <a:xfrm>
            <a:off x="2240280" y="3072384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codegen: oc TS plugin · pi pi.on() ext</a:t>
            </a:r>
            <a:endParaRPr lang="en-US" sz="850" dirty="0"/>
          </a:p>
        </p:txBody>
      </p:sp>
      <p:sp>
        <p:nvSpPr>
          <p:cNvPr id="24" name="s17_mhr3"/>
          <p:cNvSpPr/>
          <p:nvPr/>
        </p:nvSpPr>
        <p:spPr>
          <a:xfrm>
            <a:off x="777240" y="3456432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5" name="s17_mk4"/>
          <p:cNvSpPr/>
          <p:nvPr/>
        </p:nvSpPr>
        <p:spPr>
          <a:xfrm>
            <a:off x="777240" y="3456432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tier</a:t>
            </a:r>
            <a:endParaRPr lang="en-US" sz="900" dirty="0"/>
          </a:p>
        </p:txBody>
      </p:sp>
      <p:sp>
        <p:nvSpPr>
          <p:cNvPr id="26" name="s17_mv4"/>
          <p:cNvSpPr/>
          <p:nvPr/>
        </p:nvSpPr>
        <p:spPr>
          <a:xfrm>
            <a:off x="2240280" y="3456432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review — hooks run code, can block tools</a:t>
            </a:r>
            <a:endParaRPr lang="en-US" sz="850" dirty="0"/>
          </a:p>
        </p:txBody>
      </p:sp>
      <p:sp>
        <p:nvSpPr>
          <p:cNvPr id="27" name="s17_mhr4"/>
          <p:cNvSpPr/>
          <p:nvPr/>
        </p:nvSpPr>
        <p:spPr>
          <a:xfrm>
            <a:off x="777240" y="3840480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8" name="s17_mk5"/>
          <p:cNvSpPr/>
          <p:nvPr/>
        </p:nvSpPr>
        <p:spPr>
          <a:xfrm>
            <a:off x="777240" y="384048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install</a:t>
            </a:r>
            <a:endParaRPr lang="en-US" sz="900" dirty="0"/>
          </a:p>
        </p:txBody>
      </p:sp>
      <p:sp>
        <p:nvSpPr>
          <p:cNvPr id="29" name="s17_mv5"/>
          <p:cNvSpPr/>
          <p:nvPr/>
        </p:nvSpPr>
        <p:spPr>
          <a:xfrm>
            <a:off x="2240280" y="384048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merge settings/hooks.json (2) · drop .ts (2)</a:t>
            </a:r>
            <a:endParaRPr lang="en-US" sz="850" dirty="0"/>
          </a:p>
        </p:txBody>
      </p:sp>
      <p:sp>
        <p:nvSpPr>
          <p:cNvPr id="30" name="s17_mhr5"/>
          <p:cNvSpPr/>
          <p:nvPr/>
        </p:nvSpPr>
        <p:spPr>
          <a:xfrm>
            <a:off x="777240" y="4224528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31" name="s17_mwhy"/>
          <p:cNvSpPr/>
          <p:nvPr/>
        </p:nvSpPr>
        <p:spPr>
          <a:xfrm>
            <a:off x="777240" y="498348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Hooks run code (tier=review): two harnesses take JSON, two need generated TS — store spec, not the codegen.</a:t>
            </a:r>
            <a:endParaRPr lang="en-US" sz="950" dirty="0"/>
          </a:p>
        </p:txBody>
      </p:sp>
      <p:sp>
        <p:nvSpPr>
          <p:cNvPr id="32" name="s17_row_sh"/>
          <p:cNvSpPr/>
          <p:nvPr/>
        </p:nvSpPr>
        <p:spPr>
          <a:xfrm>
            <a:off x="6451092" y="1531620"/>
            <a:ext cx="5285232" cy="310896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33" name="s17_row"/>
          <p:cNvSpPr/>
          <p:nvPr/>
        </p:nvSpPr>
        <p:spPr>
          <a:xfrm>
            <a:off x="6400800" y="1481328"/>
            <a:ext cx="5285232" cy="310896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34" name="s17_rb"/>
          <p:cNvSpPr/>
          <p:nvPr/>
        </p:nvSpPr>
        <p:spPr>
          <a:xfrm>
            <a:off x="6675120" y="1627632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MATRIX ROW</a:t>
            </a:r>
            <a:endParaRPr lang="en-US" sz="1050" dirty="0"/>
          </a:p>
        </p:txBody>
      </p:sp>
      <p:sp>
        <p:nvSpPr>
          <p:cNvPr id="35" name="s17_rb0"/>
          <p:cNvSpPr/>
          <p:nvPr/>
        </p:nvSpPr>
        <p:spPr>
          <a:xfrm>
            <a:off x="6675120" y="2139696"/>
            <a:ext cx="109728" cy="109728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6" name="s17_rk0"/>
          <p:cNvSpPr/>
          <p:nvPr/>
        </p:nvSpPr>
        <p:spPr>
          <a:xfrm>
            <a:off x="6894576" y="1938528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CLAUDE CODE</a:t>
            </a:r>
            <a:endParaRPr lang="en-US" sz="950" dirty="0"/>
          </a:p>
        </p:txBody>
      </p:sp>
      <p:sp>
        <p:nvSpPr>
          <p:cNvPr id="37" name="s17_rc0_sh"/>
          <p:cNvSpPr/>
          <p:nvPr/>
        </p:nvSpPr>
        <p:spPr>
          <a:xfrm>
            <a:off x="8302752" y="2075688"/>
            <a:ext cx="826618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38" name="s17_rc0"/>
          <p:cNvSpPr/>
          <p:nvPr/>
        </p:nvSpPr>
        <p:spPr>
          <a:xfrm>
            <a:off x="8275320" y="2048256"/>
            <a:ext cx="826618" cy="287528"/>
          </a:xfrm>
          <a:prstGeom prst="rect">
            <a:avLst/>
          </a:prstGeom>
          <a:solidFill>
            <a:srgbClr val="E5F5EA"/>
          </a:solidFill>
          <a:ln w="15875">
            <a:solidFill>
              <a:srgbClr val="16A34A"/>
            </a:solidFill>
            <a:prstDash val="solid"/>
          </a:ln>
        </p:spPr>
      </p:sp>
      <p:sp>
        <p:nvSpPr>
          <p:cNvPr id="39" name="s17_rc0_t"/>
          <p:cNvSpPr/>
          <p:nvPr/>
        </p:nvSpPr>
        <p:spPr>
          <a:xfrm>
            <a:off x="8275320" y="2048256"/>
            <a:ext cx="826618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COPY-AS-IS</a:t>
            </a:r>
            <a:endParaRPr lang="en-US" sz="700" dirty="0"/>
          </a:p>
        </p:txBody>
      </p:sp>
      <p:sp>
        <p:nvSpPr>
          <p:cNvPr id="40" name="s17_rd0"/>
          <p:cNvSpPr/>
          <p:nvPr/>
        </p:nvSpPr>
        <p:spPr>
          <a:xfrm>
            <a:off x="9211666" y="2157984"/>
            <a:ext cx="68580" cy="68580"/>
          </a:xfrm>
          <a:prstGeom prst="rect">
            <a:avLst/>
          </a:prstGeom>
          <a:solidFill>
            <a:srgbClr val="C7CAD1"/>
          </a:solidFill>
          <a:ln/>
        </p:spPr>
      </p:sp>
      <p:sp>
        <p:nvSpPr>
          <p:cNvPr id="41" name="s17_rb1"/>
          <p:cNvSpPr/>
          <p:nvPr/>
        </p:nvSpPr>
        <p:spPr>
          <a:xfrm>
            <a:off x="6675120" y="2651760"/>
            <a:ext cx="109728" cy="109728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17_rk1"/>
          <p:cNvSpPr/>
          <p:nvPr/>
        </p:nvSpPr>
        <p:spPr>
          <a:xfrm>
            <a:off x="6894576" y="2450592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CODEX</a:t>
            </a:r>
            <a:endParaRPr lang="en-US" sz="950" dirty="0"/>
          </a:p>
        </p:txBody>
      </p:sp>
      <p:sp>
        <p:nvSpPr>
          <p:cNvPr id="43" name="s17_rc1_sh"/>
          <p:cNvSpPr/>
          <p:nvPr/>
        </p:nvSpPr>
        <p:spPr>
          <a:xfrm>
            <a:off x="8302752" y="2587752"/>
            <a:ext cx="826618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44" name="s17_rc1"/>
          <p:cNvSpPr/>
          <p:nvPr/>
        </p:nvSpPr>
        <p:spPr>
          <a:xfrm>
            <a:off x="8275320" y="2560320"/>
            <a:ext cx="826618" cy="287528"/>
          </a:xfrm>
          <a:prstGeom prst="rect">
            <a:avLst/>
          </a:prstGeom>
          <a:solidFill>
            <a:srgbClr val="E5F5EA"/>
          </a:solidFill>
          <a:ln w="15875">
            <a:solidFill>
              <a:srgbClr val="16A34A"/>
            </a:solidFill>
            <a:prstDash val="solid"/>
          </a:ln>
        </p:spPr>
      </p:sp>
      <p:sp>
        <p:nvSpPr>
          <p:cNvPr id="45" name="s17_rc1_t"/>
          <p:cNvSpPr/>
          <p:nvPr/>
        </p:nvSpPr>
        <p:spPr>
          <a:xfrm>
            <a:off x="8275320" y="2560320"/>
            <a:ext cx="826618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COPY-AS-IS</a:t>
            </a:r>
            <a:endParaRPr lang="en-US" sz="700" dirty="0"/>
          </a:p>
        </p:txBody>
      </p:sp>
      <p:sp>
        <p:nvSpPr>
          <p:cNvPr id="46" name="s17_rd1"/>
          <p:cNvSpPr/>
          <p:nvPr/>
        </p:nvSpPr>
        <p:spPr>
          <a:xfrm>
            <a:off x="9211666" y="2670048"/>
            <a:ext cx="68580" cy="68580"/>
          </a:xfrm>
          <a:prstGeom prst="rect">
            <a:avLst/>
          </a:prstGeom>
          <a:solidFill>
            <a:srgbClr val="C7CAD1"/>
          </a:solidFill>
          <a:ln/>
        </p:spPr>
      </p:sp>
      <p:sp>
        <p:nvSpPr>
          <p:cNvPr id="47" name="s17_rb2"/>
          <p:cNvSpPr/>
          <p:nvPr/>
        </p:nvSpPr>
        <p:spPr>
          <a:xfrm>
            <a:off x="6675120" y="3163824"/>
            <a:ext cx="109728" cy="109728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48" name="s17_rk2"/>
          <p:cNvSpPr/>
          <p:nvPr/>
        </p:nvSpPr>
        <p:spPr>
          <a:xfrm>
            <a:off x="6894576" y="2962656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OPENCODE</a:t>
            </a:r>
            <a:endParaRPr lang="en-US" sz="950" dirty="0"/>
          </a:p>
        </p:txBody>
      </p:sp>
      <p:sp>
        <p:nvSpPr>
          <p:cNvPr id="49" name="s17_rc2_sh"/>
          <p:cNvSpPr/>
          <p:nvPr/>
        </p:nvSpPr>
        <p:spPr>
          <a:xfrm>
            <a:off x="8302752" y="3099816"/>
            <a:ext cx="767730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50" name="s17_rc2"/>
          <p:cNvSpPr/>
          <p:nvPr/>
        </p:nvSpPr>
        <p:spPr>
          <a:xfrm>
            <a:off x="8275320" y="3072384"/>
            <a:ext cx="767730" cy="287528"/>
          </a:xfrm>
          <a:prstGeom prst="rect">
            <a:avLst/>
          </a:prstGeom>
          <a:solidFill>
            <a:srgbClr val="E7EEFD"/>
          </a:solidFill>
          <a:ln w="15875">
            <a:solidFill>
              <a:srgbClr val="2F6FED"/>
            </a:solidFill>
            <a:prstDash val="solid"/>
          </a:ln>
        </p:spPr>
      </p:sp>
      <p:sp>
        <p:nvSpPr>
          <p:cNvPr id="51" name="s17_rc2_t"/>
          <p:cNvSpPr/>
          <p:nvPr/>
        </p:nvSpPr>
        <p:spPr>
          <a:xfrm>
            <a:off x="8275320" y="3072384"/>
            <a:ext cx="767730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TRANSLATE</a:t>
            </a:r>
            <a:endParaRPr lang="en-US" sz="700" dirty="0"/>
          </a:p>
        </p:txBody>
      </p:sp>
      <p:sp>
        <p:nvSpPr>
          <p:cNvPr id="52" name="s17_rd2"/>
          <p:cNvSpPr/>
          <p:nvPr/>
        </p:nvSpPr>
        <p:spPr>
          <a:xfrm>
            <a:off x="9152778" y="3182112"/>
            <a:ext cx="68580" cy="6858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53" name="s17_rb3"/>
          <p:cNvSpPr/>
          <p:nvPr/>
        </p:nvSpPr>
        <p:spPr>
          <a:xfrm>
            <a:off x="6675120" y="3675888"/>
            <a:ext cx="109728" cy="10972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4" name="s17_rk3"/>
          <p:cNvSpPr/>
          <p:nvPr/>
        </p:nvSpPr>
        <p:spPr>
          <a:xfrm>
            <a:off x="6894576" y="3474720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</a:t>
            </a:r>
            <a:endParaRPr lang="en-US" sz="950" dirty="0"/>
          </a:p>
        </p:txBody>
      </p:sp>
      <p:sp>
        <p:nvSpPr>
          <p:cNvPr id="55" name="s17_rc3_sh"/>
          <p:cNvSpPr/>
          <p:nvPr/>
        </p:nvSpPr>
        <p:spPr>
          <a:xfrm>
            <a:off x="8302752" y="3611880"/>
            <a:ext cx="767730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56" name="s17_rc3"/>
          <p:cNvSpPr/>
          <p:nvPr/>
        </p:nvSpPr>
        <p:spPr>
          <a:xfrm>
            <a:off x="8275320" y="3584448"/>
            <a:ext cx="767730" cy="287528"/>
          </a:xfrm>
          <a:prstGeom prst="rect">
            <a:avLst/>
          </a:prstGeom>
          <a:solidFill>
            <a:srgbClr val="E7EEFD"/>
          </a:solidFill>
          <a:ln w="15875">
            <a:solidFill>
              <a:srgbClr val="2F6FED"/>
            </a:solidFill>
            <a:prstDash val="solid"/>
          </a:ln>
        </p:spPr>
      </p:sp>
      <p:sp>
        <p:nvSpPr>
          <p:cNvPr id="57" name="s17_rc3_t"/>
          <p:cNvSpPr/>
          <p:nvPr/>
        </p:nvSpPr>
        <p:spPr>
          <a:xfrm>
            <a:off x="8275320" y="3584448"/>
            <a:ext cx="767730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TRANSLATE</a:t>
            </a:r>
            <a:endParaRPr lang="en-US" sz="700" dirty="0"/>
          </a:p>
        </p:txBody>
      </p:sp>
      <p:sp>
        <p:nvSpPr>
          <p:cNvPr id="58" name="s17_rd3"/>
          <p:cNvSpPr/>
          <p:nvPr/>
        </p:nvSpPr>
        <p:spPr>
          <a:xfrm>
            <a:off x="9152778" y="3694176"/>
            <a:ext cx="68580" cy="68580"/>
          </a:xfrm>
          <a:prstGeom prst="rect">
            <a:avLst/>
          </a:prstGeom>
          <a:solidFill>
            <a:srgbClr val="C7CAD1"/>
          </a:solidFill>
          <a:ln/>
        </p:spPr>
      </p:sp>
      <p:sp>
        <p:nvSpPr>
          <p:cNvPr id="59" name="s17_rhr"/>
          <p:cNvSpPr/>
          <p:nvPr/>
        </p:nvSpPr>
        <p:spPr>
          <a:xfrm>
            <a:off x="6675120" y="3986784"/>
            <a:ext cx="475488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60" name="s17_rsum"/>
          <p:cNvSpPr/>
          <p:nvPr/>
        </p:nvSpPr>
        <p:spPr>
          <a:xfrm>
            <a:off x="6675120" y="4133088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JSON drops into Claude and Codex (trust-gated); OpenCode and Pi translate spec into generated TypeScript modules.</a:t>
            </a:r>
            <a:endParaRPr lang="en-US" sz="950" dirty="0"/>
          </a:p>
        </p:txBody>
      </p:sp>
      <p:sp>
        <p:nvSpPr>
          <p:cNvPr id="61" name="s17_au_sh"/>
          <p:cNvSpPr/>
          <p:nvPr/>
        </p:nvSpPr>
        <p:spPr>
          <a:xfrm>
            <a:off x="6451092" y="4777740"/>
            <a:ext cx="5285232" cy="155448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62" name="s17_au"/>
          <p:cNvSpPr/>
          <p:nvPr/>
        </p:nvSpPr>
        <p:spPr>
          <a:xfrm>
            <a:off x="6400800" y="4727448"/>
            <a:ext cx="5285232" cy="1554480"/>
          </a:xfrm>
          <a:prstGeom prst="rect">
            <a:avLst/>
          </a:prstGeom>
          <a:solidFill>
            <a:srgbClr val="EFEFEA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63" name="s17_ab"/>
          <p:cNvSpPr/>
          <p:nvPr/>
        </p:nvSpPr>
        <p:spPr>
          <a:xfrm>
            <a:off x="6675120" y="4873752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AUTO-UPDATE FOR THIS SURFACE</a:t>
            </a:r>
            <a:endParaRPr lang="en-US" sz="1000" dirty="0"/>
          </a:p>
        </p:txBody>
      </p:sp>
      <p:sp>
        <p:nvSpPr>
          <p:cNvPr id="64" name="s17_at"/>
          <p:cNvSpPr/>
          <p:nvPr/>
        </p:nvSpPr>
        <p:spPr>
          <a:xfrm>
            <a:off x="6675120" y="5157216"/>
            <a:ext cx="4754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Nothing self-updates: Claude/Codex settings static; OpenCode/Pi update only when codegen'd plugin ships on npm — lockfile gates every bump.</a:t>
            </a:r>
            <a:endParaRPr lang="en-US" sz="1000" dirty="0"/>
          </a:p>
        </p:txBody>
      </p:sp>
      <p:sp>
        <p:nvSpPr>
          <p:cNvPr id="65" name="s17_sec_sh"/>
          <p:cNvSpPr/>
          <p:nvPr/>
        </p:nvSpPr>
        <p:spPr>
          <a:xfrm>
            <a:off x="553212" y="4777740"/>
            <a:ext cx="5669280" cy="155448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66" name="s17_sec"/>
          <p:cNvSpPr/>
          <p:nvPr/>
        </p:nvSpPr>
        <p:spPr>
          <a:xfrm>
            <a:off x="502920" y="4727448"/>
            <a:ext cx="5669280" cy="1554480"/>
          </a:xfrm>
          <a:prstGeom prst="rect">
            <a:avLst/>
          </a:prstGeom>
          <a:solidFill>
            <a:srgbClr val="E7EEFD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67" name="s17_secb"/>
          <p:cNvSpPr/>
          <p:nvPr/>
        </p:nvSpPr>
        <p:spPr>
          <a:xfrm>
            <a:off x="777240" y="487375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THIS SECTION</a:t>
            </a:r>
            <a:endParaRPr lang="en-US" sz="1000" dirty="0"/>
          </a:p>
        </p:txBody>
      </p:sp>
      <p:sp>
        <p:nvSpPr>
          <p:cNvPr id="68" name="s17_sc0_sh"/>
          <p:cNvSpPr/>
          <p:nvPr/>
        </p:nvSpPr>
        <p:spPr>
          <a:xfrm>
            <a:off x="804672" y="5221224"/>
            <a:ext cx="692018" cy="3383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69" name="s17_sc0"/>
          <p:cNvSpPr/>
          <p:nvPr/>
        </p:nvSpPr>
        <p:spPr>
          <a:xfrm>
            <a:off x="777240" y="5193792"/>
            <a:ext cx="692018" cy="338328"/>
          </a:xfrm>
          <a:prstGeom prst="rect">
            <a:avLst/>
          </a:prstGeom>
          <a:solidFill>
            <a:srgbClr val="2F6FED"/>
          </a:solidFill>
          <a:ln w="17780">
            <a:solidFill>
              <a:srgbClr val="2F6FED"/>
            </a:solidFill>
            <a:prstDash val="solid"/>
          </a:ln>
        </p:spPr>
      </p:sp>
      <p:sp>
        <p:nvSpPr>
          <p:cNvPr id="70" name="s17_sc0_t"/>
          <p:cNvSpPr/>
          <p:nvPr/>
        </p:nvSpPr>
        <p:spPr>
          <a:xfrm>
            <a:off x="777240" y="5193792"/>
            <a:ext cx="69201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BANNER</a:t>
            </a:r>
            <a:endParaRPr lang="en-US" sz="900" dirty="0"/>
          </a:p>
        </p:txBody>
      </p:sp>
      <p:sp>
        <p:nvSpPr>
          <p:cNvPr id="71" name="s17_sc1_sh"/>
          <p:cNvSpPr/>
          <p:nvPr/>
        </p:nvSpPr>
        <p:spPr>
          <a:xfrm>
            <a:off x="1606418" y="5221224"/>
            <a:ext cx="919155" cy="3383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72" name="s17_sc1"/>
          <p:cNvSpPr/>
          <p:nvPr/>
        </p:nvSpPr>
        <p:spPr>
          <a:xfrm>
            <a:off x="1578986" y="5193792"/>
            <a:ext cx="919155" cy="338328"/>
          </a:xfrm>
          <a:prstGeom prst="rect">
            <a:avLst/>
          </a:prstGeom>
          <a:solidFill>
            <a:srgbClr val="FFFFFF"/>
          </a:solidFill>
          <a:ln w="17780">
            <a:solidFill>
              <a:srgbClr val="1B1D22"/>
            </a:solidFill>
            <a:prstDash val="solid"/>
          </a:ln>
        </p:spPr>
      </p:sp>
      <p:sp>
        <p:nvSpPr>
          <p:cNvPr id="73" name="s17_sc1_t"/>
          <p:cNvSpPr/>
          <p:nvPr/>
        </p:nvSpPr>
        <p:spPr>
          <a:xfrm>
            <a:off x="1578986" y="5193792"/>
            <a:ext cx="919155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STANDARDS</a:t>
            </a:r>
            <a:endParaRPr lang="en-US" sz="900" dirty="0"/>
          </a:p>
        </p:txBody>
      </p:sp>
      <p:sp>
        <p:nvSpPr>
          <p:cNvPr id="74" name="s17_sc2_sh"/>
          <p:cNvSpPr/>
          <p:nvPr/>
        </p:nvSpPr>
        <p:spPr>
          <a:xfrm>
            <a:off x="2635301" y="5221224"/>
            <a:ext cx="1297716" cy="3383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75" name="s17_sc2"/>
          <p:cNvSpPr/>
          <p:nvPr/>
        </p:nvSpPr>
        <p:spPr>
          <a:xfrm>
            <a:off x="2607869" y="5193792"/>
            <a:ext cx="1297716" cy="338328"/>
          </a:xfrm>
          <a:prstGeom prst="rect">
            <a:avLst/>
          </a:prstGeom>
          <a:solidFill>
            <a:srgbClr val="FFFFFF"/>
          </a:solidFill>
          <a:ln w="17780">
            <a:solidFill>
              <a:srgbClr val="1B1D22"/>
            </a:solidFill>
            <a:prstDash val="solid"/>
          </a:ln>
        </p:spPr>
      </p:sp>
      <p:sp>
        <p:nvSpPr>
          <p:cNvPr id="76" name="s17_sc2_t"/>
          <p:cNvSpPr/>
          <p:nvPr/>
        </p:nvSpPr>
        <p:spPr>
          <a:xfrm>
            <a:off x="2607869" y="5193792"/>
            <a:ext cx="129771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CLAUDE + CODEX</a:t>
            </a:r>
            <a:endParaRPr lang="en-US" sz="900" dirty="0"/>
          </a:p>
        </p:txBody>
      </p:sp>
      <p:sp>
        <p:nvSpPr>
          <p:cNvPr id="77" name="s17_sc3_sh"/>
          <p:cNvSpPr/>
          <p:nvPr/>
        </p:nvSpPr>
        <p:spPr>
          <a:xfrm>
            <a:off x="4042745" y="5221224"/>
            <a:ext cx="1222004" cy="3383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78" name="s17_sc3"/>
          <p:cNvSpPr/>
          <p:nvPr/>
        </p:nvSpPr>
        <p:spPr>
          <a:xfrm>
            <a:off x="4015313" y="5193792"/>
            <a:ext cx="1222004" cy="338328"/>
          </a:xfrm>
          <a:prstGeom prst="rect">
            <a:avLst/>
          </a:prstGeom>
          <a:solidFill>
            <a:srgbClr val="FFFFFF"/>
          </a:solidFill>
          <a:ln w="17780">
            <a:solidFill>
              <a:srgbClr val="1B1D22"/>
            </a:solidFill>
            <a:prstDash val="solid"/>
          </a:ln>
        </p:spPr>
      </p:sp>
      <p:sp>
        <p:nvSpPr>
          <p:cNvPr id="79" name="s17_sc3_t"/>
          <p:cNvSpPr/>
          <p:nvPr/>
        </p:nvSpPr>
        <p:spPr>
          <a:xfrm>
            <a:off x="4015313" y="5193792"/>
            <a:ext cx="122200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OPENCODE + PI</a:t>
            </a:r>
            <a:endParaRPr lang="en-US" sz="900" dirty="0"/>
          </a:p>
        </p:txBody>
      </p:sp>
      <p:sp>
        <p:nvSpPr>
          <p:cNvPr id="80" name="s17_sect"/>
          <p:cNvSpPr/>
          <p:nvPr/>
        </p:nvSpPr>
        <p:spPr>
          <a:xfrm>
            <a:off x="777240" y="5779008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 slides per surface — spec state, then the harnesses in two pairs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18_vx_v1"/>
          <p:cNvSpPr/>
          <p:nvPr/>
        </p:nvSpPr>
        <p:spPr>
          <a:xfrm>
            <a:off x="11137392" y="384048"/>
            <a:ext cx="128016" cy="12801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" name="s18_vx_v2"/>
          <p:cNvSpPr/>
          <p:nvPr/>
        </p:nvSpPr>
        <p:spPr>
          <a:xfrm>
            <a:off x="11292840" y="384048"/>
            <a:ext cx="128016" cy="12801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" name="s18_vx_v3"/>
          <p:cNvSpPr/>
          <p:nvPr/>
        </p:nvSpPr>
        <p:spPr>
          <a:xfrm>
            <a:off x="11137392" y="539496"/>
            <a:ext cx="128016" cy="128016"/>
          </a:xfrm>
          <a:prstGeom prst="rect">
            <a:avLst/>
          </a:prstGeom>
          <a:solidFill>
            <a:srgbClr val="D97706"/>
          </a:solidFill>
          <a:ln/>
        </p:spPr>
      </p:sp>
      <p:pic>
        <p:nvPicPr>
          <p:cNvPr id="5" name="s18_kick" descr="assets/sks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02336"/>
            <a:ext cx="3422469" cy="182880"/>
          </a:xfrm>
          <a:prstGeom prst="rect">
            <a:avLst/>
          </a:prstGeom>
        </p:spPr>
      </p:pic>
      <p:pic>
        <p:nvPicPr>
          <p:cNvPr id="6" name="s18_title" descr="assets/st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58368"/>
            <a:ext cx="8083296" cy="475488"/>
          </a:xfrm>
          <a:prstGeom prst="rect">
            <a:avLst/>
          </a:prstGeom>
        </p:spPr>
      </p:pic>
      <p:sp>
        <p:nvSpPr>
          <p:cNvPr id="7" name="s18_spec"/>
          <p:cNvSpPr/>
          <p:nvPr/>
        </p:nvSpPr>
        <p:spPr>
          <a:xfrm>
            <a:off x="502920" y="1216152"/>
            <a:ext cx="10469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hooks specification state — fields, rules, how the four diverge, and what the registry does about it</a:t>
            </a:r>
            <a:endParaRPr lang="en-US" sz="1100" dirty="0"/>
          </a:p>
        </p:txBody>
      </p:sp>
      <p:sp>
        <p:nvSpPr>
          <p:cNvPr id="8" name="s18_pg"/>
          <p:cNvSpPr/>
          <p:nvPr/>
        </p:nvSpPr>
        <p:spPr>
          <a:xfrm>
            <a:off x="11064240" y="648309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 / 45</a:t>
            </a:r>
            <a:endParaRPr lang="en-US" sz="950" dirty="0"/>
          </a:p>
        </p:txBody>
      </p:sp>
      <p:sp>
        <p:nvSpPr>
          <p:cNvPr id="10" name="s18_f_sh"/>
          <p:cNvSpPr/>
          <p:nvPr/>
        </p:nvSpPr>
        <p:spPr>
          <a:xfrm>
            <a:off x="553212" y="1531620"/>
            <a:ext cx="5669280" cy="416052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1" name="s18_f"/>
          <p:cNvSpPr/>
          <p:nvPr/>
        </p:nvSpPr>
        <p:spPr>
          <a:xfrm>
            <a:off x="502920" y="1481328"/>
            <a:ext cx="5669280" cy="416052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12" name="s18_fb"/>
          <p:cNvSpPr/>
          <p:nvPr/>
        </p:nvSpPr>
        <p:spPr>
          <a:xfrm>
            <a:off x="777240" y="162763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FIELDS</a:t>
            </a:r>
            <a:endParaRPr lang="en-US" sz="1050" dirty="0"/>
          </a:p>
        </p:txBody>
      </p:sp>
      <p:sp>
        <p:nvSpPr>
          <p:cNvPr id="13" name="s18_fk0"/>
          <p:cNvSpPr/>
          <p:nvPr/>
        </p:nvSpPr>
        <p:spPr>
          <a:xfrm>
            <a:off x="777240" y="1920240"/>
            <a:ext cx="14173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hooks.&lt;Event&gt;</a:t>
            </a:r>
            <a:endParaRPr lang="en-US" sz="900" dirty="0"/>
          </a:p>
        </p:txBody>
      </p:sp>
      <p:sp>
        <p:nvSpPr>
          <p:cNvPr id="14" name="s18_fv0"/>
          <p:cNvSpPr/>
          <p:nvPr/>
        </p:nvSpPr>
        <p:spPr>
          <a:xfrm>
            <a:off x="2240280" y="1920240"/>
            <a:ext cx="365760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event → [{matcher, hooks[]}] array</a:t>
            </a:r>
            <a:endParaRPr lang="en-US" sz="850" dirty="0"/>
          </a:p>
        </p:txBody>
      </p:sp>
      <p:sp>
        <p:nvSpPr>
          <p:cNvPr id="15" name="s18_fhr0"/>
          <p:cNvSpPr/>
          <p:nvPr/>
        </p:nvSpPr>
        <p:spPr>
          <a:xfrm>
            <a:off x="777240" y="2272284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16" name="s18_fk1"/>
          <p:cNvSpPr/>
          <p:nvPr/>
        </p:nvSpPr>
        <p:spPr>
          <a:xfrm>
            <a:off x="777240" y="2272284"/>
            <a:ext cx="14173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matcher</a:t>
            </a:r>
            <a:endParaRPr lang="en-US" sz="900" dirty="0"/>
          </a:p>
        </p:txBody>
      </p:sp>
      <p:sp>
        <p:nvSpPr>
          <p:cNvPr id="17" name="s18_fv1"/>
          <p:cNvSpPr/>
          <p:nvPr/>
        </p:nvSpPr>
        <p:spPr>
          <a:xfrm>
            <a:off x="2240280" y="2272284"/>
            <a:ext cx="365760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tool-name filter: exact, | alts, regex</a:t>
            </a:r>
            <a:endParaRPr lang="en-US" sz="850" dirty="0"/>
          </a:p>
        </p:txBody>
      </p:sp>
      <p:sp>
        <p:nvSpPr>
          <p:cNvPr id="18" name="s18_fhr1"/>
          <p:cNvSpPr/>
          <p:nvPr/>
        </p:nvSpPr>
        <p:spPr>
          <a:xfrm>
            <a:off x="777240" y="2624328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19" name="s18_fk2"/>
          <p:cNvSpPr/>
          <p:nvPr/>
        </p:nvSpPr>
        <p:spPr>
          <a:xfrm>
            <a:off x="777240" y="2624328"/>
            <a:ext cx="14173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</a:t>
            </a:r>
            <a:endParaRPr lang="en-US" sz="900" dirty="0"/>
          </a:p>
        </p:txBody>
      </p:sp>
      <p:sp>
        <p:nvSpPr>
          <p:cNvPr id="20" name="s18_fv2"/>
          <p:cNvSpPr/>
          <p:nvPr/>
        </p:nvSpPr>
        <p:spPr>
          <a:xfrm>
            <a:off x="2240280" y="2624328"/>
            <a:ext cx="365760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command|http|mcp_tool|prompt|agent</a:t>
            </a:r>
            <a:endParaRPr lang="en-US" sz="850" dirty="0"/>
          </a:p>
        </p:txBody>
      </p:sp>
      <p:sp>
        <p:nvSpPr>
          <p:cNvPr id="21" name="s18_fhr2"/>
          <p:cNvSpPr/>
          <p:nvPr/>
        </p:nvSpPr>
        <p:spPr>
          <a:xfrm>
            <a:off x="777240" y="2976372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2" name="s18_fk3"/>
          <p:cNvSpPr/>
          <p:nvPr/>
        </p:nvSpPr>
        <p:spPr>
          <a:xfrm>
            <a:off x="777240" y="2976372"/>
            <a:ext cx="14173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command</a:t>
            </a:r>
            <a:endParaRPr lang="en-US" sz="900" dirty="0"/>
          </a:p>
        </p:txBody>
      </p:sp>
      <p:sp>
        <p:nvSpPr>
          <p:cNvPr id="23" name="s18_fv3"/>
          <p:cNvSpPr/>
          <p:nvPr/>
        </p:nvSpPr>
        <p:spPr>
          <a:xfrm>
            <a:off x="2240280" y="2976372"/>
            <a:ext cx="365760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shell cmd + timeout (600s default)</a:t>
            </a:r>
            <a:endParaRPr lang="en-US" sz="850" dirty="0"/>
          </a:p>
        </p:txBody>
      </p:sp>
      <p:sp>
        <p:nvSpPr>
          <p:cNvPr id="24" name="s18_fhr3"/>
          <p:cNvSpPr/>
          <p:nvPr/>
        </p:nvSpPr>
        <p:spPr>
          <a:xfrm>
            <a:off x="777240" y="3328416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5" name="s18_fk4"/>
          <p:cNvSpPr/>
          <p:nvPr/>
        </p:nvSpPr>
        <p:spPr>
          <a:xfrm>
            <a:off x="777240" y="3328416"/>
            <a:ext cx="14173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stdin JSON</a:t>
            </a:r>
            <a:endParaRPr lang="en-US" sz="900" dirty="0"/>
          </a:p>
        </p:txBody>
      </p:sp>
      <p:sp>
        <p:nvSpPr>
          <p:cNvPr id="26" name="s18_fv4"/>
          <p:cNvSpPr/>
          <p:nvPr/>
        </p:nvSpPr>
        <p:spPr>
          <a:xfrm>
            <a:off x="2240280" y="3328416"/>
            <a:ext cx="365760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session_id, cwd, tool_name, tool_input</a:t>
            </a:r>
            <a:endParaRPr lang="en-US" sz="850" dirty="0"/>
          </a:p>
        </p:txBody>
      </p:sp>
      <p:sp>
        <p:nvSpPr>
          <p:cNvPr id="27" name="s18_fhr4"/>
          <p:cNvSpPr/>
          <p:nvPr/>
        </p:nvSpPr>
        <p:spPr>
          <a:xfrm>
            <a:off x="777240" y="3680460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8" name="s18_fk5"/>
          <p:cNvSpPr/>
          <p:nvPr/>
        </p:nvSpPr>
        <p:spPr>
          <a:xfrm>
            <a:off x="777240" y="3680460"/>
            <a:ext cx="14173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exit codes</a:t>
            </a:r>
            <a:endParaRPr lang="en-US" sz="900" dirty="0"/>
          </a:p>
        </p:txBody>
      </p:sp>
      <p:sp>
        <p:nvSpPr>
          <p:cNvPr id="29" name="s18_fv5"/>
          <p:cNvSpPr/>
          <p:nvPr/>
        </p:nvSpPr>
        <p:spPr>
          <a:xfrm>
            <a:off x="2240280" y="3680460"/>
            <a:ext cx="365760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ok/controls · 2 block+stderr · other warn</a:t>
            </a:r>
            <a:endParaRPr lang="en-US" sz="850" dirty="0"/>
          </a:p>
        </p:txBody>
      </p:sp>
      <p:sp>
        <p:nvSpPr>
          <p:cNvPr id="30" name="s18_rb"/>
          <p:cNvSpPr/>
          <p:nvPr/>
        </p:nvSpPr>
        <p:spPr>
          <a:xfrm>
            <a:off x="777240" y="4114800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 RULES</a:t>
            </a:r>
            <a:endParaRPr lang="en-US" sz="900" dirty="0"/>
          </a:p>
        </p:txBody>
      </p:sp>
      <p:sp>
        <p:nvSpPr>
          <p:cNvPr id="31" name="s18_rb0"/>
          <p:cNvSpPr/>
          <p:nvPr/>
        </p:nvSpPr>
        <p:spPr>
          <a:xfrm>
            <a:off x="777240" y="4425696"/>
            <a:ext cx="82296" cy="8229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2" name="s18_rt0"/>
          <p:cNvSpPr/>
          <p:nvPr/>
        </p:nvSpPr>
        <p:spPr>
          <a:xfrm>
            <a:off x="941832" y="4379976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De-facto: Claude hooks JSON — no cross-vendor standard</a:t>
            </a:r>
            <a:endParaRPr lang="en-US" sz="900" dirty="0"/>
          </a:p>
        </p:txBody>
      </p:sp>
      <p:sp>
        <p:nvSpPr>
          <p:cNvPr id="33" name="s18_rb1"/>
          <p:cNvSpPr/>
          <p:nvPr/>
        </p:nvSpPr>
        <p:spPr>
          <a:xfrm>
            <a:off x="777240" y="4727448"/>
            <a:ext cx="82296" cy="8229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4" name="s18_rt1"/>
          <p:cNvSpPr/>
          <p:nvPr/>
        </p:nvSpPr>
        <p:spPr>
          <a:xfrm>
            <a:off x="941832" y="4681728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Codex fires a compatible 12-event subset — target it</a:t>
            </a:r>
            <a:endParaRPr lang="en-US" sz="900" dirty="0"/>
          </a:p>
        </p:txBody>
      </p:sp>
      <p:sp>
        <p:nvSpPr>
          <p:cNvPr id="35" name="s18_rb2"/>
          <p:cNvSpPr/>
          <p:nvPr/>
        </p:nvSpPr>
        <p:spPr>
          <a:xfrm>
            <a:off x="777240" y="5029200"/>
            <a:ext cx="82296" cy="8229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6" name="s18_rt2"/>
          <p:cNvSpPr/>
          <p:nvPr/>
        </p:nvSpPr>
        <p:spPr>
          <a:xfrm>
            <a:off x="941832" y="4983480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Hooks merge across every settings/config layer</a:t>
            </a:r>
            <a:endParaRPr lang="en-US" sz="900" dirty="0"/>
          </a:p>
        </p:txBody>
      </p:sp>
      <p:sp>
        <p:nvSpPr>
          <p:cNvPr id="37" name="s18_rb3"/>
          <p:cNvSpPr/>
          <p:nvPr/>
        </p:nvSpPr>
        <p:spPr>
          <a:xfrm>
            <a:off x="777240" y="5330952"/>
            <a:ext cx="82296" cy="8229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8" name="s18_rt3"/>
          <p:cNvSpPr/>
          <p:nvPr/>
        </p:nvSpPr>
        <p:spPr>
          <a:xfrm>
            <a:off x="941832" y="5285232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Hooks run shell code — review tier; diff at install</a:t>
            </a:r>
            <a:endParaRPr lang="en-US" sz="900" dirty="0"/>
          </a:p>
        </p:txBody>
      </p:sp>
      <p:sp>
        <p:nvSpPr>
          <p:cNvPr id="39" name="s18_h_sh"/>
          <p:cNvSpPr/>
          <p:nvPr/>
        </p:nvSpPr>
        <p:spPr>
          <a:xfrm>
            <a:off x="6451092" y="1531620"/>
            <a:ext cx="5285232" cy="288036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40" name="s18_h"/>
          <p:cNvSpPr/>
          <p:nvPr/>
        </p:nvSpPr>
        <p:spPr>
          <a:xfrm>
            <a:off x="6400800" y="1481328"/>
            <a:ext cx="5285232" cy="288036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41" name="s18_hb"/>
          <p:cNvSpPr/>
          <p:nvPr/>
        </p:nvSpPr>
        <p:spPr>
          <a:xfrm>
            <a:off x="6675120" y="1627632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THE FOUR IMPLEMENT IT</a:t>
            </a:r>
            <a:endParaRPr lang="en-US" sz="1050" dirty="0"/>
          </a:p>
        </p:txBody>
      </p:sp>
      <p:sp>
        <p:nvSpPr>
          <p:cNvPr id="42" name="s18_hb0"/>
          <p:cNvSpPr/>
          <p:nvPr/>
        </p:nvSpPr>
        <p:spPr>
          <a:xfrm>
            <a:off x="6675120" y="2157984"/>
            <a:ext cx="109728" cy="109728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43" name="s18_hk0"/>
          <p:cNvSpPr/>
          <p:nvPr/>
        </p:nvSpPr>
        <p:spPr>
          <a:xfrm>
            <a:off x="6894576" y="1938528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CLAUDE CODE</a:t>
            </a:r>
            <a:endParaRPr lang="en-US" sz="1000" dirty="0"/>
          </a:p>
        </p:txBody>
      </p:sp>
      <p:sp>
        <p:nvSpPr>
          <p:cNvPr id="44" name="s18_hv0"/>
          <p:cNvSpPr/>
          <p:nvPr/>
        </p:nvSpPr>
        <p:spPr>
          <a:xfrm>
            <a:off x="8275320" y="1938528"/>
            <a:ext cx="3154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Native: settings + plugin hooks.json; ~30 events</a:t>
            </a:r>
            <a:endParaRPr lang="en-US" sz="900" dirty="0"/>
          </a:p>
        </p:txBody>
      </p:sp>
      <p:sp>
        <p:nvSpPr>
          <p:cNvPr id="45" name="s18_hhr0"/>
          <p:cNvSpPr/>
          <p:nvPr/>
        </p:nvSpPr>
        <p:spPr>
          <a:xfrm>
            <a:off x="6675120" y="2505456"/>
            <a:ext cx="475488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46" name="s18_hb1"/>
          <p:cNvSpPr/>
          <p:nvPr/>
        </p:nvSpPr>
        <p:spPr>
          <a:xfrm>
            <a:off x="6675120" y="2734056"/>
            <a:ext cx="109728" cy="109728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7" name="s18_hk1"/>
          <p:cNvSpPr/>
          <p:nvPr/>
        </p:nvSpPr>
        <p:spPr>
          <a:xfrm>
            <a:off x="6894576" y="2514600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CODEX</a:t>
            </a:r>
            <a:endParaRPr lang="en-US" sz="1000" dirty="0"/>
          </a:p>
        </p:txBody>
      </p:sp>
      <p:sp>
        <p:nvSpPr>
          <p:cNvPr id="48" name="s18_hv1"/>
          <p:cNvSpPr/>
          <p:nvPr/>
        </p:nvSpPr>
        <p:spPr>
          <a:xfrm>
            <a:off x="8275320" y="2514600"/>
            <a:ext cx="3154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hooks.json Claude-shape; 12 events; trust-gated</a:t>
            </a:r>
            <a:endParaRPr lang="en-US" sz="900" dirty="0"/>
          </a:p>
        </p:txBody>
      </p:sp>
      <p:sp>
        <p:nvSpPr>
          <p:cNvPr id="49" name="s18_hhr1"/>
          <p:cNvSpPr/>
          <p:nvPr/>
        </p:nvSpPr>
        <p:spPr>
          <a:xfrm>
            <a:off x="6675120" y="3081528"/>
            <a:ext cx="475488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50" name="s18_hb2"/>
          <p:cNvSpPr/>
          <p:nvPr/>
        </p:nvSpPr>
        <p:spPr>
          <a:xfrm>
            <a:off x="6675120" y="3310128"/>
            <a:ext cx="109728" cy="109728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51" name="s18_hk2"/>
          <p:cNvSpPr/>
          <p:nvPr/>
        </p:nvSpPr>
        <p:spPr>
          <a:xfrm>
            <a:off x="6894576" y="3090672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OPENCODE</a:t>
            </a:r>
            <a:endParaRPr lang="en-US" sz="1000" dirty="0"/>
          </a:p>
        </p:txBody>
      </p:sp>
      <p:sp>
        <p:nvSpPr>
          <p:cNvPr id="52" name="s18_hv2"/>
          <p:cNvSpPr/>
          <p:nvPr/>
        </p:nvSpPr>
        <p:spPr>
          <a:xfrm>
            <a:off x="8275320" y="3090672"/>
            <a:ext cx="3154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file — codegen TS plugin: tool.execute.*</a:t>
            </a:r>
            <a:endParaRPr lang="en-US" sz="900" dirty="0"/>
          </a:p>
        </p:txBody>
      </p:sp>
      <p:sp>
        <p:nvSpPr>
          <p:cNvPr id="53" name="s18_hhr2"/>
          <p:cNvSpPr/>
          <p:nvPr/>
        </p:nvSpPr>
        <p:spPr>
          <a:xfrm>
            <a:off x="6675120" y="3657600"/>
            <a:ext cx="475488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54" name="s18_hb3"/>
          <p:cNvSpPr/>
          <p:nvPr/>
        </p:nvSpPr>
        <p:spPr>
          <a:xfrm>
            <a:off x="6675120" y="3886200"/>
            <a:ext cx="109728" cy="10972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5" name="s18_hk3"/>
          <p:cNvSpPr/>
          <p:nvPr/>
        </p:nvSpPr>
        <p:spPr>
          <a:xfrm>
            <a:off x="6894576" y="3666744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</a:t>
            </a:r>
            <a:endParaRPr lang="en-US" sz="1000" dirty="0"/>
          </a:p>
        </p:txBody>
      </p:sp>
      <p:sp>
        <p:nvSpPr>
          <p:cNvPr id="56" name="s18_hv3"/>
          <p:cNvSpPr/>
          <p:nvPr/>
        </p:nvSpPr>
        <p:spPr>
          <a:xfrm>
            <a:off x="8275320" y="3666744"/>
            <a:ext cx="3154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file — codegen TS ext: pi.on(tool_call)</a:t>
            </a:r>
            <a:endParaRPr lang="en-US" sz="900" dirty="0"/>
          </a:p>
        </p:txBody>
      </p:sp>
      <p:sp>
        <p:nvSpPr>
          <p:cNvPr id="57" name="s18_st_sh"/>
          <p:cNvSpPr/>
          <p:nvPr/>
        </p:nvSpPr>
        <p:spPr>
          <a:xfrm>
            <a:off x="6451092" y="4549140"/>
            <a:ext cx="5285232" cy="114300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58" name="s18_st"/>
          <p:cNvSpPr/>
          <p:nvPr/>
        </p:nvSpPr>
        <p:spPr>
          <a:xfrm>
            <a:off x="6400800" y="4498848"/>
            <a:ext cx="5285232" cy="1143000"/>
          </a:xfrm>
          <a:prstGeom prst="rect">
            <a:avLst/>
          </a:prstGeom>
          <a:solidFill>
            <a:srgbClr val="1B1D22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59" name="s18_sb"/>
          <p:cNvSpPr/>
          <p:nvPr/>
        </p:nvSpPr>
        <p:spPr>
          <a:xfrm>
            <a:off x="6675120" y="46268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7CB0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REGISTRY STANCE</a:t>
            </a:r>
            <a:endParaRPr lang="en-US" sz="900" dirty="0"/>
          </a:p>
        </p:txBody>
      </p:sp>
      <p:sp>
        <p:nvSpPr>
          <p:cNvPr id="60" name="s18_stt"/>
          <p:cNvSpPr/>
          <p:nvPr/>
        </p:nvSpPr>
        <p:spPr>
          <a:xfrm>
            <a:off x="6675120" y="4882896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Normalize on Claude's hooks JSON, target the 12-event subset, codegen TS for the rest</a:t>
            </a:r>
            <a:endParaRPr lang="en-US" sz="1100" dirty="0"/>
          </a:p>
        </p:txBody>
      </p:sp>
      <p:sp>
        <p:nvSpPr>
          <p:cNvPr id="61" name="s18_g_sh"/>
          <p:cNvSpPr/>
          <p:nvPr/>
        </p:nvSpPr>
        <p:spPr>
          <a:xfrm>
            <a:off x="553212" y="5829300"/>
            <a:ext cx="11183112" cy="65836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62" name="s18_g"/>
          <p:cNvSpPr/>
          <p:nvPr/>
        </p:nvSpPr>
        <p:spPr>
          <a:xfrm>
            <a:off x="502920" y="5779008"/>
            <a:ext cx="11183112" cy="658368"/>
          </a:xfrm>
          <a:prstGeom prst="rect">
            <a:avLst/>
          </a:prstGeom>
          <a:solidFill>
            <a:srgbClr val="EFEFEA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63" name="s18_gt"/>
          <p:cNvSpPr/>
          <p:nvPr/>
        </p:nvSpPr>
        <p:spPr>
          <a:xfrm>
            <a:off x="777240" y="5852160"/>
            <a:ext cx="10607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GAPS THE REGISTRY OWNS — No standard; OpenCode+Pi need TS codegen adapters  ·  Event mismatch: ~30 claude vs 12 codex vs TS APIs  ·  Handler types beyond command don't all port (http, agent)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19_vx_v1"/>
          <p:cNvSpPr/>
          <p:nvPr/>
        </p:nvSpPr>
        <p:spPr>
          <a:xfrm>
            <a:off x="11137392" y="384048"/>
            <a:ext cx="128016" cy="12801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" name="s19_vx_v2"/>
          <p:cNvSpPr/>
          <p:nvPr/>
        </p:nvSpPr>
        <p:spPr>
          <a:xfrm>
            <a:off x="11292840" y="384048"/>
            <a:ext cx="128016" cy="12801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" name="s19_vx_v3"/>
          <p:cNvSpPr/>
          <p:nvPr/>
        </p:nvSpPr>
        <p:spPr>
          <a:xfrm>
            <a:off x="11137392" y="539496"/>
            <a:ext cx="128016" cy="128016"/>
          </a:xfrm>
          <a:prstGeom prst="rect">
            <a:avLst/>
          </a:prstGeom>
          <a:solidFill>
            <a:srgbClr val="D97706"/>
          </a:solidFill>
          <a:ln/>
        </p:spPr>
      </p:sp>
      <p:pic>
        <p:nvPicPr>
          <p:cNvPr id="5" name="s19_kick" descr="assets/skc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02336"/>
            <a:ext cx="4990011" cy="182880"/>
          </a:xfrm>
          <a:prstGeom prst="rect">
            <a:avLst/>
          </a:prstGeom>
        </p:spPr>
      </p:pic>
      <p:pic>
        <p:nvPicPr>
          <p:cNvPr id="6" name="s19_title" descr="assets/srf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58368"/>
            <a:ext cx="1969879" cy="475488"/>
          </a:xfrm>
          <a:prstGeom prst="rect">
            <a:avLst/>
          </a:prstGeom>
        </p:spPr>
      </p:pic>
      <p:sp>
        <p:nvSpPr>
          <p:cNvPr id="7" name="s19_spec"/>
          <p:cNvSpPr/>
          <p:nvPr/>
        </p:nvSpPr>
        <p:spPr>
          <a:xfrm>
            <a:off x="502920" y="1216152"/>
            <a:ext cx="10469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HOOKS in claude code + codex — the two most popular first</a:t>
            </a:r>
            <a:endParaRPr lang="en-US" sz="1100" dirty="0"/>
          </a:p>
        </p:txBody>
      </p:sp>
      <p:sp>
        <p:nvSpPr>
          <p:cNvPr id="8" name="s19_pg"/>
          <p:cNvSpPr/>
          <p:nvPr/>
        </p:nvSpPr>
        <p:spPr>
          <a:xfrm>
            <a:off x="11064240" y="648309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 / 45</a:t>
            </a:r>
            <a:endParaRPr lang="en-US" sz="950" dirty="0"/>
          </a:p>
        </p:txBody>
      </p:sp>
      <p:sp>
        <p:nvSpPr>
          <p:cNvPr id="10" name="s19_c0_sh"/>
          <p:cNvSpPr/>
          <p:nvPr/>
        </p:nvSpPr>
        <p:spPr>
          <a:xfrm>
            <a:off x="553212" y="1531620"/>
            <a:ext cx="5477256" cy="489204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1" name="s19_c0"/>
          <p:cNvSpPr/>
          <p:nvPr/>
        </p:nvSpPr>
        <p:spPr>
          <a:xfrm>
            <a:off x="502920" y="1481328"/>
            <a:ext cx="5477256" cy="489204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12" name="s19_c0_sq"/>
          <p:cNvSpPr/>
          <p:nvPr/>
        </p:nvSpPr>
        <p:spPr>
          <a:xfrm>
            <a:off x="731520" y="1673352"/>
            <a:ext cx="137160" cy="13716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3" name="s19_c0_topic"/>
          <p:cNvSpPr/>
          <p:nvPr/>
        </p:nvSpPr>
        <p:spPr>
          <a:xfrm>
            <a:off x="960120" y="1609344"/>
            <a:ext cx="37965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50" kern="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HOOKS</a:t>
            </a:r>
            <a:endParaRPr lang="en-US" sz="1300" dirty="0"/>
          </a:p>
        </p:txBody>
      </p:sp>
      <p:sp>
        <p:nvSpPr>
          <p:cNvPr id="14" name="s19_c0_vc_sh"/>
          <p:cNvSpPr/>
          <p:nvPr/>
        </p:nvSpPr>
        <p:spPr>
          <a:xfrm>
            <a:off x="4811573" y="1636776"/>
            <a:ext cx="994867" cy="3383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5" name="s19_c0_vc"/>
          <p:cNvSpPr/>
          <p:nvPr/>
        </p:nvSpPr>
        <p:spPr>
          <a:xfrm>
            <a:off x="4784141" y="1609344"/>
            <a:ext cx="994867" cy="338328"/>
          </a:xfrm>
          <a:prstGeom prst="rect">
            <a:avLst/>
          </a:prstGeom>
          <a:solidFill>
            <a:srgbClr val="E5F5EA"/>
          </a:solidFill>
          <a:ln w="15875">
            <a:solidFill>
              <a:srgbClr val="16A34A"/>
            </a:solidFill>
            <a:prstDash val="solid"/>
          </a:ln>
        </p:spPr>
      </p:sp>
      <p:sp>
        <p:nvSpPr>
          <p:cNvPr id="16" name="s19_c0_vc_t"/>
          <p:cNvSpPr/>
          <p:nvPr/>
        </p:nvSpPr>
        <p:spPr>
          <a:xfrm>
            <a:off x="4784141" y="1609344"/>
            <a:ext cx="99486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COPY-AS-IS</a:t>
            </a:r>
            <a:endParaRPr lang="en-US" sz="900" dirty="0"/>
          </a:p>
        </p:txBody>
      </p:sp>
      <p:sp>
        <p:nvSpPr>
          <p:cNvPr id="17" name="s19_c0_why"/>
          <p:cNvSpPr/>
          <p:nvPr/>
        </p:nvSpPr>
        <p:spPr>
          <a:xfrm>
            <a:off x="731520" y="2011680"/>
            <a:ext cx="5020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i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native hooks JSON; only the merge scope varies</a:t>
            </a:r>
            <a:endParaRPr lang="en-US" sz="850" dirty="0"/>
          </a:p>
        </p:txBody>
      </p:sp>
      <p:sp>
        <p:nvSpPr>
          <p:cNvPr id="18" name="s19_c0_what"/>
          <p:cNvSpPr/>
          <p:nvPr/>
        </p:nvSpPr>
        <p:spPr>
          <a:xfrm>
            <a:off x="731520" y="2340864"/>
            <a:ext cx="5020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Scripts fired automatically on 30 lifecycle events; can block tools</a:t>
            </a:r>
            <a:endParaRPr lang="en-US" sz="1050" dirty="0"/>
          </a:p>
        </p:txBody>
      </p:sp>
      <p:sp>
        <p:nvSpPr>
          <p:cNvPr id="19" name="s19_c0_hr1"/>
          <p:cNvSpPr/>
          <p:nvPr/>
        </p:nvSpPr>
        <p:spPr>
          <a:xfrm>
            <a:off x="731520" y="2798064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0" name="s19_c0_k0"/>
          <p:cNvSpPr/>
          <p:nvPr/>
        </p:nvSpPr>
        <p:spPr>
          <a:xfrm>
            <a:off x="731520" y="2852928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</a:t>
            </a:r>
            <a:endParaRPr lang="en-US" sz="850" dirty="0"/>
          </a:p>
        </p:txBody>
      </p:sp>
      <p:sp>
        <p:nvSpPr>
          <p:cNvPr id="21" name="s19_c0_v0"/>
          <p:cNvSpPr/>
          <p:nvPr/>
        </p:nvSpPr>
        <p:spPr>
          <a:xfrm>
            <a:off x="1883664" y="2852928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settings.json · plugin hooks/hooks.json · frontmatter</a:t>
            </a:r>
            <a:endParaRPr lang="en-US" sz="900" dirty="0"/>
          </a:p>
        </p:txBody>
      </p:sp>
      <p:sp>
        <p:nvSpPr>
          <p:cNvPr id="22" name="s19_c0_hr2"/>
          <p:cNvSpPr/>
          <p:nvPr/>
        </p:nvSpPr>
        <p:spPr>
          <a:xfrm>
            <a:off x="731520" y="3273552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3" name="s19_c0_k1"/>
          <p:cNvSpPr/>
          <p:nvPr/>
        </p:nvSpPr>
        <p:spPr>
          <a:xfrm>
            <a:off x="731520" y="3273552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FORMAT</a:t>
            </a:r>
            <a:endParaRPr lang="en-US" sz="850" dirty="0"/>
          </a:p>
        </p:txBody>
      </p:sp>
      <p:sp>
        <p:nvSpPr>
          <p:cNvPr id="24" name="s19_c0_v1"/>
          <p:cNvSpPr/>
          <p:nvPr/>
        </p:nvSpPr>
        <p:spPr>
          <a:xfrm>
            <a:off x="1883664" y="3273552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hooks JSON map: Event → matcher → handler (5 types)</a:t>
            </a:r>
            <a:endParaRPr lang="en-US" sz="900" dirty="0"/>
          </a:p>
        </p:txBody>
      </p:sp>
      <p:sp>
        <p:nvSpPr>
          <p:cNvPr id="25" name="s19_c0_hr3"/>
          <p:cNvSpPr/>
          <p:nvPr/>
        </p:nvSpPr>
        <p:spPr>
          <a:xfrm>
            <a:off x="731520" y="3694176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6" name="s19_c0_k2"/>
          <p:cNvSpPr/>
          <p:nvPr/>
        </p:nvSpPr>
        <p:spPr>
          <a:xfrm>
            <a:off x="731520" y="3694176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</a:t>
            </a:r>
            <a:endParaRPr lang="en-US" sz="850" dirty="0"/>
          </a:p>
        </p:txBody>
      </p:sp>
      <p:sp>
        <p:nvSpPr>
          <p:cNvPr id="27" name="s19_c0_v2"/>
          <p:cNvSpPr/>
          <p:nvPr/>
        </p:nvSpPr>
        <p:spPr>
          <a:xfrm>
            <a:off x="1883664" y="3694176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edit settings JSON · plugin install · /doctor</a:t>
            </a:r>
            <a:endParaRPr lang="en-US" sz="900" dirty="0"/>
          </a:p>
        </p:txBody>
      </p:sp>
      <p:sp>
        <p:nvSpPr>
          <p:cNvPr id="28" name="s19_c0_hr4"/>
          <p:cNvSpPr/>
          <p:nvPr/>
        </p:nvSpPr>
        <p:spPr>
          <a:xfrm>
            <a:off x="731520" y="4114800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9" name="s19_c0_k3"/>
          <p:cNvSpPr/>
          <p:nvPr/>
        </p:nvSpPr>
        <p:spPr>
          <a:xfrm>
            <a:off x="731520" y="4114800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AUTO-UPDATE</a:t>
            </a:r>
            <a:endParaRPr lang="en-US" sz="850" dirty="0"/>
          </a:p>
        </p:txBody>
      </p:sp>
      <p:sp>
        <p:nvSpPr>
          <p:cNvPr id="30" name="s19_c0_v3"/>
          <p:cNvSpPr/>
          <p:nvPr/>
        </p:nvSpPr>
        <p:spPr>
          <a:xfrm>
            <a:off x="1883664" y="4114800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 — unversioned settings edits; plugin hooks ride plugin updates</a:t>
            </a:r>
            <a:endParaRPr lang="en-US" sz="900" dirty="0"/>
          </a:p>
        </p:txBody>
      </p:sp>
      <p:sp>
        <p:nvSpPr>
          <p:cNvPr id="31" name="s19_c0_emp"/>
          <p:cNvSpPr/>
          <p:nvPr/>
        </p:nvSpPr>
        <p:spPr>
          <a:xfrm>
            <a:off x="704088" y="4626864"/>
            <a:ext cx="5074920" cy="1581912"/>
          </a:xfrm>
          <a:prstGeom prst="rect">
            <a:avLst/>
          </a:prstGeom>
          <a:solidFill>
            <a:srgbClr val="FBEEDD"/>
          </a:solidFill>
          <a:ln/>
        </p:spPr>
      </p:sp>
      <p:sp>
        <p:nvSpPr>
          <p:cNvPr id="32" name="s19_c0_emb"/>
          <p:cNvSpPr/>
          <p:nvPr/>
        </p:nvSpPr>
        <p:spPr>
          <a:xfrm>
            <a:off x="886968" y="4736592"/>
            <a:ext cx="4709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spc="200" kern="0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REGISTRY EMISSION</a:t>
            </a:r>
            <a:endParaRPr lang="en-US" sz="800" dirty="0"/>
          </a:p>
        </p:txBody>
      </p:sp>
      <p:sp>
        <p:nvSpPr>
          <p:cNvPr id="33" name="s19_c0_em"/>
          <p:cNvSpPr/>
          <p:nvPr/>
        </p:nvSpPr>
        <p:spPr>
          <a:xfrm>
            <a:off x="886968" y="4956048"/>
            <a:ext cx="470916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install.claude: merge → settings.hooks</a:t>
            </a:r>
            <a:endParaRPr lang="en-US" sz="9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alt: plugin hooks/hooks.json (scopes merge)</a:t>
            </a:r>
            <a:endParaRPr lang="en-US" sz="9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identity.tier: review · install shows diff</a:t>
            </a:r>
            <a:endParaRPr lang="en-US" sz="900" dirty="0"/>
          </a:p>
        </p:txBody>
      </p:sp>
      <p:sp>
        <p:nvSpPr>
          <p:cNvPr id="34" name="s19_c1_sh"/>
          <p:cNvSpPr/>
          <p:nvPr/>
        </p:nvSpPr>
        <p:spPr>
          <a:xfrm>
            <a:off x="6259068" y="1531620"/>
            <a:ext cx="5477256" cy="489204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35" name="s19_c1"/>
          <p:cNvSpPr/>
          <p:nvPr/>
        </p:nvSpPr>
        <p:spPr>
          <a:xfrm>
            <a:off x="6208776" y="1481328"/>
            <a:ext cx="5477256" cy="489204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36" name="s19_c1_sq"/>
          <p:cNvSpPr/>
          <p:nvPr/>
        </p:nvSpPr>
        <p:spPr>
          <a:xfrm>
            <a:off x="6437376" y="1673352"/>
            <a:ext cx="137160" cy="13716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7" name="s19_c1_topic"/>
          <p:cNvSpPr/>
          <p:nvPr/>
        </p:nvSpPr>
        <p:spPr>
          <a:xfrm>
            <a:off x="6665976" y="1609344"/>
            <a:ext cx="37965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50" kern="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HOOKS</a:t>
            </a:r>
            <a:endParaRPr lang="en-US" sz="1300" dirty="0"/>
          </a:p>
        </p:txBody>
      </p:sp>
      <p:sp>
        <p:nvSpPr>
          <p:cNvPr id="38" name="s19_c1_vc_sh"/>
          <p:cNvSpPr/>
          <p:nvPr/>
        </p:nvSpPr>
        <p:spPr>
          <a:xfrm>
            <a:off x="10517429" y="1636776"/>
            <a:ext cx="994867" cy="3383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39" name="s19_c1_vc"/>
          <p:cNvSpPr/>
          <p:nvPr/>
        </p:nvSpPr>
        <p:spPr>
          <a:xfrm>
            <a:off x="10489997" y="1609344"/>
            <a:ext cx="994867" cy="338328"/>
          </a:xfrm>
          <a:prstGeom prst="rect">
            <a:avLst/>
          </a:prstGeom>
          <a:solidFill>
            <a:srgbClr val="E5F5EA"/>
          </a:solidFill>
          <a:ln w="15875">
            <a:solidFill>
              <a:srgbClr val="16A34A"/>
            </a:solidFill>
            <a:prstDash val="solid"/>
          </a:ln>
        </p:spPr>
      </p:sp>
      <p:sp>
        <p:nvSpPr>
          <p:cNvPr id="40" name="s19_c1_vc_t"/>
          <p:cNvSpPr/>
          <p:nvPr/>
        </p:nvSpPr>
        <p:spPr>
          <a:xfrm>
            <a:off x="10489997" y="1609344"/>
            <a:ext cx="99486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COPY-AS-IS</a:t>
            </a:r>
            <a:endParaRPr lang="en-US" sz="900" dirty="0"/>
          </a:p>
        </p:txBody>
      </p:sp>
      <p:sp>
        <p:nvSpPr>
          <p:cNvPr id="41" name="s19_c1_why"/>
          <p:cNvSpPr/>
          <p:nvPr/>
        </p:nvSpPr>
        <p:spPr>
          <a:xfrm>
            <a:off x="6437376" y="2011680"/>
            <a:ext cx="5020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i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JSON as Claude Code; drop/merge, trust-gated</a:t>
            </a:r>
            <a:endParaRPr lang="en-US" sz="850" dirty="0"/>
          </a:p>
        </p:txBody>
      </p:sp>
      <p:sp>
        <p:nvSpPr>
          <p:cNvPr id="42" name="s19_c1_what"/>
          <p:cNvSpPr/>
          <p:nvPr/>
        </p:nvSpPr>
        <p:spPr>
          <a:xfrm>
            <a:off x="6437376" y="2340864"/>
            <a:ext cx="5020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Event handlers (command or MCP tool) fired on 12 lifecycle events.</a:t>
            </a:r>
            <a:endParaRPr lang="en-US" sz="1050" dirty="0"/>
          </a:p>
        </p:txBody>
      </p:sp>
      <p:sp>
        <p:nvSpPr>
          <p:cNvPr id="43" name="s19_c1_hr1"/>
          <p:cNvSpPr/>
          <p:nvPr/>
        </p:nvSpPr>
        <p:spPr>
          <a:xfrm>
            <a:off x="6437376" y="2798064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44" name="s19_c1_k0"/>
          <p:cNvSpPr/>
          <p:nvPr/>
        </p:nvSpPr>
        <p:spPr>
          <a:xfrm>
            <a:off x="6437376" y="2852928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</a:t>
            </a:r>
            <a:endParaRPr lang="en-US" sz="850" dirty="0"/>
          </a:p>
        </p:txBody>
      </p:sp>
      <p:sp>
        <p:nvSpPr>
          <p:cNvPr id="45" name="s19_c1_v0"/>
          <p:cNvSpPr/>
          <p:nvPr/>
        </p:nvSpPr>
        <p:spPr>
          <a:xfrm>
            <a:off x="7589520" y="2852928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~/.codex/hooks.json · .codex/hooks.json (trusted) · plugins</a:t>
            </a:r>
            <a:endParaRPr lang="en-US" sz="900" dirty="0"/>
          </a:p>
        </p:txBody>
      </p:sp>
      <p:sp>
        <p:nvSpPr>
          <p:cNvPr id="46" name="s19_c1_hr2"/>
          <p:cNvSpPr/>
          <p:nvPr/>
        </p:nvSpPr>
        <p:spPr>
          <a:xfrm>
            <a:off x="6437376" y="3273552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47" name="s19_c1_k1"/>
          <p:cNvSpPr/>
          <p:nvPr/>
        </p:nvSpPr>
        <p:spPr>
          <a:xfrm>
            <a:off x="6437376" y="3273552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FORMAT</a:t>
            </a:r>
            <a:endParaRPr lang="en-US" sz="850" dirty="0"/>
          </a:p>
        </p:txBody>
      </p:sp>
      <p:sp>
        <p:nvSpPr>
          <p:cNvPr id="48" name="s19_c1_v1"/>
          <p:cNvSpPr/>
          <p:nvPr/>
        </p:nvSpPr>
        <p:spPr>
          <a:xfrm>
            <a:off x="7589520" y="3273552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hooks.json, Claude-Code shape; 12 events; TOML [hooks]</a:t>
            </a:r>
            <a:endParaRPr lang="en-US" sz="900" dirty="0"/>
          </a:p>
        </p:txBody>
      </p:sp>
      <p:sp>
        <p:nvSpPr>
          <p:cNvPr id="49" name="s19_c1_hr3"/>
          <p:cNvSpPr/>
          <p:nvPr/>
        </p:nvSpPr>
        <p:spPr>
          <a:xfrm>
            <a:off x="6437376" y="3694176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50" name="s19_c1_k2"/>
          <p:cNvSpPr/>
          <p:nvPr/>
        </p:nvSpPr>
        <p:spPr>
          <a:xfrm>
            <a:off x="6437376" y="3694176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</a:t>
            </a:r>
            <a:endParaRPr lang="en-US" sz="850" dirty="0"/>
          </a:p>
        </p:txBody>
      </p:sp>
      <p:sp>
        <p:nvSpPr>
          <p:cNvPr id="51" name="s19_c1_v2"/>
          <p:cNvSpPr/>
          <p:nvPr/>
        </p:nvSpPr>
        <p:spPr>
          <a:xfrm>
            <a:off x="7589520" y="3694176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 drop; [features] hooks · project needs trust</a:t>
            </a:r>
            <a:endParaRPr lang="en-US" sz="900" dirty="0"/>
          </a:p>
        </p:txBody>
      </p:sp>
      <p:sp>
        <p:nvSpPr>
          <p:cNvPr id="52" name="s19_c1_hr4"/>
          <p:cNvSpPr/>
          <p:nvPr/>
        </p:nvSpPr>
        <p:spPr>
          <a:xfrm>
            <a:off x="6437376" y="4114800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53" name="s19_c1_k3"/>
          <p:cNvSpPr/>
          <p:nvPr/>
        </p:nvSpPr>
        <p:spPr>
          <a:xfrm>
            <a:off x="6437376" y="4114800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AUTO-UPDATE</a:t>
            </a:r>
            <a:endParaRPr lang="en-US" sz="850" dirty="0"/>
          </a:p>
        </p:txBody>
      </p:sp>
      <p:sp>
        <p:nvSpPr>
          <p:cNvPr id="54" name="s19_c1_v3"/>
          <p:cNvSpPr/>
          <p:nvPr/>
        </p:nvSpPr>
        <p:spPr>
          <a:xfrm>
            <a:off x="7589520" y="4114800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No. Manual edits to hooks.json/[hooks]; plugin hooks await user review.</a:t>
            </a:r>
            <a:endParaRPr lang="en-US" sz="900" dirty="0"/>
          </a:p>
        </p:txBody>
      </p:sp>
      <p:sp>
        <p:nvSpPr>
          <p:cNvPr id="55" name="s19_c1_emp"/>
          <p:cNvSpPr/>
          <p:nvPr/>
        </p:nvSpPr>
        <p:spPr>
          <a:xfrm>
            <a:off x="6409944" y="4626864"/>
            <a:ext cx="5074920" cy="1581912"/>
          </a:xfrm>
          <a:prstGeom prst="rect">
            <a:avLst/>
          </a:prstGeom>
          <a:solidFill>
            <a:srgbClr val="E5F5EA"/>
          </a:solidFill>
          <a:ln/>
        </p:spPr>
      </p:sp>
      <p:sp>
        <p:nvSpPr>
          <p:cNvPr id="56" name="s19_c1_emb"/>
          <p:cNvSpPr/>
          <p:nvPr/>
        </p:nvSpPr>
        <p:spPr>
          <a:xfrm>
            <a:off x="6592824" y="4736592"/>
            <a:ext cx="4709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spc="200" kern="0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REGISTRY EMISSION</a:t>
            </a:r>
            <a:endParaRPr lang="en-US" sz="800" dirty="0"/>
          </a:p>
        </p:txBody>
      </p:sp>
      <p:sp>
        <p:nvSpPr>
          <p:cNvPr id="57" name="s19_c1_em"/>
          <p:cNvSpPr/>
          <p:nvPr/>
        </p:nvSpPr>
        <p:spPr>
          <a:xfrm>
            <a:off x="6592824" y="4956048"/>
            <a:ext cx="470916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install.codex: merge → ~/.codex/hooks.json</a:t>
            </a:r>
            <a:endParaRPr lang="en-US" sz="9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layers merge additively; CLAUDE_PLUGIN_ROOT env</a:t>
            </a:r>
            <a:endParaRPr lang="en-US" sz="9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gate: project layer + plugin hooks need trust/review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20_vx_v1"/>
          <p:cNvSpPr/>
          <p:nvPr/>
        </p:nvSpPr>
        <p:spPr>
          <a:xfrm>
            <a:off x="11137392" y="384048"/>
            <a:ext cx="128016" cy="12801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" name="s20_vx_v2"/>
          <p:cNvSpPr/>
          <p:nvPr/>
        </p:nvSpPr>
        <p:spPr>
          <a:xfrm>
            <a:off x="11292840" y="384048"/>
            <a:ext cx="128016" cy="12801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" name="s20_vx_v3"/>
          <p:cNvSpPr/>
          <p:nvPr/>
        </p:nvSpPr>
        <p:spPr>
          <a:xfrm>
            <a:off x="11137392" y="539496"/>
            <a:ext cx="128016" cy="128016"/>
          </a:xfrm>
          <a:prstGeom prst="rect">
            <a:avLst/>
          </a:prstGeom>
          <a:solidFill>
            <a:srgbClr val="D97706"/>
          </a:solidFill>
          <a:ln/>
        </p:spPr>
      </p:sp>
      <p:pic>
        <p:nvPicPr>
          <p:cNvPr id="5" name="s20_kick" descr="assets/sko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02336"/>
            <a:ext cx="4833257" cy="182880"/>
          </a:xfrm>
          <a:prstGeom prst="rect">
            <a:avLst/>
          </a:prstGeom>
        </p:spPr>
      </p:pic>
      <p:pic>
        <p:nvPicPr>
          <p:cNvPr id="6" name="s20_title" descr="assets/srf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58368"/>
            <a:ext cx="1969879" cy="475488"/>
          </a:xfrm>
          <a:prstGeom prst="rect">
            <a:avLst/>
          </a:prstGeom>
        </p:spPr>
      </p:pic>
      <p:sp>
        <p:nvSpPr>
          <p:cNvPr id="7" name="s20_spec"/>
          <p:cNvSpPr/>
          <p:nvPr/>
        </p:nvSpPr>
        <p:spPr>
          <a:xfrm>
            <a:off x="502920" y="1216152"/>
            <a:ext cx="10469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HOOKS in opencode + pi</a:t>
            </a:r>
            <a:endParaRPr lang="en-US" sz="1100" dirty="0"/>
          </a:p>
        </p:txBody>
      </p:sp>
      <p:sp>
        <p:nvSpPr>
          <p:cNvPr id="8" name="s20_pg"/>
          <p:cNvSpPr/>
          <p:nvPr/>
        </p:nvSpPr>
        <p:spPr>
          <a:xfrm>
            <a:off x="11064240" y="648309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 / 45</a:t>
            </a:r>
            <a:endParaRPr lang="en-US" sz="950" dirty="0"/>
          </a:p>
        </p:txBody>
      </p:sp>
      <p:sp>
        <p:nvSpPr>
          <p:cNvPr id="10" name="s20_c0_sh"/>
          <p:cNvSpPr/>
          <p:nvPr/>
        </p:nvSpPr>
        <p:spPr>
          <a:xfrm>
            <a:off x="553212" y="1531620"/>
            <a:ext cx="5477256" cy="489204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1" name="s20_c0"/>
          <p:cNvSpPr/>
          <p:nvPr/>
        </p:nvSpPr>
        <p:spPr>
          <a:xfrm>
            <a:off x="502920" y="1481328"/>
            <a:ext cx="5477256" cy="489204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12" name="s20_c0_sq"/>
          <p:cNvSpPr/>
          <p:nvPr/>
        </p:nvSpPr>
        <p:spPr>
          <a:xfrm>
            <a:off x="731520" y="1673352"/>
            <a:ext cx="137160" cy="137160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13" name="s20_c0_topic"/>
          <p:cNvSpPr/>
          <p:nvPr/>
        </p:nvSpPr>
        <p:spPr>
          <a:xfrm>
            <a:off x="960120" y="1609344"/>
            <a:ext cx="38723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50" kern="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HOOKS</a:t>
            </a:r>
            <a:endParaRPr lang="en-US" sz="1300" dirty="0"/>
          </a:p>
        </p:txBody>
      </p:sp>
      <p:sp>
        <p:nvSpPr>
          <p:cNvPr id="14" name="s20_c0_vc_sh"/>
          <p:cNvSpPr/>
          <p:nvPr/>
        </p:nvSpPr>
        <p:spPr>
          <a:xfrm>
            <a:off x="4887285" y="1636776"/>
            <a:ext cx="919155" cy="3383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5" name="s20_c0_vc"/>
          <p:cNvSpPr/>
          <p:nvPr/>
        </p:nvSpPr>
        <p:spPr>
          <a:xfrm>
            <a:off x="4859853" y="1609344"/>
            <a:ext cx="919155" cy="338328"/>
          </a:xfrm>
          <a:prstGeom prst="rect">
            <a:avLst/>
          </a:prstGeom>
          <a:solidFill>
            <a:srgbClr val="E7EEFD"/>
          </a:solidFill>
          <a:ln w="15875">
            <a:solidFill>
              <a:srgbClr val="2F6FED"/>
            </a:solidFill>
            <a:prstDash val="solid"/>
          </a:ln>
        </p:spPr>
      </p:sp>
      <p:sp>
        <p:nvSpPr>
          <p:cNvPr id="16" name="s20_c0_vc_t"/>
          <p:cNvSpPr/>
          <p:nvPr/>
        </p:nvSpPr>
        <p:spPr>
          <a:xfrm>
            <a:off x="4859853" y="1609344"/>
            <a:ext cx="919155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TRANSLATE</a:t>
            </a:r>
            <a:endParaRPr lang="en-US" sz="900" dirty="0"/>
          </a:p>
        </p:txBody>
      </p:sp>
      <p:sp>
        <p:nvSpPr>
          <p:cNvPr id="17" name="s20_c0_why"/>
          <p:cNvSpPr/>
          <p:nvPr/>
        </p:nvSpPr>
        <p:spPr>
          <a:xfrm>
            <a:off x="731520" y="2011680"/>
            <a:ext cx="5020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i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hook spec → codegen TS plugin module</a:t>
            </a:r>
            <a:endParaRPr lang="en-US" sz="850" dirty="0"/>
          </a:p>
        </p:txBody>
      </p:sp>
      <p:sp>
        <p:nvSpPr>
          <p:cNvPr id="18" name="s20_c0_what"/>
          <p:cNvSpPr/>
          <p:nvPr/>
        </p:nvSpPr>
        <p:spPr>
          <a:xfrm>
            <a:off x="731520" y="2340864"/>
            <a:ext cx="5020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hooks file — event reactions live in TypeScript plugins</a:t>
            </a:r>
            <a:endParaRPr lang="en-US" sz="1050" dirty="0"/>
          </a:p>
        </p:txBody>
      </p:sp>
      <p:sp>
        <p:nvSpPr>
          <p:cNvPr id="19" name="s20_c0_hr1"/>
          <p:cNvSpPr/>
          <p:nvPr/>
        </p:nvSpPr>
        <p:spPr>
          <a:xfrm>
            <a:off x="731520" y="2798064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0" name="s20_c0_k0"/>
          <p:cNvSpPr/>
          <p:nvPr/>
        </p:nvSpPr>
        <p:spPr>
          <a:xfrm>
            <a:off x="731520" y="2852928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</a:t>
            </a:r>
            <a:endParaRPr lang="en-US" sz="850" dirty="0"/>
          </a:p>
        </p:txBody>
      </p:sp>
      <p:sp>
        <p:nvSpPr>
          <p:cNvPr id="21" name="s20_c0_v0"/>
          <p:cNvSpPr/>
          <p:nvPr/>
        </p:nvSpPr>
        <p:spPr>
          <a:xfrm>
            <a:off x="1883664" y="2852928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.opencode/plugins/*.ts · ~/.config/opencode/plugins</a:t>
            </a:r>
            <a:endParaRPr lang="en-US" sz="900" dirty="0"/>
          </a:p>
        </p:txBody>
      </p:sp>
      <p:sp>
        <p:nvSpPr>
          <p:cNvPr id="22" name="s20_c0_hr2"/>
          <p:cNvSpPr/>
          <p:nvPr/>
        </p:nvSpPr>
        <p:spPr>
          <a:xfrm>
            <a:off x="731520" y="3273552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3" name="s20_c0_k1"/>
          <p:cNvSpPr/>
          <p:nvPr/>
        </p:nvSpPr>
        <p:spPr>
          <a:xfrm>
            <a:off x="731520" y="3273552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FORMAT</a:t>
            </a:r>
            <a:endParaRPr lang="en-US" sz="850" dirty="0"/>
          </a:p>
        </p:txBody>
      </p:sp>
      <p:sp>
        <p:nvSpPr>
          <p:cNvPr id="24" name="s20_c0_v1"/>
          <p:cNvSpPr/>
          <p:nvPr/>
        </p:nvSpPr>
        <p:spPr>
          <a:xfrm>
            <a:off x="1883664" y="3273552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TS plugin exporting event/tool hooks (v2)</a:t>
            </a:r>
            <a:endParaRPr lang="en-US" sz="900" dirty="0"/>
          </a:p>
        </p:txBody>
      </p:sp>
      <p:sp>
        <p:nvSpPr>
          <p:cNvPr id="25" name="s20_c0_hr3"/>
          <p:cNvSpPr/>
          <p:nvPr/>
        </p:nvSpPr>
        <p:spPr>
          <a:xfrm>
            <a:off x="731520" y="3694176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6" name="s20_c0_k2"/>
          <p:cNvSpPr/>
          <p:nvPr/>
        </p:nvSpPr>
        <p:spPr>
          <a:xfrm>
            <a:off x="731520" y="3694176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</a:t>
            </a:r>
            <a:endParaRPr lang="en-US" sz="850" dirty="0"/>
          </a:p>
        </p:txBody>
      </p:sp>
      <p:sp>
        <p:nvSpPr>
          <p:cNvPr id="27" name="s20_c0_v2"/>
          <p:cNvSpPr/>
          <p:nvPr/>
        </p:nvSpPr>
        <p:spPr>
          <a:xfrm>
            <a:off x="1883664" y="3694176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opencode plugin add · list · check · update · remove</a:t>
            </a:r>
            <a:endParaRPr lang="en-US" sz="900" dirty="0"/>
          </a:p>
        </p:txBody>
      </p:sp>
      <p:sp>
        <p:nvSpPr>
          <p:cNvPr id="28" name="s20_c0_hr4"/>
          <p:cNvSpPr/>
          <p:nvPr/>
        </p:nvSpPr>
        <p:spPr>
          <a:xfrm>
            <a:off x="731520" y="4114800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9" name="s20_c0_k3"/>
          <p:cNvSpPr/>
          <p:nvPr/>
        </p:nvSpPr>
        <p:spPr>
          <a:xfrm>
            <a:off x="731520" y="4114800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AUTO-UPDATE</a:t>
            </a:r>
            <a:endParaRPr lang="en-US" sz="850" dirty="0"/>
          </a:p>
        </p:txBody>
      </p:sp>
      <p:sp>
        <p:nvSpPr>
          <p:cNvPr id="30" name="s20_c0_v3"/>
          <p:cNvSpPr/>
          <p:nvPr/>
        </p:nvSpPr>
        <p:spPr>
          <a:xfrm>
            <a:off x="1883664" y="4114800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6A3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Yes when the codegen'd plugin ships on npm: plugin update</a:t>
            </a:r>
            <a:endParaRPr lang="en-US" sz="900" dirty="0"/>
          </a:p>
        </p:txBody>
      </p:sp>
      <p:sp>
        <p:nvSpPr>
          <p:cNvPr id="31" name="s20_c0_emp"/>
          <p:cNvSpPr/>
          <p:nvPr/>
        </p:nvSpPr>
        <p:spPr>
          <a:xfrm>
            <a:off x="704088" y="4626864"/>
            <a:ext cx="5074920" cy="1581912"/>
          </a:xfrm>
          <a:prstGeom prst="rect">
            <a:avLst/>
          </a:prstGeom>
          <a:solidFill>
            <a:srgbClr val="E7EEFD"/>
          </a:solidFill>
          <a:ln/>
        </p:spPr>
      </p:sp>
      <p:sp>
        <p:nvSpPr>
          <p:cNvPr id="32" name="s20_c0_emb"/>
          <p:cNvSpPr/>
          <p:nvPr/>
        </p:nvSpPr>
        <p:spPr>
          <a:xfrm>
            <a:off x="886968" y="4736592"/>
            <a:ext cx="4709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spc="200" kern="0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REGISTRY EMISSION</a:t>
            </a:r>
            <a:endParaRPr lang="en-US" sz="800" dirty="0"/>
          </a:p>
        </p:txBody>
      </p:sp>
      <p:sp>
        <p:nvSpPr>
          <p:cNvPr id="33" name="s20_c0_em"/>
          <p:cNvSpPr/>
          <p:nvPr/>
        </p:nvSpPr>
        <p:spPr>
          <a:xfrm>
            <a:off x="886968" y="4956048"/>
            <a:ext cx="470916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codegen TS plugin → .opencode/plugins/agentreg-&lt;n&gt;.ts</a:t>
            </a:r>
            <a:endParaRPr lang="en-US" sz="9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map: tool.execute.before/after · permission.asked</a:t>
            </a:r>
            <a:endParaRPr lang="en-US" sz="9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v1→v2 event rewrite; plugins incompatible</a:t>
            </a:r>
            <a:endParaRPr lang="en-US" sz="900" dirty="0"/>
          </a:p>
        </p:txBody>
      </p:sp>
      <p:sp>
        <p:nvSpPr>
          <p:cNvPr id="34" name="s20_c1_sh"/>
          <p:cNvSpPr/>
          <p:nvPr/>
        </p:nvSpPr>
        <p:spPr>
          <a:xfrm>
            <a:off x="6259068" y="1531620"/>
            <a:ext cx="5477256" cy="489204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35" name="s20_c1"/>
          <p:cNvSpPr/>
          <p:nvPr/>
        </p:nvSpPr>
        <p:spPr>
          <a:xfrm>
            <a:off x="6208776" y="1481328"/>
            <a:ext cx="5477256" cy="489204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36" name="s20_c1_sq"/>
          <p:cNvSpPr/>
          <p:nvPr/>
        </p:nvSpPr>
        <p:spPr>
          <a:xfrm>
            <a:off x="6437376" y="1673352"/>
            <a:ext cx="137160" cy="13716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7" name="s20_c1_topic"/>
          <p:cNvSpPr/>
          <p:nvPr/>
        </p:nvSpPr>
        <p:spPr>
          <a:xfrm>
            <a:off x="6665976" y="1609344"/>
            <a:ext cx="38723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50" kern="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HOOKS</a:t>
            </a:r>
            <a:endParaRPr lang="en-US" sz="1300" dirty="0"/>
          </a:p>
        </p:txBody>
      </p:sp>
      <p:sp>
        <p:nvSpPr>
          <p:cNvPr id="38" name="s20_c1_vc_sh"/>
          <p:cNvSpPr/>
          <p:nvPr/>
        </p:nvSpPr>
        <p:spPr>
          <a:xfrm>
            <a:off x="10593141" y="1636776"/>
            <a:ext cx="919155" cy="3383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39" name="s20_c1_vc"/>
          <p:cNvSpPr/>
          <p:nvPr/>
        </p:nvSpPr>
        <p:spPr>
          <a:xfrm>
            <a:off x="10565709" y="1609344"/>
            <a:ext cx="919155" cy="338328"/>
          </a:xfrm>
          <a:prstGeom prst="rect">
            <a:avLst/>
          </a:prstGeom>
          <a:solidFill>
            <a:srgbClr val="E7EEFD"/>
          </a:solidFill>
          <a:ln w="15875">
            <a:solidFill>
              <a:srgbClr val="2F6FED"/>
            </a:solidFill>
            <a:prstDash val="solid"/>
          </a:ln>
        </p:spPr>
      </p:sp>
      <p:sp>
        <p:nvSpPr>
          <p:cNvPr id="40" name="s20_c1_vc_t"/>
          <p:cNvSpPr/>
          <p:nvPr/>
        </p:nvSpPr>
        <p:spPr>
          <a:xfrm>
            <a:off x="10565709" y="1609344"/>
            <a:ext cx="919155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TRANSLATE</a:t>
            </a:r>
            <a:endParaRPr lang="en-US" sz="900" dirty="0"/>
          </a:p>
        </p:txBody>
      </p:sp>
      <p:sp>
        <p:nvSpPr>
          <p:cNvPr id="41" name="s20_c1_why"/>
          <p:cNvSpPr/>
          <p:nvPr/>
        </p:nvSpPr>
        <p:spPr>
          <a:xfrm>
            <a:off x="6437376" y="2011680"/>
            <a:ext cx="5020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i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Codegen: hook spec → TS extension calling pi.on()</a:t>
            </a:r>
            <a:endParaRPr lang="en-US" sz="850" dirty="0"/>
          </a:p>
        </p:txBody>
      </p:sp>
      <p:sp>
        <p:nvSpPr>
          <p:cNvPr id="42" name="s20_c1_what"/>
          <p:cNvSpPr/>
          <p:nvPr/>
        </p:nvSpPr>
        <p:spPr>
          <a:xfrm>
            <a:off x="6437376" y="2340864"/>
            <a:ext cx="5020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hooks files; extension code subscribes to agent lifecycle events</a:t>
            </a:r>
            <a:endParaRPr lang="en-US" sz="1050" dirty="0"/>
          </a:p>
        </p:txBody>
      </p:sp>
      <p:sp>
        <p:nvSpPr>
          <p:cNvPr id="43" name="s20_c1_hr1"/>
          <p:cNvSpPr/>
          <p:nvPr/>
        </p:nvSpPr>
        <p:spPr>
          <a:xfrm>
            <a:off x="6437376" y="2798064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44" name="s20_c1_k0"/>
          <p:cNvSpPr/>
          <p:nvPr/>
        </p:nvSpPr>
        <p:spPr>
          <a:xfrm>
            <a:off x="6437376" y="2852928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</a:t>
            </a:r>
            <a:endParaRPr lang="en-US" sz="850" dirty="0"/>
          </a:p>
        </p:txBody>
      </p:sp>
      <p:sp>
        <p:nvSpPr>
          <p:cNvPr id="45" name="s20_c1_v0"/>
          <p:cNvSpPr/>
          <p:nvPr/>
        </p:nvSpPr>
        <p:spPr>
          <a:xfrm>
            <a:off x="7589520" y="2852928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~/.pi/agent/extensions · .pi/extensions (trust-gated)</a:t>
            </a:r>
            <a:endParaRPr lang="en-US" sz="900" dirty="0"/>
          </a:p>
        </p:txBody>
      </p:sp>
      <p:sp>
        <p:nvSpPr>
          <p:cNvPr id="46" name="s20_c1_hr2"/>
          <p:cNvSpPr/>
          <p:nvPr/>
        </p:nvSpPr>
        <p:spPr>
          <a:xfrm>
            <a:off x="6437376" y="3273552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47" name="s20_c1_k1"/>
          <p:cNvSpPr/>
          <p:nvPr/>
        </p:nvSpPr>
        <p:spPr>
          <a:xfrm>
            <a:off x="6437376" y="3273552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FORMAT</a:t>
            </a:r>
            <a:endParaRPr lang="en-US" sz="850" dirty="0"/>
          </a:p>
        </p:txBody>
      </p:sp>
      <p:sp>
        <p:nvSpPr>
          <p:cNvPr id="48" name="s20_c1_v1"/>
          <p:cNvSpPr/>
          <p:nvPr/>
        </p:nvSpPr>
        <p:spPr>
          <a:xfrm>
            <a:off x="7589520" y="3273552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TS/JS module: export default (pi) =&gt; pi.on(event, fn)</a:t>
            </a:r>
            <a:endParaRPr lang="en-US" sz="900" dirty="0"/>
          </a:p>
        </p:txBody>
      </p:sp>
      <p:sp>
        <p:nvSpPr>
          <p:cNvPr id="49" name="s20_c1_hr3"/>
          <p:cNvSpPr/>
          <p:nvPr/>
        </p:nvSpPr>
        <p:spPr>
          <a:xfrm>
            <a:off x="6437376" y="3694176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50" name="s20_c1_k2"/>
          <p:cNvSpPr/>
          <p:nvPr/>
        </p:nvSpPr>
        <p:spPr>
          <a:xfrm>
            <a:off x="6437376" y="3694176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</a:t>
            </a:r>
            <a:endParaRPr lang="en-US" sz="850" dirty="0"/>
          </a:p>
        </p:txBody>
      </p:sp>
      <p:sp>
        <p:nvSpPr>
          <p:cNvPr id="51" name="s20_c1_v2"/>
          <p:cNvSpPr/>
          <p:nvPr/>
        </p:nvSpPr>
        <p:spPr>
          <a:xfrm>
            <a:off x="7589520" y="3694176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 install npm:&lt;pkg&gt; · pi -e ./ext.ts · /reload</a:t>
            </a:r>
            <a:endParaRPr lang="en-US" sz="900" dirty="0"/>
          </a:p>
        </p:txBody>
      </p:sp>
      <p:sp>
        <p:nvSpPr>
          <p:cNvPr id="52" name="s20_c1_hr4"/>
          <p:cNvSpPr/>
          <p:nvPr/>
        </p:nvSpPr>
        <p:spPr>
          <a:xfrm>
            <a:off x="6437376" y="4114800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53" name="s20_c1_k3"/>
          <p:cNvSpPr/>
          <p:nvPr/>
        </p:nvSpPr>
        <p:spPr>
          <a:xfrm>
            <a:off x="6437376" y="4114800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AUTO-UPDATE</a:t>
            </a:r>
            <a:endParaRPr lang="en-US" sz="850" dirty="0"/>
          </a:p>
        </p:txBody>
      </p:sp>
      <p:sp>
        <p:nvSpPr>
          <p:cNvPr id="54" name="s20_c1_v3"/>
          <p:cNvSpPr/>
          <p:nvPr/>
        </p:nvSpPr>
        <p:spPr>
          <a:xfrm>
            <a:off x="7589520" y="4114800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Extension packages update via pi update --extensions; loose .ts manual</a:t>
            </a:r>
            <a:endParaRPr lang="en-US" sz="900" dirty="0"/>
          </a:p>
        </p:txBody>
      </p:sp>
      <p:sp>
        <p:nvSpPr>
          <p:cNvPr id="55" name="s20_c1_emp"/>
          <p:cNvSpPr/>
          <p:nvPr/>
        </p:nvSpPr>
        <p:spPr>
          <a:xfrm>
            <a:off x="6409944" y="4626864"/>
            <a:ext cx="5074920" cy="1581912"/>
          </a:xfrm>
          <a:prstGeom prst="rect">
            <a:avLst/>
          </a:prstGeom>
          <a:solidFill>
            <a:srgbClr val="EFE9FB"/>
          </a:solidFill>
          <a:ln/>
        </p:spPr>
      </p:sp>
      <p:sp>
        <p:nvSpPr>
          <p:cNvPr id="56" name="s20_c1_emb"/>
          <p:cNvSpPr/>
          <p:nvPr/>
        </p:nvSpPr>
        <p:spPr>
          <a:xfrm>
            <a:off x="6592824" y="4736592"/>
            <a:ext cx="4709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spc="200" kern="0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REGISTRY EMISSION</a:t>
            </a:r>
            <a:endParaRPr lang="en-US" sz="800" dirty="0"/>
          </a:p>
        </p:txBody>
      </p:sp>
      <p:sp>
        <p:nvSpPr>
          <p:cNvPr id="57" name="s20_c1_em"/>
          <p:cNvSpPr/>
          <p:nvPr/>
        </p:nvSpPr>
        <p:spPr>
          <a:xfrm>
            <a:off x="6592824" y="4956048"/>
            <a:ext cx="470916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gen: ~/.pi/agent/extensions/agentreg-&lt;n&gt;.ts</a:t>
            </a:r>
            <a:endParaRPr lang="en-US" sz="9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events: tool_call, tool_result, turn_end...</a:t>
            </a:r>
            <a:endParaRPr lang="en-US" sz="9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tier: review (runs in-process, full OS)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21_vx_v1"/>
          <p:cNvSpPr/>
          <p:nvPr/>
        </p:nvSpPr>
        <p:spPr>
          <a:xfrm>
            <a:off x="11137392" y="384048"/>
            <a:ext cx="128016" cy="12801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" name="s21_vx_v2"/>
          <p:cNvSpPr/>
          <p:nvPr/>
        </p:nvSpPr>
        <p:spPr>
          <a:xfrm>
            <a:off x="11292840" y="384048"/>
            <a:ext cx="128016" cy="12801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" name="s21_vx_v3"/>
          <p:cNvSpPr/>
          <p:nvPr/>
        </p:nvSpPr>
        <p:spPr>
          <a:xfrm>
            <a:off x="11137392" y="539496"/>
            <a:ext cx="128016" cy="128016"/>
          </a:xfrm>
          <a:prstGeom prst="rect">
            <a:avLst/>
          </a:prstGeom>
          <a:solidFill>
            <a:srgbClr val="D97706"/>
          </a:solidFill>
          <a:ln/>
        </p:spPr>
      </p:sp>
      <p:pic>
        <p:nvPicPr>
          <p:cNvPr id="5" name="s21_kick" descr="assets/skb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02336"/>
            <a:ext cx="2638697" cy="182880"/>
          </a:xfrm>
          <a:prstGeom prst="rect">
            <a:avLst/>
          </a:prstGeom>
        </p:spPr>
      </p:pic>
      <p:pic>
        <p:nvPicPr>
          <p:cNvPr id="6" name="s21_title" descr="assets/srf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58368"/>
            <a:ext cx="2785001" cy="475488"/>
          </a:xfrm>
          <a:prstGeom prst="rect">
            <a:avLst/>
          </a:prstGeom>
        </p:spPr>
      </p:pic>
      <p:sp>
        <p:nvSpPr>
          <p:cNvPr id="7" name="s21_spec"/>
          <p:cNvSpPr/>
          <p:nvPr/>
        </p:nvSpPr>
        <p:spPr>
          <a:xfrm>
            <a:off x="502920" y="1216152"/>
            <a:ext cx="10469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Bundles of skills, hooks, agents and MCP — one artifact, four different package formats</a:t>
            </a:r>
            <a:endParaRPr lang="en-US" sz="1100" dirty="0"/>
          </a:p>
        </p:txBody>
      </p:sp>
      <p:sp>
        <p:nvSpPr>
          <p:cNvPr id="8" name="s21_pg"/>
          <p:cNvSpPr/>
          <p:nvPr/>
        </p:nvSpPr>
        <p:spPr>
          <a:xfrm>
            <a:off x="11064240" y="648309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 / 45</a:t>
            </a:r>
            <a:endParaRPr lang="en-US" sz="950" dirty="0"/>
          </a:p>
        </p:txBody>
      </p:sp>
      <p:sp>
        <p:nvSpPr>
          <p:cNvPr id="10" name="s21_min_sh"/>
          <p:cNvSpPr/>
          <p:nvPr/>
        </p:nvSpPr>
        <p:spPr>
          <a:xfrm>
            <a:off x="553212" y="1531620"/>
            <a:ext cx="5669280" cy="416052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1" name="s21_min"/>
          <p:cNvSpPr/>
          <p:nvPr/>
        </p:nvSpPr>
        <p:spPr>
          <a:xfrm>
            <a:off x="502920" y="1481328"/>
            <a:ext cx="5669280" cy="416052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12" name="s21_mb"/>
          <p:cNvSpPr/>
          <p:nvPr/>
        </p:nvSpPr>
        <p:spPr>
          <a:xfrm>
            <a:off x="777240" y="162763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REGISTRY MINIMUM — WHAT WE STORE</a:t>
            </a:r>
            <a:endParaRPr lang="en-US" sz="950" dirty="0"/>
          </a:p>
        </p:txBody>
      </p:sp>
      <p:sp>
        <p:nvSpPr>
          <p:cNvPr id="13" name="s21_mk0"/>
          <p:cNvSpPr/>
          <p:nvPr/>
        </p:nvSpPr>
        <p:spPr>
          <a:xfrm>
            <a:off x="777240" y="19202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components</a:t>
            </a:r>
            <a:endParaRPr lang="en-US" sz="900" dirty="0"/>
          </a:p>
        </p:txBody>
      </p:sp>
      <p:sp>
        <p:nvSpPr>
          <p:cNvPr id="14" name="s21_mv0"/>
          <p:cNvSpPr/>
          <p:nvPr/>
        </p:nvSpPr>
        <p:spPr>
          <a:xfrm>
            <a:off x="2240280" y="192024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skills[] + mcp.json + hooks (typed list)</a:t>
            </a:r>
            <a:endParaRPr lang="en-US" sz="850" dirty="0"/>
          </a:p>
        </p:txBody>
      </p:sp>
      <p:sp>
        <p:nvSpPr>
          <p:cNvPr id="15" name="s21_mhr0"/>
          <p:cNvSpPr/>
          <p:nvPr/>
        </p:nvSpPr>
        <p:spPr>
          <a:xfrm>
            <a:off x="777240" y="2304288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16" name="s21_mk1"/>
          <p:cNvSpPr/>
          <p:nvPr/>
        </p:nvSpPr>
        <p:spPr>
          <a:xfrm>
            <a:off x="777240" y="230428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manifests</a:t>
            </a:r>
            <a:endParaRPr lang="en-US" sz="900" dirty="0"/>
          </a:p>
        </p:txBody>
      </p:sp>
      <p:sp>
        <p:nvSpPr>
          <p:cNvPr id="17" name="s21_mv1"/>
          <p:cNvSpPr/>
          <p:nvPr/>
        </p:nvSpPr>
        <p:spPr>
          <a:xfrm>
            <a:off x="2240280" y="230428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root plugin.json + .claude-plugin/ dual</a:t>
            </a:r>
            <a:endParaRPr lang="en-US" sz="850" dirty="0"/>
          </a:p>
        </p:txBody>
      </p:sp>
      <p:sp>
        <p:nvSpPr>
          <p:cNvPr id="18" name="s21_mhr1"/>
          <p:cNvSpPr/>
          <p:nvPr/>
        </p:nvSpPr>
        <p:spPr>
          <a:xfrm>
            <a:off x="777240" y="2688336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19" name="s21_mk2"/>
          <p:cNvSpPr/>
          <p:nvPr/>
        </p:nvSpPr>
        <p:spPr>
          <a:xfrm>
            <a:off x="777240" y="2688336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overlays</a:t>
            </a:r>
            <a:endParaRPr lang="en-US" sz="900" dirty="0"/>
          </a:p>
        </p:txBody>
      </p:sp>
      <p:sp>
        <p:nvSpPr>
          <p:cNvPr id="20" name="s21_mv2"/>
          <p:cNvSpPr/>
          <p:nvPr/>
        </p:nvSpPr>
        <p:spPr>
          <a:xfrm>
            <a:off x="2240280" y="2688336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.codex-plugin/ · npm TS pkg · pi key</a:t>
            </a:r>
            <a:endParaRPr lang="en-US" sz="850" dirty="0"/>
          </a:p>
        </p:txBody>
      </p:sp>
      <p:sp>
        <p:nvSpPr>
          <p:cNvPr id="21" name="s21_mhr2"/>
          <p:cNvSpPr/>
          <p:nvPr/>
        </p:nvSpPr>
        <p:spPr>
          <a:xfrm>
            <a:off x="777240" y="3072384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2" name="s21_mk3"/>
          <p:cNvSpPr/>
          <p:nvPr/>
        </p:nvSpPr>
        <p:spPr>
          <a:xfrm>
            <a:off x="777240" y="3072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catalogs</a:t>
            </a:r>
            <a:endParaRPr lang="en-US" sz="900" dirty="0"/>
          </a:p>
        </p:txBody>
      </p:sp>
      <p:sp>
        <p:nvSpPr>
          <p:cNvPr id="23" name="s21_mv3"/>
          <p:cNvSpPr/>
          <p:nvPr/>
        </p:nvSpPr>
        <p:spPr>
          <a:xfrm>
            <a:off x="2240280" y="3072384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marketplace repo · codex catalog</a:t>
            </a:r>
            <a:endParaRPr lang="en-US" sz="850" dirty="0"/>
          </a:p>
        </p:txBody>
      </p:sp>
      <p:sp>
        <p:nvSpPr>
          <p:cNvPr id="24" name="s21_mhr3"/>
          <p:cNvSpPr/>
          <p:nvPr/>
        </p:nvSpPr>
        <p:spPr>
          <a:xfrm>
            <a:off x="777240" y="3456432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5" name="s21_mk4"/>
          <p:cNvSpPr/>
          <p:nvPr/>
        </p:nvSpPr>
        <p:spPr>
          <a:xfrm>
            <a:off x="777240" y="3456432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versionSeal</a:t>
            </a:r>
            <a:endParaRPr lang="en-US" sz="900" dirty="0"/>
          </a:p>
        </p:txBody>
      </p:sp>
      <p:sp>
        <p:nvSpPr>
          <p:cNvPr id="26" name="s21_mv4"/>
          <p:cNvSpPr/>
          <p:nvPr/>
        </p:nvSpPr>
        <p:spPr>
          <a:xfrm>
            <a:off x="2240280" y="3456432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semver + treeSha256; marketplace ref pin</a:t>
            </a:r>
            <a:endParaRPr lang="en-US" sz="850" dirty="0"/>
          </a:p>
        </p:txBody>
      </p:sp>
      <p:sp>
        <p:nvSpPr>
          <p:cNvPr id="27" name="s21_mhr4"/>
          <p:cNvSpPr/>
          <p:nvPr/>
        </p:nvSpPr>
        <p:spPr>
          <a:xfrm>
            <a:off x="777240" y="3840480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8" name="s21_mk5"/>
          <p:cNvSpPr/>
          <p:nvPr/>
        </p:nvSpPr>
        <p:spPr>
          <a:xfrm>
            <a:off x="777240" y="384048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tier</a:t>
            </a:r>
            <a:endParaRPr lang="en-US" sz="900" dirty="0"/>
          </a:p>
        </p:txBody>
      </p:sp>
      <p:sp>
        <p:nvSpPr>
          <p:cNvPr id="29" name="s21_mv5"/>
          <p:cNvSpPr/>
          <p:nvPr/>
        </p:nvSpPr>
        <p:spPr>
          <a:xfrm>
            <a:off x="2240280" y="384048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review if hooks/MCP ship in bundle</a:t>
            </a:r>
            <a:endParaRPr lang="en-US" sz="850" dirty="0"/>
          </a:p>
        </p:txBody>
      </p:sp>
      <p:sp>
        <p:nvSpPr>
          <p:cNvPr id="30" name="s21_mhr5"/>
          <p:cNvSpPr/>
          <p:nvPr/>
        </p:nvSpPr>
        <p:spPr>
          <a:xfrm>
            <a:off x="777240" y="4224528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31" name="s21_mwhy"/>
          <p:cNvSpPr/>
          <p:nvPr/>
        </p:nvSpPr>
        <p:spPr>
          <a:xfrm>
            <a:off x="777240" y="498348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Only Codex loads the bundle natively — dual-emit Claude's manifest, decompose to npm for OpenCode and Pi.</a:t>
            </a:r>
            <a:endParaRPr lang="en-US" sz="950" dirty="0"/>
          </a:p>
        </p:txBody>
      </p:sp>
      <p:sp>
        <p:nvSpPr>
          <p:cNvPr id="32" name="s21_row_sh"/>
          <p:cNvSpPr/>
          <p:nvPr/>
        </p:nvSpPr>
        <p:spPr>
          <a:xfrm>
            <a:off x="6451092" y="1531620"/>
            <a:ext cx="5285232" cy="310896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33" name="s21_row"/>
          <p:cNvSpPr/>
          <p:nvPr/>
        </p:nvSpPr>
        <p:spPr>
          <a:xfrm>
            <a:off x="6400800" y="1481328"/>
            <a:ext cx="5285232" cy="310896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34" name="s21_rb"/>
          <p:cNvSpPr/>
          <p:nvPr/>
        </p:nvSpPr>
        <p:spPr>
          <a:xfrm>
            <a:off x="6675120" y="1627632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MATRIX ROW</a:t>
            </a:r>
            <a:endParaRPr lang="en-US" sz="1050" dirty="0"/>
          </a:p>
        </p:txBody>
      </p:sp>
      <p:sp>
        <p:nvSpPr>
          <p:cNvPr id="35" name="s21_rb0"/>
          <p:cNvSpPr/>
          <p:nvPr/>
        </p:nvSpPr>
        <p:spPr>
          <a:xfrm>
            <a:off x="6675120" y="2139696"/>
            <a:ext cx="109728" cy="109728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6" name="s21_rk0"/>
          <p:cNvSpPr/>
          <p:nvPr/>
        </p:nvSpPr>
        <p:spPr>
          <a:xfrm>
            <a:off x="6894576" y="1938528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CLAUDE CODE</a:t>
            </a:r>
            <a:endParaRPr lang="en-US" sz="950" dirty="0"/>
          </a:p>
        </p:txBody>
      </p:sp>
      <p:sp>
        <p:nvSpPr>
          <p:cNvPr id="37" name="s21_rc0_sh"/>
          <p:cNvSpPr/>
          <p:nvPr/>
        </p:nvSpPr>
        <p:spPr>
          <a:xfrm>
            <a:off x="8302752" y="2075688"/>
            <a:ext cx="767730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38" name="s21_rc0"/>
          <p:cNvSpPr/>
          <p:nvPr/>
        </p:nvSpPr>
        <p:spPr>
          <a:xfrm>
            <a:off x="8275320" y="2048256"/>
            <a:ext cx="767730" cy="287528"/>
          </a:xfrm>
          <a:prstGeom prst="rect">
            <a:avLst/>
          </a:prstGeom>
          <a:solidFill>
            <a:srgbClr val="E7EEFD"/>
          </a:solidFill>
          <a:ln w="15875">
            <a:solidFill>
              <a:srgbClr val="2F6FED"/>
            </a:solidFill>
            <a:prstDash val="solid"/>
          </a:ln>
        </p:spPr>
      </p:sp>
      <p:sp>
        <p:nvSpPr>
          <p:cNvPr id="39" name="s21_rc0_t"/>
          <p:cNvSpPr/>
          <p:nvPr/>
        </p:nvSpPr>
        <p:spPr>
          <a:xfrm>
            <a:off x="8275320" y="2048256"/>
            <a:ext cx="767730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TRANSLATE</a:t>
            </a:r>
            <a:endParaRPr lang="en-US" sz="700" dirty="0"/>
          </a:p>
        </p:txBody>
      </p:sp>
      <p:sp>
        <p:nvSpPr>
          <p:cNvPr id="40" name="s21_rd0"/>
          <p:cNvSpPr/>
          <p:nvPr/>
        </p:nvSpPr>
        <p:spPr>
          <a:xfrm>
            <a:off x="9152778" y="2157984"/>
            <a:ext cx="68580" cy="6858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1" name="s21_rb1"/>
          <p:cNvSpPr/>
          <p:nvPr/>
        </p:nvSpPr>
        <p:spPr>
          <a:xfrm>
            <a:off x="6675120" y="2651760"/>
            <a:ext cx="109728" cy="109728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21_rk1"/>
          <p:cNvSpPr/>
          <p:nvPr/>
        </p:nvSpPr>
        <p:spPr>
          <a:xfrm>
            <a:off x="6894576" y="2450592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CODEX</a:t>
            </a:r>
            <a:endParaRPr lang="en-US" sz="950" dirty="0"/>
          </a:p>
        </p:txBody>
      </p:sp>
      <p:sp>
        <p:nvSpPr>
          <p:cNvPr id="43" name="s21_rc1_sh"/>
          <p:cNvSpPr/>
          <p:nvPr/>
        </p:nvSpPr>
        <p:spPr>
          <a:xfrm>
            <a:off x="8302752" y="2587752"/>
            <a:ext cx="649956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44" name="s21_rc1"/>
          <p:cNvSpPr/>
          <p:nvPr/>
        </p:nvSpPr>
        <p:spPr>
          <a:xfrm>
            <a:off x="8275320" y="2560320"/>
            <a:ext cx="649956" cy="287528"/>
          </a:xfrm>
          <a:prstGeom prst="rect">
            <a:avLst/>
          </a:prstGeom>
          <a:solidFill>
            <a:srgbClr val="FBEEDD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45" name="s21_rc1_t"/>
          <p:cNvSpPr/>
          <p:nvPr/>
        </p:nvSpPr>
        <p:spPr>
          <a:xfrm>
            <a:off x="8275320" y="2560320"/>
            <a:ext cx="649956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OVERLAY</a:t>
            </a:r>
            <a:endParaRPr lang="en-US" sz="700" dirty="0"/>
          </a:p>
        </p:txBody>
      </p:sp>
      <p:sp>
        <p:nvSpPr>
          <p:cNvPr id="46" name="s21_rd1"/>
          <p:cNvSpPr/>
          <p:nvPr/>
        </p:nvSpPr>
        <p:spPr>
          <a:xfrm>
            <a:off x="9035004" y="2670048"/>
            <a:ext cx="68580" cy="6858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7" name="s21_rb2"/>
          <p:cNvSpPr/>
          <p:nvPr/>
        </p:nvSpPr>
        <p:spPr>
          <a:xfrm>
            <a:off x="6675120" y="3163824"/>
            <a:ext cx="109728" cy="109728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48" name="s21_rk2"/>
          <p:cNvSpPr/>
          <p:nvPr/>
        </p:nvSpPr>
        <p:spPr>
          <a:xfrm>
            <a:off x="6894576" y="2962656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OPENCODE</a:t>
            </a:r>
            <a:endParaRPr lang="en-US" sz="950" dirty="0"/>
          </a:p>
        </p:txBody>
      </p:sp>
      <p:sp>
        <p:nvSpPr>
          <p:cNvPr id="49" name="s21_rc2_sh"/>
          <p:cNvSpPr/>
          <p:nvPr/>
        </p:nvSpPr>
        <p:spPr>
          <a:xfrm>
            <a:off x="8302752" y="3099816"/>
            <a:ext cx="767730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50" name="s21_rc2"/>
          <p:cNvSpPr/>
          <p:nvPr/>
        </p:nvSpPr>
        <p:spPr>
          <a:xfrm>
            <a:off x="8275320" y="3072384"/>
            <a:ext cx="767730" cy="287528"/>
          </a:xfrm>
          <a:prstGeom prst="rect">
            <a:avLst/>
          </a:prstGeom>
          <a:solidFill>
            <a:srgbClr val="E7EEFD"/>
          </a:solidFill>
          <a:ln w="15875">
            <a:solidFill>
              <a:srgbClr val="2F6FED"/>
            </a:solidFill>
            <a:prstDash val="solid"/>
          </a:ln>
        </p:spPr>
      </p:sp>
      <p:sp>
        <p:nvSpPr>
          <p:cNvPr id="51" name="s21_rc2_t"/>
          <p:cNvSpPr/>
          <p:nvPr/>
        </p:nvSpPr>
        <p:spPr>
          <a:xfrm>
            <a:off x="8275320" y="3072384"/>
            <a:ext cx="767730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TRANSLATE</a:t>
            </a:r>
            <a:endParaRPr lang="en-US" sz="700" dirty="0"/>
          </a:p>
        </p:txBody>
      </p:sp>
      <p:sp>
        <p:nvSpPr>
          <p:cNvPr id="52" name="s21_rd2"/>
          <p:cNvSpPr/>
          <p:nvPr/>
        </p:nvSpPr>
        <p:spPr>
          <a:xfrm>
            <a:off x="9152778" y="3182112"/>
            <a:ext cx="68580" cy="6858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53" name="s21_rb3"/>
          <p:cNvSpPr/>
          <p:nvPr/>
        </p:nvSpPr>
        <p:spPr>
          <a:xfrm>
            <a:off x="6675120" y="3675888"/>
            <a:ext cx="109728" cy="10972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4" name="s21_rk3"/>
          <p:cNvSpPr/>
          <p:nvPr/>
        </p:nvSpPr>
        <p:spPr>
          <a:xfrm>
            <a:off x="6894576" y="3474720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</a:t>
            </a:r>
            <a:endParaRPr lang="en-US" sz="950" dirty="0"/>
          </a:p>
        </p:txBody>
      </p:sp>
      <p:sp>
        <p:nvSpPr>
          <p:cNvPr id="55" name="s21_rc3_sh"/>
          <p:cNvSpPr/>
          <p:nvPr/>
        </p:nvSpPr>
        <p:spPr>
          <a:xfrm>
            <a:off x="8302752" y="3611880"/>
            <a:ext cx="767730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56" name="s21_rc3"/>
          <p:cNvSpPr/>
          <p:nvPr/>
        </p:nvSpPr>
        <p:spPr>
          <a:xfrm>
            <a:off x="8275320" y="3584448"/>
            <a:ext cx="767730" cy="287528"/>
          </a:xfrm>
          <a:prstGeom prst="rect">
            <a:avLst/>
          </a:prstGeom>
          <a:solidFill>
            <a:srgbClr val="E7EEFD"/>
          </a:solidFill>
          <a:ln w="15875">
            <a:solidFill>
              <a:srgbClr val="2F6FED"/>
            </a:solidFill>
            <a:prstDash val="solid"/>
          </a:ln>
        </p:spPr>
      </p:sp>
      <p:sp>
        <p:nvSpPr>
          <p:cNvPr id="57" name="s21_rc3_t"/>
          <p:cNvSpPr/>
          <p:nvPr/>
        </p:nvSpPr>
        <p:spPr>
          <a:xfrm>
            <a:off x="8275320" y="3584448"/>
            <a:ext cx="767730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TRANSLATE</a:t>
            </a:r>
            <a:endParaRPr lang="en-US" sz="700" dirty="0"/>
          </a:p>
        </p:txBody>
      </p:sp>
      <p:sp>
        <p:nvSpPr>
          <p:cNvPr id="58" name="s21_rd3"/>
          <p:cNvSpPr/>
          <p:nvPr/>
        </p:nvSpPr>
        <p:spPr>
          <a:xfrm>
            <a:off x="9152778" y="3694176"/>
            <a:ext cx="68580" cy="6858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59" name="s21_rhr"/>
          <p:cNvSpPr/>
          <p:nvPr/>
        </p:nvSpPr>
        <p:spPr>
          <a:xfrm>
            <a:off x="6675120" y="3986784"/>
            <a:ext cx="475488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60" name="s21_rsum"/>
          <p:cNvSpPr/>
          <p:nvPr/>
        </p:nvSpPr>
        <p:spPr>
          <a:xfrm>
            <a:off x="6675120" y="4133088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harness repackages: Claude dual-manifest, Codex .codex-plugin overlay, OpenCode and Pi npm adapter packages.</a:t>
            </a:r>
            <a:endParaRPr lang="en-US" sz="950" dirty="0"/>
          </a:p>
        </p:txBody>
      </p:sp>
      <p:sp>
        <p:nvSpPr>
          <p:cNvPr id="61" name="s21_au_sh"/>
          <p:cNvSpPr/>
          <p:nvPr/>
        </p:nvSpPr>
        <p:spPr>
          <a:xfrm>
            <a:off x="6451092" y="4777740"/>
            <a:ext cx="5285232" cy="155448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62" name="s21_au"/>
          <p:cNvSpPr/>
          <p:nvPr/>
        </p:nvSpPr>
        <p:spPr>
          <a:xfrm>
            <a:off x="6400800" y="4727448"/>
            <a:ext cx="5285232" cy="1554480"/>
          </a:xfrm>
          <a:prstGeom prst="rect">
            <a:avLst/>
          </a:prstGeom>
          <a:solidFill>
            <a:srgbClr val="EFEFEA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63" name="s21_ab"/>
          <p:cNvSpPr/>
          <p:nvPr/>
        </p:nvSpPr>
        <p:spPr>
          <a:xfrm>
            <a:off x="6675120" y="4873752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AUTO-UPDATE FOR THIS SURFACE</a:t>
            </a:r>
            <a:endParaRPr lang="en-US" sz="1000" dirty="0"/>
          </a:p>
        </p:txBody>
      </p:sp>
      <p:sp>
        <p:nvSpPr>
          <p:cNvPr id="64" name="s21_at"/>
          <p:cNvSpPr/>
          <p:nvPr/>
        </p:nvSpPr>
        <p:spPr>
          <a:xfrm>
            <a:off x="6675120" y="5157216"/>
            <a:ext cx="4754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only self-updating row: Claude marketplace auto-update, codex plugin upgrade, opencode/pi plugin update — lockfile pins the drift.</a:t>
            </a:r>
            <a:endParaRPr lang="en-US" sz="1000" dirty="0"/>
          </a:p>
        </p:txBody>
      </p:sp>
      <p:sp>
        <p:nvSpPr>
          <p:cNvPr id="65" name="s21_sec_sh"/>
          <p:cNvSpPr/>
          <p:nvPr/>
        </p:nvSpPr>
        <p:spPr>
          <a:xfrm>
            <a:off x="553212" y="4777740"/>
            <a:ext cx="5669280" cy="155448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66" name="s21_sec"/>
          <p:cNvSpPr/>
          <p:nvPr/>
        </p:nvSpPr>
        <p:spPr>
          <a:xfrm>
            <a:off x="502920" y="4727448"/>
            <a:ext cx="5669280" cy="1554480"/>
          </a:xfrm>
          <a:prstGeom prst="rect">
            <a:avLst/>
          </a:prstGeom>
          <a:solidFill>
            <a:srgbClr val="E7EEFD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67" name="s21_secb"/>
          <p:cNvSpPr/>
          <p:nvPr/>
        </p:nvSpPr>
        <p:spPr>
          <a:xfrm>
            <a:off x="777240" y="487375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THIS SECTION</a:t>
            </a:r>
            <a:endParaRPr lang="en-US" sz="1000" dirty="0"/>
          </a:p>
        </p:txBody>
      </p:sp>
      <p:sp>
        <p:nvSpPr>
          <p:cNvPr id="68" name="s21_sc0_sh"/>
          <p:cNvSpPr/>
          <p:nvPr/>
        </p:nvSpPr>
        <p:spPr>
          <a:xfrm>
            <a:off x="804672" y="5221224"/>
            <a:ext cx="692018" cy="3383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69" name="s21_sc0"/>
          <p:cNvSpPr/>
          <p:nvPr/>
        </p:nvSpPr>
        <p:spPr>
          <a:xfrm>
            <a:off x="777240" y="5193792"/>
            <a:ext cx="692018" cy="338328"/>
          </a:xfrm>
          <a:prstGeom prst="rect">
            <a:avLst/>
          </a:prstGeom>
          <a:solidFill>
            <a:srgbClr val="2F6FED"/>
          </a:solidFill>
          <a:ln w="17780">
            <a:solidFill>
              <a:srgbClr val="2F6FED"/>
            </a:solidFill>
            <a:prstDash val="solid"/>
          </a:ln>
        </p:spPr>
      </p:sp>
      <p:sp>
        <p:nvSpPr>
          <p:cNvPr id="70" name="s21_sc0_t"/>
          <p:cNvSpPr/>
          <p:nvPr/>
        </p:nvSpPr>
        <p:spPr>
          <a:xfrm>
            <a:off x="777240" y="5193792"/>
            <a:ext cx="69201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BANNER</a:t>
            </a:r>
            <a:endParaRPr lang="en-US" sz="900" dirty="0"/>
          </a:p>
        </p:txBody>
      </p:sp>
      <p:sp>
        <p:nvSpPr>
          <p:cNvPr id="71" name="s21_sc1_sh"/>
          <p:cNvSpPr/>
          <p:nvPr/>
        </p:nvSpPr>
        <p:spPr>
          <a:xfrm>
            <a:off x="1606418" y="5221224"/>
            <a:ext cx="919155" cy="3383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72" name="s21_sc1"/>
          <p:cNvSpPr/>
          <p:nvPr/>
        </p:nvSpPr>
        <p:spPr>
          <a:xfrm>
            <a:off x="1578986" y="5193792"/>
            <a:ext cx="919155" cy="338328"/>
          </a:xfrm>
          <a:prstGeom prst="rect">
            <a:avLst/>
          </a:prstGeom>
          <a:solidFill>
            <a:srgbClr val="FFFFFF"/>
          </a:solidFill>
          <a:ln w="17780">
            <a:solidFill>
              <a:srgbClr val="1B1D22"/>
            </a:solidFill>
            <a:prstDash val="solid"/>
          </a:ln>
        </p:spPr>
      </p:sp>
      <p:sp>
        <p:nvSpPr>
          <p:cNvPr id="73" name="s21_sc1_t"/>
          <p:cNvSpPr/>
          <p:nvPr/>
        </p:nvSpPr>
        <p:spPr>
          <a:xfrm>
            <a:off x="1578986" y="5193792"/>
            <a:ext cx="919155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STANDARDS</a:t>
            </a:r>
            <a:endParaRPr lang="en-US" sz="900" dirty="0"/>
          </a:p>
        </p:txBody>
      </p:sp>
      <p:sp>
        <p:nvSpPr>
          <p:cNvPr id="74" name="s21_sc2_sh"/>
          <p:cNvSpPr/>
          <p:nvPr/>
        </p:nvSpPr>
        <p:spPr>
          <a:xfrm>
            <a:off x="2635301" y="5221224"/>
            <a:ext cx="1297716" cy="3383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75" name="s21_sc2"/>
          <p:cNvSpPr/>
          <p:nvPr/>
        </p:nvSpPr>
        <p:spPr>
          <a:xfrm>
            <a:off x="2607869" y="5193792"/>
            <a:ext cx="1297716" cy="338328"/>
          </a:xfrm>
          <a:prstGeom prst="rect">
            <a:avLst/>
          </a:prstGeom>
          <a:solidFill>
            <a:srgbClr val="FFFFFF"/>
          </a:solidFill>
          <a:ln w="17780">
            <a:solidFill>
              <a:srgbClr val="1B1D22"/>
            </a:solidFill>
            <a:prstDash val="solid"/>
          </a:ln>
        </p:spPr>
      </p:sp>
      <p:sp>
        <p:nvSpPr>
          <p:cNvPr id="76" name="s21_sc2_t"/>
          <p:cNvSpPr/>
          <p:nvPr/>
        </p:nvSpPr>
        <p:spPr>
          <a:xfrm>
            <a:off x="2607869" y="5193792"/>
            <a:ext cx="129771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CLAUDE + CODEX</a:t>
            </a:r>
            <a:endParaRPr lang="en-US" sz="900" dirty="0"/>
          </a:p>
        </p:txBody>
      </p:sp>
      <p:sp>
        <p:nvSpPr>
          <p:cNvPr id="77" name="s21_sc3_sh"/>
          <p:cNvSpPr/>
          <p:nvPr/>
        </p:nvSpPr>
        <p:spPr>
          <a:xfrm>
            <a:off x="4042745" y="5221224"/>
            <a:ext cx="1222004" cy="3383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78" name="s21_sc3"/>
          <p:cNvSpPr/>
          <p:nvPr/>
        </p:nvSpPr>
        <p:spPr>
          <a:xfrm>
            <a:off x="4015313" y="5193792"/>
            <a:ext cx="1222004" cy="338328"/>
          </a:xfrm>
          <a:prstGeom prst="rect">
            <a:avLst/>
          </a:prstGeom>
          <a:solidFill>
            <a:srgbClr val="FFFFFF"/>
          </a:solidFill>
          <a:ln w="17780">
            <a:solidFill>
              <a:srgbClr val="1B1D22"/>
            </a:solidFill>
            <a:prstDash val="solid"/>
          </a:ln>
        </p:spPr>
      </p:sp>
      <p:sp>
        <p:nvSpPr>
          <p:cNvPr id="79" name="s21_sc3_t"/>
          <p:cNvSpPr/>
          <p:nvPr/>
        </p:nvSpPr>
        <p:spPr>
          <a:xfrm>
            <a:off x="4015313" y="5193792"/>
            <a:ext cx="122200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OPENCODE + PI</a:t>
            </a:r>
            <a:endParaRPr lang="en-US" sz="900" dirty="0"/>
          </a:p>
        </p:txBody>
      </p:sp>
      <p:sp>
        <p:nvSpPr>
          <p:cNvPr id="80" name="s21_sect"/>
          <p:cNvSpPr/>
          <p:nvPr/>
        </p:nvSpPr>
        <p:spPr>
          <a:xfrm>
            <a:off x="777240" y="5779008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 slides per surface — spec state, then the harnesses in two pairs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22_vx_v1"/>
          <p:cNvSpPr/>
          <p:nvPr/>
        </p:nvSpPr>
        <p:spPr>
          <a:xfrm>
            <a:off x="11137392" y="384048"/>
            <a:ext cx="128016" cy="12801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" name="s22_vx_v2"/>
          <p:cNvSpPr/>
          <p:nvPr/>
        </p:nvSpPr>
        <p:spPr>
          <a:xfrm>
            <a:off x="11292840" y="384048"/>
            <a:ext cx="128016" cy="12801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" name="s22_vx_v3"/>
          <p:cNvSpPr/>
          <p:nvPr/>
        </p:nvSpPr>
        <p:spPr>
          <a:xfrm>
            <a:off x="11137392" y="539496"/>
            <a:ext cx="128016" cy="128016"/>
          </a:xfrm>
          <a:prstGeom prst="rect">
            <a:avLst/>
          </a:prstGeom>
          <a:solidFill>
            <a:srgbClr val="D97706"/>
          </a:solidFill>
          <a:ln/>
        </p:spPr>
      </p:sp>
      <p:pic>
        <p:nvPicPr>
          <p:cNvPr id="5" name="s22_kick" descr="assets/sks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02336"/>
            <a:ext cx="3735977" cy="182880"/>
          </a:xfrm>
          <a:prstGeom prst="rect">
            <a:avLst/>
          </a:prstGeom>
        </p:spPr>
      </p:pic>
      <p:pic>
        <p:nvPicPr>
          <p:cNvPr id="6" name="s22_title" descr="assets/st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58368"/>
            <a:ext cx="9713541" cy="475488"/>
          </a:xfrm>
          <a:prstGeom prst="rect">
            <a:avLst/>
          </a:prstGeom>
        </p:spPr>
      </p:pic>
      <p:sp>
        <p:nvSpPr>
          <p:cNvPr id="7" name="s22_spec"/>
          <p:cNvSpPr/>
          <p:nvPr/>
        </p:nvSpPr>
        <p:spPr>
          <a:xfrm>
            <a:off x="502920" y="1216152"/>
            <a:ext cx="10469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plugins specification state — fields, rules, how the four diverge, and what the registry does about it</a:t>
            </a:r>
            <a:endParaRPr lang="en-US" sz="1100" dirty="0"/>
          </a:p>
        </p:txBody>
      </p:sp>
      <p:sp>
        <p:nvSpPr>
          <p:cNvPr id="8" name="s22_pg"/>
          <p:cNvSpPr/>
          <p:nvPr/>
        </p:nvSpPr>
        <p:spPr>
          <a:xfrm>
            <a:off x="11064240" y="648309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 / 45</a:t>
            </a:r>
            <a:endParaRPr lang="en-US" sz="950" dirty="0"/>
          </a:p>
        </p:txBody>
      </p:sp>
      <p:sp>
        <p:nvSpPr>
          <p:cNvPr id="10" name="s22_f_sh"/>
          <p:cNvSpPr/>
          <p:nvPr/>
        </p:nvSpPr>
        <p:spPr>
          <a:xfrm>
            <a:off x="553212" y="1531620"/>
            <a:ext cx="5669280" cy="416052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1" name="s22_f"/>
          <p:cNvSpPr/>
          <p:nvPr/>
        </p:nvSpPr>
        <p:spPr>
          <a:xfrm>
            <a:off x="502920" y="1481328"/>
            <a:ext cx="5669280" cy="416052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12" name="s22_fb"/>
          <p:cNvSpPr/>
          <p:nvPr/>
        </p:nvSpPr>
        <p:spPr>
          <a:xfrm>
            <a:off x="777240" y="162763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FIELDS</a:t>
            </a:r>
            <a:endParaRPr lang="en-US" sz="1050" dirty="0"/>
          </a:p>
        </p:txBody>
      </p:sp>
      <p:sp>
        <p:nvSpPr>
          <p:cNvPr id="13" name="s22_fk0"/>
          <p:cNvSpPr/>
          <p:nvPr/>
        </p:nvSpPr>
        <p:spPr>
          <a:xfrm>
            <a:off x="777240" y="1920240"/>
            <a:ext cx="14173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$schema</a:t>
            </a:r>
            <a:endParaRPr lang="en-US" sz="900" dirty="0"/>
          </a:p>
        </p:txBody>
      </p:sp>
      <p:sp>
        <p:nvSpPr>
          <p:cNvPr id="14" name="s22_fv0"/>
          <p:cNvSpPr/>
          <p:nvPr/>
        </p:nvSpPr>
        <p:spPr>
          <a:xfrm>
            <a:off x="2240280" y="1920240"/>
            <a:ext cx="365760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req; exact URL agent-plugins.org/schemas/1.0.0</a:t>
            </a:r>
            <a:endParaRPr lang="en-US" sz="850" dirty="0"/>
          </a:p>
        </p:txBody>
      </p:sp>
      <p:sp>
        <p:nvSpPr>
          <p:cNvPr id="15" name="s22_fhr0"/>
          <p:cNvSpPr/>
          <p:nvPr/>
        </p:nvSpPr>
        <p:spPr>
          <a:xfrm>
            <a:off x="777240" y="2272284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16" name="s22_fk1"/>
          <p:cNvSpPr/>
          <p:nvPr/>
        </p:nvSpPr>
        <p:spPr>
          <a:xfrm>
            <a:off x="777240" y="2272284"/>
            <a:ext cx="14173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900" dirty="0"/>
          </a:p>
        </p:txBody>
      </p:sp>
      <p:sp>
        <p:nvSpPr>
          <p:cNvPr id="17" name="s22_fv1"/>
          <p:cNvSpPr/>
          <p:nvPr/>
        </p:nvSpPr>
        <p:spPr>
          <a:xfrm>
            <a:off x="2240280" y="2272284"/>
            <a:ext cx="365760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req; 1–64 chars [a-z0-9.-]; alphanumeric ends</a:t>
            </a:r>
            <a:endParaRPr lang="en-US" sz="850" dirty="0"/>
          </a:p>
        </p:txBody>
      </p:sp>
      <p:sp>
        <p:nvSpPr>
          <p:cNvPr id="18" name="s22_fhr1"/>
          <p:cNvSpPr/>
          <p:nvPr/>
        </p:nvSpPr>
        <p:spPr>
          <a:xfrm>
            <a:off x="777240" y="2624328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19" name="s22_fk2"/>
          <p:cNvSpPr/>
          <p:nvPr/>
        </p:nvSpPr>
        <p:spPr>
          <a:xfrm>
            <a:off x="777240" y="2624328"/>
            <a:ext cx="14173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version</a:t>
            </a:r>
            <a:endParaRPr lang="en-US" sz="900" dirty="0"/>
          </a:p>
        </p:txBody>
      </p:sp>
      <p:sp>
        <p:nvSpPr>
          <p:cNvPr id="20" name="s22_fv2"/>
          <p:cNvSpPr/>
          <p:nvPr/>
        </p:nvSpPr>
        <p:spPr>
          <a:xfrm>
            <a:off x="2240280" y="2624328"/>
            <a:ext cx="365760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opt; type-only; semver recommended, not enforced</a:t>
            </a:r>
            <a:endParaRPr lang="en-US" sz="850" dirty="0"/>
          </a:p>
        </p:txBody>
      </p:sp>
      <p:sp>
        <p:nvSpPr>
          <p:cNvPr id="21" name="s22_fhr2"/>
          <p:cNvSpPr/>
          <p:nvPr/>
        </p:nvSpPr>
        <p:spPr>
          <a:xfrm>
            <a:off x="777240" y="2976372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2" name="s22_fk3"/>
          <p:cNvSpPr/>
          <p:nvPr/>
        </p:nvSpPr>
        <p:spPr>
          <a:xfrm>
            <a:off x="777240" y="2976372"/>
            <a:ext cx="14173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author</a:t>
            </a:r>
            <a:endParaRPr lang="en-US" sz="900" dirty="0"/>
          </a:p>
        </p:txBody>
      </p:sp>
      <p:sp>
        <p:nvSpPr>
          <p:cNvPr id="23" name="s22_fv3"/>
          <p:cNvSpPr/>
          <p:nvPr/>
        </p:nvSpPr>
        <p:spPr>
          <a:xfrm>
            <a:off x="2240280" y="2976372"/>
            <a:ext cx="365760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{name,email,url}; part of closed 9-field set</a:t>
            </a:r>
            <a:endParaRPr lang="en-US" sz="850" dirty="0"/>
          </a:p>
        </p:txBody>
      </p:sp>
      <p:sp>
        <p:nvSpPr>
          <p:cNvPr id="24" name="s22_fhr3"/>
          <p:cNvSpPr/>
          <p:nvPr/>
        </p:nvSpPr>
        <p:spPr>
          <a:xfrm>
            <a:off x="777240" y="3328416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5" name="s22_fk4"/>
          <p:cNvSpPr/>
          <p:nvPr/>
        </p:nvSpPr>
        <p:spPr>
          <a:xfrm>
            <a:off x="777240" y="3328416"/>
            <a:ext cx="14173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keywords</a:t>
            </a:r>
            <a:endParaRPr lang="en-US" sz="900" dirty="0"/>
          </a:p>
        </p:txBody>
      </p:sp>
      <p:sp>
        <p:nvSpPr>
          <p:cNvPr id="26" name="s22_fv4"/>
          <p:cNvSpPr/>
          <p:nvPr/>
        </p:nvSpPr>
        <p:spPr>
          <a:xfrm>
            <a:off x="2240280" y="3328416"/>
            <a:ext cx="365760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opt; string array (one of the closed 9)</a:t>
            </a:r>
            <a:endParaRPr lang="en-US" sz="850" dirty="0"/>
          </a:p>
        </p:txBody>
      </p:sp>
      <p:sp>
        <p:nvSpPr>
          <p:cNvPr id="27" name="s22_fhr4"/>
          <p:cNvSpPr/>
          <p:nvPr/>
        </p:nvSpPr>
        <p:spPr>
          <a:xfrm>
            <a:off x="777240" y="3680460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8" name="s22_fk5"/>
          <p:cNvSpPr/>
          <p:nvPr/>
        </p:nvSpPr>
        <p:spPr>
          <a:xfrm>
            <a:off x="777240" y="3680460"/>
            <a:ext cx="14173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extensions</a:t>
            </a:r>
            <a:endParaRPr lang="en-US" sz="900" dirty="0"/>
          </a:p>
        </p:txBody>
      </p:sp>
      <p:sp>
        <p:nvSpPr>
          <p:cNvPr id="29" name="s22_fv5"/>
          <p:cNvSpPr/>
          <p:nvPr/>
        </p:nvSpPr>
        <p:spPr>
          <a:xfrm>
            <a:off x="2240280" y="3680460"/>
            <a:ext cx="365760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map of reverse-DNS namespaces; client-defined</a:t>
            </a:r>
            <a:endParaRPr lang="en-US" sz="850" dirty="0"/>
          </a:p>
        </p:txBody>
      </p:sp>
      <p:sp>
        <p:nvSpPr>
          <p:cNvPr id="30" name="s22_rb"/>
          <p:cNvSpPr/>
          <p:nvPr/>
        </p:nvSpPr>
        <p:spPr>
          <a:xfrm>
            <a:off x="777240" y="4114800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 RULES</a:t>
            </a:r>
            <a:endParaRPr lang="en-US" sz="900" dirty="0"/>
          </a:p>
        </p:txBody>
      </p:sp>
      <p:sp>
        <p:nvSpPr>
          <p:cNvPr id="31" name="s22_rb0"/>
          <p:cNvSpPr/>
          <p:nvPr/>
        </p:nvSpPr>
        <p:spPr>
          <a:xfrm>
            <a:off x="777240" y="4425696"/>
            <a:ext cx="82296" cy="8229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2" name="s22_rt0"/>
          <p:cNvSpPr/>
          <p:nvPr/>
        </p:nvSpPr>
        <p:spPr>
          <a:xfrm>
            <a:off x="941832" y="4379976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plugin.json = closed 9-field set; unknown fields warn+ignore</a:t>
            </a:r>
            <a:endParaRPr lang="en-US" sz="900" dirty="0"/>
          </a:p>
        </p:txBody>
      </p:sp>
      <p:sp>
        <p:nvSpPr>
          <p:cNvPr id="33" name="s22_rb1"/>
          <p:cNvSpPr/>
          <p:nvPr/>
        </p:nvSpPr>
        <p:spPr>
          <a:xfrm>
            <a:off x="777240" y="4727448"/>
            <a:ext cx="82296" cy="8229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4" name="s22_rt1"/>
          <p:cNvSpPr/>
          <p:nvPr/>
        </p:nvSpPr>
        <p:spPr>
          <a:xfrm>
            <a:off x="941832" y="4681728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$schema + name required; version type-checked only</a:t>
            </a:r>
            <a:endParaRPr lang="en-US" sz="900" dirty="0"/>
          </a:p>
        </p:txBody>
      </p:sp>
      <p:sp>
        <p:nvSpPr>
          <p:cNvPr id="35" name="s22_rb2"/>
          <p:cNvSpPr/>
          <p:nvPr/>
        </p:nvSpPr>
        <p:spPr>
          <a:xfrm>
            <a:off x="777240" y="5029200"/>
            <a:ext cx="82296" cy="8229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6" name="s22_rt2"/>
          <p:cNvSpPr/>
          <p:nvPr/>
        </p:nvSpPr>
        <p:spPr>
          <a:xfrm>
            <a:off x="941832" y="4983480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Artifacts = skills + mcp.json only; no commands/hooks/agents</a:t>
            </a:r>
            <a:endParaRPr lang="en-US" sz="900" dirty="0"/>
          </a:p>
        </p:txBody>
      </p:sp>
      <p:sp>
        <p:nvSpPr>
          <p:cNvPr id="37" name="s22_rb3"/>
          <p:cNvSpPr/>
          <p:nvPr/>
        </p:nvSpPr>
        <p:spPr>
          <a:xfrm>
            <a:off x="777240" y="5330952"/>
            <a:ext cx="82296" cy="8229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8" name="s22_rt3"/>
          <p:cNvSpPr/>
          <p:nvPr/>
        </p:nvSpPr>
        <p:spPr>
          <a:xfrm>
            <a:off x="941832" y="5285232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mcp.json: non-loopback URLs HTTPS; no OAuth fields in v1</a:t>
            </a:r>
            <a:endParaRPr lang="en-US" sz="900" dirty="0"/>
          </a:p>
        </p:txBody>
      </p:sp>
      <p:sp>
        <p:nvSpPr>
          <p:cNvPr id="39" name="s22_h_sh"/>
          <p:cNvSpPr/>
          <p:nvPr/>
        </p:nvSpPr>
        <p:spPr>
          <a:xfrm>
            <a:off x="6451092" y="1531620"/>
            <a:ext cx="5285232" cy="288036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40" name="s22_h"/>
          <p:cNvSpPr/>
          <p:nvPr/>
        </p:nvSpPr>
        <p:spPr>
          <a:xfrm>
            <a:off x="6400800" y="1481328"/>
            <a:ext cx="5285232" cy="288036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41" name="s22_hb"/>
          <p:cNvSpPr/>
          <p:nvPr/>
        </p:nvSpPr>
        <p:spPr>
          <a:xfrm>
            <a:off x="6675120" y="1627632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THE FOUR IMPLEMENT IT</a:t>
            </a:r>
            <a:endParaRPr lang="en-US" sz="1050" dirty="0"/>
          </a:p>
        </p:txBody>
      </p:sp>
      <p:sp>
        <p:nvSpPr>
          <p:cNvPr id="42" name="s22_hb0"/>
          <p:cNvSpPr/>
          <p:nvPr/>
        </p:nvSpPr>
        <p:spPr>
          <a:xfrm>
            <a:off x="6675120" y="2157984"/>
            <a:ext cx="109728" cy="109728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43" name="s22_hk0"/>
          <p:cNvSpPr/>
          <p:nvPr/>
        </p:nvSpPr>
        <p:spPr>
          <a:xfrm>
            <a:off x="6894576" y="1938528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CLAUDE CODE</a:t>
            </a:r>
            <a:endParaRPr lang="en-US" sz="1000" dirty="0"/>
          </a:p>
        </p:txBody>
      </p:sp>
      <p:sp>
        <p:nvSpPr>
          <p:cNvPr id="44" name="s22_hv0"/>
          <p:cNvSpPr/>
          <p:nvPr/>
        </p:nvSpPr>
        <p:spPr>
          <a:xfrm>
            <a:off x="8275320" y="1938528"/>
            <a:ext cx="3154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— uses own .claude-plugin/; declined .agents/</a:t>
            </a:r>
            <a:endParaRPr lang="en-US" sz="900" dirty="0"/>
          </a:p>
        </p:txBody>
      </p:sp>
      <p:sp>
        <p:nvSpPr>
          <p:cNvPr id="45" name="s22_hhr0"/>
          <p:cNvSpPr/>
          <p:nvPr/>
        </p:nvSpPr>
        <p:spPr>
          <a:xfrm>
            <a:off x="6675120" y="2505456"/>
            <a:ext cx="475488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46" name="s22_hb1"/>
          <p:cNvSpPr/>
          <p:nvPr/>
        </p:nvSpPr>
        <p:spPr>
          <a:xfrm>
            <a:off x="6675120" y="2734056"/>
            <a:ext cx="109728" cy="109728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7" name="s22_hk1"/>
          <p:cNvSpPr/>
          <p:nvPr/>
        </p:nvSpPr>
        <p:spPr>
          <a:xfrm>
            <a:off x="6894576" y="2514600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CODEX</a:t>
            </a:r>
            <a:endParaRPr lang="en-US" sz="1000" dirty="0"/>
          </a:p>
        </p:txBody>
      </p:sp>
      <p:sp>
        <p:nvSpPr>
          <p:cNvPr id="48" name="s22_hv1"/>
          <p:cNvSpPr/>
          <p:nvPr/>
        </p:nvSpPr>
        <p:spPr>
          <a:xfrm>
            <a:off x="8275320" y="2514600"/>
            <a:ext cx="3154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 — root plugin.json + .codex-plugin/ overlay</a:t>
            </a:r>
            <a:endParaRPr lang="en-US" sz="900" dirty="0"/>
          </a:p>
        </p:txBody>
      </p:sp>
      <p:sp>
        <p:nvSpPr>
          <p:cNvPr id="49" name="s22_hhr1"/>
          <p:cNvSpPr/>
          <p:nvPr/>
        </p:nvSpPr>
        <p:spPr>
          <a:xfrm>
            <a:off x="6675120" y="3081528"/>
            <a:ext cx="475488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50" name="s22_hb2"/>
          <p:cNvSpPr/>
          <p:nvPr/>
        </p:nvSpPr>
        <p:spPr>
          <a:xfrm>
            <a:off x="6675120" y="3310128"/>
            <a:ext cx="109728" cy="109728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51" name="s22_hk2"/>
          <p:cNvSpPr/>
          <p:nvPr/>
        </p:nvSpPr>
        <p:spPr>
          <a:xfrm>
            <a:off x="6894576" y="3090672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OPENCODE</a:t>
            </a:r>
            <a:endParaRPr lang="en-US" sz="1000" dirty="0"/>
          </a:p>
        </p:txBody>
      </p:sp>
      <p:sp>
        <p:nvSpPr>
          <p:cNvPr id="52" name="s22_hv2"/>
          <p:cNvSpPr/>
          <p:nvPr/>
        </p:nvSpPr>
        <p:spPr>
          <a:xfrm>
            <a:off x="8275320" y="3090672"/>
            <a:ext cx="3154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— npm TS plugins; spec never mentioned</a:t>
            </a:r>
            <a:endParaRPr lang="en-US" sz="900" dirty="0"/>
          </a:p>
        </p:txBody>
      </p:sp>
      <p:sp>
        <p:nvSpPr>
          <p:cNvPr id="53" name="s22_hhr2"/>
          <p:cNvSpPr/>
          <p:nvPr/>
        </p:nvSpPr>
        <p:spPr>
          <a:xfrm>
            <a:off x="6675120" y="3657600"/>
            <a:ext cx="475488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54" name="s22_hb3"/>
          <p:cNvSpPr/>
          <p:nvPr/>
        </p:nvSpPr>
        <p:spPr>
          <a:xfrm>
            <a:off x="6675120" y="3886200"/>
            <a:ext cx="109728" cy="10972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5" name="s22_hk3"/>
          <p:cNvSpPr/>
          <p:nvPr/>
        </p:nvSpPr>
        <p:spPr>
          <a:xfrm>
            <a:off x="6894576" y="3666744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</a:t>
            </a:r>
            <a:endParaRPr lang="en-US" sz="1000" dirty="0"/>
          </a:p>
        </p:txBody>
      </p:sp>
      <p:sp>
        <p:nvSpPr>
          <p:cNvPr id="56" name="s22_hv3"/>
          <p:cNvSpPr/>
          <p:nvPr/>
        </p:nvSpPr>
        <p:spPr>
          <a:xfrm>
            <a:off x="8275320" y="3666744"/>
            <a:ext cx="3154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— npm packages w/ keyword pi-package</a:t>
            </a:r>
            <a:endParaRPr lang="en-US" sz="900" dirty="0"/>
          </a:p>
        </p:txBody>
      </p:sp>
      <p:sp>
        <p:nvSpPr>
          <p:cNvPr id="57" name="s22_st_sh"/>
          <p:cNvSpPr/>
          <p:nvPr/>
        </p:nvSpPr>
        <p:spPr>
          <a:xfrm>
            <a:off x="6451092" y="4549140"/>
            <a:ext cx="5285232" cy="114300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58" name="s22_st"/>
          <p:cNvSpPr/>
          <p:nvPr/>
        </p:nvSpPr>
        <p:spPr>
          <a:xfrm>
            <a:off x="6400800" y="4498848"/>
            <a:ext cx="5285232" cy="1143000"/>
          </a:xfrm>
          <a:prstGeom prst="rect">
            <a:avLst/>
          </a:prstGeom>
          <a:solidFill>
            <a:srgbClr val="1B1D22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59" name="s22_sb"/>
          <p:cNvSpPr/>
          <p:nvPr/>
        </p:nvSpPr>
        <p:spPr>
          <a:xfrm>
            <a:off x="6675120" y="46268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7CB0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REGISTRY STANCE</a:t>
            </a:r>
            <a:endParaRPr lang="en-US" sz="900" dirty="0"/>
          </a:p>
        </p:txBody>
      </p:sp>
      <p:sp>
        <p:nvSpPr>
          <p:cNvPr id="60" name="s22_stt"/>
          <p:cNvSpPr/>
          <p:nvPr/>
        </p:nvSpPr>
        <p:spPr>
          <a:xfrm>
            <a:off x="6675120" y="4882896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Bundle = packaging substrate; dual-emit .claude-plugin/ until Anthropic converges</a:t>
            </a:r>
            <a:endParaRPr lang="en-US" sz="1100" dirty="0"/>
          </a:p>
        </p:txBody>
      </p:sp>
      <p:sp>
        <p:nvSpPr>
          <p:cNvPr id="61" name="s22_g_sh"/>
          <p:cNvSpPr/>
          <p:nvPr/>
        </p:nvSpPr>
        <p:spPr>
          <a:xfrm>
            <a:off x="553212" y="5829300"/>
            <a:ext cx="11183112" cy="65836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62" name="s22_g"/>
          <p:cNvSpPr/>
          <p:nvPr/>
        </p:nvSpPr>
        <p:spPr>
          <a:xfrm>
            <a:off x="502920" y="5779008"/>
            <a:ext cx="11183112" cy="658368"/>
          </a:xfrm>
          <a:prstGeom prst="rect">
            <a:avLst/>
          </a:prstGeom>
          <a:solidFill>
            <a:srgbClr val="EFEFEA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63" name="s22_gt"/>
          <p:cNvSpPr/>
          <p:nvPr/>
        </p:nvSpPr>
        <p:spPr>
          <a:xfrm>
            <a:off x="777240" y="5852160"/>
            <a:ext cx="10607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GAPS THE REGISTRY OWNS — No marketplace/distribution/install in spec  ·  Only 2 component types; commands/hooks/agents excluded  ·  No signing; no auth/credentials; Claude absent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23_vx_v1"/>
          <p:cNvSpPr/>
          <p:nvPr/>
        </p:nvSpPr>
        <p:spPr>
          <a:xfrm>
            <a:off x="11137392" y="384048"/>
            <a:ext cx="128016" cy="12801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" name="s23_vx_v2"/>
          <p:cNvSpPr/>
          <p:nvPr/>
        </p:nvSpPr>
        <p:spPr>
          <a:xfrm>
            <a:off x="11292840" y="384048"/>
            <a:ext cx="128016" cy="12801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" name="s23_vx_v3"/>
          <p:cNvSpPr/>
          <p:nvPr/>
        </p:nvSpPr>
        <p:spPr>
          <a:xfrm>
            <a:off x="11137392" y="539496"/>
            <a:ext cx="128016" cy="128016"/>
          </a:xfrm>
          <a:prstGeom prst="rect">
            <a:avLst/>
          </a:prstGeom>
          <a:solidFill>
            <a:srgbClr val="D97706"/>
          </a:solidFill>
          <a:ln/>
        </p:spPr>
      </p:sp>
      <p:pic>
        <p:nvPicPr>
          <p:cNvPr id="5" name="s23_kick" descr="assets/skc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02336"/>
            <a:ext cx="5303520" cy="182880"/>
          </a:xfrm>
          <a:prstGeom prst="rect">
            <a:avLst/>
          </a:prstGeom>
        </p:spPr>
      </p:pic>
      <p:pic>
        <p:nvPicPr>
          <p:cNvPr id="6" name="s23_title" descr="assets/srf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58368"/>
            <a:ext cx="2785001" cy="475488"/>
          </a:xfrm>
          <a:prstGeom prst="rect">
            <a:avLst/>
          </a:prstGeom>
        </p:spPr>
      </p:pic>
      <p:sp>
        <p:nvSpPr>
          <p:cNvPr id="7" name="s23_spec"/>
          <p:cNvSpPr/>
          <p:nvPr/>
        </p:nvSpPr>
        <p:spPr>
          <a:xfrm>
            <a:off x="502920" y="1216152"/>
            <a:ext cx="10469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PLUGINS in claude code + codex — the two most popular first</a:t>
            </a:r>
            <a:endParaRPr lang="en-US" sz="1100" dirty="0"/>
          </a:p>
        </p:txBody>
      </p:sp>
      <p:sp>
        <p:nvSpPr>
          <p:cNvPr id="8" name="s23_pg"/>
          <p:cNvSpPr/>
          <p:nvPr/>
        </p:nvSpPr>
        <p:spPr>
          <a:xfrm>
            <a:off x="11064240" y="648309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 / 45</a:t>
            </a:r>
            <a:endParaRPr lang="en-US" sz="950" dirty="0"/>
          </a:p>
        </p:txBody>
      </p:sp>
      <p:sp>
        <p:nvSpPr>
          <p:cNvPr id="10" name="s23_c0_sh"/>
          <p:cNvSpPr/>
          <p:nvPr/>
        </p:nvSpPr>
        <p:spPr>
          <a:xfrm>
            <a:off x="553212" y="1531620"/>
            <a:ext cx="5477256" cy="489204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1" name="s23_c0"/>
          <p:cNvSpPr/>
          <p:nvPr/>
        </p:nvSpPr>
        <p:spPr>
          <a:xfrm>
            <a:off x="502920" y="1481328"/>
            <a:ext cx="5477256" cy="489204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12" name="s23_c0_sq"/>
          <p:cNvSpPr/>
          <p:nvPr/>
        </p:nvSpPr>
        <p:spPr>
          <a:xfrm>
            <a:off x="731520" y="1673352"/>
            <a:ext cx="137160" cy="13716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3" name="s23_c0_topic"/>
          <p:cNvSpPr/>
          <p:nvPr/>
        </p:nvSpPr>
        <p:spPr>
          <a:xfrm>
            <a:off x="960120" y="1609344"/>
            <a:ext cx="38723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50" kern="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PLUGINS</a:t>
            </a:r>
            <a:endParaRPr lang="en-US" sz="1300" dirty="0"/>
          </a:p>
        </p:txBody>
      </p:sp>
      <p:sp>
        <p:nvSpPr>
          <p:cNvPr id="14" name="s23_c0_vc_sh"/>
          <p:cNvSpPr/>
          <p:nvPr/>
        </p:nvSpPr>
        <p:spPr>
          <a:xfrm>
            <a:off x="4887285" y="1636776"/>
            <a:ext cx="919155" cy="3383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5" name="s23_c0_vc"/>
          <p:cNvSpPr/>
          <p:nvPr/>
        </p:nvSpPr>
        <p:spPr>
          <a:xfrm>
            <a:off x="4859853" y="1609344"/>
            <a:ext cx="919155" cy="338328"/>
          </a:xfrm>
          <a:prstGeom prst="rect">
            <a:avLst/>
          </a:prstGeom>
          <a:solidFill>
            <a:srgbClr val="E7EEFD"/>
          </a:solidFill>
          <a:ln w="15875">
            <a:solidFill>
              <a:srgbClr val="2F6FED"/>
            </a:solidFill>
            <a:prstDash val="solid"/>
          </a:ln>
        </p:spPr>
      </p:sp>
      <p:sp>
        <p:nvSpPr>
          <p:cNvPr id="16" name="s23_c0_vc_t"/>
          <p:cNvSpPr/>
          <p:nvPr/>
        </p:nvSpPr>
        <p:spPr>
          <a:xfrm>
            <a:off x="4859853" y="1609344"/>
            <a:ext cx="919155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TRANSLATE</a:t>
            </a:r>
            <a:endParaRPr lang="en-US" sz="900" dirty="0"/>
          </a:p>
        </p:txBody>
      </p:sp>
      <p:sp>
        <p:nvSpPr>
          <p:cNvPr id="17" name="s23_c0_why"/>
          <p:cNvSpPr/>
          <p:nvPr/>
        </p:nvSpPr>
        <p:spPr>
          <a:xfrm>
            <a:off x="731520" y="2011680"/>
            <a:ext cx="5020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i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agent-plugins root → .claude-plugin/ dual-manifest</a:t>
            </a:r>
            <a:endParaRPr lang="en-US" sz="850" dirty="0"/>
          </a:p>
        </p:txBody>
      </p:sp>
      <p:sp>
        <p:nvSpPr>
          <p:cNvPr id="18" name="s23_c0_what"/>
          <p:cNvSpPr/>
          <p:nvPr/>
        </p:nvSpPr>
        <p:spPr>
          <a:xfrm>
            <a:off x="731520" y="2340864"/>
            <a:ext cx="5020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Bundles of skills, agents, hooks and MCP installed from marketplaces</a:t>
            </a:r>
            <a:endParaRPr lang="en-US" sz="1050" dirty="0"/>
          </a:p>
        </p:txBody>
      </p:sp>
      <p:sp>
        <p:nvSpPr>
          <p:cNvPr id="19" name="s23_c0_hr1"/>
          <p:cNvSpPr/>
          <p:nvPr/>
        </p:nvSpPr>
        <p:spPr>
          <a:xfrm>
            <a:off x="731520" y="2798064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0" name="s23_c0_k0"/>
          <p:cNvSpPr/>
          <p:nvPr/>
        </p:nvSpPr>
        <p:spPr>
          <a:xfrm>
            <a:off x="731520" y="2852928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</a:t>
            </a:r>
            <a:endParaRPr lang="en-US" sz="850" dirty="0"/>
          </a:p>
        </p:txBody>
      </p:sp>
      <p:sp>
        <p:nvSpPr>
          <p:cNvPr id="21" name="s23_c0_v0"/>
          <p:cNvSpPr/>
          <p:nvPr/>
        </p:nvSpPr>
        <p:spPr>
          <a:xfrm>
            <a:off x="1883664" y="2852928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~/.claude/plugins/cache/&lt;mp&gt;/&lt;p&gt;/&lt;ver&gt;/ · .claude-plugin/</a:t>
            </a:r>
            <a:endParaRPr lang="en-US" sz="900" dirty="0"/>
          </a:p>
        </p:txBody>
      </p:sp>
      <p:sp>
        <p:nvSpPr>
          <p:cNvPr id="22" name="s23_c0_hr2"/>
          <p:cNvSpPr/>
          <p:nvPr/>
        </p:nvSpPr>
        <p:spPr>
          <a:xfrm>
            <a:off x="731520" y="3273552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3" name="s23_c0_k1"/>
          <p:cNvSpPr/>
          <p:nvPr/>
        </p:nvSpPr>
        <p:spPr>
          <a:xfrm>
            <a:off x="731520" y="3273552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FORMAT</a:t>
            </a:r>
            <a:endParaRPr lang="en-US" sz="850" dirty="0"/>
          </a:p>
        </p:txBody>
      </p:sp>
      <p:sp>
        <p:nvSpPr>
          <p:cNvPr id="24" name="s23_c0_v1"/>
          <p:cNvSpPr/>
          <p:nvPr/>
        </p:nvSpPr>
        <p:spPr>
          <a:xfrm>
            <a:off x="1883664" y="3273552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.claude-plugin/plugin.json + marketplace.json (7 sources)</a:t>
            </a:r>
            <a:endParaRPr lang="en-US" sz="900" dirty="0"/>
          </a:p>
        </p:txBody>
      </p:sp>
      <p:sp>
        <p:nvSpPr>
          <p:cNvPr id="25" name="s23_c0_hr3"/>
          <p:cNvSpPr/>
          <p:nvPr/>
        </p:nvSpPr>
        <p:spPr>
          <a:xfrm>
            <a:off x="731520" y="3694176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6" name="s23_c0_k2"/>
          <p:cNvSpPr/>
          <p:nvPr/>
        </p:nvSpPr>
        <p:spPr>
          <a:xfrm>
            <a:off x="731520" y="3694176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</a:t>
            </a:r>
            <a:endParaRPr lang="en-US" sz="850" dirty="0"/>
          </a:p>
        </p:txBody>
      </p:sp>
      <p:sp>
        <p:nvSpPr>
          <p:cNvPr id="27" name="s23_c0_v2"/>
          <p:cNvSpPr/>
          <p:nvPr/>
        </p:nvSpPr>
        <p:spPr>
          <a:xfrm>
            <a:off x="1883664" y="3694176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plugin install|list|validate --strict · /plugin</a:t>
            </a:r>
            <a:endParaRPr lang="en-US" sz="900" dirty="0"/>
          </a:p>
        </p:txBody>
      </p:sp>
      <p:sp>
        <p:nvSpPr>
          <p:cNvPr id="28" name="s23_c0_hr4"/>
          <p:cNvSpPr/>
          <p:nvPr/>
        </p:nvSpPr>
        <p:spPr>
          <a:xfrm>
            <a:off x="731520" y="4114800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9" name="s23_c0_k3"/>
          <p:cNvSpPr/>
          <p:nvPr/>
        </p:nvSpPr>
        <p:spPr>
          <a:xfrm>
            <a:off x="731520" y="4114800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AUTO-UPDATE</a:t>
            </a:r>
            <a:endParaRPr lang="en-US" sz="850" dirty="0"/>
          </a:p>
        </p:txBody>
      </p:sp>
      <p:sp>
        <p:nvSpPr>
          <p:cNvPr id="30" name="s23_c0_v3"/>
          <p:cNvSpPr/>
          <p:nvPr/>
        </p:nvSpPr>
        <p:spPr>
          <a:xfrm>
            <a:off x="1883664" y="4114800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6A3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Yes — opt-in per marketplace (v2.0.70, 2025-12-15); the only auto-updater</a:t>
            </a:r>
            <a:endParaRPr lang="en-US" sz="900" dirty="0"/>
          </a:p>
        </p:txBody>
      </p:sp>
      <p:sp>
        <p:nvSpPr>
          <p:cNvPr id="31" name="s23_c0_emp"/>
          <p:cNvSpPr/>
          <p:nvPr/>
        </p:nvSpPr>
        <p:spPr>
          <a:xfrm>
            <a:off x="704088" y="4626864"/>
            <a:ext cx="5074920" cy="1581912"/>
          </a:xfrm>
          <a:prstGeom prst="rect">
            <a:avLst/>
          </a:prstGeom>
          <a:solidFill>
            <a:srgbClr val="FBEEDD"/>
          </a:solidFill>
          <a:ln/>
        </p:spPr>
      </p:sp>
      <p:sp>
        <p:nvSpPr>
          <p:cNvPr id="32" name="s23_c0_emb"/>
          <p:cNvSpPr/>
          <p:nvPr/>
        </p:nvSpPr>
        <p:spPr>
          <a:xfrm>
            <a:off x="886968" y="4736592"/>
            <a:ext cx="4709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spc="200" kern="0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REGISTRY EMISSION</a:t>
            </a:r>
            <a:endParaRPr lang="en-US" sz="800" dirty="0"/>
          </a:p>
        </p:txBody>
      </p:sp>
      <p:sp>
        <p:nvSpPr>
          <p:cNvPr id="33" name="s23_c0_em"/>
          <p:cNvSpPr/>
          <p:nvPr/>
        </p:nvSpPr>
        <p:spPr>
          <a:xfrm>
            <a:off x="886968" y="4956048"/>
            <a:ext cx="470916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emit .claude-plugin/plugin.json + components</a:t>
            </a:r>
            <a:endParaRPr lang="en-US" sz="9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plugin marketplace add &lt;mp&gt; → install</a:t>
            </a:r>
            <a:endParaRPr lang="en-US" sz="9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version: manifest → marketplace entry → git sha</a:t>
            </a:r>
            <a:endParaRPr lang="en-US" sz="900" dirty="0"/>
          </a:p>
        </p:txBody>
      </p:sp>
      <p:sp>
        <p:nvSpPr>
          <p:cNvPr id="34" name="s23_c1_sh"/>
          <p:cNvSpPr/>
          <p:nvPr/>
        </p:nvSpPr>
        <p:spPr>
          <a:xfrm>
            <a:off x="6259068" y="1531620"/>
            <a:ext cx="5477256" cy="489204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35" name="s23_c1"/>
          <p:cNvSpPr/>
          <p:nvPr/>
        </p:nvSpPr>
        <p:spPr>
          <a:xfrm>
            <a:off x="6208776" y="1481328"/>
            <a:ext cx="5477256" cy="489204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36" name="s23_c1_sq"/>
          <p:cNvSpPr/>
          <p:nvPr/>
        </p:nvSpPr>
        <p:spPr>
          <a:xfrm>
            <a:off x="6437376" y="1673352"/>
            <a:ext cx="137160" cy="13716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7" name="s23_c1_topic"/>
          <p:cNvSpPr/>
          <p:nvPr/>
        </p:nvSpPr>
        <p:spPr>
          <a:xfrm>
            <a:off x="6665976" y="1609344"/>
            <a:ext cx="40237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50" kern="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PLUGINS</a:t>
            </a:r>
            <a:endParaRPr lang="en-US" sz="1300" dirty="0"/>
          </a:p>
        </p:txBody>
      </p:sp>
      <p:sp>
        <p:nvSpPr>
          <p:cNvPr id="38" name="s23_c1_vc_sh"/>
          <p:cNvSpPr/>
          <p:nvPr/>
        </p:nvSpPr>
        <p:spPr>
          <a:xfrm>
            <a:off x="10744566" y="1636776"/>
            <a:ext cx="767730" cy="3383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39" name="s23_c1_vc"/>
          <p:cNvSpPr/>
          <p:nvPr/>
        </p:nvSpPr>
        <p:spPr>
          <a:xfrm>
            <a:off x="10717134" y="1609344"/>
            <a:ext cx="767730" cy="338328"/>
          </a:xfrm>
          <a:prstGeom prst="rect">
            <a:avLst/>
          </a:prstGeom>
          <a:solidFill>
            <a:srgbClr val="FBEEDD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40" name="s23_c1_vc_t"/>
          <p:cNvSpPr/>
          <p:nvPr/>
        </p:nvSpPr>
        <p:spPr>
          <a:xfrm>
            <a:off x="10717134" y="1609344"/>
            <a:ext cx="76773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OVERLAY</a:t>
            </a:r>
            <a:endParaRPr lang="en-US" sz="900" dirty="0"/>
          </a:p>
        </p:txBody>
      </p:sp>
      <p:sp>
        <p:nvSpPr>
          <p:cNvPr id="41" name="s23_c1_why"/>
          <p:cNvSpPr/>
          <p:nvPr/>
        </p:nvSpPr>
        <p:spPr>
          <a:xfrm>
            <a:off x="6437376" y="2011680"/>
            <a:ext cx="5020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i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Portable plugin.json + .codex-plugin overlay + catalog entry</a:t>
            </a:r>
            <a:endParaRPr lang="en-US" sz="850" dirty="0"/>
          </a:p>
        </p:txBody>
      </p:sp>
      <p:sp>
        <p:nvSpPr>
          <p:cNvPr id="42" name="s23_c1_what"/>
          <p:cNvSpPr/>
          <p:nvPr/>
        </p:nvSpPr>
        <p:spPr>
          <a:xfrm>
            <a:off x="6437376" y="2340864"/>
            <a:ext cx="5020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Bundles of skills + MCP servers + hooks installable from marketplaces.</a:t>
            </a:r>
            <a:endParaRPr lang="en-US" sz="1050" dirty="0"/>
          </a:p>
        </p:txBody>
      </p:sp>
      <p:sp>
        <p:nvSpPr>
          <p:cNvPr id="43" name="s23_c1_hr1"/>
          <p:cNvSpPr/>
          <p:nvPr/>
        </p:nvSpPr>
        <p:spPr>
          <a:xfrm>
            <a:off x="6437376" y="2798064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44" name="s23_c1_k0"/>
          <p:cNvSpPr/>
          <p:nvPr/>
        </p:nvSpPr>
        <p:spPr>
          <a:xfrm>
            <a:off x="6437376" y="2852928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</a:t>
            </a:r>
            <a:endParaRPr lang="en-US" sz="850" dirty="0"/>
          </a:p>
        </p:txBody>
      </p:sp>
      <p:sp>
        <p:nvSpPr>
          <p:cNvPr id="45" name="s23_c1_v0"/>
          <p:cNvSpPr/>
          <p:nvPr/>
        </p:nvSpPr>
        <p:spPr>
          <a:xfrm>
            <a:off x="7589520" y="2852928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marketplace: .agents/plugins/ (repo) · ~/.agents/ (user)</a:t>
            </a:r>
            <a:endParaRPr lang="en-US" sz="900" dirty="0"/>
          </a:p>
        </p:txBody>
      </p:sp>
      <p:sp>
        <p:nvSpPr>
          <p:cNvPr id="46" name="s23_c1_hr2"/>
          <p:cNvSpPr/>
          <p:nvPr/>
        </p:nvSpPr>
        <p:spPr>
          <a:xfrm>
            <a:off x="6437376" y="3273552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47" name="s23_c1_k1"/>
          <p:cNvSpPr/>
          <p:nvPr/>
        </p:nvSpPr>
        <p:spPr>
          <a:xfrm>
            <a:off x="6437376" y="3273552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FORMAT</a:t>
            </a:r>
            <a:endParaRPr lang="en-US" sz="850" dirty="0"/>
          </a:p>
        </p:txBody>
      </p:sp>
      <p:sp>
        <p:nvSpPr>
          <p:cNvPr id="48" name="s23_c1_v1"/>
          <p:cNvSpPr/>
          <p:nvPr/>
        </p:nvSpPr>
        <p:spPr>
          <a:xfrm>
            <a:off x="7589520" y="3273552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plugin.json (agent-plugins 1.0.0) + .codex-plugin overlay</a:t>
            </a:r>
            <a:endParaRPr lang="en-US" sz="900" dirty="0"/>
          </a:p>
        </p:txBody>
      </p:sp>
      <p:sp>
        <p:nvSpPr>
          <p:cNvPr id="49" name="s23_c1_hr3"/>
          <p:cNvSpPr/>
          <p:nvPr/>
        </p:nvSpPr>
        <p:spPr>
          <a:xfrm>
            <a:off x="6437376" y="3694176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50" name="s23_c1_k2"/>
          <p:cNvSpPr/>
          <p:nvPr/>
        </p:nvSpPr>
        <p:spPr>
          <a:xfrm>
            <a:off x="6437376" y="3694176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</a:t>
            </a:r>
            <a:endParaRPr lang="en-US" sz="850" dirty="0"/>
          </a:p>
        </p:txBody>
      </p:sp>
      <p:sp>
        <p:nvSpPr>
          <p:cNvPr id="51" name="s23_c1_v2"/>
          <p:cNvSpPr/>
          <p:nvPr/>
        </p:nvSpPr>
        <p:spPr>
          <a:xfrm>
            <a:off x="7589520" y="3694176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/plugins · codex plugin marketplace add|list|upgrade|remove</a:t>
            </a:r>
            <a:endParaRPr lang="en-US" sz="900" dirty="0"/>
          </a:p>
        </p:txBody>
      </p:sp>
      <p:sp>
        <p:nvSpPr>
          <p:cNvPr id="52" name="s23_c1_hr4"/>
          <p:cNvSpPr/>
          <p:nvPr/>
        </p:nvSpPr>
        <p:spPr>
          <a:xfrm>
            <a:off x="6437376" y="4114800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53" name="s23_c1_k3"/>
          <p:cNvSpPr/>
          <p:nvPr/>
        </p:nvSpPr>
        <p:spPr>
          <a:xfrm>
            <a:off x="6437376" y="4114800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AUTO-UPDATE</a:t>
            </a:r>
            <a:endParaRPr lang="en-US" sz="850" dirty="0"/>
          </a:p>
        </p:txBody>
      </p:sp>
      <p:sp>
        <p:nvSpPr>
          <p:cNvPr id="54" name="s23_c1_v3"/>
          <p:cNvSpPr/>
          <p:nvPr/>
        </p:nvSpPr>
        <p:spPr>
          <a:xfrm>
            <a:off x="7589520" y="4114800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6A3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Yes — the only auto-update: codex plugin marketplace upgrade</a:t>
            </a:r>
            <a:endParaRPr lang="en-US" sz="900" dirty="0"/>
          </a:p>
        </p:txBody>
      </p:sp>
      <p:sp>
        <p:nvSpPr>
          <p:cNvPr id="55" name="s23_c1_emp"/>
          <p:cNvSpPr/>
          <p:nvPr/>
        </p:nvSpPr>
        <p:spPr>
          <a:xfrm>
            <a:off x="6409944" y="4626864"/>
            <a:ext cx="5074920" cy="1581912"/>
          </a:xfrm>
          <a:prstGeom prst="rect">
            <a:avLst/>
          </a:prstGeom>
          <a:solidFill>
            <a:srgbClr val="E5F5EA"/>
          </a:solidFill>
          <a:ln/>
        </p:spPr>
      </p:sp>
      <p:sp>
        <p:nvSpPr>
          <p:cNvPr id="56" name="s23_c1_emb"/>
          <p:cNvSpPr/>
          <p:nvPr/>
        </p:nvSpPr>
        <p:spPr>
          <a:xfrm>
            <a:off x="6592824" y="4736592"/>
            <a:ext cx="4709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spc="200" kern="0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REGISTRY EMISSION</a:t>
            </a:r>
            <a:endParaRPr lang="en-US" sz="800" dirty="0"/>
          </a:p>
        </p:txBody>
      </p:sp>
      <p:sp>
        <p:nvSpPr>
          <p:cNvPr id="57" name="s23_c1_em"/>
          <p:cNvSpPr/>
          <p:nvPr/>
        </p:nvSpPr>
        <p:spPr>
          <a:xfrm>
            <a:off x="6592824" y="4956048"/>
            <a:ext cx="470916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emit: plugin.json + skills/ + mcp.json + overlay</a:t>
            </a:r>
            <a:endParaRPr lang="en-US" sz="9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catalog: .agents/plugins/marketplace.json entry</a:t>
            </a:r>
            <a:endParaRPr lang="en-US" sz="9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install: codex plugin marketplace add &lt;src&gt;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24_vx_v1"/>
          <p:cNvSpPr/>
          <p:nvPr/>
        </p:nvSpPr>
        <p:spPr>
          <a:xfrm>
            <a:off x="11137392" y="384048"/>
            <a:ext cx="128016" cy="12801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" name="s24_vx_v2"/>
          <p:cNvSpPr/>
          <p:nvPr/>
        </p:nvSpPr>
        <p:spPr>
          <a:xfrm>
            <a:off x="11292840" y="384048"/>
            <a:ext cx="128016" cy="12801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" name="s24_vx_v3"/>
          <p:cNvSpPr/>
          <p:nvPr/>
        </p:nvSpPr>
        <p:spPr>
          <a:xfrm>
            <a:off x="11137392" y="539496"/>
            <a:ext cx="128016" cy="128016"/>
          </a:xfrm>
          <a:prstGeom prst="rect">
            <a:avLst/>
          </a:prstGeom>
          <a:solidFill>
            <a:srgbClr val="D97706"/>
          </a:solidFill>
          <a:ln/>
        </p:spPr>
      </p:sp>
      <p:pic>
        <p:nvPicPr>
          <p:cNvPr id="5" name="s24_kick" descr="assets/sko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02336"/>
            <a:ext cx="5146766" cy="182880"/>
          </a:xfrm>
          <a:prstGeom prst="rect">
            <a:avLst/>
          </a:prstGeom>
        </p:spPr>
      </p:pic>
      <p:pic>
        <p:nvPicPr>
          <p:cNvPr id="6" name="s24_title" descr="assets/srf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58368"/>
            <a:ext cx="2785001" cy="475488"/>
          </a:xfrm>
          <a:prstGeom prst="rect">
            <a:avLst/>
          </a:prstGeom>
        </p:spPr>
      </p:pic>
      <p:sp>
        <p:nvSpPr>
          <p:cNvPr id="7" name="s24_spec"/>
          <p:cNvSpPr/>
          <p:nvPr/>
        </p:nvSpPr>
        <p:spPr>
          <a:xfrm>
            <a:off x="502920" y="1216152"/>
            <a:ext cx="10469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PLUGINS in opencode + pi</a:t>
            </a:r>
            <a:endParaRPr lang="en-US" sz="1100" dirty="0"/>
          </a:p>
        </p:txBody>
      </p:sp>
      <p:sp>
        <p:nvSpPr>
          <p:cNvPr id="8" name="s24_pg"/>
          <p:cNvSpPr/>
          <p:nvPr/>
        </p:nvSpPr>
        <p:spPr>
          <a:xfrm>
            <a:off x="11064240" y="648309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 / 45</a:t>
            </a:r>
            <a:endParaRPr lang="en-US" sz="950" dirty="0"/>
          </a:p>
        </p:txBody>
      </p:sp>
      <p:sp>
        <p:nvSpPr>
          <p:cNvPr id="10" name="s24_c0_sh"/>
          <p:cNvSpPr/>
          <p:nvPr/>
        </p:nvSpPr>
        <p:spPr>
          <a:xfrm>
            <a:off x="553212" y="1531620"/>
            <a:ext cx="5477256" cy="489204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1" name="s24_c0"/>
          <p:cNvSpPr/>
          <p:nvPr/>
        </p:nvSpPr>
        <p:spPr>
          <a:xfrm>
            <a:off x="502920" y="1481328"/>
            <a:ext cx="5477256" cy="489204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12" name="s24_c0_sq"/>
          <p:cNvSpPr/>
          <p:nvPr/>
        </p:nvSpPr>
        <p:spPr>
          <a:xfrm>
            <a:off x="731520" y="1673352"/>
            <a:ext cx="137160" cy="137160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13" name="s24_c0_topic"/>
          <p:cNvSpPr/>
          <p:nvPr/>
        </p:nvSpPr>
        <p:spPr>
          <a:xfrm>
            <a:off x="960120" y="1609344"/>
            <a:ext cx="38723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50" kern="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PLUGINS</a:t>
            </a:r>
            <a:endParaRPr lang="en-US" sz="1300" dirty="0"/>
          </a:p>
        </p:txBody>
      </p:sp>
      <p:sp>
        <p:nvSpPr>
          <p:cNvPr id="14" name="s24_c0_vc_sh"/>
          <p:cNvSpPr/>
          <p:nvPr/>
        </p:nvSpPr>
        <p:spPr>
          <a:xfrm>
            <a:off x="4887285" y="1636776"/>
            <a:ext cx="919155" cy="3383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5" name="s24_c0_vc"/>
          <p:cNvSpPr/>
          <p:nvPr/>
        </p:nvSpPr>
        <p:spPr>
          <a:xfrm>
            <a:off x="4859853" y="1609344"/>
            <a:ext cx="919155" cy="338328"/>
          </a:xfrm>
          <a:prstGeom prst="rect">
            <a:avLst/>
          </a:prstGeom>
          <a:solidFill>
            <a:srgbClr val="E7EEFD"/>
          </a:solidFill>
          <a:ln w="15875">
            <a:solidFill>
              <a:srgbClr val="2F6FED"/>
            </a:solidFill>
            <a:prstDash val="solid"/>
          </a:ln>
        </p:spPr>
      </p:sp>
      <p:sp>
        <p:nvSpPr>
          <p:cNvPr id="16" name="s24_c0_vc_t"/>
          <p:cNvSpPr/>
          <p:nvPr/>
        </p:nvSpPr>
        <p:spPr>
          <a:xfrm>
            <a:off x="4859853" y="1609344"/>
            <a:ext cx="919155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TRANSLATE</a:t>
            </a:r>
            <a:endParaRPr lang="en-US" sz="900" dirty="0"/>
          </a:p>
        </p:txBody>
      </p:sp>
      <p:sp>
        <p:nvSpPr>
          <p:cNvPr id="17" name="s24_c0_why"/>
          <p:cNvSpPr/>
          <p:nvPr/>
        </p:nvSpPr>
        <p:spPr>
          <a:xfrm>
            <a:off x="731520" y="2011680"/>
            <a:ext cx="5020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i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bundle → npm TS adapter plugin pkg</a:t>
            </a:r>
            <a:endParaRPr lang="en-US" sz="850" dirty="0"/>
          </a:p>
        </p:txBody>
      </p:sp>
      <p:sp>
        <p:nvSpPr>
          <p:cNvPr id="18" name="s24_c0_what"/>
          <p:cNvSpPr/>
          <p:nvPr/>
        </p:nvSpPr>
        <p:spPr>
          <a:xfrm>
            <a:off x="731520" y="2340864"/>
            <a:ext cx="5020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TypeScript modules that hook events and add custom tools</a:t>
            </a:r>
            <a:endParaRPr lang="en-US" sz="1050" dirty="0"/>
          </a:p>
        </p:txBody>
      </p:sp>
      <p:sp>
        <p:nvSpPr>
          <p:cNvPr id="19" name="s24_c0_hr1"/>
          <p:cNvSpPr/>
          <p:nvPr/>
        </p:nvSpPr>
        <p:spPr>
          <a:xfrm>
            <a:off x="731520" y="2798064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0" name="s24_c0_k0"/>
          <p:cNvSpPr/>
          <p:nvPr/>
        </p:nvSpPr>
        <p:spPr>
          <a:xfrm>
            <a:off x="731520" y="2852928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</a:t>
            </a:r>
            <a:endParaRPr lang="en-US" sz="850" dirty="0"/>
          </a:p>
        </p:txBody>
      </p:sp>
      <p:sp>
        <p:nvSpPr>
          <p:cNvPr id="21" name="s24_c0_v0"/>
          <p:cNvSpPr/>
          <p:nvPr/>
        </p:nvSpPr>
        <p:spPr>
          <a:xfrm>
            <a:off x="1883664" y="2852928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.opencode/plugins/*.ts · plugins[] config · npm/git/path</a:t>
            </a:r>
            <a:endParaRPr lang="en-US" sz="900" dirty="0"/>
          </a:p>
        </p:txBody>
      </p:sp>
      <p:sp>
        <p:nvSpPr>
          <p:cNvPr id="22" name="s24_c0_hr2"/>
          <p:cNvSpPr/>
          <p:nvPr/>
        </p:nvSpPr>
        <p:spPr>
          <a:xfrm>
            <a:off x="731520" y="3273552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3" name="s24_c0_k1"/>
          <p:cNvSpPr/>
          <p:nvPr/>
        </p:nvSpPr>
        <p:spPr>
          <a:xfrm>
            <a:off x="731520" y="3273552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FORMAT</a:t>
            </a:r>
            <a:endParaRPr lang="en-US" sz="850" dirty="0"/>
          </a:p>
        </p:txBody>
      </p:sp>
      <p:sp>
        <p:nvSpPr>
          <p:cNvPr id="24" name="s24_c0_v1"/>
          <p:cNvSpPr/>
          <p:nvPr/>
        </p:nvSpPr>
        <p:spPr>
          <a:xfrm>
            <a:off x="1883664" y="3273552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TS module, Plugin type from @opencode-ai/plugin</a:t>
            </a:r>
            <a:endParaRPr lang="en-US" sz="900" dirty="0"/>
          </a:p>
        </p:txBody>
      </p:sp>
      <p:sp>
        <p:nvSpPr>
          <p:cNvPr id="25" name="s24_c0_hr3"/>
          <p:cNvSpPr/>
          <p:nvPr/>
        </p:nvSpPr>
        <p:spPr>
          <a:xfrm>
            <a:off x="731520" y="3694176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6" name="s24_c0_k2"/>
          <p:cNvSpPr/>
          <p:nvPr/>
        </p:nvSpPr>
        <p:spPr>
          <a:xfrm>
            <a:off x="731520" y="3694176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</a:t>
            </a:r>
            <a:endParaRPr lang="en-US" sz="850" dirty="0"/>
          </a:p>
        </p:txBody>
      </p:sp>
      <p:sp>
        <p:nvSpPr>
          <p:cNvPr id="27" name="s24_c0_v2"/>
          <p:cNvSpPr/>
          <p:nvPr/>
        </p:nvSpPr>
        <p:spPr>
          <a:xfrm>
            <a:off x="1883664" y="3694176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opencode plugin add pkg@ver · list · check · update</a:t>
            </a:r>
            <a:endParaRPr lang="en-US" sz="900" dirty="0"/>
          </a:p>
        </p:txBody>
      </p:sp>
      <p:sp>
        <p:nvSpPr>
          <p:cNvPr id="28" name="s24_c0_hr4"/>
          <p:cNvSpPr/>
          <p:nvPr/>
        </p:nvSpPr>
        <p:spPr>
          <a:xfrm>
            <a:off x="731520" y="4114800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9" name="s24_c0_k3"/>
          <p:cNvSpPr/>
          <p:nvPr/>
        </p:nvSpPr>
        <p:spPr>
          <a:xfrm>
            <a:off x="731520" y="4114800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AUTO-UPDATE</a:t>
            </a:r>
            <a:endParaRPr lang="en-US" sz="850" dirty="0"/>
          </a:p>
        </p:txBody>
      </p:sp>
      <p:sp>
        <p:nvSpPr>
          <p:cNvPr id="30" name="s24_c0_v3"/>
          <p:cNvSpPr/>
          <p:nvPr/>
        </p:nvSpPr>
        <p:spPr>
          <a:xfrm>
            <a:off x="1883664" y="4114800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6A3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Yes — opencode plugin update; npm pkg@version pins</a:t>
            </a:r>
            <a:endParaRPr lang="en-US" sz="900" dirty="0"/>
          </a:p>
        </p:txBody>
      </p:sp>
      <p:sp>
        <p:nvSpPr>
          <p:cNvPr id="31" name="s24_c0_emp"/>
          <p:cNvSpPr/>
          <p:nvPr/>
        </p:nvSpPr>
        <p:spPr>
          <a:xfrm>
            <a:off x="704088" y="4626864"/>
            <a:ext cx="5074920" cy="1581912"/>
          </a:xfrm>
          <a:prstGeom prst="rect">
            <a:avLst/>
          </a:prstGeom>
          <a:solidFill>
            <a:srgbClr val="E7EEFD"/>
          </a:solidFill>
          <a:ln/>
        </p:spPr>
      </p:sp>
      <p:sp>
        <p:nvSpPr>
          <p:cNvPr id="32" name="s24_c0_emb"/>
          <p:cNvSpPr/>
          <p:nvPr/>
        </p:nvSpPr>
        <p:spPr>
          <a:xfrm>
            <a:off x="886968" y="4736592"/>
            <a:ext cx="4709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spc="200" kern="0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REGISTRY EMISSION</a:t>
            </a:r>
            <a:endParaRPr lang="en-US" sz="800" dirty="0"/>
          </a:p>
        </p:txBody>
      </p:sp>
      <p:sp>
        <p:nvSpPr>
          <p:cNvPr id="33" name="s24_c0_em"/>
          <p:cNvSpPr/>
          <p:nvPr/>
        </p:nvSpPr>
        <p:spPr>
          <a:xfrm>
            <a:off x="886968" y="4956048"/>
            <a:ext cx="470916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publish npm pkg; opencode plugin add &lt;pkg&gt;@&lt;ver&gt;</a:t>
            </a:r>
            <a:endParaRPr lang="en-US" sz="9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sources: npm · git pkg@github:o/r · path</a:t>
            </a:r>
            <a:endParaRPr lang="en-US" sz="9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 official marketplace; aggregators only</a:t>
            </a:r>
            <a:endParaRPr lang="en-US" sz="900" dirty="0"/>
          </a:p>
        </p:txBody>
      </p:sp>
      <p:sp>
        <p:nvSpPr>
          <p:cNvPr id="34" name="s24_c1_sh"/>
          <p:cNvSpPr/>
          <p:nvPr/>
        </p:nvSpPr>
        <p:spPr>
          <a:xfrm>
            <a:off x="6259068" y="1531620"/>
            <a:ext cx="5477256" cy="489204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35" name="s24_c1"/>
          <p:cNvSpPr/>
          <p:nvPr/>
        </p:nvSpPr>
        <p:spPr>
          <a:xfrm>
            <a:off x="6208776" y="1481328"/>
            <a:ext cx="5477256" cy="489204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36" name="s24_c1_sq"/>
          <p:cNvSpPr/>
          <p:nvPr/>
        </p:nvSpPr>
        <p:spPr>
          <a:xfrm>
            <a:off x="6437376" y="1673352"/>
            <a:ext cx="137160" cy="13716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7" name="s24_c1_topic"/>
          <p:cNvSpPr/>
          <p:nvPr/>
        </p:nvSpPr>
        <p:spPr>
          <a:xfrm>
            <a:off x="6665976" y="1609344"/>
            <a:ext cx="38723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50" kern="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PLUGINS</a:t>
            </a:r>
            <a:endParaRPr lang="en-US" sz="1300" dirty="0"/>
          </a:p>
        </p:txBody>
      </p:sp>
      <p:sp>
        <p:nvSpPr>
          <p:cNvPr id="38" name="s24_c1_vc_sh"/>
          <p:cNvSpPr/>
          <p:nvPr/>
        </p:nvSpPr>
        <p:spPr>
          <a:xfrm>
            <a:off x="10593141" y="1636776"/>
            <a:ext cx="919155" cy="3383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39" name="s24_c1_vc"/>
          <p:cNvSpPr/>
          <p:nvPr/>
        </p:nvSpPr>
        <p:spPr>
          <a:xfrm>
            <a:off x="10565709" y="1609344"/>
            <a:ext cx="919155" cy="338328"/>
          </a:xfrm>
          <a:prstGeom prst="rect">
            <a:avLst/>
          </a:prstGeom>
          <a:solidFill>
            <a:srgbClr val="E7EEFD"/>
          </a:solidFill>
          <a:ln w="15875">
            <a:solidFill>
              <a:srgbClr val="2F6FED"/>
            </a:solidFill>
            <a:prstDash val="solid"/>
          </a:ln>
        </p:spPr>
      </p:sp>
      <p:sp>
        <p:nvSpPr>
          <p:cNvPr id="40" name="s24_c1_vc_t"/>
          <p:cNvSpPr/>
          <p:nvPr/>
        </p:nvSpPr>
        <p:spPr>
          <a:xfrm>
            <a:off x="10565709" y="1609344"/>
            <a:ext cx="919155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TRANSLATE</a:t>
            </a:r>
            <a:endParaRPr lang="en-US" sz="900" dirty="0"/>
          </a:p>
        </p:txBody>
      </p:sp>
      <p:sp>
        <p:nvSpPr>
          <p:cNvPr id="41" name="s24_c1_why"/>
          <p:cNvSpPr/>
          <p:nvPr/>
        </p:nvSpPr>
        <p:spPr>
          <a:xfrm>
            <a:off x="6437376" y="2011680"/>
            <a:ext cx="5020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i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Must republish as npm; npm IS Pi's registry</a:t>
            </a:r>
            <a:endParaRPr lang="en-US" sz="850" dirty="0"/>
          </a:p>
        </p:txBody>
      </p:sp>
      <p:sp>
        <p:nvSpPr>
          <p:cNvPr id="42" name="s24_c1_what"/>
          <p:cNvSpPr/>
          <p:nvPr/>
        </p:nvSpPr>
        <p:spPr>
          <a:xfrm>
            <a:off x="6437376" y="2340864"/>
            <a:ext cx="5020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Bundles ship as npm packages: extensions, skills, prompts, themes</a:t>
            </a:r>
            <a:endParaRPr lang="en-US" sz="1050" dirty="0"/>
          </a:p>
        </p:txBody>
      </p:sp>
      <p:sp>
        <p:nvSpPr>
          <p:cNvPr id="43" name="s24_c1_hr1"/>
          <p:cNvSpPr/>
          <p:nvPr/>
        </p:nvSpPr>
        <p:spPr>
          <a:xfrm>
            <a:off x="6437376" y="2798064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44" name="s24_c1_k0"/>
          <p:cNvSpPr/>
          <p:nvPr/>
        </p:nvSpPr>
        <p:spPr>
          <a:xfrm>
            <a:off x="6437376" y="2852928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</a:t>
            </a:r>
            <a:endParaRPr lang="en-US" sz="850" dirty="0"/>
          </a:p>
        </p:txBody>
      </p:sp>
      <p:sp>
        <p:nvSpPr>
          <p:cNvPr id="45" name="s24_c1_v0"/>
          <p:cNvSpPr/>
          <p:nvPr/>
        </p:nvSpPr>
        <p:spPr>
          <a:xfrm>
            <a:off x="7589520" y="2852928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~/.pi/agent/npm · settings.json · .pi/settings.json</a:t>
            </a:r>
            <a:endParaRPr lang="en-US" sz="900" dirty="0"/>
          </a:p>
        </p:txBody>
      </p:sp>
      <p:sp>
        <p:nvSpPr>
          <p:cNvPr id="46" name="s24_c1_hr2"/>
          <p:cNvSpPr/>
          <p:nvPr/>
        </p:nvSpPr>
        <p:spPr>
          <a:xfrm>
            <a:off x="6437376" y="3273552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47" name="s24_c1_k1"/>
          <p:cNvSpPr/>
          <p:nvPr/>
        </p:nvSpPr>
        <p:spPr>
          <a:xfrm>
            <a:off x="6437376" y="3273552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FORMAT</a:t>
            </a:r>
            <a:endParaRPr lang="en-US" sz="850" dirty="0"/>
          </a:p>
        </p:txBody>
      </p:sp>
      <p:sp>
        <p:nvSpPr>
          <p:cNvPr id="48" name="s24_c1_v1"/>
          <p:cNvSpPr/>
          <p:nvPr/>
        </p:nvSpPr>
        <p:spPr>
          <a:xfrm>
            <a:off x="7589520" y="3273552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package.json + pi-package keyword + pi key globs</a:t>
            </a:r>
            <a:endParaRPr lang="en-US" sz="900" dirty="0"/>
          </a:p>
        </p:txBody>
      </p:sp>
      <p:sp>
        <p:nvSpPr>
          <p:cNvPr id="49" name="s24_c1_hr3"/>
          <p:cNvSpPr/>
          <p:nvPr/>
        </p:nvSpPr>
        <p:spPr>
          <a:xfrm>
            <a:off x="6437376" y="3694176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50" name="s24_c1_k2"/>
          <p:cNvSpPr/>
          <p:nvPr/>
        </p:nvSpPr>
        <p:spPr>
          <a:xfrm>
            <a:off x="6437376" y="3694176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</a:t>
            </a:r>
            <a:endParaRPr lang="en-US" sz="850" dirty="0"/>
          </a:p>
        </p:txBody>
      </p:sp>
      <p:sp>
        <p:nvSpPr>
          <p:cNvPr id="51" name="s24_c1_v2"/>
          <p:cNvSpPr/>
          <p:nvPr/>
        </p:nvSpPr>
        <p:spPr>
          <a:xfrm>
            <a:off x="7589520" y="3694176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 install npm:|git:|path · pi list · pi remove · pi update</a:t>
            </a:r>
            <a:endParaRPr lang="en-US" sz="900" dirty="0"/>
          </a:p>
        </p:txBody>
      </p:sp>
      <p:sp>
        <p:nvSpPr>
          <p:cNvPr id="52" name="s24_c1_hr4"/>
          <p:cNvSpPr/>
          <p:nvPr/>
        </p:nvSpPr>
        <p:spPr>
          <a:xfrm>
            <a:off x="6437376" y="4114800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53" name="s24_c1_k3"/>
          <p:cNvSpPr/>
          <p:nvPr/>
        </p:nvSpPr>
        <p:spPr>
          <a:xfrm>
            <a:off x="6437376" y="4114800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AUTO-UPDATE</a:t>
            </a:r>
            <a:endParaRPr lang="en-US" sz="850" dirty="0"/>
          </a:p>
        </p:txBody>
      </p:sp>
      <p:sp>
        <p:nvSpPr>
          <p:cNvPr id="54" name="s24_c1_v3"/>
          <p:cNvSpPr/>
          <p:nvPr/>
        </p:nvSpPr>
        <p:spPr>
          <a:xfrm>
            <a:off x="7589520" y="4114800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6A3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Yes — pi update [--extensions] bumps installed packages + contents</a:t>
            </a:r>
            <a:endParaRPr lang="en-US" sz="900" dirty="0"/>
          </a:p>
        </p:txBody>
      </p:sp>
      <p:sp>
        <p:nvSpPr>
          <p:cNvPr id="55" name="s24_c1_emp"/>
          <p:cNvSpPr/>
          <p:nvPr/>
        </p:nvSpPr>
        <p:spPr>
          <a:xfrm>
            <a:off x="6409944" y="4626864"/>
            <a:ext cx="5074920" cy="1581912"/>
          </a:xfrm>
          <a:prstGeom prst="rect">
            <a:avLst/>
          </a:prstGeom>
          <a:solidFill>
            <a:srgbClr val="EFE9FB"/>
          </a:solidFill>
          <a:ln/>
        </p:spPr>
      </p:sp>
      <p:sp>
        <p:nvSpPr>
          <p:cNvPr id="56" name="s24_c1_emb"/>
          <p:cNvSpPr/>
          <p:nvPr/>
        </p:nvSpPr>
        <p:spPr>
          <a:xfrm>
            <a:off x="6592824" y="4736592"/>
            <a:ext cx="4709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spc="200" kern="0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REGISTRY EMISSION</a:t>
            </a:r>
            <a:endParaRPr lang="en-US" sz="800" dirty="0"/>
          </a:p>
        </p:txBody>
      </p:sp>
      <p:sp>
        <p:nvSpPr>
          <p:cNvPr id="57" name="s24_c1_em"/>
          <p:cNvSpPr/>
          <p:nvPr/>
        </p:nvSpPr>
        <p:spPr>
          <a:xfrm>
            <a:off x="6592824" y="4956048"/>
            <a:ext cx="470916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install.pi: pi install npm:&lt;pkg&gt;@&lt;semver&gt;</a:t>
            </a:r>
            <a:endParaRPr lang="en-US" sz="9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mirror: npm content-only, no lifecycle scripts</a:t>
            </a:r>
            <a:endParaRPr lang="en-US" sz="9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lockfile: .pi/settings.json packages[]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25_vx_v1"/>
          <p:cNvSpPr/>
          <p:nvPr/>
        </p:nvSpPr>
        <p:spPr>
          <a:xfrm>
            <a:off x="11137392" y="384048"/>
            <a:ext cx="128016" cy="12801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" name="s25_vx_v2"/>
          <p:cNvSpPr/>
          <p:nvPr/>
        </p:nvSpPr>
        <p:spPr>
          <a:xfrm>
            <a:off x="11292840" y="384048"/>
            <a:ext cx="128016" cy="12801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" name="s25_vx_v3"/>
          <p:cNvSpPr/>
          <p:nvPr/>
        </p:nvSpPr>
        <p:spPr>
          <a:xfrm>
            <a:off x="11137392" y="539496"/>
            <a:ext cx="128016" cy="128016"/>
          </a:xfrm>
          <a:prstGeom prst="rect">
            <a:avLst/>
          </a:prstGeom>
          <a:solidFill>
            <a:srgbClr val="D97706"/>
          </a:solidFill>
          <a:ln/>
        </p:spPr>
      </p:sp>
      <p:pic>
        <p:nvPicPr>
          <p:cNvPr id="5" name="s25_kick" descr="assets/skb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02336"/>
            <a:ext cx="2011680" cy="182880"/>
          </a:xfrm>
          <a:prstGeom prst="rect">
            <a:avLst/>
          </a:prstGeom>
        </p:spPr>
      </p:pic>
      <p:pic>
        <p:nvPicPr>
          <p:cNvPr id="6" name="s25_title" descr="assets/srf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58368"/>
            <a:ext cx="1154757" cy="475488"/>
          </a:xfrm>
          <a:prstGeom prst="rect">
            <a:avLst/>
          </a:prstGeom>
        </p:spPr>
      </p:pic>
      <p:sp>
        <p:nvSpPr>
          <p:cNvPr id="7" name="s25_spec"/>
          <p:cNvSpPr/>
          <p:nvPr/>
        </p:nvSpPr>
        <p:spPr>
          <a:xfrm>
            <a:off x="502920" y="1216152"/>
            <a:ext cx="10469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External tool servers over stdio or HTTP — the second universal payload, four config dialects</a:t>
            </a:r>
            <a:endParaRPr lang="en-US" sz="1100" dirty="0"/>
          </a:p>
        </p:txBody>
      </p:sp>
      <p:sp>
        <p:nvSpPr>
          <p:cNvPr id="8" name="s25_pg"/>
          <p:cNvSpPr/>
          <p:nvPr/>
        </p:nvSpPr>
        <p:spPr>
          <a:xfrm>
            <a:off x="11064240" y="648309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 / 45</a:t>
            </a:r>
            <a:endParaRPr lang="en-US" sz="950" dirty="0"/>
          </a:p>
        </p:txBody>
      </p:sp>
      <p:sp>
        <p:nvSpPr>
          <p:cNvPr id="10" name="s25_min_sh"/>
          <p:cNvSpPr/>
          <p:nvPr/>
        </p:nvSpPr>
        <p:spPr>
          <a:xfrm>
            <a:off x="553212" y="1531620"/>
            <a:ext cx="5669280" cy="416052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1" name="s25_min"/>
          <p:cNvSpPr/>
          <p:nvPr/>
        </p:nvSpPr>
        <p:spPr>
          <a:xfrm>
            <a:off x="502920" y="1481328"/>
            <a:ext cx="5669280" cy="416052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12" name="s25_mb"/>
          <p:cNvSpPr/>
          <p:nvPr/>
        </p:nvSpPr>
        <p:spPr>
          <a:xfrm>
            <a:off x="777240" y="162763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REGISTRY MINIMUM — WHAT WE STORE</a:t>
            </a:r>
            <a:endParaRPr lang="en-US" sz="950" dirty="0"/>
          </a:p>
        </p:txBody>
      </p:sp>
      <p:sp>
        <p:nvSpPr>
          <p:cNvPr id="13" name="s25_mk0"/>
          <p:cNvSpPr/>
          <p:nvPr/>
        </p:nvSpPr>
        <p:spPr>
          <a:xfrm>
            <a:off x="777240" y="19202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transport</a:t>
            </a:r>
            <a:endParaRPr lang="en-US" sz="900" dirty="0"/>
          </a:p>
        </p:txBody>
      </p:sp>
      <p:sp>
        <p:nvSpPr>
          <p:cNvPr id="14" name="s25_mv0"/>
          <p:cNvSpPr/>
          <p:nvPr/>
        </p:nvSpPr>
        <p:spPr>
          <a:xfrm>
            <a:off x="2240280" y="192024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stdio cmd/args/env | http url/headers</a:t>
            </a:r>
            <a:endParaRPr lang="en-US" sz="850" dirty="0"/>
          </a:p>
        </p:txBody>
      </p:sp>
      <p:sp>
        <p:nvSpPr>
          <p:cNvPr id="15" name="s25_mhr0"/>
          <p:cNvSpPr/>
          <p:nvPr/>
        </p:nvSpPr>
        <p:spPr>
          <a:xfrm>
            <a:off x="777240" y="2304288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16" name="s25_mk1"/>
          <p:cNvSpPr/>
          <p:nvPr/>
        </p:nvSpPr>
        <p:spPr>
          <a:xfrm>
            <a:off x="777240" y="230428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server entry</a:t>
            </a:r>
            <a:endParaRPr lang="en-US" sz="900" dirty="0"/>
          </a:p>
        </p:txBody>
      </p:sp>
      <p:sp>
        <p:nvSpPr>
          <p:cNvPr id="17" name="s25_mv1"/>
          <p:cNvSpPr/>
          <p:nvPr/>
        </p:nvSpPr>
        <p:spPr>
          <a:xfrm>
            <a:off x="2240280" y="230428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name, description, version, repo (server.json)</a:t>
            </a:r>
            <a:endParaRPr lang="en-US" sz="850" dirty="0"/>
          </a:p>
        </p:txBody>
      </p:sp>
      <p:sp>
        <p:nvSpPr>
          <p:cNvPr id="18" name="s25_mhr1"/>
          <p:cNvSpPr/>
          <p:nvPr/>
        </p:nvSpPr>
        <p:spPr>
          <a:xfrm>
            <a:off x="777240" y="2688336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19" name="s25_mk2"/>
          <p:cNvSpPr/>
          <p:nvPr/>
        </p:nvSpPr>
        <p:spPr>
          <a:xfrm>
            <a:off x="777240" y="2688336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emissions</a:t>
            </a:r>
            <a:endParaRPr lang="en-US" sz="900" dirty="0"/>
          </a:p>
        </p:txBody>
      </p:sp>
      <p:sp>
        <p:nvSpPr>
          <p:cNvPr id="20" name="s25_mv2"/>
          <p:cNvSpPr/>
          <p:nvPr/>
        </p:nvSpPr>
        <p:spPr>
          <a:xfrm>
            <a:off x="2240280" y="2688336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claude/pi JSON · codex TOML · oc v1/v2</a:t>
            </a:r>
            <a:endParaRPr lang="en-US" sz="850" dirty="0"/>
          </a:p>
        </p:txBody>
      </p:sp>
      <p:sp>
        <p:nvSpPr>
          <p:cNvPr id="21" name="s25_mhr2"/>
          <p:cNvSpPr/>
          <p:nvPr/>
        </p:nvSpPr>
        <p:spPr>
          <a:xfrm>
            <a:off x="777240" y="3072384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2" name="s25_mk3"/>
          <p:cNvSpPr/>
          <p:nvPr/>
        </p:nvSpPr>
        <p:spPr>
          <a:xfrm>
            <a:off x="777240" y="3072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sources</a:t>
            </a:r>
            <a:endParaRPr lang="en-US" sz="900" dirty="0"/>
          </a:p>
        </p:txBody>
      </p:sp>
      <p:sp>
        <p:nvSpPr>
          <p:cNvPr id="23" name="s25_mv3"/>
          <p:cNvSpPr/>
          <p:nvPr/>
        </p:nvSpPr>
        <p:spPr>
          <a:xfrm>
            <a:off x="2240280" y="3072384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npm/pypi pkg, version, tarballSha256</a:t>
            </a:r>
            <a:endParaRPr lang="en-US" sz="850" dirty="0"/>
          </a:p>
        </p:txBody>
      </p:sp>
      <p:sp>
        <p:nvSpPr>
          <p:cNvPr id="24" name="s25_mhr3"/>
          <p:cNvSpPr/>
          <p:nvPr/>
        </p:nvSpPr>
        <p:spPr>
          <a:xfrm>
            <a:off x="777240" y="3456432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5" name="s25_mk4"/>
          <p:cNvSpPr/>
          <p:nvPr/>
        </p:nvSpPr>
        <p:spPr>
          <a:xfrm>
            <a:off x="777240" y="3456432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auth</a:t>
            </a:r>
            <a:endParaRPr lang="en-US" sz="900" dirty="0"/>
          </a:p>
        </p:txBody>
      </p:sp>
      <p:sp>
        <p:nvSpPr>
          <p:cNvPr id="26" name="s25_mv4"/>
          <p:cNvSpPr/>
          <p:nvPr/>
        </p:nvSpPr>
        <p:spPr>
          <a:xfrm>
            <a:off x="2240280" y="3456432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client-managed; no credentials in record</a:t>
            </a:r>
            <a:endParaRPr lang="en-US" sz="850" dirty="0"/>
          </a:p>
        </p:txBody>
      </p:sp>
      <p:sp>
        <p:nvSpPr>
          <p:cNvPr id="27" name="s25_mhr4"/>
          <p:cNvSpPr/>
          <p:nvPr/>
        </p:nvSpPr>
        <p:spPr>
          <a:xfrm>
            <a:off x="777240" y="3840480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8" name="s25_mk5"/>
          <p:cNvSpPr/>
          <p:nvPr/>
        </p:nvSpPr>
        <p:spPr>
          <a:xfrm>
            <a:off x="777240" y="384048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trust</a:t>
            </a:r>
            <a:endParaRPr lang="en-US" sz="900" dirty="0"/>
          </a:p>
        </p:txBody>
      </p:sp>
      <p:sp>
        <p:nvSpPr>
          <p:cNvPr id="29" name="s25_mv5"/>
          <p:cNvSpPr/>
          <p:nvPr/>
        </p:nvSpPr>
        <p:spPr>
          <a:xfrm>
            <a:off x="2240280" y="384048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review tier · declared egress · mcp-scan</a:t>
            </a:r>
            <a:endParaRPr lang="en-US" sz="850" dirty="0"/>
          </a:p>
        </p:txBody>
      </p:sp>
      <p:sp>
        <p:nvSpPr>
          <p:cNvPr id="30" name="s25_mhr5"/>
          <p:cNvSpPr/>
          <p:nvPr/>
        </p:nvSpPr>
        <p:spPr>
          <a:xfrm>
            <a:off x="777240" y="4224528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31" name="s25_mwhy"/>
          <p:cNvSpPr/>
          <p:nvPr/>
        </p:nvSpPr>
        <p:spPr>
          <a:xfrm>
            <a:off x="777240" y="498348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Renders as Claude/Pi JSON, Codex TOML, OpenCode's two key shapes — transport + sha256 + auth boundary.</a:t>
            </a:r>
            <a:endParaRPr lang="en-US" sz="950" dirty="0"/>
          </a:p>
        </p:txBody>
      </p:sp>
      <p:sp>
        <p:nvSpPr>
          <p:cNvPr id="32" name="s25_row_sh"/>
          <p:cNvSpPr/>
          <p:nvPr/>
        </p:nvSpPr>
        <p:spPr>
          <a:xfrm>
            <a:off x="6451092" y="1531620"/>
            <a:ext cx="5285232" cy="310896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33" name="s25_row"/>
          <p:cNvSpPr/>
          <p:nvPr/>
        </p:nvSpPr>
        <p:spPr>
          <a:xfrm>
            <a:off x="6400800" y="1481328"/>
            <a:ext cx="5285232" cy="310896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34" name="s25_rb"/>
          <p:cNvSpPr/>
          <p:nvPr/>
        </p:nvSpPr>
        <p:spPr>
          <a:xfrm>
            <a:off x="6675120" y="1627632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MATRIX ROW</a:t>
            </a:r>
            <a:endParaRPr lang="en-US" sz="1050" dirty="0"/>
          </a:p>
        </p:txBody>
      </p:sp>
      <p:sp>
        <p:nvSpPr>
          <p:cNvPr id="35" name="s25_rb0"/>
          <p:cNvSpPr/>
          <p:nvPr/>
        </p:nvSpPr>
        <p:spPr>
          <a:xfrm>
            <a:off x="6675120" y="2139696"/>
            <a:ext cx="109728" cy="109728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6" name="s25_rk0"/>
          <p:cNvSpPr/>
          <p:nvPr/>
        </p:nvSpPr>
        <p:spPr>
          <a:xfrm>
            <a:off x="6894576" y="1938528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CLAUDE CODE</a:t>
            </a:r>
            <a:endParaRPr lang="en-US" sz="950" dirty="0"/>
          </a:p>
        </p:txBody>
      </p:sp>
      <p:sp>
        <p:nvSpPr>
          <p:cNvPr id="37" name="s25_rc0_sh"/>
          <p:cNvSpPr/>
          <p:nvPr/>
        </p:nvSpPr>
        <p:spPr>
          <a:xfrm>
            <a:off x="8302752" y="2075688"/>
            <a:ext cx="826618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38" name="s25_rc0"/>
          <p:cNvSpPr/>
          <p:nvPr/>
        </p:nvSpPr>
        <p:spPr>
          <a:xfrm>
            <a:off x="8275320" y="2048256"/>
            <a:ext cx="826618" cy="287528"/>
          </a:xfrm>
          <a:prstGeom prst="rect">
            <a:avLst/>
          </a:prstGeom>
          <a:solidFill>
            <a:srgbClr val="E5F5EA"/>
          </a:solidFill>
          <a:ln w="15875">
            <a:solidFill>
              <a:srgbClr val="16A34A"/>
            </a:solidFill>
            <a:prstDash val="solid"/>
          </a:ln>
        </p:spPr>
      </p:sp>
      <p:sp>
        <p:nvSpPr>
          <p:cNvPr id="39" name="s25_rc0_t"/>
          <p:cNvSpPr/>
          <p:nvPr/>
        </p:nvSpPr>
        <p:spPr>
          <a:xfrm>
            <a:off x="8275320" y="2048256"/>
            <a:ext cx="826618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COPY-AS-IS</a:t>
            </a:r>
            <a:endParaRPr lang="en-US" sz="700" dirty="0"/>
          </a:p>
        </p:txBody>
      </p:sp>
      <p:sp>
        <p:nvSpPr>
          <p:cNvPr id="40" name="s25_rd0"/>
          <p:cNvSpPr/>
          <p:nvPr/>
        </p:nvSpPr>
        <p:spPr>
          <a:xfrm>
            <a:off x="9211666" y="2157984"/>
            <a:ext cx="68580" cy="68580"/>
          </a:xfrm>
          <a:prstGeom prst="rect">
            <a:avLst/>
          </a:prstGeom>
          <a:solidFill>
            <a:srgbClr val="C7CAD1"/>
          </a:solidFill>
          <a:ln/>
        </p:spPr>
      </p:sp>
      <p:sp>
        <p:nvSpPr>
          <p:cNvPr id="41" name="s25_rb1"/>
          <p:cNvSpPr/>
          <p:nvPr/>
        </p:nvSpPr>
        <p:spPr>
          <a:xfrm>
            <a:off x="6675120" y="2651760"/>
            <a:ext cx="109728" cy="109728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25_rk1"/>
          <p:cNvSpPr/>
          <p:nvPr/>
        </p:nvSpPr>
        <p:spPr>
          <a:xfrm>
            <a:off x="6894576" y="2450592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CODEX</a:t>
            </a:r>
            <a:endParaRPr lang="en-US" sz="950" dirty="0"/>
          </a:p>
        </p:txBody>
      </p:sp>
      <p:sp>
        <p:nvSpPr>
          <p:cNvPr id="43" name="s25_rc1_sh"/>
          <p:cNvSpPr/>
          <p:nvPr/>
        </p:nvSpPr>
        <p:spPr>
          <a:xfrm>
            <a:off x="8302752" y="2587752"/>
            <a:ext cx="767730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44" name="s25_rc1"/>
          <p:cNvSpPr/>
          <p:nvPr/>
        </p:nvSpPr>
        <p:spPr>
          <a:xfrm>
            <a:off x="8275320" y="2560320"/>
            <a:ext cx="767730" cy="287528"/>
          </a:xfrm>
          <a:prstGeom prst="rect">
            <a:avLst/>
          </a:prstGeom>
          <a:solidFill>
            <a:srgbClr val="E7EEFD"/>
          </a:solidFill>
          <a:ln w="15875">
            <a:solidFill>
              <a:srgbClr val="2F6FED"/>
            </a:solidFill>
            <a:prstDash val="solid"/>
          </a:ln>
        </p:spPr>
      </p:sp>
      <p:sp>
        <p:nvSpPr>
          <p:cNvPr id="45" name="s25_rc1_t"/>
          <p:cNvSpPr/>
          <p:nvPr/>
        </p:nvSpPr>
        <p:spPr>
          <a:xfrm>
            <a:off x="8275320" y="2560320"/>
            <a:ext cx="767730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TRANSLATE</a:t>
            </a:r>
            <a:endParaRPr lang="en-US" sz="700" dirty="0"/>
          </a:p>
        </p:txBody>
      </p:sp>
      <p:sp>
        <p:nvSpPr>
          <p:cNvPr id="46" name="s25_rd1"/>
          <p:cNvSpPr/>
          <p:nvPr/>
        </p:nvSpPr>
        <p:spPr>
          <a:xfrm>
            <a:off x="9152778" y="2670048"/>
            <a:ext cx="68580" cy="68580"/>
          </a:xfrm>
          <a:prstGeom prst="rect">
            <a:avLst/>
          </a:prstGeom>
          <a:solidFill>
            <a:srgbClr val="C7CAD1"/>
          </a:solidFill>
          <a:ln/>
        </p:spPr>
      </p:sp>
      <p:sp>
        <p:nvSpPr>
          <p:cNvPr id="47" name="s25_rb2"/>
          <p:cNvSpPr/>
          <p:nvPr/>
        </p:nvSpPr>
        <p:spPr>
          <a:xfrm>
            <a:off x="6675120" y="3163824"/>
            <a:ext cx="109728" cy="109728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48" name="s25_rk2"/>
          <p:cNvSpPr/>
          <p:nvPr/>
        </p:nvSpPr>
        <p:spPr>
          <a:xfrm>
            <a:off x="6894576" y="2962656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OPENCODE</a:t>
            </a:r>
            <a:endParaRPr lang="en-US" sz="950" dirty="0"/>
          </a:p>
        </p:txBody>
      </p:sp>
      <p:sp>
        <p:nvSpPr>
          <p:cNvPr id="49" name="s25_rc2_sh"/>
          <p:cNvSpPr/>
          <p:nvPr/>
        </p:nvSpPr>
        <p:spPr>
          <a:xfrm>
            <a:off x="8302752" y="3099816"/>
            <a:ext cx="767730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50" name="s25_rc2"/>
          <p:cNvSpPr/>
          <p:nvPr/>
        </p:nvSpPr>
        <p:spPr>
          <a:xfrm>
            <a:off x="8275320" y="3072384"/>
            <a:ext cx="767730" cy="287528"/>
          </a:xfrm>
          <a:prstGeom prst="rect">
            <a:avLst/>
          </a:prstGeom>
          <a:solidFill>
            <a:srgbClr val="E7EEFD"/>
          </a:solidFill>
          <a:ln w="15875">
            <a:solidFill>
              <a:srgbClr val="2F6FED"/>
            </a:solidFill>
            <a:prstDash val="solid"/>
          </a:ln>
        </p:spPr>
      </p:sp>
      <p:sp>
        <p:nvSpPr>
          <p:cNvPr id="51" name="s25_rc2_t"/>
          <p:cNvSpPr/>
          <p:nvPr/>
        </p:nvSpPr>
        <p:spPr>
          <a:xfrm>
            <a:off x="8275320" y="3072384"/>
            <a:ext cx="767730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TRANSLATE</a:t>
            </a:r>
            <a:endParaRPr lang="en-US" sz="700" dirty="0"/>
          </a:p>
        </p:txBody>
      </p:sp>
      <p:sp>
        <p:nvSpPr>
          <p:cNvPr id="52" name="s25_rd2"/>
          <p:cNvSpPr/>
          <p:nvPr/>
        </p:nvSpPr>
        <p:spPr>
          <a:xfrm>
            <a:off x="9152778" y="3182112"/>
            <a:ext cx="68580" cy="68580"/>
          </a:xfrm>
          <a:prstGeom prst="rect">
            <a:avLst/>
          </a:prstGeom>
          <a:solidFill>
            <a:srgbClr val="C7CAD1"/>
          </a:solidFill>
          <a:ln/>
        </p:spPr>
      </p:sp>
      <p:sp>
        <p:nvSpPr>
          <p:cNvPr id="53" name="s25_rb3"/>
          <p:cNvSpPr/>
          <p:nvPr/>
        </p:nvSpPr>
        <p:spPr>
          <a:xfrm>
            <a:off x="6675120" y="3675888"/>
            <a:ext cx="109728" cy="10972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4" name="s25_rk3"/>
          <p:cNvSpPr/>
          <p:nvPr/>
        </p:nvSpPr>
        <p:spPr>
          <a:xfrm>
            <a:off x="6894576" y="3474720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</a:t>
            </a:r>
            <a:endParaRPr lang="en-US" sz="950" dirty="0"/>
          </a:p>
        </p:txBody>
      </p:sp>
      <p:sp>
        <p:nvSpPr>
          <p:cNvPr id="55" name="s25_rc3_sh"/>
          <p:cNvSpPr/>
          <p:nvPr/>
        </p:nvSpPr>
        <p:spPr>
          <a:xfrm>
            <a:off x="8302752" y="3611880"/>
            <a:ext cx="826618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56" name="s25_rc3"/>
          <p:cNvSpPr/>
          <p:nvPr/>
        </p:nvSpPr>
        <p:spPr>
          <a:xfrm>
            <a:off x="8275320" y="3584448"/>
            <a:ext cx="826618" cy="287528"/>
          </a:xfrm>
          <a:prstGeom prst="rect">
            <a:avLst/>
          </a:prstGeom>
          <a:solidFill>
            <a:srgbClr val="E5F5EA"/>
          </a:solidFill>
          <a:ln w="15875">
            <a:solidFill>
              <a:srgbClr val="16A34A"/>
            </a:solidFill>
            <a:prstDash val="solid"/>
          </a:ln>
        </p:spPr>
      </p:sp>
      <p:sp>
        <p:nvSpPr>
          <p:cNvPr id="57" name="s25_rc3_t"/>
          <p:cNvSpPr/>
          <p:nvPr/>
        </p:nvSpPr>
        <p:spPr>
          <a:xfrm>
            <a:off x="8275320" y="3584448"/>
            <a:ext cx="826618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COPY-AS-IS</a:t>
            </a:r>
            <a:endParaRPr lang="en-US" sz="700" dirty="0"/>
          </a:p>
        </p:txBody>
      </p:sp>
      <p:sp>
        <p:nvSpPr>
          <p:cNvPr id="58" name="s25_rd3"/>
          <p:cNvSpPr/>
          <p:nvPr/>
        </p:nvSpPr>
        <p:spPr>
          <a:xfrm>
            <a:off x="9211666" y="3694176"/>
            <a:ext cx="68580" cy="68580"/>
          </a:xfrm>
          <a:prstGeom prst="rect">
            <a:avLst/>
          </a:prstGeom>
          <a:solidFill>
            <a:srgbClr val="C7CAD1"/>
          </a:solidFill>
          <a:ln/>
        </p:spPr>
      </p:sp>
      <p:sp>
        <p:nvSpPr>
          <p:cNvPr id="59" name="s25_rhr"/>
          <p:cNvSpPr/>
          <p:nvPr/>
        </p:nvSpPr>
        <p:spPr>
          <a:xfrm>
            <a:off x="6675120" y="3986784"/>
            <a:ext cx="475488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60" name="s25_rsum"/>
          <p:cNvSpPr/>
          <p:nvPr/>
        </p:nvSpPr>
        <p:spPr>
          <a:xfrm>
            <a:off x="6675120" y="4133088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JSON copies as-is into Claude and Pi; Codex needs TOML, OpenCode v1/v2 JSON — one record, four emissions.</a:t>
            </a:r>
            <a:endParaRPr lang="en-US" sz="950" dirty="0"/>
          </a:p>
        </p:txBody>
      </p:sp>
      <p:sp>
        <p:nvSpPr>
          <p:cNvPr id="61" name="s25_au_sh"/>
          <p:cNvSpPr/>
          <p:nvPr/>
        </p:nvSpPr>
        <p:spPr>
          <a:xfrm>
            <a:off x="6451092" y="4777740"/>
            <a:ext cx="5285232" cy="155448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62" name="s25_au"/>
          <p:cNvSpPr/>
          <p:nvPr/>
        </p:nvSpPr>
        <p:spPr>
          <a:xfrm>
            <a:off x="6400800" y="4727448"/>
            <a:ext cx="5285232" cy="1554480"/>
          </a:xfrm>
          <a:prstGeom prst="rect">
            <a:avLst/>
          </a:prstGeom>
          <a:solidFill>
            <a:srgbClr val="EFEFEA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63" name="s25_ab"/>
          <p:cNvSpPr/>
          <p:nvPr/>
        </p:nvSpPr>
        <p:spPr>
          <a:xfrm>
            <a:off x="6675120" y="4873752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AUTO-UPDATE FOR THIS SURFACE</a:t>
            </a:r>
            <a:endParaRPr lang="en-US" sz="1000" dirty="0"/>
          </a:p>
        </p:txBody>
      </p:sp>
      <p:sp>
        <p:nvSpPr>
          <p:cNvPr id="64" name="s25_at"/>
          <p:cNvSpPr/>
          <p:nvPr/>
        </p:nvSpPr>
        <p:spPr>
          <a:xfrm>
            <a:off x="6675120" y="5157216"/>
            <a:ext cx="4754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update flow anywhere — manual re-add (Claude entries replace, never merge); lockfile is the only cross-harness version pin.</a:t>
            </a:r>
            <a:endParaRPr lang="en-US" sz="1000" dirty="0"/>
          </a:p>
        </p:txBody>
      </p:sp>
      <p:sp>
        <p:nvSpPr>
          <p:cNvPr id="65" name="s25_sec_sh"/>
          <p:cNvSpPr/>
          <p:nvPr/>
        </p:nvSpPr>
        <p:spPr>
          <a:xfrm>
            <a:off x="553212" y="4777740"/>
            <a:ext cx="5669280" cy="155448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66" name="s25_sec"/>
          <p:cNvSpPr/>
          <p:nvPr/>
        </p:nvSpPr>
        <p:spPr>
          <a:xfrm>
            <a:off x="502920" y="4727448"/>
            <a:ext cx="5669280" cy="1554480"/>
          </a:xfrm>
          <a:prstGeom prst="rect">
            <a:avLst/>
          </a:prstGeom>
          <a:solidFill>
            <a:srgbClr val="E7EEFD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67" name="s25_secb"/>
          <p:cNvSpPr/>
          <p:nvPr/>
        </p:nvSpPr>
        <p:spPr>
          <a:xfrm>
            <a:off x="777240" y="487375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THIS SECTION</a:t>
            </a:r>
            <a:endParaRPr lang="en-US" sz="1000" dirty="0"/>
          </a:p>
        </p:txBody>
      </p:sp>
      <p:sp>
        <p:nvSpPr>
          <p:cNvPr id="68" name="s25_sc0_sh"/>
          <p:cNvSpPr/>
          <p:nvPr/>
        </p:nvSpPr>
        <p:spPr>
          <a:xfrm>
            <a:off x="804672" y="5221224"/>
            <a:ext cx="692018" cy="3383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69" name="s25_sc0"/>
          <p:cNvSpPr/>
          <p:nvPr/>
        </p:nvSpPr>
        <p:spPr>
          <a:xfrm>
            <a:off x="777240" y="5193792"/>
            <a:ext cx="692018" cy="338328"/>
          </a:xfrm>
          <a:prstGeom prst="rect">
            <a:avLst/>
          </a:prstGeom>
          <a:solidFill>
            <a:srgbClr val="2F6FED"/>
          </a:solidFill>
          <a:ln w="17780">
            <a:solidFill>
              <a:srgbClr val="2F6FED"/>
            </a:solidFill>
            <a:prstDash val="solid"/>
          </a:ln>
        </p:spPr>
      </p:sp>
      <p:sp>
        <p:nvSpPr>
          <p:cNvPr id="70" name="s25_sc0_t"/>
          <p:cNvSpPr/>
          <p:nvPr/>
        </p:nvSpPr>
        <p:spPr>
          <a:xfrm>
            <a:off x="777240" y="5193792"/>
            <a:ext cx="69201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BANNER</a:t>
            </a:r>
            <a:endParaRPr lang="en-US" sz="900" dirty="0"/>
          </a:p>
        </p:txBody>
      </p:sp>
      <p:sp>
        <p:nvSpPr>
          <p:cNvPr id="71" name="s25_sc1_sh"/>
          <p:cNvSpPr/>
          <p:nvPr/>
        </p:nvSpPr>
        <p:spPr>
          <a:xfrm>
            <a:off x="1606418" y="5221224"/>
            <a:ext cx="919155" cy="3383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72" name="s25_sc1"/>
          <p:cNvSpPr/>
          <p:nvPr/>
        </p:nvSpPr>
        <p:spPr>
          <a:xfrm>
            <a:off x="1578986" y="5193792"/>
            <a:ext cx="919155" cy="338328"/>
          </a:xfrm>
          <a:prstGeom prst="rect">
            <a:avLst/>
          </a:prstGeom>
          <a:solidFill>
            <a:srgbClr val="FFFFFF"/>
          </a:solidFill>
          <a:ln w="17780">
            <a:solidFill>
              <a:srgbClr val="1B1D22"/>
            </a:solidFill>
            <a:prstDash val="solid"/>
          </a:ln>
        </p:spPr>
      </p:sp>
      <p:sp>
        <p:nvSpPr>
          <p:cNvPr id="73" name="s25_sc1_t"/>
          <p:cNvSpPr/>
          <p:nvPr/>
        </p:nvSpPr>
        <p:spPr>
          <a:xfrm>
            <a:off x="1578986" y="5193792"/>
            <a:ext cx="919155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STANDARDS</a:t>
            </a:r>
            <a:endParaRPr lang="en-US" sz="900" dirty="0"/>
          </a:p>
        </p:txBody>
      </p:sp>
      <p:sp>
        <p:nvSpPr>
          <p:cNvPr id="74" name="s25_sc2_sh"/>
          <p:cNvSpPr/>
          <p:nvPr/>
        </p:nvSpPr>
        <p:spPr>
          <a:xfrm>
            <a:off x="2635301" y="5221224"/>
            <a:ext cx="1297716" cy="3383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75" name="s25_sc2"/>
          <p:cNvSpPr/>
          <p:nvPr/>
        </p:nvSpPr>
        <p:spPr>
          <a:xfrm>
            <a:off x="2607869" y="5193792"/>
            <a:ext cx="1297716" cy="338328"/>
          </a:xfrm>
          <a:prstGeom prst="rect">
            <a:avLst/>
          </a:prstGeom>
          <a:solidFill>
            <a:srgbClr val="FFFFFF"/>
          </a:solidFill>
          <a:ln w="17780">
            <a:solidFill>
              <a:srgbClr val="1B1D22"/>
            </a:solidFill>
            <a:prstDash val="solid"/>
          </a:ln>
        </p:spPr>
      </p:sp>
      <p:sp>
        <p:nvSpPr>
          <p:cNvPr id="76" name="s25_sc2_t"/>
          <p:cNvSpPr/>
          <p:nvPr/>
        </p:nvSpPr>
        <p:spPr>
          <a:xfrm>
            <a:off x="2607869" y="5193792"/>
            <a:ext cx="129771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CLAUDE + CODEX</a:t>
            </a:r>
            <a:endParaRPr lang="en-US" sz="900" dirty="0"/>
          </a:p>
        </p:txBody>
      </p:sp>
      <p:sp>
        <p:nvSpPr>
          <p:cNvPr id="77" name="s25_sc3_sh"/>
          <p:cNvSpPr/>
          <p:nvPr/>
        </p:nvSpPr>
        <p:spPr>
          <a:xfrm>
            <a:off x="4042745" y="5221224"/>
            <a:ext cx="1222004" cy="3383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78" name="s25_sc3"/>
          <p:cNvSpPr/>
          <p:nvPr/>
        </p:nvSpPr>
        <p:spPr>
          <a:xfrm>
            <a:off x="4015313" y="5193792"/>
            <a:ext cx="1222004" cy="338328"/>
          </a:xfrm>
          <a:prstGeom prst="rect">
            <a:avLst/>
          </a:prstGeom>
          <a:solidFill>
            <a:srgbClr val="FFFFFF"/>
          </a:solidFill>
          <a:ln w="17780">
            <a:solidFill>
              <a:srgbClr val="1B1D22"/>
            </a:solidFill>
            <a:prstDash val="solid"/>
          </a:ln>
        </p:spPr>
      </p:sp>
      <p:sp>
        <p:nvSpPr>
          <p:cNvPr id="79" name="s25_sc3_t"/>
          <p:cNvSpPr/>
          <p:nvPr/>
        </p:nvSpPr>
        <p:spPr>
          <a:xfrm>
            <a:off x="4015313" y="5193792"/>
            <a:ext cx="122200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OPENCODE + PI</a:t>
            </a:r>
            <a:endParaRPr lang="en-US" sz="900" dirty="0"/>
          </a:p>
        </p:txBody>
      </p:sp>
      <p:sp>
        <p:nvSpPr>
          <p:cNvPr id="80" name="s25_sect"/>
          <p:cNvSpPr/>
          <p:nvPr/>
        </p:nvSpPr>
        <p:spPr>
          <a:xfrm>
            <a:off x="777240" y="5779008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 slides per surface — spec state, then the harnesses in two pairs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26_vx_v1"/>
          <p:cNvSpPr/>
          <p:nvPr/>
        </p:nvSpPr>
        <p:spPr>
          <a:xfrm>
            <a:off x="11137392" y="384048"/>
            <a:ext cx="128016" cy="12801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" name="s26_vx_v2"/>
          <p:cNvSpPr/>
          <p:nvPr/>
        </p:nvSpPr>
        <p:spPr>
          <a:xfrm>
            <a:off x="11292840" y="384048"/>
            <a:ext cx="128016" cy="12801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" name="s26_vx_v3"/>
          <p:cNvSpPr/>
          <p:nvPr/>
        </p:nvSpPr>
        <p:spPr>
          <a:xfrm>
            <a:off x="11137392" y="539496"/>
            <a:ext cx="128016" cy="128016"/>
          </a:xfrm>
          <a:prstGeom prst="rect">
            <a:avLst/>
          </a:prstGeom>
          <a:solidFill>
            <a:srgbClr val="D97706"/>
          </a:solidFill>
          <a:ln/>
        </p:spPr>
      </p:sp>
      <p:pic>
        <p:nvPicPr>
          <p:cNvPr id="5" name="s26_kick" descr="assets/sks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02336"/>
            <a:ext cx="3108960" cy="182880"/>
          </a:xfrm>
          <a:prstGeom prst="rect">
            <a:avLst/>
          </a:prstGeom>
        </p:spPr>
      </p:pic>
      <p:pic>
        <p:nvPicPr>
          <p:cNvPr id="6" name="s26_title" descr="assets/st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58368"/>
            <a:ext cx="9713541" cy="475488"/>
          </a:xfrm>
          <a:prstGeom prst="rect">
            <a:avLst/>
          </a:prstGeom>
        </p:spPr>
      </p:pic>
      <p:sp>
        <p:nvSpPr>
          <p:cNvPr id="7" name="s26_spec"/>
          <p:cNvSpPr/>
          <p:nvPr/>
        </p:nvSpPr>
        <p:spPr>
          <a:xfrm>
            <a:off x="502920" y="1216152"/>
            <a:ext cx="10469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mcp specification state — fields, rules, how the four diverge, and what the registry does about it</a:t>
            </a:r>
            <a:endParaRPr lang="en-US" sz="1100" dirty="0"/>
          </a:p>
        </p:txBody>
      </p:sp>
      <p:sp>
        <p:nvSpPr>
          <p:cNvPr id="8" name="s26_pg"/>
          <p:cNvSpPr/>
          <p:nvPr/>
        </p:nvSpPr>
        <p:spPr>
          <a:xfrm>
            <a:off x="11064240" y="648309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 / 45</a:t>
            </a:r>
            <a:endParaRPr lang="en-US" sz="950" dirty="0"/>
          </a:p>
        </p:txBody>
      </p:sp>
      <p:sp>
        <p:nvSpPr>
          <p:cNvPr id="10" name="s26_f_sh"/>
          <p:cNvSpPr/>
          <p:nvPr/>
        </p:nvSpPr>
        <p:spPr>
          <a:xfrm>
            <a:off x="553212" y="1531620"/>
            <a:ext cx="5669280" cy="416052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1" name="s26_f"/>
          <p:cNvSpPr/>
          <p:nvPr/>
        </p:nvSpPr>
        <p:spPr>
          <a:xfrm>
            <a:off x="502920" y="1481328"/>
            <a:ext cx="5669280" cy="416052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12" name="s26_fb"/>
          <p:cNvSpPr/>
          <p:nvPr/>
        </p:nvSpPr>
        <p:spPr>
          <a:xfrm>
            <a:off x="777240" y="162763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FIELDS</a:t>
            </a:r>
            <a:endParaRPr lang="en-US" sz="1050" dirty="0"/>
          </a:p>
        </p:txBody>
      </p:sp>
      <p:sp>
        <p:nvSpPr>
          <p:cNvPr id="13" name="s26_fk0"/>
          <p:cNvSpPr/>
          <p:nvPr/>
        </p:nvSpPr>
        <p:spPr>
          <a:xfrm>
            <a:off x="777240" y="1920240"/>
            <a:ext cx="14173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900" dirty="0"/>
          </a:p>
        </p:txBody>
      </p:sp>
      <p:sp>
        <p:nvSpPr>
          <p:cNvPr id="14" name="s26_fv0"/>
          <p:cNvSpPr/>
          <p:nvPr/>
        </p:nvSpPr>
        <p:spPr>
          <a:xfrm>
            <a:off x="2240280" y="1920240"/>
            <a:ext cx="365760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reverse-DNS id, e.g. io.github.user/server</a:t>
            </a:r>
            <a:endParaRPr lang="en-US" sz="850" dirty="0"/>
          </a:p>
        </p:txBody>
      </p:sp>
      <p:sp>
        <p:nvSpPr>
          <p:cNvPr id="15" name="s26_fhr0"/>
          <p:cNvSpPr/>
          <p:nvPr/>
        </p:nvSpPr>
        <p:spPr>
          <a:xfrm>
            <a:off x="777240" y="2272284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16" name="s26_fk1"/>
          <p:cNvSpPr/>
          <p:nvPr/>
        </p:nvSpPr>
        <p:spPr>
          <a:xfrm>
            <a:off x="777240" y="2272284"/>
            <a:ext cx="14173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version</a:t>
            </a:r>
            <a:endParaRPr lang="en-US" sz="900" dirty="0"/>
          </a:p>
        </p:txBody>
      </p:sp>
      <p:sp>
        <p:nvSpPr>
          <p:cNvPr id="17" name="s26_fv1"/>
          <p:cNvSpPr/>
          <p:nvPr/>
        </p:nvSpPr>
        <p:spPr>
          <a:xfrm>
            <a:off x="2240280" y="2272284"/>
            <a:ext cx="365760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per-name versions + status via API</a:t>
            </a:r>
            <a:endParaRPr lang="en-US" sz="850" dirty="0"/>
          </a:p>
        </p:txBody>
      </p:sp>
      <p:sp>
        <p:nvSpPr>
          <p:cNvPr id="18" name="s26_fhr1"/>
          <p:cNvSpPr/>
          <p:nvPr/>
        </p:nvSpPr>
        <p:spPr>
          <a:xfrm>
            <a:off x="777240" y="2624328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19" name="s26_fk2"/>
          <p:cNvSpPr/>
          <p:nvPr/>
        </p:nvSpPr>
        <p:spPr>
          <a:xfrm>
            <a:off x="777240" y="2624328"/>
            <a:ext cx="14173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repository</a:t>
            </a:r>
            <a:endParaRPr lang="en-US" sz="900" dirty="0"/>
          </a:p>
        </p:txBody>
      </p:sp>
      <p:sp>
        <p:nvSpPr>
          <p:cNvPr id="20" name="s26_fv2"/>
          <p:cNvSpPr/>
          <p:nvPr/>
        </p:nvSpPr>
        <p:spPr>
          <a:xfrm>
            <a:off x="2240280" y="2624328"/>
            <a:ext cx="365760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{url,source,id,subfolder}</a:t>
            </a:r>
            <a:endParaRPr lang="en-US" sz="850" dirty="0"/>
          </a:p>
        </p:txBody>
      </p:sp>
      <p:sp>
        <p:nvSpPr>
          <p:cNvPr id="21" name="s26_fhr2"/>
          <p:cNvSpPr/>
          <p:nvPr/>
        </p:nvSpPr>
        <p:spPr>
          <a:xfrm>
            <a:off x="777240" y="2976372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2" name="s26_fk3"/>
          <p:cNvSpPr/>
          <p:nvPr/>
        </p:nvSpPr>
        <p:spPr>
          <a:xfrm>
            <a:off x="777240" y="2976372"/>
            <a:ext cx="14173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packages[]</a:t>
            </a:r>
            <a:endParaRPr lang="en-US" sz="900" dirty="0"/>
          </a:p>
        </p:txBody>
      </p:sp>
      <p:sp>
        <p:nvSpPr>
          <p:cNvPr id="23" name="s26_fv3"/>
          <p:cNvSpPr/>
          <p:nvPr/>
        </p:nvSpPr>
        <p:spPr>
          <a:xfrm>
            <a:off x="2240280" y="2976372"/>
            <a:ext cx="365760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npm|pypi|nuget|cargo|oci|mcpb; URL allowlist</a:t>
            </a:r>
            <a:endParaRPr lang="en-US" sz="850" dirty="0"/>
          </a:p>
        </p:txBody>
      </p:sp>
      <p:sp>
        <p:nvSpPr>
          <p:cNvPr id="24" name="s26_fhr3"/>
          <p:cNvSpPr/>
          <p:nvPr/>
        </p:nvSpPr>
        <p:spPr>
          <a:xfrm>
            <a:off x="777240" y="3328416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5" name="s26_fk4"/>
          <p:cNvSpPr/>
          <p:nvPr/>
        </p:nvSpPr>
        <p:spPr>
          <a:xfrm>
            <a:off x="777240" y="3328416"/>
            <a:ext cx="14173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remotes[]</a:t>
            </a:r>
            <a:endParaRPr lang="en-US" sz="900" dirty="0"/>
          </a:p>
        </p:txBody>
      </p:sp>
      <p:sp>
        <p:nvSpPr>
          <p:cNvPr id="26" name="s26_fv4"/>
          <p:cNvSpPr/>
          <p:nvPr/>
        </p:nvSpPr>
        <p:spPr>
          <a:xfrm>
            <a:off x="2240280" y="3328416"/>
            <a:ext cx="365760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url templates + headers</a:t>
            </a:r>
            <a:endParaRPr lang="en-US" sz="850" dirty="0"/>
          </a:p>
        </p:txBody>
      </p:sp>
      <p:sp>
        <p:nvSpPr>
          <p:cNvPr id="27" name="s26_fhr4"/>
          <p:cNvSpPr/>
          <p:nvPr/>
        </p:nvSpPr>
        <p:spPr>
          <a:xfrm>
            <a:off x="777240" y="3680460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8" name="s26_fk5"/>
          <p:cNvSpPr/>
          <p:nvPr/>
        </p:nvSpPr>
        <p:spPr>
          <a:xfrm>
            <a:off x="777240" y="3680460"/>
            <a:ext cx="14173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_meta</a:t>
            </a:r>
            <a:endParaRPr lang="en-US" sz="900" dirty="0"/>
          </a:p>
        </p:txBody>
      </p:sp>
      <p:sp>
        <p:nvSpPr>
          <p:cNvPr id="29" name="s26_fv5"/>
          <p:cNvSpPr/>
          <p:nvPr/>
        </p:nvSpPr>
        <p:spPr>
          <a:xfrm>
            <a:off x="2240280" y="3680460"/>
            <a:ext cx="365760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publisher-provided only; 4 KiB cap</a:t>
            </a:r>
            <a:endParaRPr lang="en-US" sz="850" dirty="0"/>
          </a:p>
        </p:txBody>
      </p:sp>
      <p:sp>
        <p:nvSpPr>
          <p:cNvPr id="30" name="s26_rb"/>
          <p:cNvSpPr/>
          <p:nvPr/>
        </p:nvSpPr>
        <p:spPr>
          <a:xfrm>
            <a:off x="777240" y="4114800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 RULES</a:t>
            </a:r>
            <a:endParaRPr lang="en-US" sz="900" dirty="0"/>
          </a:p>
        </p:txBody>
      </p:sp>
      <p:sp>
        <p:nvSpPr>
          <p:cNvPr id="31" name="s26_rb0"/>
          <p:cNvSpPr/>
          <p:nvPr/>
        </p:nvSpPr>
        <p:spPr>
          <a:xfrm>
            <a:off x="777240" y="4425696"/>
            <a:ext cx="82296" cy="8229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2" name="s26_rt0"/>
          <p:cNvSpPr/>
          <p:nvPr/>
        </p:nvSpPr>
        <p:spPr>
          <a:xfrm>
            <a:off x="941832" y="4379976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Metadata-only, no code hosting; packages live on npm/PyPI</a:t>
            </a:r>
            <a:endParaRPr lang="en-US" sz="900" dirty="0"/>
          </a:p>
        </p:txBody>
      </p:sp>
      <p:sp>
        <p:nvSpPr>
          <p:cNvPr id="33" name="s26_rb1"/>
          <p:cNvSpPr/>
          <p:nvPr/>
        </p:nvSpPr>
        <p:spPr>
          <a:xfrm>
            <a:off x="777240" y="4727448"/>
            <a:ext cx="82296" cy="8229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4" name="s26_rt1"/>
          <p:cNvSpPr/>
          <p:nvPr/>
        </p:nvSpPr>
        <p:spPr>
          <a:xfrm>
            <a:off x="941832" y="4681728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Namespace proof to publish: GitHub OIDC or DNS challenge</a:t>
            </a:r>
            <a:endParaRPr lang="en-US" sz="900" dirty="0"/>
          </a:p>
        </p:txBody>
      </p:sp>
      <p:sp>
        <p:nvSpPr>
          <p:cNvPr id="35" name="s26_rb2"/>
          <p:cNvSpPr/>
          <p:nvPr/>
        </p:nvSpPr>
        <p:spPr>
          <a:xfrm>
            <a:off x="777240" y="5029200"/>
            <a:ext cx="82296" cy="8229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6" name="s26_rt2"/>
          <p:cNvSpPr/>
          <p:nvPr/>
        </p:nvSpPr>
        <p:spPr>
          <a:xfrm>
            <a:off x="941832" y="4983480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private servers, no scanning — delegated to registries</a:t>
            </a:r>
            <a:endParaRPr lang="en-US" sz="900" dirty="0"/>
          </a:p>
        </p:txBody>
      </p:sp>
      <p:sp>
        <p:nvSpPr>
          <p:cNvPr id="37" name="s26_rb3"/>
          <p:cNvSpPr/>
          <p:nvPr/>
        </p:nvSpPr>
        <p:spPr>
          <a:xfrm>
            <a:off x="777240" y="5330952"/>
            <a:ext cx="82296" cy="8229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8" name="s26_rt3"/>
          <p:cNvSpPr/>
          <p:nvPr/>
        </p:nvSpPr>
        <p:spPr>
          <a:xfrm>
            <a:off x="941832" y="5285232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OpenAPI /v0.1/servers; aggregators pull ~hourly</a:t>
            </a:r>
            <a:endParaRPr lang="en-US" sz="900" dirty="0"/>
          </a:p>
        </p:txBody>
      </p:sp>
      <p:sp>
        <p:nvSpPr>
          <p:cNvPr id="39" name="s26_h_sh"/>
          <p:cNvSpPr/>
          <p:nvPr/>
        </p:nvSpPr>
        <p:spPr>
          <a:xfrm>
            <a:off x="6451092" y="1531620"/>
            <a:ext cx="5285232" cy="288036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40" name="s26_h"/>
          <p:cNvSpPr/>
          <p:nvPr/>
        </p:nvSpPr>
        <p:spPr>
          <a:xfrm>
            <a:off x="6400800" y="1481328"/>
            <a:ext cx="5285232" cy="288036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41" name="s26_hb"/>
          <p:cNvSpPr/>
          <p:nvPr/>
        </p:nvSpPr>
        <p:spPr>
          <a:xfrm>
            <a:off x="6675120" y="1627632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THE FOUR IMPLEMENT IT</a:t>
            </a:r>
            <a:endParaRPr lang="en-US" sz="1050" dirty="0"/>
          </a:p>
        </p:txBody>
      </p:sp>
      <p:sp>
        <p:nvSpPr>
          <p:cNvPr id="42" name="s26_hb0"/>
          <p:cNvSpPr/>
          <p:nvPr/>
        </p:nvSpPr>
        <p:spPr>
          <a:xfrm>
            <a:off x="6675120" y="2157984"/>
            <a:ext cx="109728" cy="109728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43" name="s26_hk0"/>
          <p:cNvSpPr/>
          <p:nvPr/>
        </p:nvSpPr>
        <p:spPr>
          <a:xfrm>
            <a:off x="6894576" y="1938528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CLAUDE CODE</a:t>
            </a:r>
            <a:endParaRPr lang="en-US" sz="1000" dirty="0"/>
          </a:p>
        </p:txBody>
      </p:sp>
      <p:sp>
        <p:nvSpPr>
          <p:cNvPr id="44" name="s26_hv0"/>
          <p:cNvSpPr/>
          <p:nvPr/>
        </p:nvSpPr>
        <p:spPr>
          <a:xfrm>
            <a:off x="8275320" y="1938528"/>
            <a:ext cx="3154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mcpServers JSON — the de-facto shape</a:t>
            </a:r>
            <a:endParaRPr lang="en-US" sz="900" dirty="0"/>
          </a:p>
        </p:txBody>
      </p:sp>
      <p:sp>
        <p:nvSpPr>
          <p:cNvPr id="45" name="s26_hhr0"/>
          <p:cNvSpPr/>
          <p:nvPr/>
        </p:nvSpPr>
        <p:spPr>
          <a:xfrm>
            <a:off x="6675120" y="2505456"/>
            <a:ext cx="475488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46" name="s26_hb1"/>
          <p:cNvSpPr/>
          <p:nvPr/>
        </p:nvSpPr>
        <p:spPr>
          <a:xfrm>
            <a:off x="6675120" y="2734056"/>
            <a:ext cx="109728" cy="109728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7" name="s26_hk1"/>
          <p:cNvSpPr/>
          <p:nvPr/>
        </p:nvSpPr>
        <p:spPr>
          <a:xfrm>
            <a:off x="6894576" y="2514600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CODEX</a:t>
            </a:r>
            <a:endParaRPr lang="en-US" sz="1000" dirty="0"/>
          </a:p>
        </p:txBody>
      </p:sp>
      <p:sp>
        <p:nvSpPr>
          <p:cNvPr id="48" name="s26_hv1"/>
          <p:cNvSpPr/>
          <p:nvPr/>
        </p:nvSpPr>
        <p:spPr>
          <a:xfrm>
            <a:off x="8275320" y="2514600"/>
            <a:ext cx="3154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Needs TOML: [mcp_servers.&lt;id&gt;] in config</a:t>
            </a:r>
            <a:endParaRPr lang="en-US" sz="900" dirty="0"/>
          </a:p>
        </p:txBody>
      </p:sp>
      <p:sp>
        <p:nvSpPr>
          <p:cNvPr id="49" name="s26_hhr1"/>
          <p:cNvSpPr/>
          <p:nvPr/>
        </p:nvSpPr>
        <p:spPr>
          <a:xfrm>
            <a:off x="6675120" y="3081528"/>
            <a:ext cx="475488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50" name="s26_hb2"/>
          <p:cNvSpPr/>
          <p:nvPr/>
        </p:nvSpPr>
        <p:spPr>
          <a:xfrm>
            <a:off x="6675120" y="3310128"/>
            <a:ext cx="109728" cy="109728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51" name="s26_hk2"/>
          <p:cNvSpPr/>
          <p:nvPr/>
        </p:nvSpPr>
        <p:spPr>
          <a:xfrm>
            <a:off x="6894576" y="3090672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OPENCODE</a:t>
            </a:r>
            <a:endParaRPr lang="en-US" sz="1000" dirty="0"/>
          </a:p>
        </p:txBody>
      </p:sp>
      <p:sp>
        <p:nvSpPr>
          <p:cNvPr id="52" name="s26_hv2"/>
          <p:cNvSpPr/>
          <p:nvPr/>
        </p:nvSpPr>
        <p:spPr>
          <a:xfrm>
            <a:off x="8275320" y="3090672"/>
            <a:ext cx="3154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JSON config mcp.servers.&lt;name&gt; (v2)</a:t>
            </a:r>
            <a:endParaRPr lang="en-US" sz="900" dirty="0"/>
          </a:p>
        </p:txBody>
      </p:sp>
      <p:sp>
        <p:nvSpPr>
          <p:cNvPr id="53" name="s26_hhr2"/>
          <p:cNvSpPr/>
          <p:nvPr/>
        </p:nvSpPr>
        <p:spPr>
          <a:xfrm>
            <a:off x="6675120" y="3657600"/>
            <a:ext cx="475488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54" name="s26_hb3"/>
          <p:cNvSpPr/>
          <p:nvPr/>
        </p:nvSpPr>
        <p:spPr>
          <a:xfrm>
            <a:off x="6675120" y="3886200"/>
            <a:ext cx="109728" cy="10972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5" name="s26_hk3"/>
          <p:cNvSpPr/>
          <p:nvPr/>
        </p:nvSpPr>
        <p:spPr>
          <a:xfrm>
            <a:off x="6894576" y="3666744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</a:t>
            </a:r>
            <a:endParaRPr lang="en-US" sz="1000" dirty="0"/>
          </a:p>
        </p:txBody>
      </p:sp>
      <p:sp>
        <p:nvSpPr>
          <p:cNvPr id="56" name="s26_hv3"/>
          <p:cNvSpPr/>
          <p:nvPr/>
        </p:nvSpPr>
        <p:spPr>
          <a:xfrm>
            <a:off x="8275320" y="3666744"/>
            <a:ext cx="3154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Copies Claude mcp.json entries as-is</a:t>
            </a:r>
            <a:endParaRPr lang="en-US" sz="900" dirty="0"/>
          </a:p>
        </p:txBody>
      </p:sp>
      <p:sp>
        <p:nvSpPr>
          <p:cNvPr id="57" name="s26_st_sh"/>
          <p:cNvSpPr/>
          <p:nvPr/>
        </p:nvSpPr>
        <p:spPr>
          <a:xfrm>
            <a:off x="6451092" y="4549140"/>
            <a:ext cx="5285232" cy="114300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58" name="s26_st"/>
          <p:cNvSpPr/>
          <p:nvPr/>
        </p:nvSpPr>
        <p:spPr>
          <a:xfrm>
            <a:off x="6400800" y="4498848"/>
            <a:ext cx="5285232" cy="1143000"/>
          </a:xfrm>
          <a:prstGeom prst="rect">
            <a:avLst/>
          </a:prstGeom>
          <a:solidFill>
            <a:srgbClr val="1B1D22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59" name="s26_sb"/>
          <p:cNvSpPr/>
          <p:nvPr/>
        </p:nvSpPr>
        <p:spPr>
          <a:xfrm>
            <a:off x="6675120" y="46268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7CB0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REGISTRY STANCE</a:t>
            </a:r>
            <a:endParaRPr lang="en-US" sz="900" dirty="0"/>
          </a:p>
        </p:txBody>
      </p:sp>
      <p:sp>
        <p:nvSpPr>
          <p:cNvPr id="60" name="s26_stt"/>
          <p:cNvSpPr/>
          <p:nvPr/>
        </p:nvSpPr>
        <p:spPr>
          <a:xfrm>
            <a:off x="6675120" y="4882896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Store server.json-shaped metadata; emit mcp.json + JSON/TOML configs mechanically</a:t>
            </a:r>
            <a:endParaRPr lang="en-US" sz="1100" dirty="0"/>
          </a:p>
        </p:txBody>
      </p:sp>
      <p:sp>
        <p:nvSpPr>
          <p:cNvPr id="61" name="s26_g_sh"/>
          <p:cNvSpPr/>
          <p:nvPr/>
        </p:nvSpPr>
        <p:spPr>
          <a:xfrm>
            <a:off x="553212" y="5829300"/>
            <a:ext cx="11183112" cy="65836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62" name="s26_g"/>
          <p:cNvSpPr/>
          <p:nvPr/>
        </p:nvSpPr>
        <p:spPr>
          <a:xfrm>
            <a:off x="502920" y="5779008"/>
            <a:ext cx="11183112" cy="658368"/>
          </a:xfrm>
          <a:prstGeom prst="rect">
            <a:avLst/>
          </a:prstGeom>
          <a:solidFill>
            <a:srgbClr val="EFEFEA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63" name="s26_gt"/>
          <p:cNvSpPr/>
          <p:nvPr/>
        </p:nvSpPr>
        <p:spPr>
          <a:xfrm>
            <a:off x="777240" y="5852160"/>
            <a:ext cx="10607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GAPS THE REGISTRY OWNS — MCP-only: no skills/plugins coverage  ·  No private servers; scanning delegated  ·  Config syntax splits: JSON everywhere but Codex TOML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27_vx_v1"/>
          <p:cNvSpPr/>
          <p:nvPr/>
        </p:nvSpPr>
        <p:spPr>
          <a:xfrm>
            <a:off x="11137392" y="384048"/>
            <a:ext cx="128016" cy="12801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" name="s27_vx_v2"/>
          <p:cNvSpPr/>
          <p:nvPr/>
        </p:nvSpPr>
        <p:spPr>
          <a:xfrm>
            <a:off x="11292840" y="384048"/>
            <a:ext cx="128016" cy="12801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" name="s27_vx_v3"/>
          <p:cNvSpPr/>
          <p:nvPr/>
        </p:nvSpPr>
        <p:spPr>
          <a:xfrm>
            <a:off x="11137392" y="539496"/>
            <a:ext cx="128016" cy="128016"/>
          </a:xfrm>
          <a:prstGeom prst="rect">
            <a:avLst/>
          </a:prstGeom>
          <a:solidFill>
            <a:srgbClr val="D97706"/>
          </a:solidFill>
          <a:ln/>
        </p:spPr>
      </p:sp>
      <p:pic>
        <p:nvPicPr>
          <p:cNvPr id="5" name="s27_kick" descr="assets/skc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02336"/>
            <a:ext cx="4676503" cy="182880"/>
          </a:xfrm>
          <a:prstGeom prst="rect">
            <a:avLst/>
          </a:prstGeom>
        </p:spPr>
      </p:pic>
      <p:pic>
        <p:nvPicPr>
          <p:cNvPr id="6" name="s27_title" descr="assets/srf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58368"/>
            <a:ext cx="1154757" cy="475488"/>
          </a:xfrm>
          <a:prstGeom prst="rect">
            <a:avLst/>
          </a:prstGeom>
        </p:spPr>
      </p:pic>
      <p:sp>
        <p:nvSpPr>
          <p:cNvPr id="7" name="s27_spec"/>
          <p:cNvSpPr/>
          <p:nvPr/>
        </p:nvSpPr>
        <p:spPr>
          <a:xfrm>
            <a:off x="502920" y="1216152"/>
            <a:ext cx="10469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MCP in claude code + codex — the two most popular first</a:t>
            </a:r>
            <a:endParaRPr lang="en-US" sz="1100" dirty="0"/>
          </a:p>
        </p:txBody>
      </p:sp>
      <p:sp>
        <p:nvSpPr>
          <p:cNvPr id="8" name="s27_pg"/>
          <p:cNvSpPr/>
          <p:nvPr/>
        </p:nvSpPr>
        <p:spPr>
          <a:xfrm>
            <a:off x="11064240" y="648309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 / 45</a:t>
            </a:r>
            <a:endParaRPr lang="en-US" sz="950" dirty="0"/>
          </a:p>
        </p:txBody>
      </p:sp>
      <p:sp>
        <p:nvSpPr>
          <p:cNvPr id="10" name="s27_c0_sh"/>
          <p:cNvSpPr/>
          <p:nvPr/>
        </p:nvSpPr>
        <p:spPr>
          <a:xfrm>
            <a:off x="553212" y="1531620"/>
            <a:ext cx="5477256" cy="489204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1" name="s27_c0"/>
          <p:cNvSpPr/>
          <p:nvPr/>
        </p:nvSpPr>
        <p:spPr>
          <a:xfrm>
            <a:off x="502920" y="1481328"/>
            <a:ext cx="5477256" cy="489204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12" name="s27_c0_sq"/>
          <p:cNvSpPr/>
          <p:nvPr/>
        </p:nvSpPr>
        <p:spPr>
          <a:xfrm>
            <a:off x="731520" y="1673352"/>
            <a:ext cx="137160" cy="13716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3" name="s27_c0_topic"/>
          <p:cNvSpPr/>
          <p:nvPr/>
        </p:nvSpPr>
        <p:spPr>
          <a:xfrm>
            <a:off x="960120" y="1609344"/>
            <a:ext cx="37965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50" kern="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MCP</a:t>
            </a:r>
            <a:endParaRPr lang="en-US" sz="1300" dirty="0"/>
          </a:p>
        </p:txBody>
      </p:sp>
      <p:sp>
        <p:nvSpPr>
          <p:cNvPr id="14" name="s27_c0_vc_sh"/>
          <p:cNvSpPr/>
          <p:nvPr/>
        </p:nvSpPr>
        <p:spPr>
          <a:xfrm>
            <a:off x="4811573" y="1636776"/>
            <a:ext cx="994867" cy="3383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5" name="s27_c0_vc"/>
          <p:cNvSpPr/>
          <p:nvPr/>
        </p:nvSpPr>
        <p:spPr>
          <a:xfrm>
            <a:off x="4784141" y="1609344"/>
            <a:ext cx="994867" cy="338328"/>
          </a:xfrm>
          <a:prstGeom prst="rect">
            <a:avLst/>
          </a:prstGeom>
          <a:solidFill>
            <a:srgbClr val="E5F5EA"/>
          </a:solidFill>
          <a:ln w="15875">
            <a:solidFill>
              <a:srgbClr val="16A34A"/>
            </a:solidFill>
            <a:prstDash val="solid"/>
          </a:ln>
        </p:spPr>
      </p:sp>
      <p:sp>
        <p:nvSpPr>
          <p:cNvPr id="16" name="s27_c0_vc_t"/>
          <p:cNvSpPr/>
          <p:nvPr/>
        </p:nvSpPr>
        <p:spPr>
          <a:xfrm>
            <a:off x="4784141" y="1609344"/>
            <a:ext cx="99486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COPY-AS-IS</a:t>
            </a:r>
            <a:endParaRPr lang="en-US" sz="900" dirty="0"/>
          </a:p>
        </p:txBody>
      </p:sp>
      <p:sp>
        <p:nvSpPr>
          <p:cNvPr id="17" name="s27_c0_why"/>
          <p:cNvSpPr/>
          <p:nvPr/>
        </p:nvSpPr>
        <p:spPr>
          <a:xfrm>
            <a:off x="731520" y="2011680"/>
            <a:ext cx="5020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i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mcpServers entry drops in as-is (CLI or JSON)</a:t>
            </a:r>
            <a:endParaRPr lang="en-US" sz="850" dirty="0"/>
          </a:p>
        </p:txBody>
      </p:sp>
      <p:sp>
        <p:nvSpPr>
          <p:cNvPr id="18" name="s27_c0_what"/>
          <p:cNvSpPr/>
          <p:nvPr/>
        </p:nvSpPr>
        <p:spPr>
          <a:xfrm>
            <a:off x="731520" y="2340864"/>
            <a:ext cx="5020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External tool servers (stdio or http) wired in via CLI or JSON</a:t>
            </a:r>
            <a:endParaRPr lang="en-US" sz="1050" dirty="0"/>
          </a:p>
        </p:txBody>
      </p:sp>
      <p:sp>
        <p:nvSpPr>
          <p:cNvPr id="19" name="s27_c0_hr1"/>
          <p:cNvSpPr/>
          <p:nvPr/>
        </p:nvSpPr>
        <p:spPr>
          <a:xfrm>
            <a:off x="731520" y="2798064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0" name="s27_c0_k0"/>
          <p:cNvSpPr/>
          <p:nvPr/>
        </p:nvSpPr>
        <p:spPr>
          <a:xfrm>
            <a:off x="731520" y="2852928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</a:t>
            </a:r>
            <a:endParaRPr lang="en-US" sz="850" dirty="0"/>
          </a:p>
        </p:txBody>
      </p:sp>
      <p:sp>
        <p:nvSpPr>
          <p:cNvPr id="21" name="s27_c0_v0"/>
          <p:cNvSpPr/>
          <p:nvPr/>
        </p:nvSpPr>
        <p:spPr>
          <a:xfrm>
            <a:off x="1883664" y="2852928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.mcp.json (committed) · ~/.claude.json · plugin .mcp.json</a:t>
            </a:r>
            <a:endParaRPr lang="en-US" sz="900" dirty="0"/>
          </a:p>
        </p:txBody>
      </p:sp>
      <p:sp>
        <p:nvSpPr>
          <p:cNvPr id="22" name="s27_c0_hr2"/>
          <p:cNvSpPr/>
          <p:nvPr/>
        </p:nvSpPr>
        <p:spPr>
          <a:xfrm>
            <a:off x="731520" y="3273552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3" name="s27_c0_k1"/>
          <p:cNvSpPr/>
          <p:nvPr/>
        </p:nvSpPr>
        <p:spPr>
          <a:xfrm>
            <a:off x="731520" y="3273552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FORMAT</a:t>
            </a:r>
            <a:endParaRPr lang="en-US" sz="850" dirty="0"/>
          </a:p>
        </p:txBody>
      </p:sp>
      <p:sp>
        <p:nvSpPr>
          <p:cNvPr id="24" name="s27_c0_v1"/>
          <p:cNvSpPr/>
          <p:nvPr/>
        </p:nvSpPr>
        <p:spPr>
          <a:xfrm>
            <a:off x="1883664" y="3273552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mcpServers JSON: http|sse|ws|stdio; ${VAR:-default}</a:t>
            </a:r>
            <a:endParaRPr lang="en-US" sz="900" dirty="0"/>
          </a:p>
        </p:txBody>
      </p:sp>
      <p:sp>
        <p:nvSpPr>
          <p:cNvPr id="25" name="s27_c0_hr3"/>
          <p:cNvSpPr/>
          <p:nvPr/>
        </p:nvSpPr>
        <p:spPr>
          <a:xfrm>
            <a:off x="731520" y="3694176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6" name="s27_c0_k2"/>
          <p:cNvSpPr/>
          <p:nvPr/>
        </p:nvSpPr>
        <p:spPr>
          <a:xfrm>
            <a:off x="731520" y="3694176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</a:t>
            </a:r>
            <a:endParaRPr lang="en-US" sz="850" dirty="0"/>
          </a:p>
        </p:txBody>
      </p:sp>
      <p:sp>
        <p:nvSpPr>
          <p:cNvPr id="27" name="s27_c0_v2"/>
          <p:cNvSpPr/>
          <p:nvPr/>
        </p:nvSpPr>
        <p:spPr>
          <a:xfrm>
            <a:off x="1883664" y="3694176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mcp add -s local|project|user · add-json · /mcp</a:t>
            </a:r>
            <a:endParaRPr lang="en-US" sz="900" dirty="0"/>
          </a:p>
        </p:txBody>
      </p:sp>
      <p:sp>
        <p:nvSpPr>
          <p:cNvPr id="28" name="s27_c0_hr4"/>
          <p:cNvSpPr/>
          <p:nvPr/>
        </p:nvSpPr>
        <p:spPr>
          <a:xfrm>
            <a:off x="731520" y="4114800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9" name="s27_c0_k3"/>
          <p:cNvSpPr/>
          <p:nvPr/>
        </p:nvSpPr>
        <p:spPr>
          <a:xfrm>
            <a:off x="731520" y="4114800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AUTO-UPDATE</a:t>
            </a:r>
            <a:endParaRPr lang="en-US" sz="850" dirty="0"/>
          </a:p>
        </p:txBody>
      </p:sp>
      <p:sp>
        <p:nvSpPr>
          <p:cNvPr id="30" name="s27_c0_v3"/>
          <p:cNvSpPr/>
          <p:nvPr/>
        </p:nvSpPr>
        <p:spPr>
          <a:xfrm>
            <a:off x="1883664" y="4114800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 — no update mechanism; manual re-add; entries replace, never merge</a:t>
            </a:r>
            <a:endParaRPr lang="en-US" sz="900" dirty="0"/>
          </a:p>
        </p:txBody>
      </p:sp>
      <p:sp>
        <p:nvSpPr>
          <p:cNvPr id="31" name="s27_c0_emp"/>
          <p:cNvSpPr/>
          <p:nvPr/>
        </p:nvSpPr>
        <p:spPr>
          <a:xfrm>
            <a:off x="704088" y="4626864"/>
            <a:ext cx="5074920" cy="1581912"/>
          </a:xfrm>
          <a:prstGeom prst="rect">
            <a:avLst/>
          </a:prstGeom>
          <a:solidFill>
            <a:srgbClr val="FBEEDD"/>
          </a:solidFill>
          <a:ln/>
        </p:spPr>
      </p:sp>
      <p:sp>
        <p:nvSpPr>
          <p:cNvPr id="32" name="s27_c0_emb"/>
          <p:cNvSpPr/>
          <p:nvPr/>
        </p:nvSpPr>
        <p:spPr>
          <a:xfrm>
            <a:off x="886968" y="4736592"/>
            <a:ext cx="4709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spc="200" kern="0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REGISTRY EMISSION</a:t>
            </a:r>
            <a:endParaRPr lang="en-US" sz="800" dirty="0"/>
          </a:p>
        </p:txBody>
      </p:sp>
      <p:sp>
        <p:nvSpPr>
          <p:cNvPr id="33" name="s27_c0_em"/>
          <p:cNvSpPr/>
          <p:nvPr/>
        </p:nvSpPr>
        <p:spPr>
          <a:xfrm>
            <a:off x="886968" y="4956048"/>
            <a:ext cx="470916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install.claude: claude mcp add &lt;n&gt; -s user</a:t>
            </a:r>
            <a:endParaRPr lang="en-US" sz="9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project: merge .mcp.json; needs interactive approval</a:t>
            </a:r>
            <a:endParaRPr lang="en-US" sz="9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managedMcpServers outranks all other scopes</a:t>
            </a:r>
            <a:endParaRPr lang="en-US" sz="900" dirty="0"/>
          </a:p>
        </p:txBody>
      </p:sp>
      <p:sp>
        <p:nvSpPr>
          <p:cNvPr id="34" name="s27_c1_sh"/>
          <p:cNvSpPr/>
          <p:nvPr/>
        </p:nvSpPr>
        <p:spPr>
          <a:xfrm>
            <a:off x="6259068" y="1531620"/>
            <a:ext cx="5477256" cy="489204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35" name="s27_c1"/>
          <p:cNvSpPr/>
          <p:nvPr/>
        </p:nvSpPr>
        <p:spPr>
          <a:xfrm>
            <a:off x="6208776" y="1481328"/>
            <a:ext cx="5477256" cy="489204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36" name="s27_c1_sq"/>
          <p:cNvSpPr/>
          <p:nvPr/>
        </p:nvSpPr>
        <p:spPr>
          <a:xfrm>
            <a:off x="6437376" y="1673352"/>
            <a:ext cx="137160" cy="13716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7" name="s27_c1_topic"/>
          <p:cNvSpPr/>
          <p:nvPr/>
        </p:nvSpPr>
        <p:spPr>
          <a:xfrm>
            <a:off x="6665976" y="1609344"/>
            <a:ext cx="38723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50" kern="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MCP</a:t>
            </a:r>
            <a:endParaRPr lang="en-US" sz="1300" dirty="0"/>
          </a:p>
        </p:txBody>
      </p:sp>
      <p:sp>
        <p:nvSpPr>
          <p:cNvPr id="38" name="s27_c1_vc_sh"/>
          <p:cNvSpPr/>
          <p:nvPr/>
        </p:nvSpPr>
        <p:spPr>
          <a:xfrm>
            <a:off x="10593141" y="1636776"/>
            <a:ext cx="919155" cy="3383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39" name="s27_c1_vc"/>
          <p:cNvSpPr/>
          <p:nvPr/>
        </p:nvSpPr>
        <p:spPr>
          <a:xfrm>
            <a:off x="10565709" y="1609344"/>
            <a:ext cx="919155" cy="338328"/>
          </a:xfrm>
          <a:prstGeom prst="rect">
            <a:avLst/>
          </a:prstGeom>
          <a:solidFill>
            <a:srgbClr val="E7EEFD"/>
          </a:solidFill>
          <a:ln w="15875">
            <a:solidFill>
              <a:srgbClr val="2F6FED"/>
            </a:solidFill>
            <a:prstDash val="solid"/>
          </a:ln>
        </p:spPr>
      </p:sp>
      <p:sp>
        <p:nvSpPr>
          <p:cNvPr id="40" name="s27_c1_vc_t"/>
          <p:cNvSpPr/>
          <p:nvPr/>
        </p:nvSpPr>
        <p:spPr>
          <a:xfrm>
            <a:off x="10565709" y="1609344"/>
            <a:ext cx="919155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TRANSLATE</a:t>
            </a:r>
            <a:endParaRPr lang="en-US" sz="900" dirty="0"/>
          </a:p>
        </p:txBody>
      </p:sp>
      <p:sp>
        <p:nvSpPr>
          <p:cNvPr id="41" name="s27_c1_why"/>
          <p:cNvSpPr/>
          <p:nvPr/>
        </p:nvSpPr>
        <p:spPr>
          <a:xfrm>
            <a:off x="6437376" y="2011680"/>
            <a:ext cx="5020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i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Translate: mcpServers JSON → [mcp_servers] TOML</a:t>
            </a:r>
            <a:endParaRPr lang="en-US" sz="850" dirty="0"/>
          </a:p>
        </p:txBody>
      </p:sp>
      <p:sp>
        <p:nvSpPr>
          <p:cNvPr id="42" name="s27_c1_what"/>
          <p:cNvSpPr/>
          <p:nvPr/>
        </p:nvSpPr>
        <p:spPr>
          <a:xfrm>
            <a:off x="6437376" y="2340864"/>
            <a:ext cx="5020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External tool servers (stdio/HTTP) in TOML; per-tool approval modes.</a:t>
            </a:r>
            <a:endParaRPr lang="en-US" sz="1050" dirty="0"/>
          </a:p>
        </p:txBody>
      </p:sp>
      <p:sp>
        <p:nvSpPr>
          <p:cNvPr id="43" name="s27_c1_hr1"/>
          <p:cNvSpPr/>
          <p:nvPr/>
        </p:nvSpPr>
        <p:spPr>
          <a:xfrm>
            <a:off x="6437376" y="2798064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44" name="s27_c1_k0"/>
          <p:cNvSpPr/>
          <p:nvPr/>
        </p:nvSpPr>
        <p:spPr>
          <a:xfrm>
            <a:off x="6437376" y="2852928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</a:t>
            </a:r>
            <a:endParaRPr lang="en-US" sz="850" dirty="0"/>
          </a:p>
        </p:txBody>
      </p:sp>
      <p:sp>
        <p:nvSpPr>
          <p:cNvPr id="45" name="s27_c1_v0"/>
          <p:cNvSpPr/>
          <p:nvPr/>
        </p:nvSpPr>
        <p:spPr>
          <a:xfrm>
            <a:off x="7589520" y="2852928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~/.codex/config.toml · .codex/config.toml · plugin .mcp.json</a:t>
            </a:r>
            <a:endParaRPr lang="en-US" sz="900" dirty="0"/>
          </a:p>
        </p:txBody>
      </p:sp>
      <p:sp>
        <p:nvSpPr>
          <p:cNvPr id="46" name="s27_c1_hr2"/>
          <p:cNvSpPr/>
          <p:nvPr/>
        </p:nvSpPr>
        <p:spPr>
          <a:xfrm>
            <a:off x="6437376" y="3273552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47" name="s27_c1_k1"/>
          <p:cNvSpPr/>
          <p:nvPr/>
        </p:nvSpPr>
        <p:spPr>
          <a:xfrm>
            <a:off x="6437376" y="3273552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FORMAT</a:t>
            </a:r>
            <a:endParaRPr lang="en-US" sz="850" dirty="0"/>
          </a:p>
        </p:txBody>
      </p:sp>
      <p:sp>
        <p:nvSpPr>
          <p:cNvPr id="48" name="s27_c1_v1"/>
          <p:cNvSpPr/>
          <p:nvPr/>
        </p:nvSpPr>
        <p:spPr>
          <a:xfrm>
            <a:off x="7589520" y="3273552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[mcp_servers.&lt;id&gt;] TOML: command/args/env or url/auth</a:t>
            </a:r>
            <a:endParaRPr lang="en-US" sz="900" dirty="0"/>
          </a:p>
        </p:txBody>
      </p:sp>
      <p:sp>
        <p:nvSpPr>
          <p:cNvPr id="49" name="s27_c1_hr3"/>
          <p:cNvSpPr/>
          <p:nvPr/>
        </p:nvSpPr>
        <p:spPr>
          <a:xfrm>
            <a:off x="6437376" y="3694176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50" name="s27_c1_k2"/>
          <p:cNvSpPr/>
          <p:nvPr/>
        </p:nvSpPr>
        <p:spPr>
          <a:xfrm>
            <a:off x="6437376" y="3694176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</a:t>
            </a:r>
            <a:endParaRPr lang="en-US" sz="850" dirty="0"/>
          </a:p>
        </p:txBody>
      </p:sp>
      <p:sp>
        <p:nvSpPr>
          <p:cNvPr id="51" name="s27_c1_v2"/>
          <p:cNvSpPr/>
          <p:nvPr/>
        </p:nvSpPr>
        <p:spPr>
          <a:xfrm>
            <a:off x="7589520" y="3694176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codex mcp add &lt;id&gt; -- &lt;cmd&gt;|--url · codex mcp list · /mcp</a:t>
            </a:r>
            <a:endParaRPr lang="en-US" sz="900" dirty="0"/>
          </a:p>
        </p:txBody>
      </p:sp>
      <p:sp>
        <p:nvSpPr>
          <p:cNvPr id="52" name="s27_c1_hr4"/>
          <p:cNvSpPr/>
          <p:nvPr/>
        </p:nvSpPr>
        <p:spPr>
          <a:xfrm>
            <a:off x="6437376" y="4114800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53" name="s27_c1_k3"/>
          <p:cNvSpPr/>
          <p:nvPr/>
        </p:nvSpPr>
        <p:spPr>
          <a:xfrm>
            <a:off x="6437376" y="4114800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AUTO-UPDATE</a:t>
            </a:r>
            <a:endParaRPr lang="en-US" sz="850" dirty="0"/>
          </a:p>
        </p:txBody>
      </p:sp>
      <p:sp>
        <p:nvSpPr>
          <p:cNvPr id="54" name="s27_c1_v3"/>
          <p:cNvSpPr/>
          <p:nvPr/>
        </p:nvSpPr>
        <p:spPr>
          <a:xfrm>
            <a:off x="7589520" y="4114800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No. Manual codex mcp add / TOML edits only.</a:t>
            </a:r>
            <a:endParaRPr lang="en-US" sz="900" dirty="0"/>
          </a:p>
        </p:txBody>
      </p:sp>
      <p:sp>
        <p:nvSpPr>
          <p:cNvPr id="55" name="s27_c1_emp"/>
          <p:cNvSpPr/>
          <p:nvPr/>
        </p:nvSpPr>
        <p:spPr>
          <a:xfrm>
            <a:off x="6409944" y="4626864"/>
            <a:ext cx="5074920" cy="1581912"/>
          </a:xfrm>
          <a:prstGeom prst="rect">
            <a:avLst/>
          </a:prstGeom>
          <a:solidFill>
            <a:srgbClr val="E5F5EA"/>
          </a:solidFill>
          <a:ln/>
        </p:spPr>
      </p:sp>
      <p:sp>
        <p:nvSpPr>
          <p:cNvPr id="56" name="s27_c1_emb"/>
          <p:cNvSpPr/>
          <p:nvPr/>
        </p:nvSpPr>
        <p:spPr>
          <a:xfrm>
            <a:off x="6592824" y="4736592"/>
            <a:ext cx="4709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spc="200" kern="0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REGISTRY EMISSION</a:t>
            </a:r>
            <a:endParaRPr lang="en-US" sz="800" dirty="0"/>
          </a:p>
        </p:txBody>
      </p:sp>
      <p:sp>
        <p:nvSpPr>
          <p:cNvPr id="57" name="s27_c1_em"/>
          <p:cNvSpPr/>
          <p:nvPr/>
        </p:nvSpPr>
        <p:spPr>
          <a:xfrm>
            <a:off x="6592824" y="4956048"/>
            <a:ext cx="470916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translate: mcpServers JSON → [mcp_servers.&lt;id&gt;]</a:t>
            </a:r>
            <a:endParaRPr lang="en-US" sz="9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install: codex mcp add &lt;id&gt; -- &lt;cmd&gt;|--url</a:t>
            </a:r>
            <a:endParaRPr lang="en-US" sz="9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per-tool: tools.&lt;t&gt;.approval_mode in TOML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28_vx_v1"/>
          <p:cNvSpPr/>
          <p:nvPr/>
        </p:nvSpPr>
        <p:spPr>
          <a:xfrm>
            <a:off x="11137392" y="384048"/>
            <a:ext cx="128016" cy="12801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" name="s28_vx_v2"/>
          <p:cNvSpPr/>
          <p:nvPr/>
        </p:nvSpPr>
        <p:spPr>
          <a:xfrm>
            <a:off x="11292840" y="384048"/>
            <a:ext cx="128016" cy="12801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" name="s28_vx_v3"/>
          <p:cNvSpPr/>
          <p:nvPr/>
        </p:nvSpPr>
        <p:spPr>
          <a:xfrm>
            <a:off x="11137392" y="539496"/>
            <a:ext cx="128016" cy="128016"/>
          </a:xfrm>
          <a:prstGeom prst="rect">
            <a:avLst/>
          </a:prstGeom>
          <a:solidFill>
            <a:srgbClr val="D97706"/>
          </a:solidFill>
          <a:ln/>
        </p:spPr>
      </p:sp>
      <p:pic>
        <p:nvPicPr>
          <p:cNvPr id="5" name="s28_kick" descr="assets/sko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02336"/>
            <a:ext cx="4519749" cy="182880"/>
          </a:xfrm>
          <a:prstGeom prst="rect">
            <a:avLst/>
          </a:prstGeom>
        </p:spPr>
      </p:pic>
      <p:pic>
        <p:nvPicPr>
          <p:cNvPr id="6" name="s28_title" descr="assets/srf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58368"/>
            <a:ext cx="1154757" cy="475488"/>
          </a:xfrm>
          <a:prstGeom prst="rect">
            <a:avLst/>
          </a:prstGeom>
        </p:spPr>
      </p:pic>
      <p:sp>
        <p:nvSpPr>
          <p:cNvPr id="7" name="s28_spec"/>
          <p:cNvSpPr/>
          <p:nvPr/>
        </p:nvSpPr>
        <p:spPr>
          <a:xfrm>
            <a:off x="502920" y="1216152"/>
            <a:ext cx="10469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MCP in opencode + pi</a:t>
            </a:r>
            <a:endParaRPr lang="en-US" sz="1100" dirty="0"/>
          </a:p>
        </p:txBody>
      </p:sp>
      <p:sp>
        <p:nvSpPr>
          <p:cNvPr id="8" name="s28_pg"/>
          <p:cNvSpPr/>
          <p:nvPr/>
        </p:nvSpPr>
        <p:spPr>
          <a:xfrm>
            <a:off x="11064240" y="648309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28 / 45</a:t>
            </a:r>
            <a:endParaRPr lang="en-US" sz="950" dirty="0"/>
          </a:p>
        </p:txBody>
      </p:sp>
      <p:sp>
        <p:nvSpPr>
          <p:cNvPr id="10" name="s28_c0_sh"/>
          <p:cNvSpPr/>
          <p:nvPr/>
        </p:nvSpPr>
        <p:spPr>
          <a:xfrm>
            <a:off x="553212" y="1531620"/>
            <a:ext cx="5477256" cy="489204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1" name="s28_c0"/>
          <p:cNvSpPr/>
          <p:nvPr/>
        </p:nvSpPr>
        <p:spPr>
          <a:xfrm>
            <a:off x="502920" y="1481328"/>
            <a:ext cx="5477256" cy="489204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12" name="s28_c0_sq"/>
          <p:cNvSpPr/>
          <p:nvPr/>
        </p:nvSpPr>
        <p:spPr>
          <a:xfrm>
            <a:off x="731520" y="1673352"/>
            <a:ext cx="137160" cy="137160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13" name="s28_c0_topic"/>
          <p:cNvSpPr/>
          <p:nvPr/>
        </p:nvSpPr>
        <p:spPr>
          <a:xfrm>
            <a:off x="960120" y="1609344"/>
            <a:ext cx="38723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50" kern="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MCP</a:t>
            </a:r>
            <a:endParaRPr lang="en-US" sz="1300" dirty="0"/>
          </a:p>
        </p:txBody>
      </p:sp>
      <p:sp>
        <p:nvSpPr>
          <p:cNvPr id="14" name="s28_c0_vc_sh"/>
          <p:cNvSpPr/>
          <p:nvPr/>
        </p:nvSpPr>
        <p:spPr>
          <a:xfrm>
            <a:off x="4887285" y="1636776"/>
            <a:ext cx="919155" cy="3383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5" name="s28_c0_vc"/>
          <p:cNvSpPr/>
          <p:nvPr/>
        </p:nvSpPr>
        <p:spPr>
          <a:xfrm>
            <a:off x="4859853" y="1609344"/>
            <a:ext cx="919155" cy="338328"/>
          </a:xfrm>
          <a:prstGeom prst="rect">
            <a:avLst/>
          </a:prstGeom>
          <a:solidFill>
            <a:srgbClr val="E7EEFD"/>
          </a:solidFill>
          <a:ln w="15875">
            <a:solidFill>
              <a:srgbClr val="2F6FED"/>
            </a:solidFill>
            <a:prstDash val="solid"/>
          </a:ln>
        </p:spPr>
      </p:sp>
      <p:sp>
        <p:nvSpPr>
          <p:cNvPr id="16" name="s28_c0_vc_t"/>
          <p:cNvSpPr/>
          <p:nvPr/>
        </p:nvSpPr>
        <p:spPr>
          <a:xfrm>
            <a:off x="4859853" y="1609344"/>
            <a:ext cx="919155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TRANSLATE</a:t>
            </a:r>
            <a:endParaRPr lang="en-US" sz="900" dirty="0"/>
          </a:p>
        </p:txBody>
      </p:sp>
      <p:sp>
        <p:nvSpPr>
          <p:cNvPr id="17" name="s28_c0_why"/>
          <p:cNvSpPr/>
          <p:nvPr/>
        </p:nvSpPr>
        <p:spPr>
          <a:xfrm>
            <a:off x="731520" y="2011680"/>
            <a:ext cx="5020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i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record → mcp.servers JSON (v1 mcp.&lt;n&gt; shim)</a:t>
            </a:r>
            <a:endParaRPr lang="en-US" sz="850" dirty="0"/>
          </a:p>
        </p:txBody>
      </p:sp>
      <p:sp>
        <p:nvSpPr>
          <p:cNvPr id="18" name="s28_c0_what"/>
          <p:cNvSpPr/>
          <p:nvPr/>
        </p:nvSpPr>
        <p:spPr>
          <a:xfrm>
            <a:off x="731520" y="2340864"/>
            <a:ext cx="5020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Standard external tool servers connected via stdio or HTTP</a:t>
            </a:r>
            <a:endParaRPr lang="en-US" sz="1050" dirty="0"/>
          </a:p>
        </p:txBody>
      </p:sp>
      <p:sp>
        <p:nvSpPr>
          <p:cNvPr id="19" name="s28_c0_hr1"/>
          <p:cNvSpPr/>
          <p:nvPr/>
        </p:nvSpPr>
        <p:spPr>
          <a:xfrm>
            <a:off x="731520" y="2798064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0" name="s28_c0_k0"/>
          <p:cNvSpPr/>
          <p:nvPr/>
        </p:nvSpPr>
        <p:spPr>
          <a:xfrm>
            <a:off x="731520" y="2852928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</a:t>
            </a:r>
            <a:endParaRPr lang="en-US" sz="850" dirty="0"/>
          </a:p>
        </p:txBody>
      </p:sp>
      <p:sp>
        <p:nvSpPr>
          <p:cNvPr id="21" name="s28_c0_v0"/>
          <p:cNvSpPr/>
          <p:nvPr/>
        </p:nvSpPr>
        <p:spPr>
          <a:xfrm>
            <a:off x="1883664" y="2852928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opencode.json mcp.servers.&lt;name&gt; (v2) · mcp.&lt;name&gt; (v1)</a:t>
            </a:r>
            <a:endParaRPr lang="en-US" sz="900" dirty="0"/>
          </a:p>
        </p:txBody>
      </p:sp>
      <p:sp>
        <p:nvSpPr>
          <p:cNvPr id="22" name="s28_c0_hr2"/>
          <p:cNvSpPr/>
          <p:nvPr/>
        </p:nvSpPr>
        <p:spPr>
          <a:xfrm>
            <a:off x="731520" y="3273552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3" name="s28_c0_k1"/>
          <p:cNvSpPr/>
          <p:nvPr/>
        </p:nvSpPr>
        <p:spPr>
          <a:xfrm>
            <a:off x="731520" y="3273552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FORMAT</a:t>
            </a:r>
            <a:endParaRPr lang="en-US" sz="850" dirty="0"/>
          </a:p>
        </p:txBody>
      </p:sp>
      <p:sp>
        <p:nvSpPr>
          <p:cNvPr id="24" name="s28_c0_v1"/>
          <p:cNvSpPr/>
          <p:nvPr/>
        </p:nvSpPr>
        <p:spPr>
          <a:xfrm>
            <a:off x="1883664" y="3273552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JSON entry: local command/env · remote url/headers</a:t>
            </a:r>
            <a:endParaRPr lang="en-US" sz="900" dirty="0"/>
          </a:p>
        </p:txBody>
      </p:sp>
      <p:sp>
        <p:nvSpPr>
          <p:cNvPr id="25" name="s28_c0_hr3"/>
          <p:cNvSpPr/>
          <p:nvPr/>
        </p:nvSpPr>
        <p:spPr>
          <a:xfrm>
            <a:off x="731520" y="3694176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6" name="s28_c0_k2"/>
          <p:cNvSpPr/>
          <p:nvPr/>
        </p:nvSpPr>
        <p:spPr>
          <a:xfrm>
            <a:off x="731520" y="3694176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</a:t>
            </a:r>
            <a:endParaRPr lang="en-US" sz="850" dirty="0"/>
          </a:p>
        </p:txBody>
      </p:sp>
      <p:sp>
        <p:nvSpPr>
          <p:cNvPr id="27" name="s28_c0_v2"/>
          <p:cNvSpPr/>
          <p:nvPr/>
        </p:nvSpPr>
        <p:spPr>
          <a:xfrm>
            <a:off x="1883664" y="3694176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opencode mcp add &lt;n&gt; --scope project|user|system</a:t>
            </a:r>
            <a:endParaRPr lang="en-US" sz="900" dirty="0"/>
          </a:p>
        </p:txBody>
      </p:sp>
      <p:sp>
        <p:nvSpPr>
          <p:cNvPr id="28" name="s28_c0_hr4"/>
          <p:cNvSpPr/>
          <p:nvPr/>
        </p:nvSpPr>
        <p:spPr>
          <a:xfrm>
            <a:off x="731520" y="4114800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9" name="s28_c0_k3"/>
          <p:cNvSpPr/>
          <p:nvPr/>
        </p:nvSpPr>
        <p:spPr>
          <a:xfrm>
            <a:off x="731520" y="4114800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AUTO-UPDATE</a:t>
            </a:r>
            <a:endParaRPr lang="en-US" sz="850" dirty="0"/>
          </a:p>
        </p:txBody>
      </p:sp>
      <p:sp>
        <p:nvSpPr>
          <p:cNvPr id="30" name="s28_c0_v3"/>
          <p:cNvSpPr/>
          <p:nvPr/>
        </p:nvSpPr>
        <p:spPr>
          <a:xfrm>
            <a:off x="1883664" y="4114800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 — manual config edit or re-run opencode mcp add</a:t>
            </a:r>
            <a:endParaRPr lang="en-US" sz="900" dirty="0"/>
          </a:p>
        </p:txBody>
      </p:sp>
      <p:sp>
        <p:nvSpPr>
          <p:cNvPr id="31" name="s28_c0_emp"/>
          <p:cNvSpPr/>
          <p:nvPr/>
        </p:nvSpPr>
        <p:spPr>
          <a:xfrm>
            <a:off x="704088" y="4626864"/>
            <a:ext cx="5074920" cy="1581912"/>
          </a:xfrm>
          <a:prstGeom prst="rect">
            <a:avLst/>
          </a:prstGeom>
          <a:solidFill>
            <a:srgbClr val="E7EEFD"/>
          </a:solidFill>
          <a:ln/>
        </p:spPr>
      </p:sp>
      <p:sp>
        <p:nvSpPr>
          <p:cNvPr id="32" name="s28_c0_emb"/>
          <p:cNvSpPr/>
          <p:nvPr/>
        </p:nvSpPr>
        <p:spPr>
          <a:xfrm>
            <a:off x="886968" y="4736592"/>
            <a:ext cx="4709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spc="200" kern="0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REGISTRY EMISSION</a:t>
            </a:r>
            <a:endParaRPr lang="en-US" sz="800" dirty="0"/>
          </a:p>
        </p:txBody>
      </p:sp>
      <p:sp>
        <p:nvSpPr>
          <p:cNvPr id="33" name="s28_c0_em"/>
          <p:cNvSpPr/>
          <p:nvPr/>
        </p:nvSpPr>
        <p:spPr>
          <a:xfrm>
            <a:off x="886968" y="4956048"/>
            <a:ext cx="470916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opencode mcp add &lt;n&gt; --scope user|project [--url]</a:t>
            </a:r>
            <a:endParaRPr lang="en-US" sz="9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config: mcp.servers.&lt;n&gt; (v2) · mcp.&lt;n&gt; (v1)</a:t>
            </a:r>
            <a:endParaRPr lang="en-US" sz="9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remote: url + headers + oauth ({env:KEY})</a:t>
            </a:r>
            <a:endParaRPr lang="en-US" sz="900" dirty="0"/>
          </a:p>
        </p:txBody>
      </p:sp>
      <p:sp>
        <p:nvSpPr>
          <p:cNvPr id="34" name="s28_c1_sh"/>
          <p:cNvSpPr/>
          <p:nvPr/>
        </p:nvSpPr>
        <p:spPr>
          <a:xfrm>
            <a:off x="6259068" y="1531620"/>
            <a:ext cx="5477256" cy="489204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35" name="s28_c1"/>
          <p:cNvSpPr/>
          <p:nvPr/>
        </p:nvSpPr>
        <p:spPr>
          <a:xfrm>
            <a:off x="6208776" y="1481328"/>
            <a:ext cx="5477256" cy="489204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36" name="s28_c1_sq"/>
          <p:cNvSpPr/>
          <p:nvPr/>
        </p:nvSpPr>
        <p:spPr>
          <a:xfrm>
            <a:off x="6437376" y="1673352"/>
            <a:ext cx="137160" cy="13716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7" name="s28_c1_topic"/>
          <p:cNvSpPr/>
          <p:nvPr/>
        </p:nvSpPr>
        <p:spPr>
          <a:xfrm>
            <a:off x="6665976" y="1609344"/>
            <a:ext cx="37965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50" kern="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MCP</a:t>
            </a:r>
            <a:endParaRPr lang="en-US" sz="1300" dirty="0"/>
          </a:p>
        </p:txBody>
      </p:sp>
      <p:sp>
        <p:nvSpPr>
          <p:cNvPr id="38" name="s28_c1_vc_sh"/>
          <p:cNvSpPr/>
          <p:nvPr/>
        </p:nvSpPr>
        <p:spPr>
          <a:xfrm>
            <a:off x="10517429" y="1636776"/>
            <a:ext cx="994867" cy="3383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39" name="s28_c1_vc"/>
          <p:cNvSpPr/>
          <p:nvPr/>
        </p:nvSpPr>
        <p:spPr>
          <a:xfrm>
            <a:off x="10489997" y="1609344"/>
            <a:ext cx="994867" cy="338328"/>
          </a:xfrm>
          <a:prstGeom prst="rect">
            <a:avLst/>
          </a:prstGeom>
          <a:solidFill>
            <a:srgbClr val="E5F5EA"/>
          </a:solidFill>
          <a:ln w="15875">
            <a:solidFill>
              <a:srgbClr val="16A34A"/>
            </a:solidFill>
            <a:prstDash val="solid"/>
          </a:ln>
        </p:spPr>
      </p:sp>
      <p:sp>
        <p:nvSpPr>
          <p:cNvPr id="40" name="s28_c1_vc_t"/>
          <p:cNvSpPr/>
          <p:nvPr/>
        </p:nvSpPr>
        <p:spPr>
          <a:xfrm>
            <a:off x="10489997" y="1609344"/>
            <a:ext cx="99486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COPY-AS-IS</a:t>
            </a:r>
            <a:endParaRPr lang="en-US" sz="900" dirty="0"/>
          </a:p>
        </p:txBody>
      </p:sp>
      <p:sp>
        <p:nvSpPr>
          <p:cNvPr id="41" name="s28_c1_why"/>
          <p:cNvSpPr/>
          <p:nvPr/>
        </p:nvSpPr>
        <p:spPr>
          <a:xfrm>
            <a:off x="6437376" y="2011680"/>
            <a:ext cx="5020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i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Claude/Cursor mcp.json entries copy as-is (official docs)</a:t>
            </a:r>
            <a:endParaRPr lang="en-US" sz="850" dirty="0"/>
          </a:p>
        </p:txBody>
      </p:sp>
      <p:sp>
        <p:nvSpPr>
          <p:cNvPr id="42" name="s28_c1_what"/>
          <p:cNvSpPr/>
          <p:nvPr/>
        </p:nvSpPr>
        <p:spPr>
          <a:xfrm>
            <a:off x="6437376" y="2340864"/>
            <a:ext cx="5020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External tool servers Pi connects to; config copies straight from Claude</a:t>
            </a:r>
            <a:endParaRPr lang="en-US" sz="1050" dirty="0"/>
          </a:p>
        </p:txBody>
      </p:sp>
      <p:sp>
        <p:nvSpPr>
          <p:cNvPr id="43" name="s28_c1_hr1"/>
          <p:cNvSpPr/>
          <p:nvPr/>
        </p:nvSpPr>
        <p:spPr>
          <a:xfrm>
            <a:off x="6437376" y="2798064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44" name="s28_c1_k0"/>
          <p:cNvSpPr/>
          <p:nvPr/>
        </p:nvSpPr>
        <p:spPr>
          <a:xfrm>
            <a:off x="6437376" y="2852928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</a:t>
            </a:r>
            <a:endParaRPr lang="en-US" sz="850" dirty="0"/>
          </a:p>
        </p:txBody>
      </p:sp>
      <p:sp>
        <p:nvSpPr>
          <p:cNvPr id="45" name="s28_c1_v0"/>
          <p:cNvSpPr/>
          <p:nvPr/>
        </p:nvSpPr>
        <p:spPr>
          <a:xfrm>
            <a:off x="7589520" y="2852928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~/.pi/agent/mcp.json · .pi/mcp.json (trust-gated)</a:t>
            </a:r>
            <a:endParaRPr lang="en-US" sz="900" dirty="0"/>
          </a:p>
        </p:txBody>
      </p:sp>
      <p:sp>
        <p:nvSpPr>
          <p:cNvPr id="46" name="s28_c1_hr2"/>
          <p:cNvSpPr/>
          <p:nvPr/>
        </p:nvSpPr>
        <p:spPr>
          <a:xfrm>
            <a:off x="6437376" y="3273552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47" name="s28_c1_k1"/>
          <p:cNvSpPr/>
          <p:nvPr/>
        </p:nvSpPr>
        <p:spPr>
          <a:xfrm>
            <a:off x="6437376" y="3273552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FORMAT</a:t>
            </a:r>
            <a:endParaRPr lang="en-US" sz="850" dirty="0"/>
          </a:p>
        </p:txBody>
      </p:sp>
      <p:sp>
        <p:nvSpPr>
          <p:cNvPr id="48" name="s28_c1_v1"/>
          <p:cNvSpPr/>
          <p:nvPr/>
        </p:nvSpPr>
        <p:spPr>
          <a:xfrm>
            <a:off x="7589520" y="3273552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mcpServers JSON; stdio cmd/args/env | http url/headers/oauth</a:t>
            </a:r>
            <a:endParaRPr lang="en-US" sz="900" dirty="0"/>
          </a:p>
        </p:txBody>
      </p:sp>
      <p:sp>
        <p:nvSpPr>
          <p:cNvPr id="49" name="s28_c1_hr3"/>
          <p:cNvSpPr/>
          <p:nvPr/>
        </p:nvSpPr>
        <p:spPr>
          <a:xfrm>
            <a:off x="6437376" y="3694176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50" name="s28_c1_k2"/>
          <p:cNvSpPr/>
          <p:nvPr/>
        </p:nvSpPr>
        <p:spPr>
          <a:xfrm>
            <a:off x="6437376" y="3694176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</a:t>
            </a:r>
            <a:endParaRPr lang="en-US" sz="850" dirty="0"/>
          </a:p>
        </p:txBody>
      </p:sp>
      <p:sp>
        <p:nvSpPr>
          <p:cNvPr id="51" name="s28_c1_v2"/>
          <p:cNvSpPr/>
          <p:nvPr/>
        </p:nvSpPr>
        <p:spPr>
          <a:xfrm>
            <a:off x="7589520" y="3694176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 mcp add &lt;name&gt; [--local] -- cmd · /mcp login</a:t>
            </a:r>
            <a:endParaRPr lang="en-US" sz="900" dirty="0"/>
          </a:p>
        </p:txBody>
      </p:sp>
      <p:sp>
        <p:nvSpPr>
          <p:cNvPr id="52" name="s28_c1_hr4"/>
          <p:cNvSpPr/>
          <p:nvPr/>
        </p:nvSpPr>
        <p:spPr>
          <a:xfrm>
            <a:off x="6437376" y="4114800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53" name="s28_c1_k3"/>
          <p:cNvSpPr/>
          <p:nvPr/>
        </p:nvSpPr>
        <p:spPr>
          <a:xfrm>
            <a:off x="6437376" y="4114800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AUTO-UPDATE</a:t>
            </a:r>
            <a:endParaRPr lang="en-US" sz="850" dirty="0"/>
          </a:p>
        </p:txBody>
      </p:sp>
      <p:sp>
        <p:nvSpPr>
          <p:cNvPr id="54" name="s28_c1_v3"/>
          <p:cNvSpPr/>
          <p:nvPr/>
        </p:nvSpPr>
        <p:spPr>
          <a:xfrm>
            <a:off x="7589520" y="4114800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Manual — pi mcp add or config edit; no server-entry update flow</a:t>
            </a:r>
            <a:endParaRPr lang="en-US" sz="900" dirty="0"/>
          </a:p>
        </p:txBody>
      </p:sp>
      <p:sp>
        <p:nvSpPr>
          <p:cNvPr id="55" name="s28_c1_emp"/>
          <p:cNvSpPr/>
          <p:nvPr/>
        </p:nvSpPr>
        <p:spPr>
          <a:xfrm>
            <a:off x="6409944" y="4626864"/>
            <a:ext cx="5074920" cy="1581912"/>
          </a:xfrm>
          <a:prstGeom prst="rect">
            <a:avLst/>
          </a:prstGeom>
          <a:solidFill>
            <a:srgbClr val="EFE9FB"/>
          </a:solidFill>
          <a:ln/>
        </p:spPr>
      </p:sp>
      <p:sp>
        <p:nvSpPr>
          <p:cNvPr id="56" name="s28_c1_emb"/>
          <p:cNvSpPr/>
          <p:nvPr/>
        </p:nvSpPr>
        <p:spPr>
          <a:xfrm>
            <a:off x="6592824" y="4736592"/>
            <a:ext cx="4709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spc="200" kern="0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REGISTRY EMISSION</a:t>
            </a:r>
            <a:endParaRPr lang="en-US" sz="800" dirty="0"/>
          </a:p>
        </p:txBody>
      </p:sp>
      <p:sp>
        <p:nvSpPr>
          <p:cNvPr id="57" name="s28_c1_em"/>
          <p:cNvSpPr/>
          <p:nvPr/>
        </p:nvSpPr>
        <p:spPr>
          <a:xfrm>
            <a:off x="6592824" y="4956048"/>
            <a:ext cx="470916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install.pi: merge entry → ~/.pi/agent/mcp.json</a:t>
            </a:r>
            <a:endParaRPr lang="en-US" sz="9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alt: pi mcp add &lt;name&gt; --local -- cmd args</a:t>
            </a:r>
            <a:endParaRPr lang="en-US" sz="9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tools: mcp__&lt;server&gt;__&lt;tool&gt;; SSE rejected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29_vx_v1"/>
          <p:cNvSpPr/>
          <p:nvPr/>
        </p:nvSpPr>
        <p:spPr>
          <a:xfrm>
            <a:off x="11137392" y="384048"/>
            <a:ext cx="128016" cy="12801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" name="s29_vx_v2"/>
          <p:cNvSpPr/>
          <p:nvPr/>
        </p:nvSpPr>
        <p:spPr>
          <a:xfrm>
            <a:off x="11292840" y="384048"/>
            <a:ext cx="128016" cy="12801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" name="s29_vx_v3"/>
          <p:cNvSpPr/>
          <p:nvPr/>
        </p:nvSpPr>
        <p:spPr>
          <a:xfrm>
            <a:off x="11137392" y="539496"/>
            <a:ext cx="128016" cy="128016"/>
          </a:xfrm>
          <a:prstGeom prst="rect">
            <a:avLst/>
          </a:prstGeom>
          <a:solidFill>
            <a:srgbClr val="D97706"/>
          </a:solidFill>
          <a:ln/>
        </p:spPr>
      </p:sp>
      <p:pic>
        <p:nvPicPr>
          <p:cNvPr id="5" name="s29_kick" descr="assets/skb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02336"/>
            <a:ext cx="2011680" cy="182880"/>
          </a:xfrm>
          <a:prstGeom prst="rect">
            <a:avLst/>
          </a:prstGeom>
        </p:spPr>
      </p:pic>
      <p:pic>
        <p:nvPicPr>
          <p:cNvPr id="6" name="s29_title" descr="assets/srf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58368"/>
            <a:ext cx="1154757" cy="475488"/>
          </a:xfrm>
          <a:prstGeom prst="rect">
            <a:avLst/>
          </a:prstGeom>
        </p:spPr>
      </p:pic>
      <p:sp>
        <p:nvSpPr>
          <p:cNvPr id="7" name="s29_spec"/>
          <p:cNvSpPr/>
          <p:nvPr/>
        </p:nvSpPr>
        <p:spPr>
          <a:xfrm>
            <a:off x="502920" y="1216152"/>
            <a:ext cx="10469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Language servers bundled into Claude plugins for code-aware tools — one consumer of four</a:t>
            </a:r>
            <a:endParaRPr lang="en-US" sz="1100" dirty="0"/>
          </a:p>
        </p:txBody>
      </p:sp>
      <p:sp>
        <p:nvSpPr>
          <p:cNvPr id="8" name="s29_pg"/>
          <p:cNvSpPr/>
          <p:nvPr/>
        </p:nvSpPr>
        <p:spPr>
          <a:xfrm>
            <a:off x="11064240" y="648309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 / 45</a:t>
            </a:r>
            <a:endParaRPr lang="en-US" sz="950" dirty="0"/>
          </a:p>
        </p:txBody>
      </p:sp>
      <p:sp>
        <p:nvSpPr>
          <p:cNvPr id="10" name="s29_min_sh"/>
          <p:cNvSpPr/>
          <p:nvPr/>
        </p:nvSpPr>
        <p:spPr>
          <a:xfrm>
            <a:off x="553212" y="1531620"/>
            <a:ext cx="5669280" cy="416052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1" name="s29_min"/>
          <p:cNvSpPr/>
          <p:nvPr/>
        </p:nvSpPr>
        <p:spPr>
          <a:xfrm>
            <a:off x="502920" y="1481328"/>
            <a:ext cx="5669280" cy="416052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12" name="s29_mb"/>
          <p:cNvSpPr/>
          <p:nvPr/>
        </p:nvSpPr>
        <p:spPr>
          <a:xfrm>
            <a:off x="777240" y="162763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REGISTRY MINIMUM — WHAT WE STORE</a:t>
            </a:r>
            <a:endParaRPr lang="en-US" sz="950" dirty="0"/>
          </a:p>
        </p:txBody>
      </p:sp>
      <p:sp>
        <p:nvSpPr>
          <p:cNvPr id="13" name="s29_mk0"/>
          <p:cNvSpPr/>
          <p:nvPr/>
        </p:nvSpPr>
        <p:spPr>
          <a:xfrm>
            <a:off x="777240" y="19202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servers map</a:t>
            </a:r>
            <a:endParaRPr lang="en-US" sz="900" dirty="0"/>
          </a:p>
        </p:txBody>
      </p:sp>
      <p:sp>
        <p:nvSpPr>
          <p:cNvPr id="14" name="s29_mv0"/>
          <p:cNvSpPr/>
          <p:nvPr/>
        </p:nvSpPr>
        <p:spPr>
          <a:xfrm>
            <a:off x="2240280" y="192024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.lsp.json: name → config entries</a:t>
            </a:r>
            <a:endParaRPr lang="en-US" sz="850" dirty="0"/>
          </a:p>
        </p:txBody>
      </p:sp>
      <p:sp>
        <p:nvSpPr>
          <p:cNvPr id="15" name="s29_mhr0"/>
          <p:cNvSpPr/>
          <p:nvPr/>
        </p:nvSpPr>
        <p:spPr>
          <a:xfrm>
            <a:off x="777240" y="2304288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16" name="s29_mk1"/>
          <p:cNvSpPr/>
          <p:nvPr/>
        </p:nvSpPr>
        <p:spPr>
          <a:xfrm>
            <a:off x="777240" y="230428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mapping</a:t>
            </a:r>
            <a:endParaRPr lang="en-US" sz="900" dirty="0"/>
          </a:p>
        </p:txBody>
      </p:sp>
      <p:sp>
        <p:nvSpPr>
          <p:cNvPr id="17" name="s29_mv1"/>
          <p:cNvSpPr/>
          <p:nvPr/>
        </p:nvSpPr>
        <p:spPr>
          <a:xfrm>
            <a:off x="2240280" y="230428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extensionToLanguage — required per entry</a:t>
            </a:r>
            <a:endParaRPr lang="en-US" sz="850" dirty="0"/>
          </a:p>
        </p:txBody>
      </p:sp>
      <p:sp>
        <p:nvSpPr>
          <p:cNvPr id="18" name="s29_mhr1"/>
          <p:cNvSpPr/>
          <p:nvPr/>
        </p:nvSpPr>
        <p:spPr>
          <a:xfrm>
            <a:off x="777240" y="2688336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19" name="s29_mk2"/>
          <p:cNvSpPr/>
          <p:nvPr/>
        </p:nvSpPr>
        <p:spPr>
          <a:xfrm>
            <a:off x="777240" y="2688336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wrapper</a:t>
            </a:r>
            <a:endParaRPr lang="en-US" sz="900" dirty="0"/>
          </a:p>
        </p:txBody>
      </p:sp>
      <p:sp>
        <p:nvSpPr>
          <p:cNvPr id="20" name="s29_mv2"/>
          <p:cNvSpPr/>
          <p:nvPr/>
        </p:nvSpPr>
        <p:spPr>
          <a:xfrm>
            <a:off x="2240280" y="2688336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must ride a plugin bundle; alt lspServers</a:t>
            </a:r>
            <a:endParaRPr lang="en-US" sz="850" dirty="0"/>
          </a:p>
        </p:txBody>
      </p:sp>
      <p:sp>
        <p:nvSpPr>
          <p:cNvPr id="21" name="s29_mhr2"/>
          <p:cNvSpPr/>
          <p:nvPr/>
        </p:nvSpPr>
        <p:spPr>
          <a:xfrm>
            <a:off x="777240" y="3072384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2" name="s29_mk3"/>
          <p:cNvSpPr/>
          <p:nvPr/>
        </p:nvSpPr>
        <p:spPr>
          <a:xfrm>
            <a:off x="777240" y="3072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compat</a:t>
            </a:r>
            <a:endParaRPr lang="en-US" sz="900" dirty="0"/>
          </a:p>
        </p:txBody>
      </p:sp>
      <p:sp>
        <p:nvSpPr>
          <p:cNvPr id="23" name="s29_mv3"/>
          <p:cNvSpPr/>
          <p:nvPr/>
        </p:nvSpPr>
        <p:spPr>
          <a:xfrm>
            <a:off x="2240280" y="3072384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codex/oc/pi supported=false — mark+skip</a:t>
            </a:r>
            <a:endParaRPr lang="en-US" sz="850" dirty="0"/>
          </a:p>
        </p:txBody>
      </p:sp>
      <p:sp>
        <p:nvSpPr>
          <p:cNvPr id="24" name="s29_mhr3"/>
          <p:cNvSpPr/>
          <p:nvPr/>
        </p:nvSpPr>
        <p:spPr>
          <a:xfrm>
            <a:off x="777240" y="3456432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5" name="s29_mk4"/>
          <p:cNvSpPr/>
          <p:nvPr/>
        </p:nvSpPr>
        <p:spPr>
          <a:xfrm>
            <a:off x="777240" y="3456432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versionSeal</a:t>
            </a:r>
            <a:endParaRPr lang="en-US" sz="900" dirty="0"/>
          </a:p>
        </p:txBody>
      </p:sp>
      <p:sp>
        <p:nvSpPr>
          <p:cNvPr id="26" name="s29_mv4"/>
          <p:cNvSpPr/>
          <p:nvPr/>
        </p:nvSpPr>
        <p:spPr>
          <a:xfrm>
            <a:off x="2240280" y="3456432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rides parent plugin version + sha</a:t>
            </a:r>
            <a:endParaRPr lang="en-US" sz="850" dirty="0"/>
          </a:p>
        </p:txBody>
      </p:sp>
      <p:sp>
        <p:nvSpPr>
          <p:cNvPr id="27" name="s29_mhr4"/>
          <p:cNvSpPr/>
          <p:nvPr/>
        </p:nvSpPr>
        <p:spPr>
          <a:xfrm>
            <a:off x="777240" y="3840480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8" name="s29_mk5"/>
          <p:cNvSpPr/>
          <p:nvPr/>
        </p:nvSpPr>
        <p:spPr>
          <a:xfrm>
            <a:off x="777240" y="384048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tier</a:t>
            </a:r>
            <a:endParaRPr lang="en-US" sz="900" dirty="0"/>
          </a:p>
        </p:txBody>
      </p:sp>
      <p:sp>
        <p:nvSpPr>
          <p:cNvPr id="29" name="s29_mv5"/>
          <p:cNvSpPr/>
          <p:nvPr/>
        </p:nvSpPr>
        <p:spPr>
          <a:xfrm>
            <a:off x="2240280" y="384048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review — bundles a server binary</a:t>
            </a:r>
            <a:endParaRPr lang="en-US" sz="850" dirty="0"/>
          </a:p>
        </p:txBody>
      </p:sp>
      <p:sp>
        <p:nvSpPr>
          <p:cNvPr id="30" name="s29_mhr5"/>
          <p:cNvSpPr/>
          <p:nvPr/>
        </p:nvSpPr>
        <p:spPr>
          <a:xfrm>
            <a:off x="777240" y="4224528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31" name="s29_mwhy"/>
          <p:cNvSpPr/>
          <p:nvPr/>
        </p:nvSpPr>
        <p:spPr>
          <a:xfrm>
            <a:off x="777240" y="498348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Only Claude loads LSP — the record marks three harnesses unsupported and wraps the server in a plugin bundle.</a:t>
            </a:r>
            <a:endParaRPr lang="en-US" sz="950" dirty="0"/>
          </a:p>
        </p:txBody>
      </p:sp>
      <p:sp>
        <p:nvSpPr>
          <p:cNvPr id="32" name="s29_row_sh"/>
          <p:cNvSpPr/>
          <p:nvPr/>
        </p:nvSpPr>
        <p:spPr>
          <a:xfrm>
            <a:off x="6451092" y="1531620"/>
            <a:ext cx="5285232" cy="310896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33" name="s29_row"/>
          <p:cNvSpPr/>
          <p:nvPr/>
        </p:nvSpPr>
        <p:spPr>
          <a:xfrm>
            <a:off x="6400800" y="1481328"/>
            <a:ext cx="5285232" cy="310896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34" name="s29_rb"/>
          <p:cNvSpPr/>
          <p:nvPr/>
        </p:nvSpPr>
        <p:spPr>
          <a:xfrm>
            <a:off x="6675120" y="1627632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MATRIX ROW</a:t>
            </a:r>
            <a:endParaRPr lang="en-US" sz="1050" dirty="0"/>
          </a:p>
        </p:txBody>
      </p:sp>
      <p:sp>
        <p:nvSpPr>
          <p:cNvPr id="35" name="s29_rb0"/>
          <p:cNvSpPr/>
          <p:nvPr/>
        </p:nvSpPr>
        <p:spPr>
          <a:xfrm>
            <a:off x="6675120" y="2139696"/>
            <a:ext cx="109728" cy="109728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6" name="s29_rk0"/>
          <p:cNvSpPr/>
          <p:nvPr/>
        </p:nvSpPr>
        <p:spPr>
          <a:xfrm>
            <a:off x="6894576" y="1938528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CLAUDE CODE</a:t>
            </a:r>
            <a:endParaRPr lang="en-US" sz="950" dirty="0"/>
          </a:p>
        </p:txBody>
      </p:sp>
      <p:sp>
        <p:nvSpPr>
          <p:cNvPr id="37" name="s29_rc0_sh"/>
          <p:cNvSpPr/>
          <p:nvPr/>
        </p:nvSpPr>
        <p:spPr>
          <a:xfrm>
            <a:off x="8302752" y="2075688"/>
            <a:ext cx="767730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38" name="s29_rc0"/>
          <p:cNvSpPr/>
          <p:nvPr/>
        </p:nvSpPr>
        <p:spPr>
          <a:xfrm>
            <a:off x="8275320" y="2048256"/>
            <a:ext cx="767730" cy="287528"/>
          </a:xfrm>
          <a:prstGeom prst="rect">
            <a:avLst/>
          </a:prstGeom>
          <a:solidFill>
            <a:srgbClr val="E7EEFD"/>
          </a:solidFill>
          <a:ln w="15875">
            <a:solidFill>
              <a:srgbClr val="2F6FED"/>
            </a:solidFill>
            <a:prstDash val="solid"/>
          </a:ln>
        </p:spPr>
      </p:sp>
      <p:sp>
        <p:nvSpPr>
          <p:cNvPr id="39" name="s29_rc0_t"/>
          <p:cNvSpPr/>
          <p:nvPr/>
        </p:nvSpPr>
        <p:spPr>
          <a:xfrm>
            <a:off x="8275320" y="2048256"/>
            <a:ext cx="767730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TRANSLATE</a:t>
            </a:r>
            <a:endParaRPr lang="en-US" sz="700" dirty="0"/>
          </a:p>
        </p:txBody>
      </p:sp>
      <p:sp>
        <p:nvSpPr>
          <p:cNvPr id="40" name="s29_rd0"/>
          <p:cNvSpPr/>
          <p:nvPr/>
        </p:nvSpPr>
        <p:spPr>
          <a:xfrm>
            <a:off x="9152778" y="2157984"/>
            <a:ext cx="68580" cy="68580"/>
          </a:xfrm>
          <a:prstGeom prst="rect">
            <a:avLst/>
          </a:prstGeom>
          <a:solidFill>
            <a:srgbClr val="C7CAD1"/>
          </a:solidFill>
          <a:ln/>
        </p:spPr>
      </p:sp>
      <p:sp>
        <p:nvSpPr>
          <p:cNvPr id="41" name="s29_rb1"/>
          <p:cNvSpPr/>
          <p:nvPr/>
        </p:nvSpPr>
        <p:spPr>
          <a:xfrm>
            <a:off x="6675120" y="2651760"/>
            <a:ext cx="109728" cy="109728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29_rk1"/>
          <p:cNvSpPr/>
          <p:nvPr/>
        </p:nvSpPr>
        <p:spPr>
          <a:xfrm>
            <a:off x="6894576" y="2450592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CODEX</a:t>
            </a:r>
            <a:endParaRPr lang="en-US" sz="950" dirty="0"/>
          </a:p>
        </p:txBody>
      </p:sp>
      <p:sp>
        <p:nvSpPr>
          <p:cNvPr id="43" name="s29_rc1_sh"/>
          <p:cNvSpPr/>
          <p:nvPr/>
        </p:nvSpPr>
        <p:spPr>
          <a:xfrm>
            <a:off x="8302752" y="2587752"/>
            <a:ext cx="826618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44" name="s29_rc1"/>
          <p:cNvSpPr/>
          <p:nvPr/>
        </p:nvSpPr>
        <p:spPr>
          <a:xfrm>
            <a:off x="8275320" y="2560320"/>
            <a:ext cx="826618" cy="287528"/>
          </a:xfrm>
          <a:prstGeom prst="rect">
            <a:avLst/>
          </a:prstGeom>
          <a:solidFill>
            <a:srgbClr val="EFEFEA"/>
          </a:solidFill>
          <a:ln w="15875">
            <a:solidFill>
              <a:srgbClr val="5C6068"/>
            </a:solidFill>
            <a:prstDash val="solid"/>
          </a:ln>
        </p:spPr>
      </p:sp>
      <p:sp>
        <p:nvSpPr>
          <p:cNvPr id="45" name="s29_rc1_t"/>
          <p:cNvSpPr/>
          <p:nvPr/>
        </p:nvSpPr>
        <p:spPr>
          <a:xfrm>
            <a:off x="8275320" y="2560320"/>
            <a:ext cx="826618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SURFACE</a:t>
            </a:r>
            <a:endParaRPr lang="en-US" sz="700" dirty="0"/>
          </a:p>
        </p:txBody>
      </p:sp>
      <p:sp>
        <p:nvSpPr>
          <p:cNvPr id="46" name="s29_rd1"/>
          <p:cNvSpPr/>
          <p:nvPr/>
        </p:nvSpPr>
        <p:spPr>
          <a:xfrm>
            <a:off x="9211666" y="2670048"/>
            <a:ext cx="68580" cy="68580"/>
          </a:xfrm>
          <a:prstGeom prst="rect">
            <a:avLst/>
          </a:prstGeom>
          <a:solidFill>
            <a:srgbClr val="C7CAD1"/>
          </a:solidFill>
          <a:ln/>
        </p:spPr>
      </p:sp>
      <p:sp>
        <p:nvSpPr>
          <p:cNvPr id="47" name="s29_rb2"/>
          <p:cNvSpPr/>
          <p:nvPr/>
        </p:nvSpPr>
        <p:spPr>
          <a:xfrm>
            <a:off x="6675120" y="3163824"/>
            <a:ext cx="109728" cy="109728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48" name="s29_rk2"/>
          <p:cNvSpPr/>
          <p:nvPr/>
        </p:nvSpPr>
        <p:spPr>
          <a:xfrm>
            <a:off x="6894576" y="2962656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OPENCODE</a:t>
            </a:r>
            <a:endParaRPr lang="en-US" sz="950" dirty="0"/>
          </a:p>
        </p:txBody>
      </p:sp>
      <p:sp>
        <p:nvSpPr>
          <p:cNvPr id="49" name="s29_rc2_sh"/>
          <p:cNvSpPr/>
          <p:nvPr/>
        </p:nvSpPr>
        <p:spPr>
          <a:xfrm>
            <a:off x="8302752" y="3099816"/>
            <a:ext cx="826618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50" name="s29_rc2"/>
          <p:cNvSpPr/>
          <p:nvPr/>
        </p:nvSpPr>
        <p:spPr>
          <a:xfrm>
            <a:off x="8275320" y="3072384"/>
            <a:ext cx="826618" cy="287528"/>
          </a:xfrm>
          <a:prstGeom prst="rect">
            <a:avLst/>
          </a:prstGeom>
          <a:solidFill>
            <a:srgbClr val="EFEFEA"/>
          </a:solidFill>
          <a:ln w="15875">
            <a:solidFill>
              <a:srgbClr val="5C6068"/>
            </a:solidFill>
            <a:prstDash val="solid"/>
          </a:ln>
        </p:spPr>
      </p:sp>
      <p:sp>
        <p:nvSpPr>
          <p:cNvPr id="51" name="s29_rc2_t"/>
          <p:cNvSpPr/>
          <p:nvPr/>
        </p:nvSpPr>
        <p:spPr>
          <a:xfrm>
            <a:off x="8275320" y="3072384"/>
            <a:ext cx="826618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SURFACE</a:t>
            </a:r>
            <a:endParaRPr lang="en-US" sz="700" dirty="0"/>
          </a:p>
        </p:txBody>
      </p:sp>
      <p:sp>
        <p:nvSpPr>
          <p:cNvPr id="52" name="s29_rd2"/>
          <p:cNvSpPr/>
          <p:nvPr/>
        </p:nvSpPr>
        <p:spPr>
          <a:xfrm>
            <a:off x="9211666" y="3182112"/>
            <a:ext cx="68580" cy="68580"/>
          </a:xfrm>
          <a:prstGeom prst="rect">
            <a:avLst/>
          </a:prstGeom>
          <a:solidFill>
            <a:srgbClr val="C7CAD1"/>
          </a:solidFill>
          <a:ln/>
        </p:spPr>
      </p:sp>
      <p:sp>
        <p:nvSpPr>
          <p:cNvPr id="53" name="s29_rb3"/>
          <p:cNvSpPr/>
          <p:nvPr/>
        </p:nvSpPr>
        <p:spPr>
          <a:xfrm>
            <a:off x="6675120" y="3675888"/>
            <a:ext cx="109728" cy="10972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4" name="s29_rk3"/>
          <p:cNvSpPr/>
          <p:nvPr/>
        </p:nvSpPr>
        <p:spPr>
          <a:xfrm>
            <a:off x="6894576" y="3474720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</a:t>
            </a:r>
            <a:endParaRPr lang="en-US" sz="950" dirty="0"/>
          </a:p>
        </p:txBody>
      </p:sp>
      <p:sp>
        <p:nvSpPr>
          <p:cNvPr id="55" name="s29_rc3_sh"/>
          <p:cNvSpPr/>
          <p:nvPr/>
        </p:nvSpPr>
        <p:spPr>
          <a:xfrm>
            <a:off x="8302752" y="3611880"/>
            <a:ext cx="826618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56" name="s29_rc3"/>
          <p:cNvSpPr/>
          <p:nvPr/>
        </p:nvSpPr>
        <p:spPr>
          <a:xfrm>
            <a:off x="8275320" y="3584448"/>
            <a:ext cx="826618" cy="287528"/>
          </a:xfrm>
          <a:prstGeom prst="rect">
            <a:avLst/>
          </a:prstGeom>
          <a:solidFill>
            <a:srgbClr val="EFEFEA"/>
          </a:solidFill>
          <a:ln w="15875">
            <a:solidFill>
              <a:srgbClr val="5C6068"/>
            </a:solidFill>
            <a:prstDash val="solid"/>
          </a:ln>
        </p:spPr>
      </p:sp>
      <p:sp>
        <p:nvSpPr>
          <p:cNvPr id="57" name="s29_rc3_t"/>
          <p:cNvSpPr/>
          <p:nvPr/>
        </p:nvSpPr>
        <p:spPr>
          <a:xfrm>
            <a:off x="8275320" y="3584448"/>
            <a:ext cx="826618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SURFACE</a:t>
            </a:r>
            <a:endParaRPr lang="en-US" sz="700" dirty="0"/>
          </a:p>
        </p:txBody>
      </p:sp>
      <p:sp>
        <p:nvSpPr>
          <p:cNvPr id="58" name="s29_rd3"/>
          <p:cNvSpPr/>
          <p:nvPr/>
        </p:nvSpPr>
        <p:spPr>
          <a:xfrm>
            <a:off x="9211666" y="3694176"/>
            <a:ext cx="68580" cy="68580"/>
          </a:xfrm>
          <a:prstGeom prst="rect">
            <a:avLst/>
          </a:prstGeom>
          <a:solidFill>
            <a:srgbClr val="C7CAD1"/>
          </a:solidFill>
          <a:ln/>
        </p:spPr>
      </p:sp>
      <p:sp>
        <p:nvSpPr>
          <p:cNvPr id="59" name="s29_rhr"/>
          <p:cNvSpPr/>
          <p:nvPr/>
        </p:nvSpPr>
        <p:spPr>
          <a:xfrm>
            <a:off x="6675120" y="3986784"/>
            <a:ext cx="475488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60" name="s29_rsum"/>
          <p:cNvSpPr/>
          <p:nvPr/>
        </p:nvSpPr>
        <p:spPr>
          <a:xfrm>
            <a:off x="6675120" y="4133088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translate/no-surface ×3 — Claude only, via a plugin-wrapped .lsp.json; Codex, OpenCode and Pi have no LSP surface.</a:t>
            </a:r>
            <a:endParaRPr lang="en-US" sz="950" dirty="0"/>
          </a:p>
        </p:txBody>
      </p:sp>
      <p:sp>
        <p:nvSpPr>
          <p:cNvPr id="61" name="s29_au_sh"/>
          <p:cNvSpPr/>
          <p:nvPr/>
        </p:nvSpPr>
        <p:spPr>
          <a:xfrm>
            <a:off x="6451092" y="4777740"/>
            <a:ext cx="5285232" cy="155448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62" name="s29_au"/>
          <p:cNvSpPr/>
          <p:nvPr/>
        </p:nvSpPr>
        <p:spPr>
          <a:xfrm>
            <a:off x="6400800" y="4727448"/>
            <a:ext cx="5285232" cy="1554480"/>
          </a:xfrm>
          <a:prstGeom prst="rect">
            <a:avLst/>
          </a:prstGeom>
          <a:solidFill>
            <a:srgbClr val="EFEFEA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63" name="s29_ab"/>
          <p:cNvSpPr/>
          <p:nvPr/>
        </p:nvSpPr>
        <p:spPr>
          <a:xfrm>
            <a:off x="6675120" y="4873752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AUTO-UPDATE FOR THIS SURFACE</a:t>
            </a:r>
            <a:endParaRPr lang="en-US" sz="1000" dirty="0"/>
          </a:p>
        </p:txBody>
      </p:sp>
      <p:sp>
        <p:nvSpPr>
          <p:cNvPr id="64" name="s29_at"/>
          <p:cNvSpPr/>
          <p:nvPr/>
        </p:nvSpPr>
        <p:spPr>
          <a:xfrm>
            <a:off x="6675120" y="5157216"/>
            <a:ext cx="4754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Rides the parent plugin — Claude plugin auto-update covers it; others need supported=false. The lockfile tracks the plugin version.</a:t>
            </a:r>
            <a:endParaRPr lang="en-US" sz="1000" dirty="0"/>
          </a:p>
        </p:txBody>
      </p:sp>
      <p:sp>
        <p:nvSpPr>
          <p:cNvPr id="65" name="s29_sec_sh"/>
          <p:cNvSpPr/>
          <p:nvPr/>
        </p:nvSpPr>
        <p:spPr>
          <a:xfrm>
            <a:off x="553212" y="4777740"/>
            <a:ext cx="5669280" cy="155448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66" name="s29_sec"/>
          <p:cNvSpPr/>
          <p:nvPr/>
        </p:nvSpPr>
        <p:spPr>
          <a:xfrm>
            <a:off x="502920" y="4727448"/>
            <a:ext cx="5669280" cy="1554480"/>
          </a:xfrm>
          <a:prstGeom prst="rect">
            <a:avLst/>
          </a:prstGeom>
          <a:solidFill>
            <a:srgbClr val="E7EEFD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67" name="s29_secb"/>
          <p:cNvSpPr/>
          <p:nvPr/>
        </p:nvSpPr>
        <p:spPr>
          <a:xfrm>
            <a:off x="777240" y="487375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THIS SECTION</a:t>
            </a:r>
            <a:endParaRPr lang="en-US" sz="1000" dirty="0"/>
          </a:p>
        </p:txBody>
      </p:sp>
      <p:sp>
        <p:nvSpPr>
          <p:cNvPr id="68" name="s29_sc0_sh"/>
          <p:cNvSpPr/>
          <p:nvPr/>
        </p:nvSpPr>
        <p:spPr>
          <a:xfrm>
            <a:off x="804672" y="5221224"/>
            <a:ext cx="692018" cy="3383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69" name="s29_sc0"/>
          <p:cNvSpPr/>
          <p:nvPr/>
        </p:nvSpPr>
        <p:spPr>
          <a:xfrm>
            <a:off x="777240" y="5193792"/>
            <a:ext cx="692018" cy="338328"/>
          </a:xfrm>
          <a:prstGeom prst="rect">
            <a:avLst/>
          </a:prstGeom>
          <a:solidFill>
            <a:srgbClr val="2F6FED"/>
          </a:solidFill>
          <a:ln w="17780">
            <a:solidFill>
              <a:srgbClr val="2F6FED"/>
            </a:solidFill>
            <a:prstDash val="solid"/>
          </a:ln>
        </p:spPr>
      </p:sp>
      <p:sp>
        <p:nvSpPr>
          <p:cNvPr id="70" name="s29_sc0_t"/>
          <p:cNvSpPr/>
          <p:nvPr/>
        </p:nvSpPr>
        <p:spPr>
          <a:xfrm>
            <a:off x="777240" y="5193792"/>
            <a:ext cx="69201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BANNER</a:t>
            </a:r>
            <a:endParaRPr lang="en-US" sz="900" dirty="0"/>
          </a:p>
        </p:txBody>
      </p:sp>
      <p:sp>
        <p:nvSpPr>
          <p:cNvPr id="71" name="s29_sc1_sh"/>
          <p:cNvSpPr/>
          <p:nvPr/>
        </p:nvSpPr>
        <p:spPr>
          <a:xfrm>
            <a:off x="1606418" y="5221224"/>
            <a:ext cx="919155" cy="3383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72" name="s29_sc1"/>
          <p:cNvSpPr/>
          <p:nvPr/>
        </p:nvSpPr>
        <p:spPr>
          <a:xfrm>
            <a:off x="1578986" y="5193792"/>
            <a:ext cx="919155" cy="338328"/>
          </a:xfrm>
          <a:prstGeom prst="rect">
            <a:avLst/>
          </a:prstGeom>
          <a:solidFill>
            <a:srgbClr val="FFFFFF"/>
          </a:solidFill>
          <a:ln w="17780">
            <a:solidFill>
              <a:srgbClr val="1B1D22"/>
            </a:solidFill>
            <a:prstDash val="solid"/>
          </a:ln>
        </p:spPr>
      </p:sp>
      <p:sp>
        <p:nvSpPr>
          <p:cNvPr id="73" name="s29_sc1_t"/>
          <p:cNvSpPr/>
          <p:nvPr/>
        </p:nvSpPr>
        <p:spPr>
          <a:xfrm>
            <a:off x="1578986" y="5193792"/>
            <a:ext cx="919155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STANDARDS</a:t>
            </a:r>
            <a:endParaRPr lang="en-US" sz="900" dirty="0"/>
          </a:p>
        </p:txBody>
      </p:sp>
      <p:sp>
        <p:nvSpPr>
          <p:cNvPr id="74" name="s29_sc2_sh"/>
          <p:cNvSpPr/>
          <p:nvPr/>
        </p:nvSpPr>
        <p:spPr>
          <a:xfrm>
            <a:off x="2635301" y="5221224"/>
            <a:ext cx="1297716" cy="3383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75" name="s29_sc2"/>
          <p:cNvSpPr/>
          <p:nvPr/>
        </p:nvSpPr>
        <p:spPr>
          <a:xfrm>
            <a:off x="2607869" y="5193792"/>
            <a:ext cx="1297716" cy="338328"/>
          </a:xfrm>
          <a:prstGeom prst="rect">
            <a:avLst/>
          </a:prstGeom>
          <a:solidFill>
            <a:srgbClr val="FFFFFF"/>
          </a:solidFill>
          <a:ln w="17780">
            <a:solidFill>
              <a:srgbClr val="1B1D22"/>
            </a:solidFill>
            <a:prstDash val="solid"/>
          </a:ln>
        </p:spPr>
      </p:sp>
      <p:sp>
        <p:nvSpPr>
          <p:cNvPr id="76" name="s29_sc2_t"/>
          <p:cNvSpPr/>
          <p:nvPr/>
        </p:nvSpPr>
        <p:spPr>
          <a:xfrm>
            <a:off x="2607869" y="5193792"/>
            <a:ext cx="129771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CLAUDE + CODEX</a:t>
            </a:r>
            <a:endParaRPr lang="en-US" sz="900" dirty="0"/>
          </a:p>
        </p:txBody>
      </p:sp>
      <p:sp>
        <p:nvSpPr>
          <p:cNvPr id="77" name="s29_sc3_sh"/>
          <p:cNvSpPr/>
          <p:nvPr/>
        </p:nvSpPr>
        <p:spPr>
          <a:xfrm>
            <a:off x="4042745" y="5221224"/>
            <a:ext cx="1222004" cy="3383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78" name="s29_sc3"/>
          <p:cNvSpPr/>
          <p:nvPr/>
        </p:nvSpPr>
        <p:spPr>
          <a:xfrm>
            <a:off x="4015313" y="5193792"/>
            <a:ext cx="1222004" cy="338328"/>
          </a:xfrm>
          <a:prstGeom prst="rect">
            <a:avLst/>
          </a:prstGeom>
          <a:solidFill>
            <a:srgbClr val="FFFFFF"/>
          </a:solidFill>
          <a:ln w="17780">
            <a:solidFill>
              <a:srgbClr val="1B1D22"/>
            </a:solidFill>
            <a:prstDash val="solid"/>
          </a:ln>
        </p:spPr>
      </p:sp>
      <p:sp>
        <p:nvSpPr>
          <p:cNvPr id="79" name="s29_sc3_t"/>
          <p:cNvSpPr/>
          <p:nvPr/>
        </p:nvSpPr>
        <p:spPr>
          <a:xfrm>
            <a:off x="4015313" y="5193792"/>
            <a:ext cx="122200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OPENCODE + PI</a:t>
            </a:r>
            <a:endParaRPr lang="en-US" sz="900" dirty="0"/>
          </a:p>
        </p:txBody>
      </p:sp>
      <p:sp>
        <p:nvSpPr>
          <p:cNvPr id="80" name="s29_sect"/>
          <p:cNvSpPr/>
          <p:nvPr/>
        </p:nvSpPr>
        <p:spPr>
          <a:xfrm>
            <a:off x="777240" y="5779008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 slides per surface — spec state, then the harnesses in two pairs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30_vx_v1"/>
          <p:cNvSpPr/>
          <p:nvPr/>
        </p:nvSpPr>
        <p:spPr>
          <a:xfrm>
            <a:off x="11137392" y="384048"/>
            <a:ext cx="128016" cy="12801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" name="s30_vx_v2"/>
          <p:cNvSpPr/>
          <p:nvPr/>
        </p:nvSpPr>
        <p:spPr>
          <a:xfrm>
            <a:off x="11292840" y="384048"/>
            <a:ext cx="128016" cy="12801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" name="s30_vx_v3"/>
          <p:cNvSpPr/>
          <p:nvPr/>
        </p:nvSpPr>
        <p:spPr>
          <a:xfrm>
            <a:off x="11137392" y="539496"/>
            <a:ext cx="128016" cy="128016"/>
          </a:xfrm>
          <a:prstGeom prst="rect">
            <a:avLst/>
          </a:prstGeom>
          <a:solidFill>
            <a:srgbClr val="D97706"/>
          </a:solidFill>
          <a:ln/>
        </p:spPr>
      </p:sp>
      <p:pic>
        <p:nvPicPr>
          <p:cNvPr id="5" name="s30_kick" descr="assets/sks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02336"/>
            <a:ext cx="3108960" cy="182880"/>
          </a:xfrm>
          <a:prstGeom prst="rect">
            <a:avLst/>
          </a:prstGeom>
        </p:spPr>
      </p:pic>
      <p:pic>
        <p:nvPicPr>
          <p:cNvPr id="6" name="s30_title" descr="assets/st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58368"/>
            <a:ext cx="6045490" cy="475488"/>
          </a:xfrm>
          <a:prstGeom prst="rect">
            <a:avLst/>
          </a:prstGeom>
        </p:spPr>
      </p:pic>
      <p:sp>
        <p:nvSpPr>
          <p:cNvPr id="7" name="s30_spec"/>
          <p:cNvSpPr/>
          <p:nvPr/>
        </p:nvSpPr>
        <p:spPr>
          <a:xfrm>
            <a:off x="502920" y="1216152"/>
            <a:ext cx="10469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lsp specification state — fields, rules, how the four diverge, and what the registry does about it</a:t>
            </a:r>
            <a:endParaRPr lang="en-US" sz="1100" dirty="0"/>
          </a:p>
        </p:txBody>
      </p:sp>
      <p:sp>
        <p:nvSpPr>
          <p:cNvPr id="8" name="s30_pg"/>
          <p:cNvSpPr/>
          <p:nvPr/>
        </p:nvSpPr>
        <p:spPr>
          <a:xfrm>
            <a:off x="11064240" y="648309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 / 45</a:t>
            </a:r>
            <a:endParaRPr lang="en-US" sz="950" dirty="0"/>
          </a:p>
        </p:txBody>
      </p:sp>
      <p:sp>
        <p:nvSpPr>
          <p:cNvPr id="10" name="s30_f_sh"/>
          <p:cNvSpPr/>
          <p:nvPr/>
        </p:nvSpPr>
        <p:spPr>
          <a:xfrm>
            <a:off x="553212" y="1531620"/>
            <a:ext cx="5669280" cy="416052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1" name="s30_f"/>
          <p:cNvSpPr/>
          <p:nvPr/>
        </p:nvSpPr>
        <p:spPr>
          <a:xfrm>
            <a:off x="502920" y="1481328"/>
            <a:ext cx="5669280" cy="416052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12" name="s30_fb"/>
          <p:cNvSpPr/>
          <p:nvPr/>
        </p:nvSpPr>
        <p:spPr>
          <a:xfrm>
            <a:off x="777240" y="162763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FIELDS</a:t>
            </a:r>
            <a:endParaRPr lang="en-US" sz="1050" dirty="0"/>
          </a:p>
        </p:txBody>
      </p:sp>
      <p:sp>
        <p:nvSpPr>
          <p:cNvPr id="13" name="s30_fk0"/>
          <p:cNvSpPr/>
          <p:nvPr/>
        </p:nvSpPr>
        <p:spPr>
          <a:xfrm>
            <a:off x="777240" y="1920240"/>
            <a:ext cx="14173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900" dirty="0"/>
          </a:p>
        </p:txBody>
      </p:sp>
      <p:sp>
        <p:nvSpPr>
          <p:cNvPr id="14" name="s30_fv0"/>
          <p:cNvSpPr/>
          <p:nvPr/>
        </p:nvSpPr>
        <p:spPr>
          <a:xfrm>
            <a:off x="2240280" y="1920240"/>
            <a:ext cx="365760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 in .lsp.json name→config map</a:t>
            </a:r>
            <a:endParaRPr lang="en-US" sz="850" dirty="0"/>
          </a:p>
        </p:txBody>
      </p:sp>
      <p:sp>
        <p:nvSpPr>
          <p:cNvPr id="15" name="s30_fhr0"/>
          <p:cNvSpPr/>
          <p:nvPr/>
        </p:nvSpPr>
        <p:spPr>
          <a:xfrm>
            <a:off x="777240" y="2272284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16" name="s30_fk1"/>
          <p:cNvSpPr/>
          <p:nvPr/>
        </p:nvSpPr>
        <p:spPr>
          <a:xfrm>
            <a:off x="777240" y="2272284"/>
            <a:ext cx="14173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command</a:t>
            </a:r>
            <a:endParaRPr lang="en-US" sz="900" dirty="0"/>
          </a:p>
        </p:txBody>
      </p:sp>
      <p:sp>
        <p:nvSpPr>
          <p:cNvPr id="17" name="s30_fv1"/>
          <p:cNvSpPr/>
          <p:nvPr/>
        </p:nvSpPr>
        <p:spPr>
          <a:xfrm>
            <a:off x="2240280" y="2272284"/>
            <a:ext cx="365760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language-server launch cmd + args</a:t>
            </a:r>
            <a:endParaRPr lang="en-US" sz="850" dirty="0"/>
          </a:p>
        </p:txBody>
      </p:sp>
      <p:sp>
        <p:nvSpPr>
          <p:cNvPr id="18" name="s30_fhr1"/>
          <p:cNvSpPr/>
          <p:nvPr/>
        </p:nvSpPr>
        <p:spPr>
          <a:xfrm>
            <a:off x="777240" y="2624328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19" name="s30_fk2"/>
          <p:cNvSpPr/>
          <p:nvPr/>
        </p:nvSpPr>
        <p:spPr>
          <a:xfrm>
            <a:off x="777240" y="2624328"/>
            <a:ext cx="14173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extToLang</a:t>
            </a:r>
            <a:endParaRPr lang="en-US" sz="900" dirty="0"/>
          </a:p>
        </p:txBody>
      </p:sp>
      <p:sp>
        <p:nvSpPr>
          <p:cNvPr id="20" name="s30_fv2"/>
          <p:cNvSpPr/>
          <p:nvPr/>
        </p:nvSpPr>
        <p:spPr>
          <a:xfrm>
            <a:off x="2240280" y="2624328"/>
            <a:ext cx="365760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extensionToLanguage map — required</a:t>
            </a:r>
            <a:endParaRPr lang="en-US" sz="850" dirty="0"/>
          </a:p>
        </p:txBody>
      </p:sp>
      <p:sp>
        <p:nvSpPr>
          <p:cNvPr id="21" name="s30_fhr2"/>
          <p:cNvSpPr/>
          <p:nvPr/>
        </p:nvSpPr>
        <p:spPr>
          <a:xfrm>
            <a:off x="777240" y="2976372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2" name="s30_fk3"/>
          <p:cNvSpPr/>
          <p:nvPr/>
        </p:nvSpPr>
        <p:spPr>
          <a:xfrm>
            <a:off x="777240" y="2976372"/>
            <a:ext cx="14173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lspServers</a:t>
            </a:r>
            <a:endParaRPr lang="en-US" sz="900" dirty="0"/>
          </a:p>
        </p:txBody>
      </p:sp>
      <p:sp>
        <p:nvSpPr>
          <p:cNvPr id="23" name="s30_fv3"/>
          <p:cNvSpPr/>
          <p:nvPr/>
        </p:nvSpPr>
        <p:spPr>
          <a:xfrm>
            <a:off x="2240280" y="2976372"/>
            <a:ext cx="365760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alt: plugin.json key; entries merge</a:t>
            </a:r>
            <a:endParaRPr lang="en-US" sz="850" dirty="0"/>
          </a:p>
        </p:txBody>
      </p:sp>
      <p:sp>
        <p:nvSpPr>
          <p:cNvPr id="24" name="s30_fhr3"/>
          <p:cNvSpPr/>
          <p:nvPr/>
        </p:nvSpPr>
        <p:spPr>
          <a:xfrm>
            <a:off x="777240" y="3328416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5" name="s30_fk4"/>
          <p:cNvSpPr/>
          <p:nvPr/>
        </p:nvSpPr>
        <p:spPr>
          <a:xfrm>
            <a:off x="777240" y="3328416"/>
            <a:ext cx="14173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location</a:t>
            </a:r>
            <a:endParaRPr lang="en-US" sz="900" dirty="0"/>
          </a:p>
        </p:txBody>
      </p:sp>
      <p:sp>
        <p:nvSpPr>
          <p:cNvPr id="26" name="s30_fv4"/>
          <p:cNvSpPr/>
          <p:nvPr/>
        </p:nvSpPr>
        <p:spPr>
          <a:xfrm>
            <a:off x="2240280" y="3328416"/>
            <a:ext cx="365760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plugin root only — no standalone drop</a:t>
            </a:r>
            <a:endParaRPr lang="en-US" sz="850" dirty="0"/>
          </a:p>
        </p:txBody>
      </p:sp>
      <p:sp>
        <p:nvSpPr>
          <p:cNvPr id="27" name="s30_fhr4"/>
          <p:cNvSpPr/>
          <p:nvPr/>
        </p:nvSpPr>
        <p:spPr>
          <a:xfrm>
            <a:off x="777240" y="3680460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8" name="s30_fk5"/>
          <p:cNvSpPr/>
          <p:nvPr/>
        </p:nvSpPr>
        <p:spPr>
          <a:xfrm>
            <a:off x="777240" y="3680460"/>
            <a:ext cx="14173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events</a:t>
            </a:r>
            <a:endParaRPr lang="en-US" sz="900" dirty="0"/>
          </a:p>
        </p:txBody>
      </p:sp>
      <p:sp>
        <p:nvSpPr>
          <p:cNvPr id="29" name="s30_fv5"/>
          <p:cNvSpPr/>
          <p:nvPr/>
        </p:nvSpPr>
        <p:spPr>
          <a:xfrm>
            <a:off x="2240280" y="3680460"/>
            <a:ext cx="365760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opencode: lsp.client.diagnostics/updated</a:t>
            </a:r>
            <a:endParaRPr lang="en-US" sz="850" dirty="0"/>
          </a:p>
        </p:txBody>
      </p:sp>
      <p:sp>
        <p:nvSpPr>
          <p:cNvPr id="30" name="s30_rb"/>
          <p:cNvSpPr/>
          <p:nvPr/>
        </p:nvSpPr>
        <p:spPr>
          <a:xfrm>
            <a:off x="777240" y="4114800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 RULES</a:t>
            </a:r>
            <a:endParaRPr lang="en-US" sz="900" dirty="0"/>
          </a:p>
        </p:txBody>
      </p:sp>
      <p:sp>
        <p:nvSpPr>
          <p:cNvPr id="31" name="s30_rb0"/>
          <p:cNvSpPr/>
          <p:nvPr/>
        </p:nvSpPr>
        <p:spPr>
          <a:xfrm>
            <a:off x="777240" y="4425696"/>
            <a:ext cx="82296" cy="8229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2" name="s30_rt0"/>
          <p:cNvSpPr/>
          <p:nvPr/>
        </p:nvSpPr>
        <p:spPr>
          <a:xfrm>
            <a:off x="941832" y="4379976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standard anywhere; only claude loads LSP</a:t>
            </a:r>
            <a:endParaRPr lang="en-US" sz="900" dirty="0"/>
          </a:p>
        </p:txBody>
      </p:sp>
      <p:sp>
        <p:nvSpPr>
          <p:cNvPr id="33" name="s30_rb1"/>
          <p:cNvSpPr/>
          <p:nvPr/>
        </p:nvSpPr>
        <p:spPr>
          <a:xfrm>
            <a:off x="777240" y="4727448"/>
            <a:ext cx="82296" cy="8229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4" name="s30_rt1"/>
          <p:cNvSpPr/>
          <p:nvPr/>
        </p:nvSpPr>
        <p:spPr>
          <a:xfrm>
            <a:off x="941832" y="4681728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De-facto: entry invalid without extensionToLanguage</a:t>
            </a:r>
            <a:endParaRPr lang="en-US" sz="900" dirty="0"/>
          </a:p>
        </p:txBody>
      </p:sp>
      <p:sp>
        <p:nvSpPr>
          <p:cNvPr id="35" name="s30_rb2"/>
          <p:cNvSpPr/>
          <p:nvPr/>
        </p:nvSpPr>
        <p:spPr>
          <a:xfrm>
            <a:off x="777240" y="5029200"/>
            <a:ext cx="82296" cy="8229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6" name="s30_rt2"/>
          <p:cNvSpPr/>
          <p:nvPr/>
        </p:nvSpPr>
        <p:spPr>
          <a:xfrm>
            <a:off x="941832" y="4983480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Plugin-bound surface — wrap in a plugin to ship</a:t>
            </a:r>
            <a:endParaRPr lang="en-US" sz="900" dirty="0"/>
          </a:p>
        </p:txBody>
      </p:sp>
      <p:sp>
        <p:nvSpPr>
          <p:cNvPr id="37" name="s30_rb3"/>
          <p:cNvSpPr/>
          <p:nvPr/>
        </p:nvSpPr>
        <p:spPr>
          <a:xfrm>
            <a:off x="777240" y="5330952"/>
            <a:ext cx="82296" cy="8229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8" name="s30_rt3"/>
          <p:cNvSpPr/>
          <p:nvPr/>
        </p:nvSpPr>
        <p:spPr>
          <a:xfrm>
            <a:off x="941832" y="5285232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Mark codex/opencode/pi unsupported at install</a:t>
            </a:r>
            <a:endParaRPr lang="en-US" sz="900" dirty="0"/>
          </a:p>
        </p:txBody>
      </p:sp>
      <p:sp>
        <p:nvSpPr>
          <p:cNvPr id="39" name="s30_h_sh"/>
          <p:cNvSpPr/>
          <p:nvPr/>
        </p:nvSpPr>
        <p:spPr>
          <a:xfrm>
            <a:off x="6451092" y="1531620"/>
            <a:ext cx="5285232" cy="288036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40" name="s30_h"/>
          <p:cNvSpPr/>
          <p:nvPr/>
        </p:nvSpPr>
        <p:spPr>
          <a:xfrm>
            <a:off x="6400800" y="1481328"/>
            <a:ext cx="5285232" cy="288036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41" name="s30_hb"/>
          <p:cNvSpPr/>
          <p:nvPr/>
        </p:nvSpPr>
        <p:spPr>
          <a:xfrm>
            <a:off x="6675120" y="1627632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THE FOUR IMPLEMENT IT</a:t>
            </a:r>
            <a:endParaRPr lang="en-US" sz="1050" dirty="0"/>
          </a:p>
        </p:txBody>
      </p:sp>
      <p:sp>
        <p:nvSpPr>
          <p:cNvPr id="42" name="s30_hb0"/>
          <p:cNvSpPr/>
          <p:nvPr/>
        </p:nvSpPr>
        <p:spPr>
          <a:xfrm>
            <a:off x="6675120" y="2157984"/>
            <a:ext cx="109728" cy="109728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43" name="s30_hk0"/>
          <p:cNvSpPr/>
          <p:nvPr/>
        </p:nvSpPr>
        <p:spPr>
          <a:xfrm>
            <a:off x="6894576" y="1938528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CLAUDE CODE</a:t>
            </a:r>
            <a:endParaRPr lang="en-US" sz="1000" dirty="0"/>
          </a:p>
        </p:txBody>
      </p:sp>
      <p:sp>
        <p:nvSpPr>
          <p:cNvPr id="44" name="s30_hv0"/>
          <p:cNvSpPr/>
          <p:nvPr/>
        </p:nvSpPr>
        <p:spPr>
          <a:xfrm>
            <a:off x="8275320" y="1938528"/>
            <a:ext cx="3154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Plugin .lsp.json or lspServers key (merges)</a:t>
            </a:r>
            <a:endParaRPr lang="en-US" sz="900" dirty="0"/>
          </a:p>
        </p:txBody>
      </p:sp>
      <p:sp>
        <p:nvSpPr>
          <p:cNvPr id="45" name="s30_hhr0"/>
          <p:cNvSpPr/>
          <p:nvPr/>
        </p:nvSpPr>
        <p:spPr>
          <a:xfrm>
            <a:off x="6675120" y="2505456"/>
            <a:ext cx="475488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46" name="s30_hb1"/>
          <p:cNvSpPr/>
          <p:nvPr/>
        </p:nvSpPr>
        <p:spPr>
          <a:xfrm>
            <a:off x="6675120" y="2734056"/>
            <a:ext cx="109728" cy="109728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7" name="s30_hk1"/>
          <p:cNvSpPr/>
          <p:nvPr/>
        </p:nvSpPr>
        <p:spPr>
          <a:xfrm>
            <a:off x="6894576" y="2514600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CODEX</a:t>
            </a:r>
            <a:endParaRPr lang="en-US" sz="1000" dirty="0"/>
          </a:p>
        </p:txBody>
      </p:sp>
      <p:sp>
        <p:nvSpPr>
          <p:cNvPr id="48" name="s30_hv1"/>
          <p:cNvSpPr/>
          <p:nvPr/>
        </p:nvSpPr>
        <p:spPr>
          <a:xfrm>
            <a:off x="8275320" y="2514600"/>
            <a:ext cx="3154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None — absent from docs (rust-v0.163.0)</a:t>
            </a:r>
            <a:endParaRPr lang="en-US" sz="900" dirty="0"/>
          </a:p>
        </p:txBody>
      </p:sp>
      <p:sp>
        <p:nvSpPr>
          <p:cNvPr id="49" name="s30_hhr1"/>
          <p:cNvSpPr/>
          <p:nvPr/>
        </p:nvSpPr>
        <p:spPr>
          <a:xfrm>
            <a:off x="6675120" y="3081528"/>
            <a:ext cx="475488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50" name="s30_hb2"/>
          <p:cNvSpPr/>
          <p:nvPr/>
        </p:nvSpPr>
        <p:spPr>
          <a:xfrm>
            <a:off x="6675120" y="3310128"/>
            <a:ext cx="109728" cy="109728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51" name="s30_hk2"/>
          <p:cNvSpPr/>
          <p:nvPr/>
        </p:nvSpPr>
        <p:spPr>
          <a:xfrm>
            <a:off x="6894576" y="3090672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OPENCODE</a:t>
            </a:r>
            <a:endParaRPr lang="en-US" sz="1000" dirty="0"/>
          </a:p>
        </p:txBody>
      </p:sp>
      <p:sp>
        <p:nvSpPr>
          <p:cNvPr id="52" name="s30_hv2"/>
          <p:cNvSpPr/>
          <p:nvPr/>
        </p:nvSpPr>
        <p:spPr>
          <a:xfrm>
            <a:off x="8275320" y="3090672"/>
            <a:ext cx="3154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lsp config key; shape undocumented; events only</a:t>
            </a:r>
            <a:endParaRPr lang="en-US" sz="900" dirty="0"/>
          </a:p>
        </p:txBody>
      </p:sp>
      <p:sp>
        <p:nvSpPr>
          <p:cNvPr id="53" name="s30_hhr2"/>
          <p:cNvSpPr/>
          <p:nvPr/>
        </p:nvSpPr>
        <p:spPr>
          <a:xfrm>
            <a:off x="6675120" y="3657600"/>
            <a:ext cx="475488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54" name="s30_hb3"/>
          <p:cNvSpPr/>
          <p:nvPr/>
        </p:nvSpPr>
        <p:spPr>
          <a:xfrm>
            <a:off x="6675120" y="3886200"/>
            <a:ext cx="109728" cy="10972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5" name="s30_hk3"/>
          <p:cNvSpPr/>
          <p:nvPr/>
        </p:nvSpPr>
        <p:spPr>
          <a:xfrm>
            <a:off x="6894576" y="3666744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</a:t>
            </a:r>
            <a:endParaRPr lang="en-US" sz="1000" dirty="0"/>
          </a:p>
        </p:txBody>
      </p:sp>
      <p:sp>
        <p:nvSpPr>
          <p:cNvPr id="56" name="s30_hv3"/>
          <p:cNvSpPr/>
          <p:nvPr/>
        </p:nvSpPr>
        <p:spPr>
          <a:xfrm>
            <a:off x="8275320" y="3666744"/>
            <a:ext cx="3154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None — no LSP surface in Pi 1.3.0</a:t>
            </a:r>
            <a:endParaRPr lang="en-US" sz="900" dirty="0"/>
          </a:p>
        </p:txBody>
      </p:sp>
      <p:sp>
        <p:nvSpPr>
          <p:cNvPr id="57" name="s30_st_sh"/>
          <p:cNvSpPr/>
          <p:nvPr/>
        </p:nvSpPr>
        <p:spPr>
          <a:xfrm>
            <a:off x="6451092" y="4549140"/>
            <a:ext cx="5285232" cy="114300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58" name="s30_st"/>
          <p:cNvSpPr/>
          <p:nvPr/>
        </p:nvSpPr>
        <p:spPr>
          <a:xfrm>
            <a:off x="6400800" y="4498848"/>
            <a:ext cx="5285232" cy="1143000"/>
          </a:xfrm>
          <a:prstGeom prst="rect">
            <a:avLst/>
          </a:prstGeom>
          <a:solidFill>
            <a:srgbClr val="1B1D22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59" name="s30_sb"/>
          <p:cNvSpPr/>
          <p:nvPr/>
        </p:nvSpPr>
        <p:spPr>
          <a:xfrm>
            <a:off x="6675120" y="46268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7CB0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REGISTRY STANCE</a:t>
            </a:r>
            <a:endParaRPr lang="en-US" sz="900" dirty="0"/>
          </a:p>
        </p:txBody>
      </p:sp>
      <p:sp>
        <p:nvSpPr>
          <p:cNvPr id="60" name="s30_stt"/>
          <p:cNvSpPr/>
          <p:nvPr/>
        </p:nvSpPr>
        <p:spPr>
          <a:xfrm>
            <a:off x="6675120" y="4882896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Wrap .lsp.json entries in a Claude plugin; mark three of four harnesses unsupported</a:t>
            </a:r>
            <a:endParaRPr lang="en-US" sz="1100" dirty="0"/>
          </a:p>
        </p:txBody>
      </p:sp>
      <p:sp>
        <p:nvSpPr>
          <p:cNvPr id="61" name="s30_g_sh"/>
          <p:cNvSpPr/>
          <p:nvPr/>
        </p:nvSpPr>
        <p:spPr>
          <a:xfrm>
            <a:off x="553212" y="5829300"/>
            <a:ext cx="11183112" cy="65836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62" name="s30_g"/>
          <p:cNvSpPr/>
          <p:nvPr/>
        </p:nvSpPr>
        <p:spPr>
          <a:xfrm>
            <a:off x="502920" y="5779008"/>
            <a:ext cx="11183112" cy="658368"/>
          </a:xfrm>
          <a:prstGeom prst="rect">
            <a:avLst/>
          </a:prstGeom>
          <a:solidFill>
            <a:srgbClr val="EFEFEA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63" name="s30_gt"/>
          <p:cNvSpPr/>
          <p:nvPr/>
        </p:nvSpPr>
        <p:spPr>
          <a:xfrm>
            <a:off x="777240" y="5852160"/>
            <a:ext cx="10607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GAPS THE REGISTRY OWNS — Single-vendor surface; nothing portable yet  ·  OpenCode lsp key undocumented — no schema  ·  No versioning or discovery for LSP bundles</a:t>
            </a:r>
            <a:endParaRPr lang="en-US" sz="9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31_vx_v1"/>
          <p:cNvSpPr/>
          <p:nvPr/>
        </p:nvSpPr>
        <p:spPr>
          <a:xfrm>
            <a:off x="11137392" y="384048"/>
            <a:ext cx="128016" cy="12801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" name="s31_vx_v2"/>
          <p:cNvSpPr/>
          <p:nvPr/>
        </p:nvSpPr>
        <p:spPr>
          <a:xfrm>
            <a:off x="11292840" y="384048"/>
            <a:ext cx="128016" cy="12801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" name="s31_vx_v3"/>
          <p:cNvSpPr/>
          <p:nvPr/>
        </p:nvSpPr>
        <p:spPr>
          <a:xfrm>
            <a:off x="11137392" y="539496"/>
            <a:ext cx="128016" cy="128016"/>
          </a:xfrm>
          <a:prstGeom prst="rect">
            <a:avLst/>
          </a:prstGeom>
          <a:solidFill>
            <a:srgbClr val="D97706"/>
          </a:solidFill>
          <a:ln/>
        </p:spPr>
      </p:sp>
      <p:pic>
        <p:nvPicPr>
          <p:cNvPr id="5" name="s31_kick" descr="assets/skc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02336"/>
            <a:ext cx="4676503" cy="182880"/>
          </a:xfrm>
          <a:prstGeom prst="rect">
            <a:avLst/>
          </a:prstGeom>
        </p:spPr>
      </p:pic>
      <p:pic>
        <p:nvPicPr>
          <p:cNvPr id="6" name="s31_title" descr="assets/srf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58368"/>
            <a:ext cx="1154757" cy="475488"/>
          </a:xfrm>
          <a:prstGeom prst="rect">
            <a:avLst/>
          </a:prstGeom>
        </p:spPr>
      </p:pic>
      <p:sp>
        <p:nvSpPr>
          <p:cNvPr id="7" name="s31_spec"/>
          <p:cNvSpPr/>
          <p:nvPr/>
        </p:nvSpPr>
        <p:spPr>
          <a:xfrm>
            <a:off x="502920" y="1216152"/>
            <a:ext cx="10469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LSP in claude code + codex — the two most popular first</a:t>
            </a:r>
            <a:endParaRPr lang="en-US" sz="1100" dirty="0"/>
          </a:p>
        </p:txBody>
      </p:sp>
      <p:sp>
        <p:nvSpPr>
          <p:cNvPr id="8" name="s31_pg"/>
          <p:cNvSpPr/>
          <p:nvPr/>
        </p:nvSpPr>
        <p:spPr>
          <a:xfrm>
            <a:off x="11064240" y="648309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31 / 45</a:t>
            </a:r>
            <a:endParaRPr lang="en-US" sz="950" dirty="0"/>
          </a:p>
        </p:txBody>
      </p:sp>
      <p:sp>
        <p:nvSpPr>
          <p:cNvPr id="10" name="s31_c0_sh"/>
          <p:cNvSpPr/>
          <p:nvPr/>
        </p:nvSpPr>
        <p:spPr>
          <a:xfrm>
            <a:off x="553212" y="1531620"/>
            <a:ext cx="5477256" cy="489204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1" name="s31_c0"/>
          <p:cNvSpPr/>
          <p:nvPr/>
        </p:nvSpPr>
        <p:spPr>
          <a:xfrm>
            <a:off x="502920" y="1481328"/>
            <a:ext cx="5477256" cy="489204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12" name="s31_c0_sq"/>
          <p:cNvSpPr/>
          <p:nvPr/>
        </p:nvSpPr>
        <p:spPr>
          <a:xfrm>
            <a:off x="731520" y="1673352"/>
            <a:ext cx="137160" cy="13716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3" name="s31_c0_topic"/>
          <p:cNvSpPr/>
          <p:nvPr/>
        </p:nvSpPr>
        <p:spPr>
          <a:xfrm>
            <a:off x="960120" y="1609344"/>
            <a:ext cx="38723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50" kern="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LSP</a:t>
            </a:r>
            <a:endParaRPr lang="en-US" sz="1300" dirty="0"/>
          </a:p>
        </p:txBody>
      </p:sp>
      <p:sp>
        <p:nvSpPr>
          <p:cNvPr id="14" name="s31_c0_vc_sh"/>
          <p:cNvSpPr/>
          <p:nvPr/>
        </p:nvSpPr>
        <p:spPr>
          <a:xfrm>
            <a:off x="4887285" y="1636776"/>
            <a:ext cx="919155" cy="3383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5" name="s31_c0_vc"/>
          <p:cNvSpPr/>
          <p:nvPr/>
        </p:nvSpPr>
        <p:spPr>
          <a:xfrm>
            <a:off x="4859853" y="1609344"/>
            <a:ext cx="919155" cy="338328"/>
          </a:xfrm>
          <a:prstGeom prst="rect">
            <a:avLst/>
          </a:prstGeom>
          <a:solidFill>
            <a:srgbClr val="E7EEFD"/>
          </a:solidFill>
          <a:ln w="15875">
            <a:solidFill>
              <a:srgbClr val="2F6FED"/>
            </a:solidFill>
            <a:prstDash val="solid"/>
          </a:ln>
        </p:spPr>
      </p:sp>
      <p:sp>
        <p:nvSpPr>
          <p:cNvPr id="16" name="s31_c0_vc_t"/>
          <p:cNvSpPr/>
          <p:nvPr/>
        </p:nvSpPr>
        <p:spPr>
          <a:xfrm>
            <a:off x="4859853" y="1609344"/>
            <a:ext cx="919155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TRANSLATE</a:t>
            </a:r>
            <a:endParaRPr lang="en-US" sz="900" dirty="0"/>
          </a:p>
        </p:txBody>
      </p:sp>
      <p:sp>
        <p:nvSpPr>
          <p:cNvPr id="17" name="s31_c0_why"/>
          <p:cNvSpPr/>
          <p:nvPr/>
        </p:nvSpPr>
        <p:spPr>
          <a:xfrm>
            <a:off x="731520" y="2011680"/>
            <a:ext cx="5020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i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bare .lsp.json → must wrap in a plugin</a:t>
            </a:r>
            <a:endParaRPr lang="en-US" sz="850" dirty="0"/>
          </a:p>
        </p:txBody>
      </p:sp>
      <p:sp>
        <p:nvSpPr>
          <p:cNvPr id="18" name="s31_c0_what"/>
          <p:cNvSpPr/>
          <p:nvPr/>
        </p:nvSpPr>
        <p:spPr>
          <a:xfrm>
            <a:off x="731520" y="2340864"/>
            <a:ext cx="5020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Language servers bundled in plugins to add code-aware tools</a:t>
            </a:r>
            <a:endParaRPr lang="en-US" sz="1050" dirty="0"/>
          </a:p>
        </p:txBody>
      </p:sp>
      <p:sp>
        <p:nvSpPr>
          <p:cNvPr id="19" name="s31_c0_hr1"/>
          <p:cNvSpPr/>
          <p:nvPr/>
        </p:nvSpPr>
        <p:spPr>
          <a:xfrm>
            <a:off x="731520" y="2798064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0" name="s31_c0_k0"/>
          <p:cNvSpPr/>
          <p:nvPr/>
        </p:nvSpPr>
        <p:spPr>
          <a:xfrm>
            <a:off x="731520" y="2852928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</a:t>
            </a:r>
            <a:endParaRPr lang="en-US" sz="850" dirty="0"/>
          </a:p>
        </p:txBody>
      </p:sp>
      <p:sp>
        <p:nvSpPr>
          <p:cNvPr id="21" name="s31_c0_v0"/>
          <p:cNvSpPr/>
          <p:nvPr/>
        </p:nvSpPr>
        <p:spPr>
          <a:xfrm>
            <a:off x="1883664" y="2852928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plugin root only: .lsp.json or plugin.json lspServers</a:t>
            </a:r>
            <a:endParaRPr lang="en-US" sz="900" dirty="0"/>
          </a:p>
        </p:txBody>
      </p:sp>
      <p:sp>
        <p:nvSpPr>
          <p:cNvPr id="22" name="s31_c0_hr2"/>
          <p:cNvSpPr/>
          <p:nvPr/>
        </p:nvSpPr>
        <p:spPr>
          <a:xfrm>
            <a:off x="731520" y="3273552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3" name="s31_c0_k1"/>
          <p:cNvSpPr/>
          <p:nvPr/>
        </p:nvSpPr>
        <p:spPr>
          <a:xfrm>
            <a:off x="731520" y="3273552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FORMAT</a:t>
            </a:r>
            <a:endParaRPr lang="en-US" sz="850" dirty="0"/>
          </a:p>
        </p:txBody>
      </p:sp>
      <p:sp>
        <p:nvSpPr>
          <p:cNvPr id="24" name="s31_c0_v1"/>
          <p:cNvSpPr/>
          <p:nvPr/>
        </p:nvSpPr>
        <p:spPr>
          <a:xfrm>
            <a:off x="1883664" y="3273552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.lsp.json name→config map; requires extensionToLanguage</a:t>
            </a:r>
            <a:endParaRPr lang="en-US" sz="900" dirty="0"/>
          </a:p>
        </p:txBody>
      </p:sp>
      <p:sp>
        <p:nvSpPr>
          <p:cNvPr id="25" name="s31_c0_hr3"/>
          <p:cNvSpPr/>
          <p:nvPr/>
        </p:nvSpPr>
        <p:spPr>
          <a:xfrm>
            <a:off x="731520" y="3694176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6" name="s31_c0_k2"/>
          <p:cNvSpPr/>
          <p:nvPr/>
        </p:nvSpPr>
        <p:spPr>
          <a:xfrm>
            <a:off x="731520" y="3694176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</a:t>
            </a:r>
            <a:endParaRPr lang="en-US" sz="850" dirty="0"/>
          </a:p>
        </p:txBody>
      </p:sp>
      <p:sp>
        <p:nvSpPr>
          <p:cNvPr id="27" name="s31_c0_v2"/>
          <p:cNvSpPr/>
          <p:nvPr/>
        </p:nvSpPr>
        <p:spPr>
          <a:xfrm>
            <a:off x="1883664" y="3694176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none — bundle in plugin; rides plugin install</a:t>
            </a:r>
            <a:endParaRPr lang="en-US" sz="900" dirty="0"/>
          </a:p>
        </p:txBody>
      </p:sp>
      <p:sp>
        <p:nvSpPr>
          <p:cNvPr id="28" name="s31_c0_hr4"/>
          <p:cNvSpPr/>
          <p:nvPr/>
        </p:nvSpPr>
        <p:spPr>
          <a:xfrm>
            <a:off x="731520" y="4114800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9" name="s31_c0_k3"/>
          <p:cNvSpPr/>
          <p:nvPr/>
        </p:nvSpPr>
        <p:spPr>
          <a:xfrm>
            <a:off x="731520" y="4114800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AUTO-UPDATE</a:t>
            </a:r>
            <a:endParaRPr lang="en-US" sz="850" dirty="0"/>
          </a:p>
        </p:txBody>
      </p:sp>
      <p:sp>
        <p:nvSpPr>
          <p:cNvPr id="30" name="s31_c0_v3"/>
          <p:cNvSpPr/>
          <p:nvPr/>
        </p:nvSpPr>
        <p:spPr>
          <a:xfrm>
            <a:off x="1883664" y="4114800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Rides parent plugin: no own path; plugin auto-update covers it</a:t>
            </a:r>
            <a:endParaRPr lang="en-US" sz="900" dirty="0"/>
          </a:p>
        </p:txBody>
      </p:sp>
      <p:sp>
        <p:nvSpPr>
          <p:cNvPr id="31" name="s31_c0_emp"/>
          <p:cNvSpPr/>
          <p:nvPr/>
        </p:nvSpPr>
        <p:spPr>
          <a:xfrm>
            <a:off x="704088" y="4626864"/>
            <a:ext cx="5074920" cy="1581912"/>
          </a:xfrm>
          <a:prstGeom prst="rect">
            <a:avLst/>
          </a:prstGeom>
          <a:solidFill>
            <a:srgbClr val="FBEEDD"/>
          </a:solidFill>
          <a:ln/>
        </p:spPr>
      </p:sp>
      <p:sp>
        <p:nvSpPr>
          <p:cNvPr id="32" name="s31_c0_emb"/>
          <p:cNvSpPr/>
          <p:nvPr/>
        </p:nvSpPr>
        <p:spPr>
          <a:xfrm>
            <a:off x="886968" y="4736592"/>
            <a:ext cx="4709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spc="200" kern="0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REGISTRY EMISSION</a:t>
            </a:r>
            <a:endParaRPr lang="en-US" sz="800" dirty="0"/>
          </a:p>
        </p:txBody>
      </p:sp>
      <p:sp>
        <p:nvSpPr>
          <p:cNvPr id="33" name="s31_c0_em"/>
          <p:cNvSpPr/>
          <p:nvPr/>
        </p:nvSpPr>
        <p:spPr>
          <a:xfrm>
            <a:off x="886968" y="4956048"/>
            <a:ext cx="470916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emit: plugin bundle carrying root .lsp.json</a:t>
            </a:r>
            <a:endParaRPr lang="en-US" sz="9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every entry needs extensionToLanguage</a:t>
            </a:r>
            <a:endParaRPr lang="en-US" sz="9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alt: plugin.json lspServers key (merges)</a:t>
            </a:r>
            <a:endParaRPr lang="en-US" sz="900" dirty="0"/>
          </a:p>
        </p:txBody>
      </p:sp>
      <p:sp>
        <p:nvSpPr>
          <p:cNvPr id="34" name="s31_c1_sh"/>
          <p:cNvSpPr/>
          <p:nvPr/>
        </p:nvSpPr>
        <p:spPr>
          <a:xfrm>
            <a:off x="6259068" y="1531620"/>
            <a:ext cx="5477256" cy="489204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35" name="s31_c1"/>
          <p:cNvSpPr/>
          <p:nvPr/>
        </p:nvSpPr>
        <p:spPr>
          <a:xfrm>
            <a:off x="6208776" y="1481328"/>
            <a:ext cx="5477256" cy="489204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36" name="s31_c1_sq"/>
          <p:cNvSpPr/>
          <p:nvPr/>
        </p:nvSpPr>
        <p:spPr>
          <a:xfrm>
            <a:off x="6437376" y="1673352"/>
            <a:ext cx="137160" cy="13716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7" name="s31_c1_topic"/>
          <p:cNvSpPr/>
          <p:nvPr/>
        </p:nvSpPr>
        <p:spPr>
          <a:xfrm>
            <a:off x="6665976" y="1609344"/>
            <a:ext cx="37965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50" kern="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LSP</a:t>
            </a:r>
            <a:endParaRPr lang="en-US" sz="1300" dirty="0"/>
          </a:p>
        </p:txBody>
      </p:sp>
      <p:sp>
        <p:nvSpPr>
          <p:cNvPr id="38" name="s31_c1_vc_sh"/>
          <p:cNvSpPr/>
          <p:nvPr/>
        </p:nvSpPr>
        <p:spPr>
          <a:xfrm>
            <a:off x="10517429" y="1636776"/>
            <a:ext cx="994867" cy="3383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39" name="s31_c1_vc"/>
          <p:cNvSpPr/>
          <p:nvPr/>
        </p:nvSpPr>
        <p:spPr>
          <a:xfrm>
            <a:off x="10489997" y="1609344"/>
            <a:ext cx="994867" cy="338328"/>
          </a:xfrm>
          <a:prstGeom prst="rect">
            <a:avLst/>
          </a:prstGeom>
          <a:solidFill>
            <a:srgbClr val="EFEFEA"/>
          </a:solidFill>
          <a:ln w="15875">
            <a:solidFill>
              <a:srgbClr val="5C6068"/>
            </a:solidFill>
            <a:prstDash val="solid"/>
          </a:ln>
        </p:spPr>
      </p:sp>
      <p:sp>
        <p:nvSpPr>
          <p:cNvPr id="40" name="s31_c1_vc_t"/>
          <p:cNvSpPr/>
          <p:nvPr/>
        </p:nvSpPr>
        <p:spPr>
          <a:xfrm>
            <a:off x="10489997" y="1609344"/>
            <a:ext cx="99486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SURFACE</a:t>
            </a:r>
            <a:endParaRPr lang="en-US" sz="900" dirty="0"/>
          </a:p>
        </p:txBody>
      </p:sp>
      <p:sp>
        <p:nvSpPr>
          <p:cNvPr id="41" name="s31_c1_why"/>
          <p:cNvSpPr/>
          <p:nvPr/>
        </p:nvSpPr>
        <p:spPr>
          <a:xfrm>
            <a:off x="6437376" y="2011680"/>
            <a:ext cx="5020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i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absent from codex.md as of rust-v0.163.0, 2026-10</a:t>
            </a:r>
            <a:endParaRPr lang="en-US" sz="850" dirty="0"/>
          </a:p>
        </p:txBody>
      </p:sp>
      <p:sp>
        <p:nvSpPr>
          <p:cNvPr id="42" name="s31_c1_what"/>
          <p:cNvSpPr/>
          <p:nvPr/>
        </p:nvSpPr>
        <p:spPr>
          <a:xfrm>
            <a:off x="6437376" y="2340864"/>
            <a:ext cx="5020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language-server surface — LSP absent from Codex docs entirely.</a:t>
            </a:r>
            <a:endParaRPr lang="en-US" sz="1050" dirty="0"/>
          </a:p>
        </p:txBody>
      </p:sp>
      <p:sp>
        <p:nvSpPr>
          <p:cNvPr id="43" name="s31_c1_hr1"/>
          <p:cNvSpPr/>
          <p:nvPr/>
        </p:nvSpPr>
        <p:spPr>
          <a:xfrm>
            <a:off x="6437376" y="2798064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44" name="s31_c1_k0"/>
          <p:cNvSpPr/>
          <p:nvPr/>
        </p:nvSpPr>
        <p:spPr>
          <a:xfrm>
            <a:off x="6437376" y="2852928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</a:t>
            </a:r>
            <a:endParaRPr lang="en-US" sz="850" dirty="0"/>
          </a:p>
        </p:txBody>
      </p:sp>
      <p:sp>
        <p:nvSpPr>
          <p:cNvPr id="45" name="s31_c1_v0"/>
          <p:cNvSpPr/>
          <p:nvPr/>
        </p:nvSpPr>
        <p:spPr>
          <a:xfrm>
            <a:off x="7589520" y="2852928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—</a:t>
            </a:r>
            <a:endParaRPr lang="en-US" sz="900" dirty="0"/>
          </a:p>
        </p:txBody>
      </p:sp>
      <p:sp>
        <p:nvSpPr>
          <p:cNvPr id="46" name="s31_c1_hr2"/>
          <p:cNvSpPr/>
          <p:nvPr/>
        </p:nvSpPr>
        <p:spPr>
          <a:xfrm>
            <a:off x="6437376" y="3273552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47" name="s31_c1_k1"/>
          <p:cNvSpPr/>
          <p:nvPr/>
        </p:nvSpPr>
        <p:spPr>
          <a:xfrm>
            <a:off x="6437376" y="3273552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FORMAT</a:t>
            </a:r>
            <a:endParaRPr lang="en-US" sz="850" dirty="0"/>
          </a:p>
        </p:txBody>
      </p:sp>
      <p:sp>
        <p:nvSpPr>
          <p:cNvPr id="48" name="s31_c1_v1"/>
          <p:cNvSpPr/>
          <p:nvPr/>
        </p:nvSpPr>
        <p:spPr>
          <a:xfrm>
            <a:off x="7589520" y="3273552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—</a:t>
            </a:r>
            <a:endParaRPr lang="en-US" sz="900" dirty="0"/>
          </a:p>
        </p:txBody>
      </p:sp>
      <p:sp>
        <p:nvSpPr>
          <p:cNvPr id="49" name="s31_c1_hr3"/>
          <p:cNvSpPr/>
          <p:nvPr/>
        </p:nvSpPr>
        <p:spPr>
          <a:xfrm>
            <a:off x="6437376" y="3694176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50" name="s31_c1_k2"/>
          <p:cNvSpPr/>
          <p:nvPr/>
        </p:nvSpPr>
        <p:spPr>
          <a:xfrm>
            <a:off x="6437376" y="3694176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</a:t>
            </a:r>
            <a:endParaRPr lang="en-US" sz="850" dirty="0"/>
          </a:p>
        </p:txBody>
      </p:sp>
      <p:sp>
        <p:nvSpPr>
          <p:cNvPr id="51" name="s31_c1_v2"/>
          <p:cNvSpPr/>
          <p:nvPr/>
        </p:nvSpPr>
        <p:spPr>
          <a:xfrm>
            <a:off x="7589520" y="3694176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—</a:t>
            </a:r>
            <a:endParaRPr lang="en-US" sz="900" dirty="0"/>
          </a:p>
        </p:txBody>
      </p:sp>
      <p:sp>
        <p:nvSpPr>
          <p:cNvPr id="52" name="s31_c1_hr4"/>
          <p:cNvSpPr/>
          <p:nvPr/>
        </p:nvSpPr>
        <p:spPr>
          <a:xfrm>
            <a:off x="6437376" y="4114800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53" name="s31_c1_k3"/>
          <p:cNvSpPr/>
          <p:nvPr/>
        </p:nvSpPr>
        <p:spPr>
          <a:xfrm>
            <a:off x="6437376" y="4114800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AUTO-UPDATE</a:t>
            </a:r>
            <a:endParaRPr lang="en-US" sz="850" dirty="0"/>
          </a:p>
        </p:txBody>
      </p:sp>
      <p:sp>
        <p:nvSpPr>
          <p:cNvPr id="54" name="s31_c1_v3"/>
          <p:cNvSpPr/>
          <p:nvPr/>
        </p:nvSpPr>
        <p:spPr>
          <a:xfrm>
            <a:off x="7589520" y="4114800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N/A — no artifact exists to update.</a:t>
            </a:r>
            <a:endParaRPr lang="en-US" sz="900" dirty="0"/>
          </a:p>
        </p:txBody>
      </p:sp>
      <p:sp>
        <p:nvSpPr>
          <p:cNvPr id="55" name="s31_c1_emp"/>
          <p:cNvSpPr/>
          <p:nvPr/>
        </p:nvSpPr>
        <p:spPr>
          <a:xfrm>
            <a:off x="6409944" y="4626864"/>
            <a:ext cx="5074920" cy="1581912"/>
          </a:xfrm>
          <a:prstGeom prst="rect">
            <a:avLst/>
          </a:prstGeom>
          <a:solidFill>
            <a:srgbClr val="E5F5EA"/>
          </a:solidFill>
          <a:ln/>
        </p:spPr>
      </p:sp>
      <p:sp>
        <p:nvSpPr>
          <p:cNvPr id="56" name="s31_c1_emb"/>
          <p:cNvSpPr/>
          <p:nvPr/>
        </p:nvSpPr>
        <p:spPr>
          <a:xfrm>
            <a:off x="6592824" y="4736592"/>
            <a:ext cx="4709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spc="200" kern="0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REGISTRY EMISSION</a:t>
            </a:r>
            <a:endParaRPr lang="en-US" sz="800" dirty="0"/>
          </a:p>
        </p:txBody>
      </p:sp>
      <p:sp>
        <p:nvSpPr>
          <p:cNvPr id="57" name="s31_c1_em"/>
          <p:cNvSpPr/>
          <p:nvPr/>
        </p:nvSpPr>
        <p:spPr>
          <a:xfrm>
            <a:off x="6592824" y="4956048"/>
            <a:ext cx="470916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compat.harnesses.codex.supported = false</a:t>
            </a:r>
            <a:endParaRPr lang="en-US" sz="9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surfaces: [] · via: []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32_vx_v1"/>
          <p:cNvSpPr/>
          <p:nvPr/>
        </p:nvSpPr>
        <p:spPr>
          <a:xfrm>
            <a:off x="11137392" y="384048"/>
            <a:ext cx="128016" cy="12801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" name="s32_vx_v2"/>
          <p:cNvSpPr/>
          <p:nvPr/>
        </p:nvSpPr>
        <p:spPr>
          <a:xfrm>
            <a:off x="11292840" y="384048"/>
            <a:ext cx="128016" cy="12801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" name="s32_vx_v3"/>
          <p:cNvSpPr/>
          <p:nvPr/>
        </p:nvSpPr>
        <p:spPr>
          <a:xfrm>
            <a:off x="11137392" y="539496"/>
            <a:ext cx="128016" cy="128016"/>
          </a:xfrm>
          <a:prstGeom prst="rect">
            <a:avLst/>
          </a:prstGeom>
          <a:solidFill>
            <a:srgbClr val="D97706"/>
          </a:solidFill>
          <a:ln/>
        </p:spPr>
      </p:sp>
      <p:pic>
        <p:nvPicPr>
          <p:cNvPr id="5" name="s32_kick" descr="assets/sko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02336"/>
            <a:ext cx="4519749" cy="182880"/>
          </a:xfrm>
          <a:prstGeom prst="rect">
            <a:avLst/>
          </a:prstGeom>
        </p:spPr>
      </p:pic>
      <p:pic>
        <p:nvPicPr>
          <p:cNvPr id="6" name="s32_title" descr="assets/srf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58368"/>
            <a:ext cx="1154757" cy="475488"/>
          </a:xfrm>
          <a:prstGeom prst="rect">
            <a:avLst/>
          </a:prstGeom>
        </p:spPr>
      </p:pic>
      <p:sp>
        <p:nvSpPr>
          <p:cNvPr id="7" name="s32_spec"/>
          <p:cNvSpPr/>
          <p:nvPr/>
        </p:nvSpPr>
        <p:spPr>
          <a:xfrm>
            <a:off x="502920" y="1216152"/>
            <a:ext cx="10469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LSP in opencode + pi</a:t>
            </a:r>
            <a:endParaRPr lang="en-US" sz="1100" dirty="0"/>
          </a:p>
        </p:txBody>
      </p:sp>
      <p:sp>
        <p:nvSpPr>
          <p:cNvPr id="8" name="s32_pg"/>
          <p:cNvSpPr/>
          <p:nvPr/>
        </p:nvSpPr>
        <p:spPr>
          <a:xfrm>
            <a:off x="11064240" y="648309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32 / 45</a:t>
            </a:r>
            <a:endParaRPr lang="en-US" sz="950" dirty="0"/>
          </a:p>
        </p:txBody>
      </p:sp>
      <p:sp>
        <p:nvSpPr>
          <p:cNvPr id="10" name="s32_c0_sh"/>
          <p:cNvSpPr/>
          <p:nvPr/>
        </p:nvSpPr>
        <p:spPr>
          <a:xfrm>
            <a:off x="553212" y="1531620"/>
            <a:ext cx="5477256" cy="489204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1" name="s32_c0"/>
          <p:cNvSpPr/>
          <p:nvPr/>
        </p:nvSpPr>
        <p:spPr>
          <a:xfrm>
            <a:off x="502920" y="1481328"/>
            <a:ext cx="5477256" cy="489204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12" name="s32_c0_sq"/>
          <p:cNvSpPr/>
          <p:nvPr/>
        </p:nvSpPr>
        <p:spPr>
          <a:xfrm>
            <a:off x="731520" y="1673352"/>
            <a:ext cx="137160" cy="137160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13" name="s32_c0_topic"/>
          <p:cNvSpPr/>
          <p:nvPr/>
        </p:nvSpPr>
        <p:spPr>
          <a:xfrm>
            <a:off x="960120" y="1609344"/>
            <a:ext cx="37965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50" kern="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LSP</a:t>
            </a:r>
            <a:endParaRPr lang="en-US" sz="1300" dirty="0"/>
          </a:p>
        </p:txBody>
      </p:sp>
      <p:sp>
        <p:nvSpPr>
          <p:cNvPr id="14" name="s32_c0_vc_sh"/>
          <p:cNvSpPr/>
          <p:nvPr/>
        </p:nvSpPr>
        <p:spPr>
          <a:xfrm>
            <a:off x="4811573" y="1636776"/>
            <a:ext cx="994867" cy="3383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5" name="s32_c0_vc"/>
          <p:cNvSpPr/>
          <p:nvPr/>
        </p:nvSpPr>
        <p:spPr>
          <a:xfrm>
            <a:off x="4784141" y="1609344"/>
            <a:ext cx="994867" cy="338328"/>
          </a:xfrm>
          <a:prstGeom prst="rect">
            <a:avLst/>
          </a:prstGeom>
          <a:solidFill>
            <a:srgbClr val="EFEFEA"/>
          </a:solidFill>
          <a:ln w="15875">
            <a:solidFill>
              <a:srgbClr val="5C6068"/>
            </a:solidFill>
            <a:prstDash val="solid"/>
          </a:ln>
        </p:spPr>
      </p:sp>
      <p:sp>
        <p:nvSpPr>
          <p:cNvPr id="16" name="s32_c0_vc_t"/>
          <p:cNvSpPr/>
          <p:nvPr/>
        </p:nvSpPr>
        <p:spPr>
          <a:xfrm>
            <a:off x="4784141" y="1609344"/>
            <a:ext cx="99486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SURFACE</a:t>
            </a:r>
            <a:endParaRPr lang="en-US" sz="900" dirty="0"/>
          </a:p>
        </p:txBody>
      </p:sp>
      <p:sp>
        <p:nvSpPr>
          <p:cNvPr id="17" name="s32_c0_why"/>
          <p:cNvSpPr/>
          <p:nvPr/>
        </p:nvSpPr>
        <p:spPr>
          <a:xfrm>
            <a:off x="731520" y="2011680"/>
            <a:ext cx="5020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i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config-key-only; no registration schema</a:t>
            </a:r>
            <a:endParaRPr lang="en-US" sz="850" dirty="0"/>
          </a:p>
        </p:txBody>
      </p:sp>
      <p:sp>
        <p:nvSpPr>
          <p:cNvPr id="18" name="s32_c0_what"/>
          <p:cNvSpPr/>
          <p:nvPr/>
        </p:nvSpPr>
        <p:spPr>
          <a:xfrm>
            <a:off x="731520" y="2340864"/>
            <a:ext cx="5020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Language-server support: just a config key and plugin events</a:t>
            </a:r>
            <a:endParaRPr lang="en-US" sz="1050" dirty="0"/>
          </a:p>
        </p:txBody>
      </p:sp>
      <p:sp>
        <p:nvSpPr>
          <p:cNvPr id="19" name="s32_c0_hr1"/>
          <p:cNvSpPr/>
          <p:nvPr/>
        </p:nvSpPr>
        <p:spPr>
          <a:xfrm>
            <a:off x="731520" y="2798064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0" name="s32_c0_k0"/>
          <p:cNvSpPr/>
          <p:nvPr/>
        </p:nvSpPr>
        <p:spPr>
          <a:xfrm>
            <a:off x="731520" y="2852928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</a:t>
            </a:r>
            <a:endParaRPr lang="en-US" sz="850" dirty="0"/>
          </a:p>
        </p:txBody>
      </p:sp>
      <p:sp>
        <p:nvSpPr>
          <p:cNvPr id="21" name="s32_c0_v0"/>
          <p:cNvSpPr/>
          <p:nvPr/>
        </p:nvSpPr>
        <p:spPr>
          <a:xfrm>
            <a:off x="1883664" y="2852928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config lsp key · plugin events only</a:t>
            </a:r>
            <a:endParaRPr lang="en-US" sz="900" dirty="0"/>
          </a:p>
        </p:txBody>
      </p:sp>
      <p:sp>
        <p:nvSpPr>
          <p:cNvPr id="22" name="s32_c0_hr2"/>
          <p:cNvSpPr/>
          <p:nvPr/>
        </p:nvSpPr>
        <p:spPr>
          <a:xfrm>
            <a:off x="731520" y="3273552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3" name="s32_c0_k1"/>
          <p:cNvSpPr/>
          <p:nvPr/>
        </p:nvSpPr>
        <p:spPr>
          <a:xfrm>
            <a:off x="731520" y="3273552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FORMAT</a:t>
            </a:r>
            <a:endParaRPr lang="en-US" sz="850" dirty="0"/>
          </a:p>
        </p:txBody>
      </p:sp>
      <p:sp>
        <p:nvSpPr>
          <p:cNvPr id="24" name="s32_c0_v1"/>
          <p:cNvSpPr/>
          <p:nvPr/>
        </p:nvSpPr>
        <p:spPr>
          <a:xfrm>
            <a:off x="1883664" y="3273552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none documented — lsp key shape unspecified</a:t>
            </a:r>
            <a:endParaRPr lang="en-US" sz="900" dirty="0"/>
          </a:p>
        </p:txBody>
      </p:sp>
      <p:sp>
        <p:nvSpPr>
          <p:cNvPr id="25" name="s32_c0_hr3"/>
          <p:cNvSpPr/>
          <p:nvPr/>
        </p:nvSpPr>
        <p:spPr>
          <a:xfrm>
            <a:off x="731520" y="3694176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6" name="s32_c0_k2"/>
          <p:cNvSpPr/>
          <p:nvPr/>
        </p:nvSpPr>
        <p:spPr>
          <a:xfrm>
            <a:off x="731520" y="3694176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</a:t>
            </a:r>
            <a:endParaRPr lang="en-US" sz="850" dirty="0"/>
          </a:p>
        </p:txBody>
      </p:sp>
      <p:sp>
        <p:nvSpPr>
          <p:cNvPr id="27" name="s32_c0_v2"/>
          <p:cNvSpPr/>
          <p:nvPr/>
        </p:nvSpPr>
        <p:spPr>
          <a:xfrm>
            <a:off x="1883664" y="3694176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none — no LSP CLI or registration documented</a:t>
            </a:r>
            <a:endParaRPr lang="en-US" sz="900" dirty="0"/>
          </a:p>
        </p:txBody>
      </p:sp>
      <p:sp>
        <p:nvSpPr>
          <p:cNvPr id="28" name="s32_c0_hr4"/>
          <p:cNvSpPr/>
          <p:nvPr/>
        </p:nvSpPr>
        <p:spPr>
          <a:xfrm>
            <a:off x="731520" y="4114800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9" name="s32_c0_k3"/>
          <p:cNvSpPr/>
          <p:nvPr/>
        </p:nvSpPr>
        <p:spPr>
          <a:xfrm>
            <a:off x="731520" y="4114800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AUTO-UPDATE</a:t>
            </a:r>
            <a:endParaRPr lang="en-US" sz="850" dirty="0"/>
          </a:p>
        </p:txBody>
      </p:sp>
      <p:sp>
        <p:nvSpPr>
          <p:cNvPr id="30" name="s32_c0_v3"/>
          <p:cNvSpPr/>
          <p:nvPr/>
        </p:nvSpPr>
        <p:spPr>
          <a:xfrm>
            <a:off x="1883664" y="4114800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N/A — no surface to update</a:t>
            </a:r>
            <a:endParaRPr lang="en-US" sz="900" dirty="0"/>
          </a:p>
        </p:txBody>
      </p:sp>
      <p:sp>
        <p:nvSpPr>
          <p:cNvPr id="31" name="s32_c0_emp"/>
          <p:cNvSpPr/>
          <p:nvPr/>
        </p:nvSpPr>
        <p:spPr>
          <a:xfrm>
            <a:off x="704088" y="4626864"/>
            <a:ext cx="5074920" cy="1581912"/>
          </a:xfrm>
          <a:prstGeom prst="rect">
            <a:avLst/>
          </a:prstGeom>
          <a:solidFill>
            <a:srgbClr val="E7EEFD"/>
          </a:solidFill>
          <a:ln/>
        </p:spPr>
      </p:sp>
      <p:sp>
        <p:nvSpPr>
          <p:cNvPr id="32" name="s32_c0_emb"/>
          <p:cNvSpPr/>
          <p:nvPr/>
        </p:nvSpPr>
        <p:spPr>
          <a:xfrm>
            <a:off x="886968" y="4736592"/>
            <a:ext cx="4709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spc="200" kern="0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REGISTRY EMISSION</a:t>
            </a:r>
            <a:endParaRPr lang="en-US" sz="800" dirty="0"/>
          </a:p>
        </p:txBody>
      </p:sp>
      <p:sp>
        <p:nvSpPr>
          <p:cNvPr id="33" name="s32_c0_em"/>
          <p:cNvSpPr/>
          <p:nvPr/>
        </p:nvSpPr>
        <p:spPr>
          <a:xfrm>
            <a:off x="886968" y="4956048"/>
            <a:ext cx="470916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 install.opencode — nothing emittable</a:t>
            </a:r>
            <a:endParaRPr lang="en-US" sz="9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lsp config key exists; schema undocumented</a:t>
            </a:r>
            <a:endParaRPr lang="en-US" sz="9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events: lsp.client.diagnostics · lsp.updated</a:t>
            </a:r>
            <a:endParaRPr lang="en-US" sz="900" dirty="0"/>
          </a:p>
        </p:txBody>
      </p:sp>
      <p:sp>
        <p:nvSpPr>
          <p:cNvPr id="34" name="s32_c1_sh"/>
          <p:cNvSpPr/>
          <p:nvPr/>
        </p:nvSpPr>
        <p:spPr>
          <a:xfrm>
            <a:off x="6259068" y="1531620"/>
            <a:ext cx="5477256" cy="489204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35" name="s32_c1"/>
          <p:cNvSpPr/>
          <p:nvPr/>
        </p:nvSpPr>
        <p:spPr>
          <a:xfrm>
            <a:off x="6208776" y="1481328"/>
            <a:ext cx="5477256" cy="489204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36" name="s32_c1_sq"/>
          <p:cNvSpPr/>
          <p:nvPr/>
        </p:nvSpPr>
        <p:spPr>
          <a:xfrm>
            <a:off x="6437376" y="1673352"/>
            <a:ext cx="137160" cy="13716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7" name="s32_c1_topic"/>
          <p:cNvSpPr/>
          <p:nvPr/>
        </p:nvSpPr>
        <p:spPr>
          <a:xfrm>
            <a:off x="6665976" y="1609344"/>
            <a:ext cx="37965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50" kern="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LSP</a:t>
            </a:r>
            <a:endParaRPr lang="en-US" sz="1300" dirty="0"/>
          </a:p>
        </p:txBody>
      </p:sp>
      <p:sp>
        <p:nvSpPr>
          <p:cNvPr id="38" name="s32_c1_vc_sh"/>
          <p:cNvSpPr/>
          <p:nvPr/>
        </p:nvSpPr>
        <p:spPr>
          <a:xfrm>
            <a:off x="10517429" y="1636776"/>
            <a:ext cx="994867" cy="3383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39" name="s32_c1_vc"/>
          <p:cNvSpPr/>
          <p:nvPr/>
        </p:nvSpPr>
        <p:spPr>
          <a:xfrm>
            <a:off x="10489997" y="1609344"/>
            <a:ext cx="994867" cy="338328"/>
          </a:xfrm>
          <a:prstGeom prst="rect">
            <a:avLst/>
          </a:prstGeom>
          <a:solidFill>
            <a:srgbClr val="EFEFEA"/>
          </a:solidFill>
          <a:ln w="15875">
            <a:solidFill>
              <a:srgbClr val="5C6068"/>
            </a:solidFill>
            <a:prstDash val="solid"/>
          </a:ln>
        </p:spPr>
      </p:sp>
      <p:sp>
        <p:nvSpPr>
          <p:cNvPr id="40" name="s32_c1_vc_t"/>
          <p:cNvSpPr/>
          <p:nvPr/>
        </p:nvSpPr>
        <p:spPr>
          <a:xfrm>
            <a:off x="10489997" y="1609344"/>
            <a:ext cx="99486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SURFACE</a:t>
            </a:r>
            <a:endParaRPr lang="en-US" sz="900" dirty="0"/>
          </a:p>
        </p:txBody>
      </p:sp>
      <p:sp>
        <p:nvSpPr>
          <p:cNvPr id="41" name="s32_c1_why"/>
          <p:cNvSpPr/>
          <p:nvPr/>
        </p:nvSpPr>
        <p:spPr>
          <a:xfrm>
            <a:off x="6437376" y="2011680"/>
            <a:ext cx="5020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i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Absent from pi.md; no native surface as of 1.3.0</a:t>
            </a:r>
            <a:endParaRPr lang="en-US" sz="850" dirty="0"/>
          </a:p>
        </p:txBody>
      </p:sp>
      <p:sp>
        <p:nvSpPr>
          <p:cNvPr id="42" name="s32_c1_what"/>
          <p:cNvSpPr/>
          <p:nvPr/>
        </p:nvSpPr>
        <p:spPr>
          <a:xfrm>
            <a:off x="6437376" y="2340864"/>
            <a:ext cx="5020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available — Pi has no language-server integration as of 1.3.0</a:t>
            </a:r>
            <a:endParaRPr lang="en-US" sz="1050" dirty="0"/>
          </a:p>
        </p:txBody>
      </p:sp>
      <p:sp>
        <p:nvSpPr>
          <p:cNvPr id="43" name="s32_c1_hr1"/>
          <p:cNvSpPr/>
          <p:nvPr/>
        </p:nvSpPr>
        <p:spPr>
          <a:xfrm>
            <a:off x="6437376" y="2798064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44" name="s32_c1_k0"/>
          <p:cNvSpPr/>
          <p:nvPr/>
        </p:nvSpPr>
        <p:spPr>
          <a:xfrm>
            <a:off x="6437376" y="2852928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</a:t>
            </a:r>
            <a:endParaRPr lang="en-US" sz="850" dirty="0"/>
          </a:p>
        </p:txBody>
      </p:sp>
      <p:sp>
        <p:nvSpPr>
          <p:cNvPr id="45" name="s32_c1_v0"/>
          <p:cNvSpPr/>
          <p:nvPr/>
        </p:nvSpPr>
        <p:spPr>
          <a:xfrm>
            <a:off x="7589520" y="2852928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none</a:t>
            </a:r>
            <a:endParaRPr lang="en-US" sz="900" dirty="0"/>
          </a:p>
        </p:txBody>
      </p:sp>
      <p:sp>
        <p:nvSpPr>
          <p:cNvPr id="46" name="s32_c1_hr2"/>
          <p:cNvSpPr/>
          <p:nvPr/>
        </p:nvSpPr>
        <p:spPr>
          <a:xfrm>
            <a:off x="6437376" y="3273552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47" name="s32_c1_k1"/>
          <p:cNvSpPr/>
          <p:nvPr/>
        </p:nvSpPr>
        <p:spPr>
          <a:xfrm>
            <a:off x="6437376" y="3273552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FORMAT</a:t>
            </a:r>
            <a:endParaRPr lang="en-US" sz="850" dirty="0"/>
          </a:p>
        </p:txBody>
      </p:sp>
      <p:sp>
        <p:nvSpPr>
          <p:cNvPr id="48" name="s32_c1_v1"/>
          <p:cNvSpPr/>
          <p:nvPr/>
        </p:nvSpPr>
        <p:spPr>
          <a:xfrm>
            <a:off x="7589520" y="3273552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n/a</a:t>
            </a:r>
            <a:endParaRPr lang="en-US" sz="900" dirty="0"/>
          </a:p>
        </p:txBody>
      </p:sp>
      <p:sp>
        <p:nvSpPr>
          <p:cNvPr id="49" name="s32_c1_hr3"/>
          <p:cNvSpPr/>
          <p:nvPr/>
        </p:nvSpPr>
        <p:spPr>
          <a:xfrm>
            <a:off x="6437376" y="3694176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50" name="s32_c1_k2"/>
          <p:cNvSpPr/>
          <p:nvPr/>
        </p:nvSpPr>
        <p:spPr>
          <a:xfrm>
            <a:off x="6437376" y="3694176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</a:t>
            </a:r>
            <a:endParaRPr lang="en-US" sz="850" dirty="0"/>
          </a:p>
        </p:txBody>
      </p:sp>
      <p:sp>
        <p:nvSpPr>
          <p:cNvPr id="51" name="s32_c1_v2"/>
          <p:cNvSpPr/>
          <p:nvPr/>
        </p:nvSpPr>
        <p:spPr>
          <a:xfrm>
            <a:off x="7589520" y="3694176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n/a</a:t>
            </a:r>
            <a:endParaRPr lang="en-US" sz="900" dirty="0"/>
          </a:p>
        </p:txBody>
      </p:sp>
      <p:sp>
        <p:nvSpPr>
          <p:cNvPr id="52" name="s32_c1_hr4"/>
          <p:cNvSpPr/>
          <p:nvPr/>
        </p:nvSpPr>
        <p:spPr>
          <a:xfrm>
            <a:off x="6437376" y="4114800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53" name="s32_c1_k3"/>
          <p:cNvSpPr/>
          <p:nvPr/>
        </p:nvSpPr>
        <p:spPr>
          <a:xfrm>
            <a:off x="6437376" y="4114800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AUTO-UPDATE</a:t>
            </a:r>
            <a:endParaRPr lang="en-US" sz="850" dirty="0"/>
          </a:p>
        </p:txBody>
      </p:sp>
      <p:sp>
        <p:nvSpPr>
          <p:cNvPr id="54" name="s32_c1_v3"/>
          <p:cNvSpPr/>
          <p:nvPr/>
        </p:nvSpPr>
        <p:spPr>
          <a:xfrm>
            <a:off x="7589520" y="4114800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 — nothing to update; no LSP surface exists in Pi 1.3.0</a:t>
            </a:r>
            <a:endParaRPr lang="en-US" sz="900" dirty="0"/>
          </a:p>
        </p:txBody>
      </p:sp>
      <p:sp>
        <p:nvSpPr>
          <p:cNvPr id="55" name="s32_c1_emp"/>
          <p:cNvSpPr/>
          <p:nvPr/>
        </p:nvSpPr>
        <p:spPr>
          <a:xfrm>
            <a:off x="6409944" y="4626864"/>
            <a:ext cx="5074920" cy="1581912"/>
          </a:xfrm>
          <a:prstGeom prst="rect">
            <a:avLst/>
          </a:prstGeom>
          <a:solidFill>
            <a:srgbClr val="EFE9FB"/>
          </a:solidFill>
          <a:ln/>
        </p:spPr>
      </p:sp>
      <p:sp>
        <p:nvSpPr>
          <p:cNvPr id="56" name="s32_c1_emb"/>
          <p:cNvSpPr/>
          <p:nvPr/>
        </p:nvSpPr>
        <p:spPr>
          <a:xfrm>
            <a:off x="6592824" y="4736592"/>
            <a:ext cx="4709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spc="200" kern="0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REGISTRY EMISSION</a:t>
            </a:r>
            <a:endParaRPr lang="en-US" sz="800" dirty="0"/>
          </a:p>
        </p:txBody>
      </p:sp>
      <p:sp>
        <p:nvSpPr>
          <p:cNvPr id="57" name="s32_c1_em"/>
          <p:cNvSpPr/>
          <p:nvPr/>
        </p:nvSpPr>
        <p:spPr>
          <a:xfrm>
            <a:off x="6592824" y="4956048"/>
            <a:ext cx="470916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compatibility.pi: supported=false</a:t>
            </a:r>
            <a:endParaRPr lang="en-US" sz="9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install.pi: none — emitter skips Pi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33_vx_v1"/>
          <p:cNvSpPr/>
          <p:nvPr/>
        </p:nvSpPr>
        <p:spPr>
          <a:xfrm>
            <a:off x="11137392" y="384048"/>
            <a:ext cx="128016" cy="12801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" name="s33_vx_v2"/>
          <p:cNvSpPr/>
          <p:nvPr/>
        </p:nvSpPr>
        <p:spPr>
          <a:xfrm>
            <a:off x="11292840" y="384048"/>
            <a:ext cx="128016" cy="12801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" name="s33_vx_v3"/>
          <p:cNvSpPr/>
          <p:nvPr/>
        </p:nvSpPr>
        <p:spPr>
          <a:xfrm>
            <a:off x="11137392" y="539496"/>
            <a:ext cx="128016" cy="128016"/>
          </a:xfrm>
          <a:prstGeom prst="rect">
            <a:avLst/>
          </a:prstGeom>
          <a:solidFill>
            <a:srgbClr val="D97706"/>
          </a:solidFill>
          <a:ln/>
        </p:spPr>
      </p:sp>
      <p:pic>
        <p:nvPicPr>
          <p:cNvPr id="5" name="s33_kick" descr="assets/skb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02336"/>
            <a:ext cx="3422469" cy="182880"/>
          </a:xfrm>
          <a:prstGeom prst="rect">
            <a:avLst/>
          </a:prstGeom>
        </p:spPr>
      </p:pic>
      <p:pic>
        <p:nvPicPr>
          <p:cNvPr id="6" name="s33_title" descr="assets/srf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58368"/>
            <a:ext cx="4822807" cy="475488"/>
          </a:xfrm>
          <a:prstGeom prst="rect">
            <a:avLst/>
          </a:prstGeom>
        </p:spPr>
      </p:pic>
      <p:sp>
        <p:nvSpPr>
          <p:cNvPr id="7" name="s33_spec"/>
          <p:cNvSpPr/>
          <p:nvPr/>
        </p:nvSpPr>
        <p:spPr>
          <a:xfrm>
            <a:off x="502920" y="1216152"/>
            <a:ext cx="10469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 agent tools as code — no drop-in file; OpenCode and Pi load them as TypeScript plugins</a:t>
            </a:r>
            <a:endParaRPr lang="en-US" sz="1100" dirty="0"/>
          </a:p>
        </p:txBody>
      </p:sp>
      <p:sp>
        <p:nvSpPr>
          <p:cNvPr id="8" name="s33_pg"/>
          <p:cNvSpPr/>
          <p:nvPr/>
        </p:nvSpPr>
        <p:spPr>
          <a:xfrm>
            <a:off x="11064240" y="648309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33 / 45</a:t>
            </a:r>
            <a:endParaRPr lang="en-US" sz="950" dirty="0"/>
          </a:p>
        </p:txBody>
      </p:sp>
      <p:sp>
        <p:nvSpPr>
          <p:cNvPr id="10" name="s33_min_sh"/>
          <p:cNvSpPr/>
          <p:nvPr/>
        </p:nvSpPr>
        <p:spPr>
          <a:xfrm>
            <a:off x="553212" y="1531620"/>
            <a:ext cx="5669280" cy="416052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1" name="s33_min"/>
          <p:cNvSpPr/>
          <p:nvPr/>
        </p:nvSpPr>
        <p:spPr>
          <a:xfrm>
            <a:off x="502920" y="1481328"/>
            <a:ext cx="5669280" cy="416052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12" name="s33_mb"/>
          <p:cNvSpPr/>
          <p:nvPr/>
        </p:nvSpPr>
        <p:spPr>
          <a:xfrm>
            <a:off x="777240" y="162763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REGISTRY MINIMUM — WHAT WE STORE</a:t>
            </a:r>
            <a:endParaRPr lang="en-US" sz="950" dirty="0"/>
          </a:p>
        </p:txBody>
      </p:sp>
      <p:sp>
        <p:nvSpPr>
          <p:cNvPr id="13" name="s33_mk0"/>
          <p:cNvSpPr/>
          <p:nvPr/>
        </p:nvSpPr>
        <p:spPr>
          <a:xfrm>
            <a:off x="777240" y="19202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 spec</a:t>
            </a:r>
            <a:endParaRPr lang="en-US" sz="900" dirty="0"/>
          </a:p>
        </p:txBody>
      </p:sp>
      <p:sp>
        <p:nvSpPr>
          <p:cNvPr id="14" name="s33_mv0"/>
          <p:cNvSpPr/>
          <p:nvPr/>
        </p:nvSpPr>
        <p:spPr>
          <a:xfrm>
            <a:off x="2240280" y="192024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 + typed args (Zod/TypeBox)</a:t>
            </a:r>
            <a:endParaRPr lang="en-US" sz="850" dirty="0"/>
          </a:p>
        </p:txBody>
      </p:sp>
      <p:sp>
        <p:nvSpPr>
          <p:cNvPr id="15" name="s33_mhr0"/>
          <p:cNvSpPr/>
          <p:nvPr/>
        </p:nvSpPr>
        <p:spPr>
          <a:xfrm>
            <a:off x="777240" y="2304288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16" name="s33_mk1"/>
          <p:cNvSpPr/>
          <p:nvPr/>
        </p:nvSpPr>
        <p:spPr>
          <a:xfrm>
            <a:off x="777240" y="230428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codegen</a:t>
            </a:r>
            <a:endParaRPr lang="en-US" sz="900" dirty="0"/>
          </a:p>
        </p:txBody>
      </p:sp>
      <p:sp>
        <p:nvSpPr>
          <p:cNvPr id="17" name="s33_mv1"/>
          <p:cNvSpPr/>
          <p:nvPr/>
        </p:nvSpPr>
        <p:spPr>
          <a:xfrm>
            <a:off x="2240280" y="230428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oc tool() plugin · pi.registerTool ext</a:t>
            </a:r>
            <a:endParaRPr lang="en-US" sz="850" dirty="0"/>
          </a:p>
        </p:txBody>
      </p:sp>
      <p:sp>
        <p:nvSpPr>
          <p:cNvPr id="18" name="s33_mhr1"/>
          <p:cNvSpPr/>
          <p:nvPr/>
        </p:nvSpPr>
        <p:spPr>
          <a:xfrm>
            <a:off x="777240" y="2688336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19" name="s33_mk2"/>
          <p:cNvSpPr/>
          <p:nvPr/>
        </p:nvSpPr>
        <p:spPr>
          <a:xfrm>
            <a:off x="777240" y="2688336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exposure</a:t>
            </a:r>
            <a:endParaRPr lang="en-US" sz="900" dirty="0"/>
          </a:p>
        </p:txBody>
      </p:sp>
      <p:sp>
        <p:nvSpPr>
          <p:cNvPr id="20" name="s33_mv2"/>
          <p:cNvSpPr/>
          <p:nvPr/>
        </p:nvSpPr>
        <p:spPr>
          <a:xfrm>
            <a:off x="2240280" y="2688336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direct|model-only|codemode|deferred (pi)</a:t>
            </a:r>
            <a:endParaRPr lang="en-US" sz="850" dirty="0"/>
          </a:p>
        </p:txBody>
      </p:sp>
      <p:sp>
        <p:nvSpPr>
          <p:cNvPr id="21" name="s33_mhr2"/>
          <p:cNvSpPr/>
          <p:nvPr/>
        </p:nvSpPr>
        <p:spPr>
          <a:xfrm>
            <a:off x="777240" y="3072384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2" name="s33_mk3"/>
          <p:cNvSpPr/>
          <p:nvPr/>
        </p:nvSpPr>
        <p:spPr>
          <a:xfrm>
            <a:off x="777240" y="3072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tier</a:t>
            </a:r>
            <a:endParaRPr lang="en-US" sz="900" dirty="0"/>
          </a:p>
        </p:txBody>
      </p:sp>
      <p:sp>
        <p:nvSpPr>
          <p:cNvPr id="23" name="s33_mv3"/>
          <p:cNvSpPr/>
          <p:nvPr/>
        </p:nvSpPr>
        <p:spPr>
          <a:xfrm>
            <a:off x="2240280" y="3072384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review — code runs in-process, full OS</a:t>
            </a:r>
            <a:endParaRPr lang="en-US" sz="850" dirty="0"/>
          </a:p>
        </p:txBody>
      </p:sp>
      <p:sp>
        <p:nvSpPr>
          <p:cNvPr id="24" name="s33_mhr3"/>
          <p:cNvSpPr/>
          <p:nvPr/>
        </p:nvSpPr>
        <p:spPr>
          <a:xfrm>
            <a:off x="777240" y="3456432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5" name="s33_mk4"/>
          <p:cNvSpPr/>
          <p:nvPr/>
        </p:nvSpPr>
        <p:spPr>
          <a:xfrm>
            <a:off x="777240" y="3456432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compat</a:t>
            </a:r>
            <a:endParaRPr lang="en-US" sz="900" dirty="0"/>
          </a:p>
        </p:txBody>
      </p:sp>
      <p:sp>
        <p:nvSpPr>
          <p:cNvPr id="26" name="s33_mv4"/>
          <p:cNvSpPr/>
          <p:nvPr/>
        </p:nvSpPr>
        <p:spPr>
          <a:xfrm>
            <a:off x="2240280" y="3456432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claude/codex supported=false (SDK only)</a:t>
            </a:r>
            <a:endParaRPr lang="en-US" sz="850" dirty="0"/>
          </a:p>
        </p:txBody>
      </p:sp>
      <p:sp>
        <p:nvSpPr>
          <p:cNvPr id="27" name="s33_mhr4"/>
          <p:cNvSpPr/>
          <p:nvPr/>
        </p:nvSpPr>
        <p:spPr>
          <a:xfrm>
            <a:off x="777240" y="3840480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8" name="s33_mk5"/>
          <p:cNvSpPr/>
          <p:nvPr/>
        </p:nvSpPr>
        <p:spPr>
          <a:xfrm>
            <a:off x="777240" y="384048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sources</a:t>
            </a:r>
            <a:endParaRPr lang="en-US" sz="900" dirty="0"/>
          </a:p>
        </p:txBody>
      </p:sp>
      <p:sp>
        <p:nvSpPr>
          <p:cNvPr id="29" name="s33_mv5"/>
          <p:cNvSpPr/>
          <p:nvPr/>
        </p:nvSpPr>
        <p:spPr>
          <a:xfrm>
            <a:off x="2240280" y="384048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pkg @version + sha; no loose .ts pin</a:t>
            </a:r>
            <a:endParaRPr lang="en-US" sz="850" dirty="0"/>
          </a:p>
        </p:txBody>
      </p:sp>
      <p:sp>
        <p:nvSpPr>
          <p:cNvPr id="30" name="s33_mhr5"/>
          <p:cNvSpPr/>
          <p:nvPr/>
        </p:nvSpPr>
        <p:spPr>
          <a:xfrm>
            <a:off x="777240" y="4224528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31" name="s33_mwhy"/>
          <p:cNvSpPr/>
          <p:nvPr/>
        </p:nvSpPr>
        <p:spPr>
          <a:xfrm>
            <a:off x="777240" y="498348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harnesses load tools via generated code; two have no surface — record keeps a neutral spec + review tier.</a:t>
            </a:r>
            <a:endParaRPr lang="en-US" sz="950" dirty="0"/>
          </a:p>
        </p:txBody>
      </p:sp>
      <p:sp>
        <p:nvSpPr>
          <p:cNvPr id="32" name="s33_row_sh"/>
          <p:cNvSpPr/>
          <p:nvPr/>
        </p:nvSpPr>
        <p:spPr>
          <a:xfrm>
            <a:off x="6451092" y="1531620"/>
            <a:ext cx="5285232" cy="310896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33" name="s33_row"/>
          <p:cNvSpPr/>
          <p:nvPr/>
        </p:nvSpPr>
        <p:spPr>
          <a:xfrm>
            <a:off x="6400800" y="1481328"/>
            <a:ext cx="5285232" cy="310896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34" name="s33_rb"/>
          <p:cNvSpPr/>
          <p:nvPr/>
        </p:nvSpPr>
        <p:spPr>
          <a:xfrm>
            <a:off x="6675120" y="1627632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MATRIX ROW</a:t>
            </a:r>
            <a:endParaRPr lang="en-US" sz="1050" dirty="0"/>
          </a:p>
        </p:txBody>
      </p:sp>
      <p:sp>
        <p:nvSpPr>
          <p:cNvPr id="35" name="s33_rb0"/>
          <p:cNvSpPr/>
          <p:nvPr/>
        </p:nvSpPr>
        <p:spPr>
          <a:xfrm>
            <a:off x="6675120" y="2139696"/>
            <a:ext cx="109728" cy="109728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6" name="s33_rk0"/>
          <p:cNvSpPr/>
          <p:nvPr/>
        </p:nvSpPr>
        <p:spPr>
          <a:xfrm>
            <a:off x="6894576" y="1938528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CLAUDE CODE</a:t>
            </a:r>
            <a:endParaRPr lang="en-US" sz="950" dirty="0"/>
          </a:p>
        </p:txBody>
      </p:sp>
      <p:sp>
        <p:nvSpPr>
          <p:cNvPr id="37" name="s33_rc0_sh"/>
          <p:cNvSpPr/>
          <p:nvPr/>
        </p:nvSpPr>
        <p:spPr>
          <a:xfrm>
            <a:off x="8302752" y="2075688"/>
            <a:ext cx="826618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38" name="s33_rc0"/>
          <p:cNvSpPr/>
          <p:nvPr/>
        </p:nvSpPr>
        <p:spPr>
          <a:xfrm>
            <a:off x="8275320" y="2048256"/>
            <a:ext cx="826618" cy="287528"/>
          </a:xfrm>
          <a:prstGeom prst="rect">
            <a:avLst/>
          </a:prstGeom>
          <a:solidFill>
            <a:srgbClr val="EFEFEA"/>
          </a:solidFill>
          <a:ln w="15875">
            <a:solidFill>
              <a:srgbClr val="5C6068"/>
            </a:solidFill>
            <a:prstDash val="solid"/>
          </a:ln>
        </p:spPr>
      </p:sp>
      <p:sp>
        <p:nvSpPr>
          <p:cNvPr id="39" name="s33_rc0_t"/>
          <p:cNvSpPr/>
          <p:nvPr/>
        </p:nvSpPr>
        <p:spPr>
          <a:xfrm>
            <a:off x="8275320" y="2048256"/>
            <a:ext cx="826618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SURFACE</a:t>
            </a:r>
            <a:endParaRPr lang="en-US" sz="700" dirty="0"/>
          </a:p>
        </p:txBody>
      </p:sp>
      <p:sp>
        <p:nvSpPr>
          <p:cNvPr id="40" name="s33_rd0"/>
          <p:cNvSpPr/>
          <p:nvPr/>
        </p:nvSpPr>
        <p:spPr>
          <a:xfrm>
            <a:off x="9211666" y="2157984"/>
            <a:ext cx="68580" cy="68580"/>
          </a:xfrm>
          <a:prstGeom prst="rect">
            <a:avLst/>
          </a:prstGeom>
          <a:solidFill>
            <a:srgbClr val="C7CAD1"/>
          </a:solidFill>
          <a:ln/>
        </p:spPr>
      </p:sp>
      <p:sp>
        <p:nvSpPr>
          <p:cNvPr id="41" name="s33_rb1"/>
          <p:cNvSpPr/>
          <p:nvPr/>
        </p:nvSpPr>
        <p:spPr>
          <a:xfrm>
            <a:off x="6675120" y="2651760"/>
            <a:ext cx="109728" cy="109728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33_rk1"/>
          <p:cNvSpPr/>
          <p:nvPr/>
        </p:nvSpPr>
        <p:spPr>
          <a:xfrm>
            <a:off x="6894576" y="2450592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CODEX</a:t>
            </a:r>
            <a:endParaRPr lang="en-US" sz="950" dirty="0"/>
          </a:p>
        </p:txBody>
      </p:sp>
      <p:sp>
        <p:nvSpPr>
          <p:cNvPr id="43" name="s33_rc1_sh"/>
          <p:cNvSpPr/>
          <p:nvPr/>
        </p:nvSpPr>
        <p:spPr>
          <a:xfrm>
            <a:off x="8302752" y="2587752"/>
            <a:ext cx="826618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44" name="s33_rc1"/>
          <p:cNvSpPr/>
          <p:nvPr/>
        </p:nvSpPr>
        <p:spPr>
          <a:xfrm>
            <a:off x="8275320" y="2560320"/>
            <a:ext cx="826618" cy="287528"/>
          </a:xfrm>
          <a:prstGeom prst="rect">
            <a:avLst/>
          </a:prstGeom>
          <a:solidFill>
            <a:srgbClr val="EFEFEA"/>
          </a:solidFill>
          <a:ln w="15875">
            <a:solidFill>
              <a:srgbClr val="5C6068"/>
            </a:solidFill>
            <a:prstDash val="solid"/>
          </a:ln>
        </p:spPr>
      </p:sp>
      <p:sp>
        <p:nvSpPr>
          <p:cNvPr id="45" name="s33_rc1_t"/>
          <p:cNvSpPr/>
          <p:nvPr/>
        </p:nvSpPr>
        <p:spPr>
          <a:xfrm>
            <a:off x="8275320" y="2560320"/>
            <a:ext cx="826618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SURFACE</a:t>
            </a:r>
            <a:endParaRPr lang="en-US" sz="700" dirty="0"/>
          </a:p>
        </p:txBody>
      </p:sp>
      <p:sp>
        <p:nvSpPr>
          <p:cNvPr id="46" name="s33_rd1"/>
          <p:cNvSpPr/>
          <p:nvPr/>
        </p:nvSpPr>
        <p:spPr>
          <a:xfrm>
            <a:off x="9211666" y="2670048"/>
            <a:ext cx="68580" cy="68580"/>
          </a:xfrm>
          <a:prstGeom prst="rect">
            <a:avLst/>
          </a:prstGeom>
          <a:solidFill>
            <a:srgbClr val="C7CAD1"/>
          </a:solidFill>
          <a:ln/>
        </p:spPr>
      </p:sp>
      <p:sp>
        <p:nvSpPr>
          <p:cNvPr id="47" name="s33_rb2"/>
          <p:cNvSpPr/>
          <p:nvPr/>
        </p:nvSpPr>
        <p:spPr>
          <a:xfrm>
            <a:off x="6675120" y="3163824"/>
            <a:ext cx="109728" cy="109728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48" name="s33_rk2"/>
          <p:cNvSpPr/>
          <p:nvPr/>
        </p:nvSpPr>
        <p:spPr>
          <a:xfrm>
            <a:off x="6894576" y="2962656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OPENCODE</a:t>
            </a:r>
            <a:endParaRPr lang="en-US" sz="950" dirty="0"/>
          </a:p>
        </p:txBody>
      </p:sp>
      <p:sp>
        <p:nvSpPr>
          <p:cNvPr id="49" name="s33_rc2_sh"/>
          <p:cNvSpPr/>
          <p:nvPr/>
        </p:nvSpPr>
        <p:spPr>
          <a:xfrm>
            <a:off x="8302752" y="3099816"/>
            <a:ext cx="767730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50" name="s33_rc2"/>
          <p:cNvSpPr/>
          <p:nvPr/>
        </p:nvSpPr>
        <p:spPr>
          <a:xfrm>
            <a:off x="8275320" y="3072384"/>
            <a:ext cx="767730" cy="287528"/>
          </a:xfrm>
          <a:prstGeom prst="rect">
            <a:avLst/>
          </a:prstGeom>
          <a:solidFill>
            <a:srgbClr val="E7EEFD"/>
          </a:solidFill>
          <a:ln w="15875">
            <a:solidFill>
              <a:srgbClr val="2F6FED"/>
            </a:solidFill>
            <a:prstDash val="solid"/>
          </a:ln>
        </p:spPr>
      </p:sp>
      <p:sp>
        <p:nvSpPr>
          <p:cNvPr id="51" name="s33_rc2_t"/>
          <p:cNvSpPr/>
          <p:nvPr/>
        </p:nvSpPr>
        <p:spPr>
          <a:xfrm>
            <a:off x="8275320" y="3072384"/>
            <a:ext cx="767730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TRANSLATE</a:t>
            </a:r>
            <a:endParaRPr lang="en-US" sz="700" dirty="0"/>
          </a:p>
        </p:txBody>
      </p:sp>
      <p:sp>
        <p:nvSpPr>
          <p:cNvPr id="52" name="s33_rd2"/>
          <p:cNvSpPr/>
          <p:nvPr/>
        </p:nvSpPr>
        <p:spPr>
          <a:xfrm>
            <a:off x="9152778" y="3182112"/>
            <a:ext cx="68580" cy="6858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53" name="s33_rb3"/>
          <p:cNvSpPr/>
          <p:nvPr/>
        </p:nvSpPr>
        <p:spPr>
          <a:xfrm>
            <a:off x="6675120" y="3675888"/>
            <a:ext cx="109728" cy="10972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4" name="s33_rk3"/>
          <p:cNvSpPr/>
          <p:nvPr/>
        </p:nvSpPr>
        <p:spPr>
          <a:xfrm>
            <a:off x="6894576" y="3474720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</a:t>
            </a:r>
            <a:endParaRPr lang="en-US" sz="950" dirty="0"/>
          </a:p>
        </p:txBody>
      </p:sp>
      <p:sp>
        <p:nvSpPr>
          <p:cNvPr id="55" name="s33_rc3_sh"/>
          <p:cNvSpPr/>
          <p:nvPr/>
        </p:nvSpPr>
        <p:spPr>
          <a:xfrm>
            <a:off x="8302752" y="3611880"/>
            <a:ext cx="767730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56" name="s33_rc3"/>
          <p:cNvSpPr/>
          <p:nvPr/>
        </p:nvSpPr>
        <p:spPr>
          <a:xfrm>
            <a:off x="8275320" y="3584448"/>
            <a:ext cx="767730" cy="287528"/>
          </a:xfrm>
          <a:prstGeom prst="rect">
            <a:avLst/>
          </a:prstGeom>
          <a:solidFill>
            <a:srgbClr val="E7EEFD"/>
          </a:solidFill>
          <a:ln w="15875">
            <a:solidFill>
              <a:srgbClr val="2F6FED"/>
            </a:solidFill>
            <a:prstDash val="solid"/>
          </a:ln>
        </p:spPr>
      </p:sp>
      <p:sp>
        <p:nvSpPr>
          <p:cNvPr id="57" name="s33_rc3_t"/>
          <p:cNvSpPr/>
          <p:nvPr/>
        </p:nvSpPr>
        <p:spPr>
          <a:xfrm>
            <a:off x="8275320" y="3584448"/>
            <a:ext cx="767730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TRANSLATE</a:t>
            </a:r>
            <a:endParaRPr lang="en-US" sz="700" dirty="0"/>
          </a:p>
        </p:txBody>
      </p:sp>
      <p:sp>
        <p:nvSpPr>
          <p:cNvPr id="58" name="s33_rd3"/>
          <p:cNvSpPr/>
          <p:nvPr/>
        </p:nvSpPr>
        <p:spPr>
          <a:xfrm>
            <a:off x="9152778" y="3694176"/>
            <a:ext cx="68580" cy="6858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59" name="s33_rhr"/>
          <p:cNvSpPr/>
          <p:nvPr/>
        </p:nvSpPr>
        <p:spPr>
          <a:xfrm>
            <a:off x="6675120" y="3986784"/>
            <a:ext cx="475488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60" name="s33_rsum"/>
          <p:cNvSpPr/>
          <p:nvPr/>
        </p:nvSpPr>
        <p:spPr>
          <a:xfrm>
            <a:off x="6675120" y="4133088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Claude's tools live in SDK code and Codex has none — only OpenCode and Pi, via codegen'd TypeScript.</a:t>
            </a:r>
            <a:endParaRPr lang="en-US" sz="950" dirty="0"/>
          </a:p>
        </p:txBody>
      </p:sp>
      <p:sp>
        <p:nvSpPr>
          <p:cNvPr id="61" name="s33_au_sh"/>
          <p:cNvSpPr/>
          <p:nvPr/>
        </p:nvSpPr>
        <p:spPr>
          <a:xfrm>
            <a:off x="6451092" y="4777740"/>
            <a:ext cx="5285232" cy="155448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62" name="s33_au"/>
          <p:cNvSpPr/>
          <p:nvPr/>
        </p:nvSpPr>
        <p:spPr>
          <a:xfrm>
            <a:off x="6400800" y="4727448"/>
            <a:ext cx="5285232" cy="1554480"/>
          </a:xfrm>
          <a:prstGeom prst="rect">
            <a:avLst/>
          </a:prstGeom>
          <a:solidFill>
            <a:srgbClr val="EFEFEA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63" name="s33_ab"/>
          <p:cNvSpPr/>
          <p:nvPr/>
        </p:nvSpPr>
        <p:spPr>
          <a:xfrm>
            <a:off x="6675120" y="4873752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AUTO-UPDATE FOR THIS SURFACE</a:t>
            </a:r>
            <a:endParaRPr lang="en-US" sz="1000" dirty="0"/>
          </a:p>
        </p:txBody>
      </p:sp>
      <p:sp>
        <p:nvSpPr>
          <p:cNvPr id="64" name="s33_at"/>
          <p:cNvSpPr/>
          <p:nvPr/>
        </p:nvSpPr>
        <p:spPr>
          <a:xfrm>
            <a:off x="6675120" y="5157216"/>
            <a:ext cx="4754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Updates ride npm plugins on OpenCode and Pi; Claude (SDK code) and Codex (none) have nothing to update — lockfile pins the generated pkg.</a:t>
            </a:r>
            <a:endParaRPr lang="en-US" sz="1000" dirty="0"/>
          </a:p>
        </p:txBody>
      </p:sp>
      <p:sp>
        <p:nvSpPr>
          <p:cNvPr id="65" name="s33_sec_sh"/>
          <p:cNvSpPr/>
          <p:nvPr/>
        </p:nvSpPr>
        <p:spPr>
          <a:xfrm>
            <a:off x="553212" y="4777740"/>
            <a:ext cx="5669280" cy="155448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66" name="s33_sec"/>
          <p:cNvSpPr/>
          <p:nvPr/>
        </p:nvSpPr>
        <p:spPr>
          <a:xfrm>
            <a:off x="502920" y="4727448"/>
            <a:ext cx="5669280" cy="1554480"/>
          </a:xfrm>
          <a:prstGeom prst="rect">
            <a:avLst/>
          </a:prstGeom>
          <a:solidFill>
            <a:srgbClr val="E7EEFD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67" name="s33_secb"/>
          <p:cNvSpPr/>
          <p:nvPr/>
        </p:nvSpPr>
        <p:spPr>
          <a:xfrm>
            <a:off x="777240" y="487375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THIS SECTION</a:t>
            </a:r>
            <a:endParaRPr lang="en-US" sz="1000" dirty="0"/>
          </a:p>
        </p:txBody>
      </p:sp>
      <p:sp>
        <p:nvSpPr>
          <p:cNvPr id="68" name="s33_sc0_sh"/>
          <p:cNvSpPr/>
          <p:nvPr/>
        </p:nvSpPr>
        <p:spPr>
          <a:xfrm>
            <a:off x="804672" y="5221224"/>
            <a:ext cx="692018" cy="3383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69" name="s33_sc0"/>
          <p:cNvSpPr/>
          <p:nvPr/>
        </p:nvSpPr>
        <p:spPr>
          <a:xfrm>
            <a:off x="777240" y="5193792"/>
            <a:ext cx="692018" cy="338328"/>
          </a:xfrm>
          <a:prstGeom prst="rect">
            <a:avLst/>
          </a:prstGeom>
          <a:solidFill>
            <a:srgbClr val="2F6FED"/>
          </a:solidFill>
          <a:ln w="17780">
            <a:solidFill>
              <a:srgbClr val="2F6FED"/>
            </a:solidFill>
            <a:prstDash val="solid"/>
          </a:ln>
        </p:spPr>
      </p:sp>
      <p:sp>
        <p:nvSpPr>
          <p:cNvPr id="70" name="s33_sc0_t"/>
          <p:cNvSpPr/>
          <p:nvPr/>
        </p:nvSpPr>
        <p:spPr>
          <a:xfrm>
            <a:off x="777240" y="5193792"/>
            <a:ext cx="69201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BANNER</a:t>
            </a:r>
            <a:endParaRPr lang="en-US" sz="900" dirty="0"/>
          </a:p>
        </p:txBody>
      </p:sp>
      <p:sp>
        <p:nvSpPr>
          <p:cNvPr id="71" name="s33_sc1_sh"/>
          <p:cNvSpPr/>
          <p:nvPr/>
        </p:nvSpPr>
        <p:spPr>
          <a:xfrm>
            <a:off x="1606418" y="5221224"/>
            <a:ext cx="919155" cy="3383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72" name="s33_sc1"/>
          <p:cNvSpPr/>
          <p:nvPr/>
        </p:nvSpPr>
        <p:spPr>
          <a:xfrm>
            <a:off x="1578986" y="5193792"/>
            <a:ext cx="919155" cy="338328"/>
          </a:xfrm>
          <a:prstGeom prst="rect">
            <a:avLst/>
          </a:prstGeom>
          <a:solidFill>
            <a:srgbClr val="FFFFFF"/>
          </a:solidFill>
          <a:ln w="17780">
            <a:solidFill>
              <a:srgbClr val="1B1D22"/>
            </a:solidFill>
            <a:prstDash val="solid"/>
          </a:ln>
        </p:spPr>
      </p:sp>
      <p:sp>
        <p:nvSpPr>
          <p:cNvPr id="73" name="s33_sc1_t"/>
          <p:cNvSpPr/>
          <p:nvPr/>
        </p:nvSpPr>
        <p:spPr>
          <a:xfrm>
            <a:off x="1578986" y="5193792"/>
            <a:ext cx="919155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STANDARDS</a:t>
            </a:r>
            <a:endParaRPr lang="en-US" sz="900" dirty="0"/>
          </a:p>
        </p:txBody>
      </p:sp>
      <p:sp>
        <p:nvSpPr>
          <p:cNvPr id="74" name="s33_sc2_sh"/>
          <p:cNvSpPr/>
          <p:nvPr/>
        </p:nvSpPr>
        <p:spPr>
          <a:xfrm>
            <a:off x="2635301" y="5221224"/>
            <a:ext cx="1297716" cy="3383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75" name="s33_sc2"/>
          <p:cNvSpPr/>
          <p:nvPr/>
        </p:nvSpPr>
        <p:spPr>
          <a:xfrm>
            <a:off x="2607869" y="5193792"/>
            <a:ext cx="1297716" cy="338328"/>
          </a:xfrm>
          <a:prstGeom prst="rect">
            <a:avLst/>
          </a:prstGeom>
          <a:solidFill>
            <a:srgbClr val="FFFFFF"/>
          </a:solidFill>
          <a:ln w="17780">
            <a:solidFill>
              <a:srgbClr val="1B1D22"/>
            </a:solidFill>
            <a:prstDash val="solid"/>
          </a:ln>
        </p:spPr>
      </p:sp>
      <p:sp>
        <p:nvSpPr>
          <p:cNvPr id="76" name="s33_sc2_t"/>
          <p:cNvSpPr/>
          <p:nvPr/>
        </p:nvSpPr>
        <p:spPr>
          <a:xfrm>
            <a:off x="2607869" y="5193792"/>
            <a:ext cx="129771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CLAUDE + CODEX</a:t>
            </a:r>
            <a:endParaRPr lang="en-US" sz="900" dirty="0"/>
          </a:p>
        </p:txBody>
      </p:sp>
      <p:sp>
        <p:nvSpPr>
          <p:cNvPr id="77" name="s33_sc3_sh"/>
          <p:cNvSpPr/>
          <p:nvPr/>
        </p:nvSpPr>
        <p:spPr>
          <a:xfrm>
            <a:off x="4042745" y="5221224"/>
            <a:ext cx="1222004" cy="3383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78" name="s33_sc3"/>
          <p:cNvSpPr/>
          <p:nvPr/>
        </p:nvSpPr>
        <p:spPr>
          <a:xfrm>
            <a:off x="4015313" y="5193792"/>
            <a:ext cx="1222004" cy="338328"/>
          </a:xfrm>
          <a:prstGeom prst="rect">
            <a:avLst/>
          </a:prstGeom>
          <a:solidFill>
            <a:srgbClr val="FFFFFF"/>
          </a:solidFill>
          <a:ln w="17780">
            <a:solidFill>
              <a:srgbClr val="1B1D22"/>
            </a:solidFill>
            <a:prstDash val="solid"/>
          </a:ln>
        </p:spPr>
      </p:sp>
      <p:sp>
        <p:nvSpPr>
          <p:cNvPr id="79" name="s33_sc3_t"/>
          <p:cNvSpPr/>
          <p:nvPr/>
        </p:nvSpPr>
        <p:spPr>
          <a:xfrm>
            <a:off x="4015313" y="5193792"/>
            <a:ext cx="122200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OPENCODE + PI</a:t>
            </a:r>
            <a:endParaRPr lang="en-US" sz="900" dirty="0"/>
          </a:p>
        </p:txBody>
      </p:sp>
      <p:sp>
        <p:nvSpPr>
          <p:cNvPr id="80" name="s33_sect"/>
          <p:cNvSpPr/>
          <p:nvPr/>
        </p:nvSpPr>
        <p:spPr>
          <a:xfrm>
            <a:off x="777240" y="5779008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 slides per surface — spec state, then the harnesses in two pairs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34_vx_v1"/>
          <p:cNvSpPr/>
          <p:nvPr/>
        </p:nvSpPr>
        <p:spPr>
          <a:xfrm>
            <a:off x="11137392" y="384048"/>
            <a:ext cx="128016" cy="12801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" name="s34_vx_v2"/>
          <p:cNvSpPr/>
          <p:nvPr/>
        </p:nvSpPr>
        <p:spPr>
          <a:xfrm>
            <a:off x="11292840" y="384048"/>
            <a:ext cx="128016" cy="12801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" name="s34_vx_v3"/>
          <p:cNvSpPr/>
          <p:nvPr/>
        </p:nvSpPr>
        <p:spPr>
          <a:xfrm>
            <a:off x="11137392" y="539496"/>
            <a:ext cx="128016" cy="128016"/>
          </a:xfrm>
          <a:prstGeom prst="rect">
            <a:avLst/>
          </a:prstGeom>
          <a:solidFill>
            <a:srgbClr val="D97706"/>
          </a:solidFill>
          <a:ln/>
        </p:spPr>
      </p:sp>
      <p:pic>
        <p:nvPicPr>
          <p:cNvPr id="5" name="s34_kick" descr="assets/sks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02336"/>
            <a:ext cx="4519749" cy="182880"/>
          </a:xfrm>
          <a:prstGeom prst="rect">
            <a:avLst/>
          </a:prstGeom>
        </p:spPr>
      </p:pic>
      <p:pic>
        <p:nvPicPr>
          <p:cNvPr id="6" name="s34_title" descr="assets/st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58368"/>
            <a:ext cx="8490857" cy="475488"/>
          </a:xfrm>
          <a:prstGeom prst="rect">
            <a:avLst/>
          </a:prstGeom>
        </p:spPr>
      </p:pic>
      <p:sp>
        <p:nvSpPr>
          <p:cNvPr id="7" name="s34_spec"/>
          <p:cNvSpPr/>
          <p:nvPr/>
        </p:nvSpPr>
        <p:spPr>
          <a:xfrm>
            <a:off x="502920" y="1216152"/>
            <a:ext cx="10469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custom tools specification state — fields, rules, how the four diverge, and what the registry does about it</a:t>
            </a:r>
            <a:endParaRPr lang="en-US" sz="1100" dirty="0"/>
          </a:p>
        </p:txBody>
      </p:sp>
      <p:sp>
        <p:nvSpPr>
          <p:cNvPr id="8" name="s34_pg"/>
          <p:cNvSpPr/>
          <p:nvPr/>
        </p:nvSpPr>
        <p:spPr>
          <a:xfrm>
            <a:off x="11064240" y="648309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34 / 45</a:t>
            </a:r>
            <a:endParaRPr lang="en-US" sz="950" dirty="0"/>
          </a:p>
        </p:txBody>
      </p:sp>
      <p:sp>
        <p:nvSpPr>
          <p:cNvPr id="10" name="s34_f_sh"/>
          <p:cNvSpPr/>
          <p:nvPr/>
        </p:nvSpPr>
        <p:spPr>
          <a:xfrm>
            <a:off x="553212" y="1531620"/>
            <a:ext cx="5669280" cy="416052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1" name="s34_f"/>
          <p:cNvSpPr/>
          <p:nvPr/>
        </p:nvSpPr>
        <p:spPr>
          <a:xfrm>
            <a:off x="502920" y="1481328"/>
            <a:ext cx="5669280" cy="416052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12" name="s34_fb"/>
          <p:cNvSpPr/>
          <p:nvPr/>
        </p:nvSpPr>
        <p:spPr>
          <a:xfrm>
            <a:off x="777240" y="162763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FIELDS</a:t>
            </a:r>
            <a:endParaRPr lang="en-US" sz="1050" dirty="0"/>
          </a:p>
        </p:txBody>
      </p:sp>
      <p:sp>
        <p:nvSpPr>
          <p:cNvPr id="13" name="s34_fk0"/>
          <p:cNvSpPr/>
          <p:nvPr/>
        </p:nvSpPr>
        <p:spPr>
          <a:xfrm>
            <a:off x="777240" y="1920240"/>
            <a:ext cx="14173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900" dirty="0"/>
          </a:p>
        </p:txBody>
      </p:sp>
      <p:sp>
        <p:nvSpPr>
          <p:cNvPr id="14" name="s34_fv0"/>
          <p:cNvSpPr/>
          <p:nvPr/>
        </p:nvSpPr>
        <p:spPr>
          <a:xfrm>
            <a:off x="2240280" y="1920240"/>
            <a:ext cx="365760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 id → mcp__&lt;server&gt;__&lt;tool&gt;</a:t>
            </a:r>
            <a:endParaRPr lang="en-US" sz="850" dirty="0"/>
          </a:p>
        </p:txBody>
      </p:sp>
      <p:sp>
        <p:nvSpPr>
          <p:cNvPr id="15" name="s34_fhr0"/>
          <p:cNvSpPr/>
          <p:nvPr/>
        </p:nvSpPr>
        <p:spPr>
          <a:xfrm>
            <a:off x="777240" y="2272284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16" name="s34_fk1"/>
          <p:cNvSpPr/>
          <p:nvPr/>
        </p:nvSpPr>
        <p:spPr>
          <a:xfrm>
            <a:off x="777240" y="2272284"/>
            <a:ext cx="14173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</a:t>
            </a:r>
            <a:endParaRPr lang="en-US" sz="900" dirty="0"/>
          </a:p>
        </p:txBody>
      </p:sp>
      <p:sp>
        <p:nvSpPr>
          <p:cNvPr id="17" name="s34_fv1"/>
          <p:cNvSpPr/>
          <p:nvPr/>
        </p:nvSpPr>
        <p:spPr>
          <a:xfrm>
            <a:off x="2240280" y="2272284"/>
            <a:ext cx="365760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it does; model-visible text</a:t>
            </a:r>
            <a:endParaRPr lang="en-US" sz="850" dirty="0"/>
          </a:p>
        </p:txBody>
      </p:sp>
      <p:sp>
        <p:nvSpPr>
          <p:cNvPr id="18" name="s34_fhr1"/>
          <p:cNvSpPr/>
          <p:nvPr/>
        </p:nvSpPr>
        <p:spPr>
          <a:xfrm>
            <a:off x="777240" y="2624328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19" name="s34_fk2"/>
          <p:cNvSpPr/>
          <p:nvPr/>
        </p:nvSpPr>
        <p:spPr>
          <a:xfrm>
            <a:off x="777240" y="2624328"/>
            <a:ext cx="14173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inputSchema</a:t>
            </a:r>
            <a:endParaRPr lang="en-US" sz="900" dirty="0"/>
          </a:p>
        </p:txBody>
      </p:sp>
      <p:sp>
        <p:nvSpPr>
          <p:cNvPr id="20" name="s34_fv2"/>
          <p:cNvSpPr/>
          <p:nvPr/>
        </p:nvSpPr>
        <p:spPr>
          <a:xfrm>
            <a:off x="2240280" y="2624328"/>
            <a:ext cx="365760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args schema: JSON / Zod / TypeBox</a:t>
            </a:r>
            <a:endParaRPr lang="en-US" sz="850" dirty="0"/>
          </a:p>
        </p:txBody>
      </p:sp>
      <p:sp>
        <p:nvSpPr>
          <p:cNvPr id="21" name="s34_fhr2"/>
          <p:cNvSpPr/>
          <p:nvPr/>
        </p:nvSpPr>
        <p:spPr>
          <a:xfrm>
            <a:off x="777240" y="2976372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2" name="s34_fk3"/>
          <p:cNvSpPr/>
          <p:nvPr/>
        </p:nvSpPr>
        <p:spPr>
          <a:xfrm>
            <a:off x="777240" y="2976372"/>
            <a:ext cx="14173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execute</a:t>
            </a:r>
            <a:endParaRPr lang="en-US" sz="900" dirty="0"/>
          </a:p>
        </p:txBody>
      </p:sp>
      <p:sp>
        <p:nvSpPr>
          <p:cNvPr id="23" name="s34_fv3"/>
          <p:cNvSpPr/>
          <p:nvPr/>
        </p:nvSpPr>
        <p:spPr>
          <a:xfrm>
            <a:off x="2240280" y="2976372"/>
            <a:ext cx="365760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handler — TS fn or MCP server call</a:t>
            </a:r>
            <a:endParaRPr lang="en-US" sz="850" dirty="0"/>
          </a:p>
        </p:txBody>
      </p:sp>
      <p:sp>
        <p:nvSpPr>
          <p:cNvPr id="24" name="s34_fhr3"/>
          <p:cNvSpPr/>
          <p:nvPr/>
        </p:nvSpPr>
        <p:spPr>
          <a:xfrm>
            <a:off x="777240" y="3328416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5" name="s34_fk4"/>
          <p:cNvSpPr/>
          <p:nvPr/>
        </p:nvSpPr>
        <p:spPr>
          <a:xfrm>
            <a:off x="777240" y="3328416"/>
            <a:ext cx="14173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transport</a:t>
            </a:r>
            <a:endParaRPr lang="en-US" sz="900" dirty="0"/>
          </a:p>
        </p:txBody>
      </p:sp>
      <p:sp>
        <p:nvSpPr>
          <p:cNvPr id="26" name="s34_fv4"/>
          <p:cNvSpPr/>
          <p:nvPr/>
        </p:nvSpPr>
        <p:spPr>
          <a:xfrm>
            <a:off x="2240280" y="3328416"/>
            <a:ext cx="365760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in-process | stdio | streamable-http</a:t>
            </a:r>
            <a:endParaRPr lang="en-US" sz="850" dirty="0"/>
          </a:p>
        </p:txBody>
      </p:sp>
      <p:sp>
        <p:nvSpPr>
          <p:cNvPr id="27" name="s34_fhr4"/>
          <p:cNvSpPr/>
          <p:nvPr/>
        </p:nvSpPr>
        <p:spPr>
          <a:xfrm>
            <a:off x="777240" y="3680460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8" name="s34_fk5"/>
          <p:cNvSpPr/>
          <p:nvPr/>
        </p:nvSpPr>
        <p:spPr>
          <a:xfrm>
            <a:off x="777240" y="3680460"/>
            <a:ext cx="14173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exposure</a:t>
            </a:r>
            <a:endParaRPr lang="en-US" sz="900" dirty="0"/>
          </a:p>
        </p:txBody>
      </p:sp>
      <p:sp>
        <p:nvSpPr>
          <p:cNvPr id="29" name="s34_fv5"/>
          <p:cNvSpPr/>
          <p:nvPr/>
        </p:nvSpPr>
        <p:spPr>
          <a:xfrm>
            <a:off x="2240280" y="3680460"/>
            <a:ext cx="365760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pi: direct|model-only|codemode|deferred</a:t>
            </a:r>
            <a:endParaRPr lang="en-US" sz="850" dirty="0"/>
          </a:p>
        </p:txBody>
      </p:sp>
      <p:sp>
        <p:nvSpPr>
          <p:cNvPr id="30" name="s34_rb"/>
          <p:cNvSpPr/>
          <p:nvPr/>
        </p:nvSpPr>
        <p:spPr>
          <a:xfrm>
            <a:off x="777240" y="4114800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 RULES</a:t>
            </a:r>
            <a:endParaRPr lang="en-US" sz="900" dirty="0"/>
          </a:p>
        </p:txBody>
      </p:sp>
      <p:sp>
        <p:nvSpPr>
          <p:cNvPr id="31" name="s34_rb0"/>
          <p:cNvSpPr/>
          <p:nvPr/>
        </p:nvSpPr>
        <p:spPr>
          <a:xfrm>
            <a:off x="777240" y="4425696"/>
            <a:ext cx="82296" cy="8229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2" name="s34_rt0"/>
          <p:cNvSpPr/>
          <p:nvPr/>
        </p:nvSpPr>
        <p:spPr>
          <a:xfrm>
            <a:off x="941832" y="4379976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De-facto: expose custom tools as MCP servers</a:t>
            </a:r>
            <a:endParaRPr lang="en-US" sz="900" dirty="0"/>
          </a:p>
        </p:txBody>
      </p:sp>
      <p:sp>
        <p:nvSpPr>
          <p:cNvPr id="33" name="s34_rb1"/>
          <p:cNvSpPr/>
          <p:nvPr/>
        </p:nvSpPr>
        <p:spPr>
          <a:xfrm>
            <a:off x="777240" y="4727448"/>
            <a:ext cx="82296" cy="8229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4" name="s34_rt1"/>
          <p:cNvSpPr/>
          <p:nvPr/>
        </p:nvSpPr>
        <p:spPr>
          <a:xfrm>
            <a:off x="941832" y="4681728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Code-run tools ship review tier — in-process risk</a:t>
            </a:r>
            <a:endParaRPr lang="en-US" sz="900" dirty="0"/>
          </a:p>
        </p:txBody>
      </p:sp>
      <p:sp>
        <p:nvSpPr>
          <p:cNvPr id="35" name="s34_rb2"/>
          <p:cNvSpPr/>
          <p:nvPr/>
        </p:nvSpPr>
        <p:spPr>
          <a:xfrm>
            <a:off x="777240" y="5029200"/>
            <a:ext cx="82296" cy="8229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6" name="s34_rt2"/>
          <p:cNvSpPr/>
          <p:nvPr/>
        </p:nvSpPr>
        <p:spPr>
          <a:xfrm>
            <a:off x="941832" y="4983480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Codex registers none — declare unsupported</a:t>
            </a:r>
            <a:endParaRPr lang="en-US" sz="900" dirty="0"/>
          </a:p>
        </p:txBody>
      </p:sp>
      <p:sp>
        <p:nvSpPr>
          <p:cNvPr id="37" name="s34_rb3"/>
          <p:cNvSpPr/>
          <p:nvPr/>
        </p:nvSpPr>
        <p:spPr>
          <a:xfrm>
            <a:off x="777240" y="5330952"/>
            <a:ext cx="82296" cy="8229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8" name="s34_rt3"/>
          <p:cNvSpPr/>
          <p:nvPr/>
        </p:nvSpPr>
        <p:spPr>
          <a:xfrm>
            <a:off x="941832" y="5285232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Claude: SDK-only surface, no file-drop artifact</a:t>
            </a:r>
            <a:endParaRPr lang="en-US" sz="900" dirty="0"/>
          </a:p>
        </p:txBody>
      </p:sp>
      <p:sp>
        <p:nvSpPr>
          <p:cNvPr id="39" name="s34_h_sh"/>
          <p:cNvSpPr/>
          <p:nvPr/>
        </p:nvSpPr>
        <p:spPr>
          <a:xfrm>
            <a:off x="6451092" y="1531620"/>
            <a:ext cx="5285232" cy="288036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40" name="s34_h"/>
          <p:cNvSpPr/>
          <p:nvPr/>
        </p:nvSpPr>
        <p:spPr>
          <a:xfrm>
            <a:off x="6400800" y="1481328"/>
            <a:ext cx="5285232" cy="288036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41" name="s34_hb"/>
          <p:cNvSpPr/>
          <p:nvPr/>
        </p:nvSpPr>
        <p:spPr>
          <a:xfrm>
            <a:off x="6675120" y="1627632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THE FOUR IMPLEMENT IT</a:t>
            </a:r>
            <a:endParaRPr lang="en-US" sz="1050" dirty="0"/>
          </a:p>
        </p:txBody>
      </p:sp>
      <p:sp>
        <p:nvSpPr>
          <p:cNvPr id="42" name="s34_hb0"/>
          <p:cNvSpPr/>
          <p:nvPr/>
        </p:nvSpPr>
        <p:spPr>
          <a:xfrm>
            <a:off x="6675120" y="2157984"/>
            <a:ext cx="109728" cy="109728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43" name="s34_hk0"/>
          <p:cNvSpPr/>
          <p:nvPr/>
        </p:nvSpPr>
        <p:spPr>
          <a:xfrm>
            <a:off x="6894576" y="1938528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CLAUDE CODE</a:t>
            </a:r>
            <a:endParaRPr lang="en-US" sz="1000" dirty="0"/>
          </a:p>
        </p:txBody>
      </p:sp>
      <p:sp>
        <p:nvSpPr>
          <p:cNvPr id="44" name="s34_hv0"/>
          <p:cNvSpPr/>
          <p:nvPr/>
        </p:nvSpPr>
        <p:spPr>
          <a:xfrm>
            <a:off x="8275320" y="1938528"/>
            <a:ext cx="3154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 SDK customTools — in-process MCP</a:t>
            </a:r>
            <a:endParaRPr lang="en-US" sz="900" dirty="0"/>
          </a:p>
        </p:txBody>
      </p:sp>
      <p:sp>
        <p:nvSpPr>
          <p:cNvPr id="45" name="s34_hhr0"/>
          <p:cNvSpPr/>
          <p:nvPr/>
        </p:nvSpPr>
        <p:spPr>
          <a:xfrm>
            <a:off x="6675120" y="2505456"/>
            <a:ext cx="475488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46" name="s34_hb1"/>
          <p:cNvSpPr/>
          <p:nvPr/>
        </p:nvSpPr>
        <p:spPr>
          <a:xfrm>
            <a:off x="6675120" y="2734056"/>
            <a:ext cx="109728" cy="109728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7" name="s34_hk1"/>
          <p:cNvSpPr/>
          <p:nvPr/>
        </p:nvSpPr>
        <p:spPr>
          <a:xfrm>
            <a:off x="6894576" y="2514600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CODEX</a:t>
            </a:r>
            <a:endParaRPr lang="en-US" sz="1000" dirty="0"/>
          </a:p>
        </p:txBody>
      </p:sp>
      <p:sp>
        <p:nvSpPr>
          <p:cNvPr id="48" name="s34_hv1"/>
          <p:cNvSpPr/>
          <p:nvPr/>
        </p:nvSpPr>
        <p:spPr>
          <a:xfrm>
            <a:off x="8275320" y="2514600"/>
            <a:ext cx="3154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None; [tools]/[tool_suggest] toggles only</a:t>
            </a:r>
            <a:endParaRPr lang="en-US" sz="900" dirty="0"/>
          </a:p>
        </p:txBody>
      </p:sp>
      <p:sp>
        <p:nvSpPr>
          <p:cNvPr id="49" name="s34_hhr1"/>
          <p:cNvSpPr/>
          <p:nvPr/>
        </p:nvSpPr>
        <p:spPr>
          <a:xfrm>
            <a:off x="6675120" y="3081528"/>
            <a:ext cx="475488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50" name="s34_hb2"/>
          <p:cNvSpPr/>
          <p:nvPr/>
        </p:nvSpPr>
        <p:spPr>
          <a:xfrm>
            <a:off x="6675120" y="3310128"/>
            <a:ext cx="109728" cy="109728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51" name="s34_hk2"/>
          <p:cNvSpPr/>
          <p:nvPr/>
        </p:nvSpPr>
        <p:spPr>
          <a:xfrm>
            <a:off x="6894576" y="3090672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OPENCODE</a:t>
            </a:r>
            <a:endParaRPr lang="en-US" sz="1000" dirty="0"/>
          </a:p>
        </p:txBody>
      </p:sp>
      <p:sp>
        <p:nvSpPr>
          <p:cNvPr id="52" name="s34_hv2"/>
          <p:cNvSpPr/>
          <p:nvPr/>
        </p:nvSpPr>
        <p:spPr>
          <a:xfrm>
            <a:off x="8275320" y="3090672"/>
            <a:ext cx="3154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tool() in TS plugin; Zod args schema</a:t>
            </a:r>
            <a:endParaRPr lang="en-US" sz="900" dirty="0"/>
          </a:p>
        </p:txBody>
      </p:sp>
      <p:sp>
        <p:nvSpPr>
          <p:cNvPr id="53" name="s34_hhr2"/>
          <p:cNvSpPr/>
          <p:nvPr/>
        </p:nvSpPr>
        <p:spPr>
          <a:xfrm>
            <a:off x="6675120" y="3657600"/>
            <a:ext cx="475488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54" name="s34_hb3"/>
          <p:cNvSpPr/>
          <p:nvPr/>
        </p:nvSpPr>
        <p:spPr>
          <a:xfrm>
            <a:off x="6675120" y="3886200"/>
            <a:ext cx="109728" cy="10972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5" name="s34_hk3"/>
          <p:cNvSpPr/>
          <p:nvPr/>
        </p:nvSpPr>
        <p:spPr>
          <a:xfrm>
            <a:off x="6894576" y="3666744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</a:t>
            </a:r>
            <a:endParaRPr lang="en-US" sz="1000" dirty="0"/>
          </a:p>
        </p:txBody>
      </p:sp>
      <p:sp>
        <p:nvSpPr>
          <p:cNvPr id="56" name="s34_hv3"/>
          <p:cNvSpPr/>
          <p:nvPr/>
        </p:nvSpPr>
        <p:spPr>
          <a:xfrm>
            <a:off x="8275320" y="3666744"/>
            <a:ext cx="3154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pi.registerTool; TypeBox + exposure flags</a:t>
            </a:r>
            <a:endParaRPr lang="en-US" sz="900" dirty="0"/>
          </a:p>
        </p:txBody>
      </p:sp>
      <p:sp>
        <p:nvSpPr>
          <p:cNvPr id="57" name="s34_st_sh"/>
          <p:cNvSpPr/>
          <p:nvPr/>
        </p:nvSpPr>
        <p:spPr>
          <a:xfrm>
            <a:off x="6451092" y="4549140"/>
            <a:ext cx="5285232" cy="114300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58" name="s34_st"/>
          <p:cNvSpPr/>
          <p:nvPr/>
        </p:nvSpPr>
        <p:spPr>
          <a:xfrm>
            <a:off x="6400800" y="4498848"/>
            <a:ext cx="5285232" cy="1143000"/>
          </a:xfrm>
          <a:prstGeom prst="rect">
            <a:avLst/>
          </a:prstGeom>
          <a:solidFill>
            <a:srgbClr val="1B1D22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59" name="s34_sb"/>
          <p:cNvSpPr/>
          <p:nvPr/>
        </p:nvSpPr>
        <p:spPr>
          <a:xfrm>
            <a:off x="6675120" y="46268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7CB0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REGISTRY STANCE</a:t>
            </a:r>
            <a:endParaRPr lang="en-US" sz="900" dirty="0"/>
          </a:p>
        </p:txBody>
      </p:sp>
      <p:sp>
        <p:nvSpPr>
          <p:cNvPr id="60" name="s34_stt"/>
          <p:cNvSpPr/>
          <p:nvPr/>
        </p:nvSpPr>
        <p:spPr>
          <a:xfrm>
            <a:off x="6675120" y="4882896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Define tools once as MCP; codegen Zod/TypeBox wrappers where harnesses demand code</a:t>
            </a:r>
            <a:endParaRPr lang="en-US" sz="1100" dirty="0"/>
          </a:p>
        </p:txBody>
      </p:sp>
      <p:sp>
        <p:nvSpPr>
          <p:cNvPr id="61" name="s34_g_sh"/>
          <p:cNvSpPr/>
          <p:nvPr/>
        </p:nvSpPr>
        <p:spPr>
          <a:xfrm>
            <a:off x="553212" y="5829300"/>
            <a:ext cx="11183112" cy="65836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62" name="s34_g"/>
          <p:cNvSpPr/>
          <p:nvPr/>
        </p:nvSpPr>
        <p:spPr>
          <a:xfrm>
            <a:off x="502920" y="5779008"/>
            <a:ext cx="11183112" cy="658368"/>
          </a:xfrm>
          <a:prstGeom prst="rect">
            <a:avLst/>
          </a:prstGeom>
          <a:solidFill>
            <a:srgbClr val="EFEFEA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63" name="s34_gt"/>
          <p:cNvSpPr/>
          <p:nvPr/>
        </p:nvSpPr>
        <p:spPr>
          <a:xfrm>
            <a:off x="777240" y="5852160"/>
            <a:ext cx="10607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GAPS THE REGISTRY OWNS — Schemas diverge: JSON vs Zod vs TypeBox  ·  No installable artifact — tools live in code  ·  Nothing to version, hash, or pin per tool</a:t>
            </a:r>
            <a:endParaRPr lang="en-US" sz="9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35_vx_v1"/>
          <p:cNvSpPr/>
          <p:nvPr/>
        </p:nvSpPr>
        <p:spPr>
          <a:xfrm>
            <a:off x="11137392" y="384048"/>
            <a:ext cx="128016" cy="12801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" name="s35_vx_v2"/>
          <p:cNvSpPr/>
          <p:nvPr/>
        </p:nvSpPr>
        <p:spPr>
          <a:xfrm>
            <a:off x="11292840" y="384048"/>
            <a:ext cx="128016" cy="12801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" name="s35_vx_v3"/>
          <p:cNvSpPr/>
          <p:nvPr/>
        </p:nvSpPr>
        <p:spPr>
          <a:xfrm>
            <a:off x="11137392" y="539496"/>
            <a:ext cx="128016" cy="128016"/>
          </a:xfrm>
          <a:prstGeom prst="rect">
            <a:avLst/>
          </a:prstGeom>
          <a:solidFill>
            <a:srgbClr val="D97706"/>
          </a:solidFill>
          <a:ln/>
        </p:spPr>
      </p:sp>
      <p:pic>
        <p:nvPicPr>
          <p:cNvPr id="5" name="s35_kick" descr="assets/skc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02336"/>
            <a:ext cx="6087291" cy="182880"/>
          </a:xfrm>
          <a:prstGeom prst="rect">
            <a:avLst/>
          </a:prstGeom>
        </p:spPr>
      </p:pic>
      <p:pic>
        <p:nvPicPr>
          <p:cNvPr id="6" name="s35_title" descr="assets/srf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58368"/>
            <a:ext cx="4822807" cy="475488"/>
          </a:xfrm>
          <a:prstGeom prst="rect">
            <a:avLst/>
          </a:prstGeom>
        </p:spPr>
      </p:pic>
      <p:sp>
        <p:nvSpPr>
          <p:cNvPr id="7" name="s35_spec"/>
          <p:cNvSpPr/>
          <p:nvPr/>
        </p:nvSpPr>
        <p:spPr>
          <a:xfrm>
            <a:off x="502920" y="1216152"/>
            <a:ext cx="10469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 TOOLS in claude code + codex — the two most popular first</a:t>
            </a:r>
            <a:endParaRPr lang="en-US" sz="1100" dirty="0"/>
          </a:p>
        </p:txBody>
      </p:sp>
      <p:sp>
        <p:nvSpPr>
          <p:cNvPr id="8" name="s35_pg"/>
          <p:cNvSpPr/>
          <p:nvPr/>
        </p:nvSpPr>
        <p:spPr>
          <a:xfrm>
            <a:off x="11064240" y="648309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35 / 45</a:t>
            </a:r>
            <a:endParaRPr lang="en-US" sz="950" dirty="0"/>
          </a:p>
        </p:txBody>
      </p:sp>
      <p:sp>
        <p:nvSpPr>
          <p:cNvPr id="10" name="s35_c0_sh"/>
          <p:cNvSpPr/>
          <p:nvPr/>
        </p:nvSpPr>
        <p:spPr>
          <a:xfrm>
            <a:off x="553212" y="1531620"/>
            <a:ext cx="5477256" cy="489204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1" name="s35_c0"/>
          <p:cNvSpPr/>
          <p:nvPr/>
        </p:nvSpPr>
        <p:spPr>
          <a:xfrm>
            <a:off x="502920" y="1481328"/>
            <a:ext cx="5477256" cy="489204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12" name="s35_c0_sq"/>
          <p:cNvSpPr/>
          <p:nvPr/>
        </p:nvSpPr>
        <p:spPr>
          <a:xfrm>
            <a:off x="731520" y="1673352"/>
            <a:ext cx="137160" cy="13716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3" name="s35_c0_topic"/>
          <p:cNvSpPr/>
          <p:nvPr/>
        </p:nvSpPr>
        <p:spPr>
          <a:xfrm>
            <a:off x="960120" y="1609344"/>
            <a:ext cx="37965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50" kern="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 TOOLS</a:t>
            </a:r>
            <a:endParaRPr lang="en-US" sz="1300" dirty="0"/>
          </a:p>
        </p:txBody>
      </p:sp>
      <p:sp>
        <p:nvSpPr>
          <p:cNvPr id="14" name="s35_c0_vc_sh"/>
          <p:cNvSpPr/>
          <p:nvPr/>
        </p:nvSpPr>
        <p:spPr>
          <a:xfrm>
            <a:off x="4811573" y="1636776"/>
            <a:ext cx="994867" cy="3383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5" name="s35_c0_vc"/>
          <p:cNvSpPr/>
          <p:nvPr/>
        </p:nvSpPr>
        <p:spPr>
          <a:xfrm>
            <a:off x="4784141" y="1609344"/>
            <a:ext cx="994867" cy="338328"/>
          </a:xfrm>
          <a:prstGeom prst="rect">
            <a:avLst/>
          </a:prstGeom>
          <a:solidFill>
            <a:srgbClr val="EFEFEA"/>
          </a:solidFill>
          <a:ln w="15875">
            <a:solidFill>
              <a:srgbClr val="5C6068"/>
            </a:solidFill>
            <a:prstDash val="solid"/>
          </a:ln>
        </p:spPr>
      </p:sp>
      <p:sp>
        <p:nvSpPr>
          <p:cNvPr id="16" name="s35_c0_vc_t"/>
          <p:cNvSpPr/>
          <p:nvPr/>
        </p:nvSpPr>
        <p:spPr>
          <a:xfrm>
            <a:off x="4784141" y="1609344"/>
            <a:ext cx="99486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SURFACE</a:t>
            </a:r>
            <a:endParaRPr lang="en-US" sz="900" dirty="0"/>
          </a:p>
        </p:txBody>
      </p:sp>
      <p:sp>
        <p:nvSpPr>
          <p:cNvPr id="17" name="s35_c0_why"/>
          <p:cNvSpPr/>
          <p:nvPr/>
        </p:nvSpPr>
        <p:spPr>
          <a:xfrm>
            <a:off x="731520" y="2011680"/>
            <a:ext cx="5020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i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SDK code surface; nothing installable to drop</a:t>
            </a:r>
            <a:endParaRPr lang="en-US" sz="850" dirty="0"/>
          </a:p>
        </p:txBody>
      </p:sp>
      <p:sp>
        <p:nvSpPr>
          <p:cNvPr id="18" name="s35_c0_what"/>
          <p:cNvSpPr/>
          <p:nvPr/>
        </p:nvSpPr>
        <p:spPr>
          <a:xfrm>
            <a:off x="731520" y="2340864"/>
            <a:ext cx="5020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 tools written as in-process MCP servers in Agent SDK code</a:t>
            </a:r>
            <a:endParaRPr lang="en-US" sz="1050" dirty="0"/>
          </a:p>
        </p:txBody>
      </p:sp>
      <p:sp>
        <p:nvSpPr>
          <p:cNvPr id="19" name="s35_c0_hr1"/>
          <p:cNvSpPr/>
          <p:nvPr/>
        </p:nvSpPr>
        <p:spPr>
          <a:xfrm>
            <a:off x="731520" y="2798064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0" name="s35_c0_k0"/>
          <p:cNvSpPr/>
          <p:nvPr/>
        </p:nvSpPr>
        <p:spPr>
          <a:xfrm>
            <a:off x="731520" y="2852928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</a:t>
            </a:r>
            <a:endParaRPr lang="en-US" sz="850" dirty="0"/>
          </a:p>
        </p:txBody>
      </p:sp>
      <p:sp>
        <p:nvSpPr>
          <p:cNvPr id="21" name="s35_c0_v0"/>
          <p:cNvSpPr/>
          <p:nvPr/>
        </p:nvSpPr>
        <p:spPr>
          <a:xfrm>
            <a:off x="1883664" y="2852928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code only — Agent SDK customTools; no filesystem path</a:t>
            </a:r>
            <a:endParaRPr lang="en-US" sz="900" dirty="0"/>
          </a:p>
        </p:txBody>
      </p:sp>
      <p:sp>
        <p:nvSpPr>
          <p:cNvPr id="22" name="s35_c0_hr2"/>
          <p:cNvSpPr/>
          <p:nvPr/>
        </p:nvSpPr>
        <p:spPr>
          <a:xfrm>
            <a:off x="731520" y="3273552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3" name="s35_c0_k1"/>
          <p:cNvSpPr/>
          <p:nvPr/>
        </p:nvSpPr>
        <p:spPr>
          <a:xfrm>
            <a:off x="731520" y="3273552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FORMAT</a:t>
            </a:r>
            <a:endParaRPr lang="en-US" sz="850" dirty="0"/>
          </a:p>
        </p:txBody>
      </p:sp>
      <p:sp>
        <p:nvSpPr>
          <p:cNvPr id="24" name="s35_c0_v1"/>
          <p:cNvSpPr/>
          <p:nvPr/>
        </p:nvSpPr>
        <p:spPr>
          <a:xfrm>
            <a:off x="1883664" y="3273552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SDK code: in-process MCP server (customTools API)</a:t>
            </a:r>
            <a:endParaRPr lang="en-US" sz="900" dirty="0"/>
          </a:p>
        </p:txBody>
      </p:sp>
      <p:sp>
        <p:nvSpPr>
          <p:cNvPr id="25" name="s35_c0_hr3"/>
          <p:cNvSpPr/>
          <p:nvPr/>
        </p:nvSpPr>
        <p:spPr>
          <a:xfrm>
            <a:off x="731520" y="3694176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6" name="s35_c0_k2"/>
          <p:cNvSpPr/>
          <p:nvPr/>
        </p:nvSpPr>
        <p:spPr>
          <a:xfrm>
            <a:off x="731520" y="3694176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</a:t>
            </a:r>
            <a:endParaRPr lang="en-US" sz="850" dirty="0"/>
          </a:p>
        </p:txBody>
      </p:sp>
      <p:sp>
        <p:nvSpPr>
          <p:cNvPr id="27" name="s35_c0_v2"/>
          <p:cNvSpPr/>
          <p:nvPr/>
        </p:nvSpPr>
        <p:spPr>
          <a:xfrm>
            <a:off x="1883664" y="3694176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SDK customTools; no CLI, no file drop</a:t>
            </a:r>
            <a:endParaRPr lang="en-US" sz="900" dirty="0"/>
          </a:p>
        </p:txBody>
      </p:sp>
      <p:sp>
        <p:nvSpPr>
          <p:cNvPr id="28" name="s35_c0_hr4"/>
          <p:cNvSpPr/>
          <p:nvPr/>
        </p:nvSpPr>
        <p:spPr>
          <a:xfrm>
            <a:off x="731520" y="4114800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9" name="s35_c0_k3"/>
          <p:cNvSpPr/>
          <p:nvPr/>
        </p:nvSpPr>
        <p:spPr>
          <a:xfrm>
            <a:off x="731520" y="4114800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AUTO-UPDATE</a:t>
            </a:r>
            <a:endParaRPr lang="en-US" sz="850" dirty="0"/>
          </a:p>
        </p:txBody>
      </p:sp>
      <p:sp>
        <p:nvSpPr>
          <p:cNvPr id="30" name="s35_c0_v3"/>
          <p:cNvSpPr/>
          <p:nvPr/>
        </p:nvSpPr>
        <p:spPr>
          <a:xfrm>
            <a:off x="1883664" y="4114800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 — lives in host app code; there is no artifact to update</a:t>
            </a:r>
            <a:endParaRPr lang="en-US" sz="900" dirty="0"/>
          </a:p>
        </p:txBody>
      </p:sp>
      <p:sp>
        <p:nvSpPr>
          <p:cNvPr id="31" name="s35_c0_emp"/>
          <p:cNvSpPr/>
          <p:nvPr/>
        </p:nvSpPr>
        <p:spPr>
          <a:xfrm>
            <a:off x="704088" y="4626864"/>
            <a:ext cx="5074920" cy="1581912"/>
          </a:xfrm>
          <a:prstGeom prst="rect">
            <a:avLst/>
          </a:prstGeom>
          <a:solidFill>
            <a:srgbClr val="FBEEDD"/>
          </a:solidFill>
          <a:ln/>
        </p:spPr>
      </p:sp>
      <p:sp>
        <p:nvSpPr>
          <p:cNvPr id="32" name="s35_c0_emb"/>
          <p:cNvSpPr/>
          <p:nvPr/>
        </p:nvSpPr>
        <p:spPr>
          <a:xfrm>
            <a:off x="886968" y="4736592"/>
            <a:ext cx="4709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spc="200" kern="0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REGISTRY EMISSION</a:t>
            </a:r>
            <a:endParaRPr lang="en-US" sz="800" dirty="0"/>
          </a:p>
        </p:txBody>
      </p:sp>
      <p:sp>
        <p:nvSpPr>
          <p:cNvPr id="33" name="s35_c0_em"/>
          <p:cNvSpPr/>
          <p:nvPr/>
        </p:nvSpPr>
        <p:spPr>
          <a:xfrm>
            <a:off x="886968" y="4956048"/>
            <a:ext cx="470916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install.claude: none — code-only surface</a:t>
            </a:r>
            <a:endParaRPr lang="en-US" sz="9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compatibility.surfaces: [] (no drop path)</a:t>
            </a:r>
            <a:endParaRPr lang="en-US" sz="9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 manifest, no version, nothing to pin</a:t>
            </a:r>
            <a:endParaRPr lang="en-US" sz="900" dirty="0"/>
          </a:p>
        </p:txBody>
      </p:sp>
      <p:sp>
        <p:nvSpPr>
          <p:cNvPr id="34" name="s35_c1_sh"/>
          <p:cNvSpPr/>
          <p:nvPr/>
        </p:nvSpPr>
        <p:spPr>
          <a:xfrm>
            <a:off x="6259068" y="1531620"/>
            <a:ext cx="5477256" cy="489204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35" name="s35_c1"/>
          <p:cNvSpPr/>
          <p:nvPr/>
        </p:nvSpPr>
        <p:spPr>
          <a:xfrm>
            <a:off x="6208776" y="1481328"/>
            <a:ext cx="5477256" cy="489204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36" name="s35_c1_sq"/>
          <p:cNvSpPr/>
          <p:nvPr/>
        </p:nvSpPr>
        <p:spPr>
          <a:xfrm>
            <a:off x="6437376" y="1673352"/>
            <a:ext cx="137160" cy="13716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7" name="s35_c1_topic"/>
          <p:cNvSpPr/>
          <p:nvPr/>
        </p:nvSpPr>
        <p:spPr>
          <a:xfrm>
            <a:off x="6665976" y="1609344"/>
            <a:ext cx="37965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50" kern="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 TOOLS</a:t>
            </a:r>
            <a:endParaRPr lang="en-US" sz="1300" dirty="0"/>
          </a:p>
        </p:txBody>
      </p:sp>
      <p:sp>
        <p:nvSpPr>
          <p:cNvPr id="38" name="s35_c1_vc_sh"/>
          <p:cNvSpPr/>
          <p:nvPr/>
        </p:nvSpPr>
        <p:spPr>
          <a:xfrm>
            <a:off x="10517429" y="1636776"/>
            <a:ext cx="994867" cy="3383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39" name="s35_c1_vc"/>
          <p:cNvSpPr/>
          <p:nvPr/>
        </p:nvSpPr>
        <p:spPr>
          <a:xfrm>
            <a:off x="10489997" y="1609344"/>
            <a:ext cx="994867" cy="338328"/>
          </a:xfrm>
          <a:prstGeom prst="rect">
            <a:avLst/>
          </a:prstGeom>
          <a:solidFill>
            <a:srgbClr val="EFEFEA"/>
          </a:solidFill>
          <a:ln w="15875">
            <a:solidFill>
              <a:srgbClr val="5C6068"/>
            </a:solidFill>
            <a:prstDash val="solid"/>
          </a:ln>
        </p:spPr>
      </p:sp>
      <p:sp>
        <p:nvSpPr>
          <p:cNvPr id="40" name="s35_c1_vc_t"/>
          <p:cNvSpPr/>
          <p:nvPr/>
        </p:nvSpPr>
        <p:spPr>
          <a:xfrm>
            <a:off x="10489997" y="1609344"/>
            <a:ext cx="99486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SURFACE</a:t>
            </a:r>
            <a:endParaRPr lang="en-US" sz="900" dirty="0"/>
          </a:p>
        </p:txBody>
      </p:sp>
      <p:sp>
        <p:nvSpPr>
          <p:cNvPr id="41" name="s35_c1_why"/>
          <p:cNvSpPr/>
          <p:nvPr/>
        </p:nvSpPr>
        <p:spPr>
          <a:xfrm>
            <a:off x="6437376" y="2011680"/>
            <a:ext cx="5020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i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only [tools]/[tool_suggest] toggles; rust-v0.163.0, 2026-10</a:t>
            </a:r>
            <a:endParaRPr lang="en-US" sz="850" dirty="0"/>
          </a:p>
        </p:txBody>
      </p:sp>
      <p:sp>
        <p:nvSpPr>
          <p:cNvPr id="42" name="s35_c1_what"/>
          <p:cNvSpPr/>
          <p:nvPr/>
        </p:nvSpPr>
        <p:spPr>
          <a:xfrm>
            <a:off x="6437376" y="2340864"/>
            <a:ext cx="5020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custom-tool registration; only [tools]/[tool_suggest] toggles.</a:t>
            </a:r>
            <a:endParaRPr lang="en-US" sz="1050" dirty="0"/>
          </a:p>
        </p:txBody>
      </p:sp>
      <p:sp>
        <p:nvSpPr>
          <p:cNvPr id="43" name="s35_c1_hr1"/>
          <p:cNvSpPr/>
          <p:nvPr/>
        </p:nvSpPr>
        <p:spPr>
          <a:xfrm>
            <a:off x="6437376" y="2798064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44" name="s35_c1_k0"/>
          <p:cNvSpPr/>
          <p:nvPr/>
        </p:nvSpPr>
        <p:spPr>
          <a:xfrm>
            <a:off x="6437376" y="2852928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</a:t>
            </a:r>
            <a:endParaRPr lang="en-US" sz="850" dirty="0"/>
          </a:p>
        </p:txBody>
      </p:sp>
      <p:sp>
        <p:nvSpPr>
          <p:cNvPr id="45" name="s35_c1_v0"/>
          <p:cNvSpPr/>
          <p:nvPr/>
        </p:nvSpPr>
        <p:spPr>
          <a:xfrm>
            <a:off x="7589520" y="2852928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—</a:t>
            </a:r>
            <a:endParaRPr lang="en-US" sz="900" dirty="0"/>
          </a:p>
        </p:txBody>
      </p:sp>
      <p:sp>
        <p:nvSpPr>
          <p:cNvPr id="46" name="s35_c1_hr2"/>
          <p:cNvSpPr/>
          <p:nvPr/>
        </p:nvSpPr>
        <p:spPr>
          <a:xfrm>
            <a:off x="6437376" y="3273552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47" name="s35_c1_k1"/>
          <p:cNvSpPr/>
          <p:nvPr/>
        </p:nvSpPr>
        <p:spPr>
          <a:xfrm>
            <a:off x="6437376" y="3273552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FORMAT</a:t>
            </a:r>
            <a:endParaRPr lang="en-US" sz="850" dirty="0"/>
          </a:p>
        </p:txBody>
      </p:sp>
      <p:sp>
        <p:nvSpPr>
          <p:cNvPr id="48" name="s35_c1_v1"/>
          <p:cNvSpPr/>
          <p:nvPr/>
        </p:nvSpPr>
        <p:spPr>
          <a:xfrm>
            <a:off x="7589520" y="3273552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—</a:t>
            </a:r>
            <a:endParaRPr lang="en-US" sz="900" dirty="0"/>
          </a:p>
        </p:txBody>
      </p:sp>
      <p:sp>
        <p:nvSpPr>
          <p:cNvPr id="49" name="s35_c1_hr3"/>
          <p:cNvSpPr/>
          <p:nvPr/>
        </p:nvSpPr>
        <p:spPr>
          <a:xfrm>
            <a:off x="6437376" y="3694176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50" name="s35_c1_k2"/>
          <p:cNvSpPr/>
          <p:nvPr/>
        </p:nvSpPr>
        <p:spPr>
          <a:xfrm>
            <a:off x="6437376" y="3694176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</a:t>
            </a:r>
            <a:endParaRPr lang="en-US" sz="850" dirty="0"/>
          </a:p>
        </p:txBody>
      </p:sp>
      <p:sp>
        <p:nvSpPr>
          <p:cNvPr id="51" name="s35_c1_v2"/>
          <p:cNvSpPr/>
          <p:nvPr/>
        </p:nvSpPr>
        <p:spPr>
          <a:xfrm>
            <a:off x="7589520" y="3694176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—</a:t>
            </a:r>
            <a:endParaRPr lang="en-US" sz="900" dirty="0"/>
          </a:p>
        </p:txBody>
      </p:sp>
      <p:sp>
        <p:nvSpPr>
          <p:cNvPr id="52" name="s35_c1_hr4"/>
          <p:cNvSpPr/>
          <p:nvPr/>
        </p:nvSpPr>
        <p:spPr>
          <a:xfrm>
            <a:off x="6437376" y="4114800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53" name="s35_c1_k3"/>
          <p:cNvSpPr/>
          <p:nvPr/>
        </p:nvSpPr>
        <p:spPr>
          <a:xfrm>
            <a:off x="6437376" y="4114800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AUTO-UPDATE</a:t>
            </a:r>
            <a:endParaRPr lang="en-US" sz="850" dirty="0"/>
          </a:p>
        </p:txBody>
      </p:sp>
      <p:sp>
        <p:nvSpPr>
          <p:cNvPr id="54" name="s35_c1_v3"/>
          <p:cNvSpPr/>
          <p:nvPr/>
        </p:nvSpPr>
        <p:spPr>
          <a:xfrm>
            <a:off x="7589520" y="4114800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N/A — no artifact exists to update.</a:t>
            </a:r>
            <a:endParaRPr lang="en-US" sz="900" dirty="0"/>
          </a:p>
        </p:txBody>
      </p:sp>
      <p:sp>
        <p:nvSpPr>
          <p:cNvPr id="55" name="s35_c1_emp"/>
          <p:cNvSpPr/>
          <p:nvPr/>
        </p:nvSpPr>
        <p:spPr>
          <a:xfrm>
            <a:off x="6409944" y="4626864"/>
            <a:ext cx="5074920" cy="1581912"/>
          </a:xfrm>
          <a:prstGeom prst="rect">
            <a:avLst/>
          </a:prstGeom>
          <a:solidFill>
            <a:srgbClr val="E5F5EA"/>
          </a:solidFill>
          <a:ln/>
        </p:spPr>
      </p:sp>
      <p:sp>
        <p:nvSpPr>
          <p:cNvPr id="56" name="s35_c1_emb"/>
          <p:cNvSpPr/>
          <p:nvPr/>
        </p:nvSpPr>
        <p:spPr>
          <a:xfrm>
            <a:off x="6592824" y="4736592"/>
            <a:ext cx="4709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spc="200" kern="0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REGISTRY EMISSION</a:t>
            </a:r>
            <a:endParaRPr lang="en-US" sz="800" dirty="0"/>
          </a:p>
        </p:txBody>
      </p:sp>
      <p:sp>
        <p:nvSpPr>
          <p:cNvPr id="57" name="s35_c1_em"/>
          <p:cNvSpPr/>
          <p:nvPr/>
        </p:nvSpPr>
        <p:spPr>
          <a:xfrm>
            <a:off x="6592824" y="4956048"/>
            <a:ext cx="470916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compat.harnesses.codex.supported = false</a:t>
            </a:r>
            <a:endParaRPr lang="en-US" sz="9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surfaces: [] · via: []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36_vx_v1"/>
          <p:cNvSpPr/>
          <p:nvPr/>
        </p:nvSpPr>
        <p:spPr>
          <a:xfrm>
            <a:off x="11137392" y="384048"/>
            <a:ext cx="128016" cy="12801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" name="s36_vx_v2"/>
          <p:cNvSpPr/>
          <p:nvPr/>
        </p:nvSpPr>
        <p:spPr>
          <a:xfrm>
            <a:off x="11292840" y="384048"/>
            <a:ext cx="128016" cy="12801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" name="s36_vx_v3"/>
          <p:cNvSpPr/>
          <p:nvPr/>
        </p:nvSpPr>
        <p:spPr>
          <a:xfrm>
            <a:off x="11137392" y="539496"/>
            <a:ext cx="128016" cy="128016"/>
          </a:xfrm>
          <a:prstGeom prst="rect">
            <a:avLst/>
          </a:prstGeom>
          <a:solidFill>
            <a:srgbClr val="D97706"/>
          </a:solidFill>
          <a:ln/>
        </p:spPr>
      </p:sp>
      <p:pic>
        <p:nvPicPr>
          <p:cNvPr id="5" name="s36_kick" descr="assets/sko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02336"/>
            <a:ext cx="5930537" cy="182880"/>
          </a:xfrm>
          <a:prstGeom prst="rect">
            <a:avLst/>
          </a:prstGeom>
        </p:spPr>
      </p:pic>
      <p:pic>
        <p:nvPicPr>
          <p:cNvPr id="6" name="s36_title" descr="assets/srf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58368"/>
            <a:ext cx="4822807" cy="475488"/>
          </a:xfrm>
          <a:prstGeom prst="rect">
            <a:avLst/>
          </a:prstGeom>
        </p:spPr>
      </p:pic>
      <p:sp>
        <p:nvSpPr>
          <p:cNvPr id="7" name="s36_spec"/>
          <p:cNvSpPr/>
          <p:nvPr/>
        </p:nvSpPr>
        <p:spPr>
          <a:xfrm>
            <a:off x="502920" y="1216152"/>
            <a:ext cx="10469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 TOOLS in opencode + pi</a:t>
            </a:r>
            <a:endParaRPr lang="en-US" sz="1100" dirty="0"/>
          </a:p>
        </p:txBody>
      </p:sp>
      <p:sp>
        <p:nvSpPr>
          <p:cNvPr id="8" name="s36_pg"/>
          <p:cNvSpPr/>
          <p:nvPr/>
        </p:nvSpPr>
        <p:spPr>
          <a:xfrm>
            <a:off x="11064240" y="648309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36 / 45</a:t>
            </a:r>
            <a:endParaRPr lang="en-US" sz="950" dirty="0"/>
          </a:p>
        </p:txBody>
      </p:sp>
      <p:sp>
        <p:nvSpPr>
          <p:cNvPr id="10" name="s36_c0_sh"/>
          <p:cNvSpPr/>
          <p:nvPr/>
        </p:nvSpPr>
        <p:spPr>
          <a:xfrm>
            <a:off x="553212" y="1531620"/>
            <a:ext cx="5477256" cy="489204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1" name="s36_c0"/>
          <p:cNvSpPr/>
          <p:nvPr/>
        </p:nvSpPr>
        <p:spPr>
          <a:xfrm>
            <a:off x="502920" y="1481328"/>
            <a:ext cx="5477256" cy="489204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12" name="s36_c0_sq"/>
          <p:cNvSpPr/>
          <p:nvPr/>
        </p:nvSpPr>
        <p:spPr>
          <a:xfrm>
            <a:off x="731520" y="1673352"/>
            <a:ext cx="137160" cy="137160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13" name="s36_c0_topic"/>
          <p:cNvSpPr/>
          <p:nvPr/>
        </p:nvSpPr>
        <p:spPr>
          <a:xfrm>
            <a:off x="960120" y="1609344"/>
            <a:ext cx="38723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50" kern="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 TOOLS</a:t>
            </a:r>
            <a:endParaRPr lang="en-US" sz="1300" dirty="0"/>
          </a:p>
        </p:txBody>
      </p:sp>
      <p:sp>
        <p:nvSpPr>
          <p:cNvPr id="14" name="s36_c0_vc_sh"/>
          <p:cNvSpPr/>
          <p:nvPr/>
        </p:nvSpPr>
        <p:spPr>
          <a:xfrm>
            <a:off x="4887285" y="1636776"/>
            <a:ext cx="919155" cy="3383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5" name="s36_c0_vc"/>
          <p:cNvSpPr/>
          <p:nvPr/>
        </p:nvSpPr>
        <p:spPr>
          <a:xfrm>
            <a:off x="4859853" y="1609344"/>
            <a:ext cx="919155" cy="338328"/>
          </a:xfrm>
          <a:prstGeom prst="rect">
            <a:avLst/>
          </a:prstGeom>
          <a:solidFill>
            <a:srgbClr val="E7EEFD"/>
          </a:solidFill>
          <a:ln w="15875">
            <a:solidFill>
              <a:srgbClr val="2F6FED"/>
            </a:solidFill>
            <a:prstDash val="solid"/>
          </a:ln>
        </p:spPr>
      </p:sp>
      <p:sp>
        <p:nvSpPr>
          <p:cNvPr id="16" name="s36_c0_vc_t"/>
          <p:cNvSpPr/>
          <p:nvPr/>
        </p:nvSpPr>
        <p:spPr>
          <a:xfrm>
            <a:off x="4859853" y="1609344"/>
            <a:ext cx="919155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TRANSLATE</a:t>
            </a:r>
            <a:endParaRPr lang="en-US" sz="900" dirty="0"/>
          </a:p>
        </p:txBody>
      </p:sp>
      <p:sp>
        <p:nvSpPr>
          <p:cNvPr id="17" name="s36_c0_why"/>
          <p:cNvSpPr/>
          <p:nvPr/>
        </p:nvSpPr>
        <p:spPr>
          <a:xfrm>
            <a:off x="731520" y="2011680"/>
            <a:ext cx="5020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i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tool spec → codegen TS plugin tool()</a:t>
            </a:r>
            <a:endParaRPr lang="en-US" sz="850" dirty="0"/>
          </a:p>
        </p:txBody>
      </p:sp>
      <p:sp>
        <p:nvSpPr>
          <p:cNvPr id="18" name="s36_c0_what"/>
          <p:cNvSpPr/>
          <p:nvPr/>
        </p:nvSpPr>
        <p:spPr>
          <a:xfrm>
            <a:off x="731520" y="2340864"/>
            <a:ext cx="5020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Extra agent tools defined in TypeScript plugins via tool()</a:t>
            </a:r>
            <a:endParaRPr lang="en-US" sz="1050" dirty="0"/>
          </a:p>
        </p:txBody>
      </p:sp>
      <p:sp>
        <p:nvSpPr>
          <p:cNvPr id="19" name="s36_c0_hr1"/>
          <p:cNvSpPr/>
          <p:nvPr/>
        </p:nvSpPr>
        <p:spPr>
          <a:xfrm>
            <a:off x="731520" y="2798064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0" name="s36_c0_k0"/>
          <p:cNvSpPr/>
          <p:nvPr/>
        </p:nvSpPr>
        <p:spPr>
          <a:xfrm>
            <a:off x="731520" y="2852928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</a:t>
            </a:r>
            <a:endParaRPr lang="en-US" sz="850" dirty="0"/>
          </a:p>
        </p:txBody>
      </p:sp>
      <p:sp>
        <p:nvSpPr>
          <p:cNvPr id="21" name="s36_c0_v0"/>
          <p:cNvSpPr/>
          <p:nvPr/>
        </p:nvSpPr>
        <p:spPr>
          <a:xfrm>
            <a:off x="1883664" y="2852928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.opencode/plugins/*.ts (tool() in plugin module)</a:t>
            </a:r>
            <a:endParaRPr lang="en-US" sz="900" dirty="0"/>
          </a:p>
        </p:txBody>
      </p:sp>
      <p:sp>
        <p:nvSpPr>
          <p:cNvPr id="22" name="s36_c0_hr2"/>
          <p:cNvSpPr/>
          <p:nvPr/>
        </p:nvSpPr>
        <p:spPr>
          <a:xfrm>
            <a:off x="731520" y="3273552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3" name="s36_c0_k1"/>
          <p:cNvSpPr/>
          <p:nvPr/>
        </p:nvSpPr>
        <p:spPr>
          <a:xfrm>
            <a:off x="731520" y="3273552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FORMAT</a:t>
            </a:r>
            <a:endParaRPr lang="en-US" sz="850" dirty="0"/>
          </a:p>
        </p:txBody>
      </p:sp>
      <p:sp>
        <p:nvSpPr>
          <p:cNvPr id="24" name="s36_c0_v1"/>
          <p:cNvSpPr/>
          <p:nvPr/>
        </p:nvSpPr>
        <p:spPr>
          <a:xfrm>
            <a:off x="1883664" y="3273552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tool({ description, args: Zod, execute })</a:t>
            </a:r>
            <a:endParaRPr lang="en-US" sz="900" dirty="0"/>
          </a:p>
        </p:txBody>
      </p:sp>
      <p:sp>
        <p:nvSpPr>
          <p:cNvPr id="25" name="s36_c0_hr3"/>
          <p:cNvSpPr/>
          <p:nvPr/>
        </p:nvSpPr>
        <p:spPr>
          <a:xfrm>
            <a:off x="731520" y="3694176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6" name="s36_c0_k2"/>
          <p:cNvSpPr/>
          <p:nvPr/>
        </p:nvSpPr>
        <p:spPr>
          <a:xfrm>
            <a:off x="731520" y="3694176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</a:t>
            </a:r>
            <a:endParaRPr lang="en-US" sz="850" dirty="0"/>
          </a:p>
        </p:txBody>
      </p:sp>
      <p:sp>
        <p:nvSpPr>
          <p:cNvPr id="27" name="s36_c0_v2"/>
          <p:cNvSpPr/>
          <p:nvPr/>
        </p:nvSpPr>
        <p:spPr>
          <a:xfrm>
            <a:off x="1883664" y="3694176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opencode plugin add · check · update</a:t>
            </a:r>
            <a:endParaRPr lang="en-US" sz="900" dirty="0"/>
          </a:p>
        </p:txBody>
      </p:sp>
      <p:sp>
        <p:nvSpPr>
          <p:cNvPr id="28" name="s36_c0_hr4"/>
          <p:cNvSpPr/>
          <p:nvPr/>
        </p:nvSpPr>
        <p:spPr>
          <a:xfrm>
            <a:off x="731520" y="4114800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9" name="s36_c0_k3"/>
          <p:cNvSpPr/>
          <p:nvPr/>
        </p:nvSpPr>
        <p:spPr>
          <a:xfrm>
            <a:off x="731520" y="4114800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AUTO-UPDATE</a:t>
            </a:r>
            <a:endParaRPr lang="en-US" sz="850" dirty="0"/>
          </a:p>
        </p:txBody>
      </p:sp>
      <p:sp>
        <p:nvSpPr>
          <p:cNvPr id="30" name="s36_c0_v3"/>
          <p:cNvSpPr/>
          <p:nvPr/>
        </p:nvSpPr>
        <p:spPr>
          <a:xfrm>
            <a:off x="1883664" y="4114800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6A3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Yes — tools update with their plugin (plugin update)</a:t>
            </a:r>
            <a:endParaRPr lang="en-US" sz="900" dirty="0"/>
          </a:p>
        </p:txBody>
      </p:sp>
      <p:sp>
        <p:nvSpPr>
          <p:cNvPr id="31" name="s36_c0_emp"/>
          <p:cNvSpPr/>
          <p:nvPr/>
        </p:nvSpPr>
        <p:spPr>
          <a:xfrm>
            <a:off x="704088" y="4626864"/>
            <a:ext cx="5074920" cy="1581912"/>
          </a:xfrm>
          <a:prstGeom prst="rect">
            <a:avLst/>
          </a:prstGeom>
          <a:solidFill>
            <a:srgbClr val="E7EEFD"/>
          </a:solidFill>
          <a:ln/>
        </p:spPr>
      </p:sp>
      <p:sp>
        <p:nvSpPr>
          <p:cNvPr id="32" name="s36_c0_emb"/>
          <p:cNvSpPr/>
          <p:nvPr/>
        </p:nvSpPr>
        <p:spPr>
          <a:xfrm>
            <a:off x="886968" y="4736592"/>
            <a:ext cx="4709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spc="200" kern="0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REGISTRY EMISSION</a:t>
            </a:r>
            <a:endParaRPr lang="en-US" sz="800" dirty="0"/>
          </a:p>
        </p:txBody>
      </p:sp>
      <p:sp>
        <p:nvSpPr>
          <p:cNvPr id="33" name="s36_c0_em"/>
          <p:cNvSpPr/>
          <p:nvPr/>
        </p:nvSpPr>
        <p:spPr>
          <a:xfrm>
            <a:off x="886968" y="4956048"/>
            <a:ext cx="470916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emit tool({description, args: Zod, execute})</a:t>
            </a:r>
            <a:endParaRPr lang="en-US" sz="9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ship inside plugin pkg; override built-ins</a:t>
            </a:r>
            <a:endParaRPr lang="en-US" sz="9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validate: opencode plugin check</a:t>
            </a:r>
            <a:endParaRPr lang="en-US" sz="900" dirty="0"/>
          </a:p>
        </p:txBody>
      </p:sp>
      <p:sp>
        <p:nvSpPr>
          <p:cNvPr id="34" name="s36_c1_sh"/>
          <p:cNvSpPr/>
          <p:nvPr/>
        </p:nvSpPr>
        <p:spPr>
          <a:xfrm>
            <a:off x="6259068" y="1531620"/>
            <a:ext cx="5477256" cy="489204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35" name="s36_c1"/>
          <p:cNvSpPr/>
          <p:nvPr/>
        </p:nvSpPr>
        <p:spPr>
          <a:xfrm>
            <a:off x="6208776" y="1481328"/>
            <a:ext cx="5477256" cy="489204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36" name="s36_c1_sq"/>
          <p:cNvSpPr/>
          <p:nvPr/>
        </p:nvSpPr>
        <p:spPr>
          <a:xfrm>
            <a:off x="6437376" y="1673352"/>
            <a:ext cx="137160" cy="13716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7" name="s36_c1_topic"/>
          <p:cNvSpPr/>
          <p:nvPr/>
        </p:nvSpPr>
        <p:spPr>
          <a:xfrm>
            <a:off x="6665976" y="1609344"/>
            <a:ext cx="38723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50" kern="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 TOOLS</a:t>
            </a:r>
            <a:endParaRPr lang="en-US" sz="1300" dirty="0"/>
          </a:p>
        </p:txBody>
      </p:sp>
      <p:sp>
        <p:nvSpPr>
          <p:cNvPr id="38" name="s36_c1_vc_sh"/>
          <p:cNvSpPr/>
          <p:nvPr/>
        </p:nvSpPr>
        <p:spPr>
          <a:xfrm>
            <a:off x="10593141" y="1636776"/>
            <a:ext cx="919155" cy="3383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39" name="s36_c1_vc"/>
          <p:cNvSpPr/>
          <p:nvPr/>
        </p:nvSpPr>
        <p:spPr>
          <a:xfrm>
            <a:off x="10565709" y="1609344"/>
            <a:ext cx="919155" cy="338328"/>
          </a:xfrm>
          <a:prstGeom prst="rect">
            <a:avLst/>
          </a:prstGeom>
          <a:solidFill>
            <a:srgbClr val="E7EEFD"/>
          </a:solidFill>
          <a:ln w="15875">
            <a:solidFill>
              <a:srgbClr val="2F6FED"/>
            </a:solidFill>
            <a:prstDash val="solid"/>
          </a:ln>
        </p:spPr>
      </p:sp>
      <p:sp>
        <p:nvSpPr>
          <p:cNvPr id="40" name="s36_c1_vc_t"/>
          <p:cNvSpPr/>
          <p:nvPr/>
        </p:nvSpPr>
        <p:spPr>
          <a:xfrm>
            <a:off x="10565709" y="1609344"/>
            <a:ext cx="919155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TRANSLATE</a:t>
            </a:r>
            <a:endParaRPr lang="en-US" sz="900" dirty="0"/>
          </a:p>
        </p:txBody>
      </p:sp>
      <p:sp>
        <p:nvSpPr>
          <p:cNvPr id="41" name="s36_c1_why"/>
          <p:cNvSpPr/>
          <p:nvPr/>
        </p:nvSpPr>
        <p:spPr>
          <a:xfrm>
            <a:off x="6437376" y="2011680"/>
            <a:ext cx="5020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i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Tool spec must codegen to a TS pi.registerTool module</a:t>
            </a:r>
            <a:endParaRPr lang="en-US" sz="850" dirty="0"/>
          </a:p>
        </p:txBody>
      </p:sp>
      <p:sp>
        <p:nvSpPr>
          <p:cNvPr id="42" name="s36_c1_what"/>
          <p:cNvSpPr/>
          <p:nvPr/>
        </p:nvSpPr>
        <p:spPr>
          <a:xfrm>
            <a:off x="6437376" y="2340864"/>
            <a:ext cx="5020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Richest API: extensions register tools, commands, providers, events in TS</a:t>
            </a:r>
            <a:endParaRPr lang="en-US" sz="1050" dirty="0"/>
          </a:p>
        </p:txBody>
      </p:sp>
      <p:sp>
        <p:nvSpPr>
          <p:cNvPr id="43" name="s36_c1_hr1"/>
          <p:cNvSpPr/>
          <p:nvPr/>
        </p:nvSpPr>
        <p:spPr>
          <a:xfrm>
            <a:off x="6437376" y="2798064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44" name="s36_c1_k0"/>
          <p:cNvSpPr/>
          <p:nvPr/>
        </p:nvSpPr>
        <p:spPr>
          <a:xfrm>
            <a:off x="6437376" y="2852928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</a:t>
            </a:r>
            <a:endParaRPr lang="en-US" sz="850" dirty="0"/>
          </a:p>
        </p:txBody>
      </p:sp>
      <p:sp>
        <p:nvSpPr>
          <p:cNvPr id="45" name="s36_c1_v0"/>
          <p:cNvSpPr/>
          <p:nvPr/>
        </p:nvSpPr>
        <p:spPr>
          <a:xfrm>
            <a:off x="7589520" y="2852928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~/.pi/agent/extensions · .pi/extensions (trust-gated)</a:t>
            </a:r>
            <a:endParaRPr lang="en-US" sz="900" dirty="0"/>
          </a:p>
        </p:txBody>
      </p:sp>
      <p:sp>
        <p:nvSpPr>
          <p:cNvPr id="46" name="s36_c1_hr2"/>
          <p:cNvSpPr/>
          <p:nvPr/>
        </p:nvSpPr>
        <p:spPr>
          <a:xfrm>
            <a:off x="6437376" y="3273552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47" name="s36_c1_k1"/>
          <p:cNvSpPr/>
          <p:nvPr/>
        </p:nvSpPr>
        <p:spPr>
          <a:xfrm>
            <a:off x="6437376" y="3273552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FORMAT</a:t>
            </a:r>
            <a:endParaRPr lang="en-US" sz="850" dirty="0"/>
          </a:p>
        </p:txBody>
      </p:sp>
      <p:sp>
        <p:nvSpPr>
          <p:cNvPr id="48" name="s36_c1_v1"/>
          <p:cNvSpPr/>
          <p:nvPr/>
        </p:nvSpPr>
        <p:spPr>
          <a:xfrm>
            <a:off x="7589520" y="3273552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TS module; pi.registerTool(TypeBox schema, exposure)</a:t>
            </a:r>
            <a:endParaRPr lang="en-US" sz="900" dirty="0"/>
          </a:p>
        </p:txBody>
      </p:sp>
      <p:sp>
        <p:nvSpPr>
          <p:cNvPr id="49" name="s36_c1_hr3"/>
          <p:cNvSpPr/>
          <p:nvPr/>
        </p:nvSpPr>
        <p:spPr>
          <a:xfrm>
            <a:off x="6437376" y="3694176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50" name="s36_c1_k2"/>
          <p:cNvSpPr/>
          <p:nvPr/>
        </p:nvSpPr>
        <p:spPr>
          <a:xfrm>
            <a:off x="6437376" y="3694176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</a:t>
            </a:r>
            <a:endParaRPr lang="en-US" sz="850" dirty="0"/>
          </a:p>
        </p:txBody>
      </p:sp>
      <p:sp>
        <p:nvSpPr>
          <p:cNvPr id="51" name="s36_c1_v2"/>
          <p:cNvSpPr/>
          <p:nvPr/>
        </p:nvSpPr>
        <p:spPr>
          <a:xfrm>
            <a:off x="7589520" y="3694176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 install npm:&lt;pkg&gt; · pi -e ./tool.ts · /reload</a:t>
            </a:r>
            <a:endParaRPr lang="en-US" sz="900" dirty="0"/>
          </a:p>
        </p:txBody>
      </p:sp>
      <p:sp>
        <p:nvSpPr>
          <p:cNvPr id="52" name="s36_c1_hr4"/>
          <p:cNvSpPr/>
          <p:nvPr/>
        </p:nvSpPr>
        <p:spPr>
          <a:xfrm>
            <a:off x="6437376" y="4114800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53" name="s36_c1_k3"/>
          <p:cNvSpPr/>
          <p:nvPr/>
        </p:nvSpPr>
        <p:spPr>
          <a:xfrm>
            <a:off x="6437376" y="4114800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AUTO-UPDATE</a:t>
            </a:r>
            <a:endParaRPr lang="en-US" sz="850" dirty="0"/>
          </a:p>
        </p:txBody>
      </p:sp>
      <p:sp>
        <p:nvSpPr>
          <p:cNvPr id="54" name="s36_c1_v3"/>
          <p:cNvSpPr/>
          <p:nvPr/>
        </p:nvSpPr>
        <p:spPr>
          <a:xfrm>
            <a:off x="7589520" y="4114800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6A3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Yes when packaged — pi update --extensions; loose .ts drops manual</a:t>
            </a:r>
            <a:endParaRPr lang="en-US" sz="900" dirty="0"/>
          </a:p>
        </p:txBody>
      </p:sp>
      <p:sp>
        <p:nvSpPr>
          <p:cNvPr id="55" name="s36_c1_emp"/>
          <p:cNvSpPr/>
          <p:nvPr/>
        </p:nvSpPr>
        <p:spPr>
          <a:xfrm>
            <a:off x="6409944" y="4626864"/>
            <a:ext cx="5074920" cy="1581912"/>
          </a:xfrm>
          <a:prstGeom prst="rect">
            <a:avLst/>
          </a:prstGeom>
          <a:solidFill>
            <a:srgbClr val="EFE9FB"/>
          </a:solidFill>
          <a:ln/>
        </p:spPr>
      </p:sp>
      <p:sp>
        <p:nvSpPr>
          <p:cNvPr id="56" name="s36_c1_emb"/>
          <p:cNvSpPr/>
          <p:nvPr/>
        </p:nvSpPr>
        <p:spPr>
          <a:xfrm>
            <a:off x="6592824" y="4736592"/>
            <a:ext cx="4709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spc="200" kern="0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REGISTRY EMISSION</a:t>
            </a:r>
            <a:endParaRPr lang="en-US" sz="800" dirty="0"/>
          </a:p>
        </p:txBody>
      </p:sp>
      <p:sp>
        <p:nvSpPr>
          <p:cNvPr id="57" name="s36_c1_em"/>
          <p:cNvSpPr/>
          <p:nvPr/>
        </p:nvSpPr>
        <p:spPr>
          <a:xfrm>
            <a:off x="6592824" y="4956048"/>
            <a:ext cx="470916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gen: ext with pi.registerTool(TypeBox schema)</a:t>
            </a:r>
            <a:endParaRPr lang="en-US" sz="9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exposure: direct|model-only|codemode|deferred</a:t>
            </a:r>
            <a:endParaRPr lang="en-US" sz="9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tier: review — code runs in-process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37_vx_v1"/>
          <p:cNvSpPr/>
          <p:nvPr/>
        </p:nvSpPr>
        <p:spPr>
          <a:xfrm>
            <a:off x="11137392" y="384048"/>
            <a:ext cx="128016" cy="12801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" name="s37_vx_v2"/>
          <p:cNvSpPr/>
          <p:nvPr/>
        </p:nvSpPr>
        <p:spPr>
          <a:xfrm>
            <a:off x="11292840" y="384048"/>
            <a:ext cx="128016" cy="12801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" name="s37_vx_v3"/>
          <p:cNvSpPr/>
          <p:nvPr/>
        </p:nvSpPr>
        <p:spPr>
          <a:xfrm>
            <a:off x="11137392" y="539496"/>
            <a:ext cx="128016" cy="128016"/>
          </a:xfrm>
          <a:prstGeom prst="rect">
            <a:avLst/>
          </a:prstGeom>
          <a:solidFill>
            <a:srgbClr val="D97706"/>
          </a:solidFill>
          <a:ln/>
        </p:spPr>
      </p:sp>
      <p:pic>
        <p:nvPicPr>
          <p:cNvPr id="5" name="s37_kick" descr="assets/skb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02336"/>
            <a:ext cx="3265714" cy="182880"/>
          </a:xfrm>
          <a:prstGeom prst="rect">
            <a:avLst/>
          </a:prstGeom>
        </p:spPr>
      </p:pic>
      <p:pic>
        <p:nvPicPr>
          <p:cNvPr id="6" name="s37_title" descr="assets/srf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58368"/>
            <a:ext cx="4415246" cy="475488"/>
          </a:xfrm>
          <a:prstGeom prst="rect">
            <a:avLst/>
          </a:prstGeom>
        </p:spPr>
      </p:pic>
      <p:sp>
        <p:nvSpPr>
          <p:cNvPr id="7" name="s37_spec"/>
          <p:cNvSpPr/>
          <p:nvPr/>
        </p:nvSpPr>
        <p:spPr>
          <a:xfrm>
            <a:off x="502920" y="1216152"/>
            <a:ext cx="10469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custom status bar: a script Claude feeds session JSON; Pi reaches it via theme JSON</a:t>
            </a:r>
            <a:endParaRPr lang="en-US" sz="1100" dirty="0"/>
          </a:p>
        </p:txBody>
      </p:sp>
      <p:sp>
        <p:nvSpPr>
          <p:cNvPr id="8" name="s37_pg"/>
          <p:cNvSpPr/>
          <p:nvPr/>
        </p:nvSpPr>
        <p:spPr>
          <a:xfrm>
            <a:off x="11064240" y="648309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37 / 45</a:t>
            </a:r>
            <a:endParaRPr lang="en-US" sz="950" dirty="0"/>
          </a:p>
        </p:txBody>
      </p:sp>
      <p:sp>
        <p:nvSpPr>
          <p:cNvPr id="10" name="s37_min_sh"/>
          <p:cNvSpPr/>
          <p:nvPr/>
        </p:nvSpPr>
        <p:spPr>
          <a:xfrm>
            <a:off x="553212" y="1531620"/>
            <a:ext cx="5669280" cy="416052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1" name="s37_min"/>
          <p:cNvSpPr/>
          <p:nvPr/>
        </p:nvSpPr>
        <p:spPr>
          <a:xfrm>
            <a:off x="502920" y="1481328"/>
            <a:ext cx="5669280" cy="416052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12" name="s37_mb"/>
          <p:cNvSpPr/>
          <p:nvPr/>
        </p:nvSpPr>
        <p:spPr>
          <a:xfrm>
            <a:off x="777240" y="162763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REGISTRY MINIMUM — WHAT WE STORE</a:t>
            </a:r>
            <a:endParaRPr lang="en-US" sz="950" dirty="0"/>
          </a:p>
        </p:txBody>
      </p:sp>
      <p:sp>
        <p:nvSpPr>
          <p:cNvPr id="13" name="s37_mk0"/>
          <p:cNvSpPr/>
          <p:nvPr/>
        </p:nvSpPr>
        <p:spPr>
          <a:xfrm>
            <a:off x="777240" y="19202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script</a:t>
            </a:r>
            <a:endParaRPr lang="en-US" sz="900" dirty="0"/>
          </a:p>
        </p:txBody>
      </p:sp>
      <p:sp>
        <p:nvSpPr>
          <p:cNvPr id="14" name="s37_mv0"/>
          <p:cNvSpPr/>
          <p:nvPr/>
        </p:nvSpPr>
        <p:spPr>
          <a:xfrm>
            <a:off x="2240280" y="192024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executable + JSON-on-stdin contract</a:t>
            </a:r>
            <a:endParaRPr lang="en-US" sz="850" dirty="0"/>
          </a:p>
        </p:txBody>
      </p:sp>
      <p:sp>
        <p:nvSpPr>
          <p:cNvPr id="15" name="s37_mhr0"/>
          <p:cNvSpPr/>
          <p:nvPr/>
        </p:nvSpPr>
        <p:spPr>
          <a:xfrm>
            <a:off x="777240" y="2304288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16" name="s37_mk1"/>
          <p:cNvSpPr/>
          <p:nvPr/>
        </p:nvSpPr>
        <p:spPr>
          <a:xfrm>
            <a:off x="777240" y="230428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settings key</a:t>
            </a:r>
            <a:endParaRPr lang="en-US" sz="900" dirty="0"/>
          </a:p>
        </p:txBody>
      </p:sp>
      <p:sp>
        <p:nvSpPr>
          <p:cNvPr id="17" name="s37_mv1"/>
          <p:cNvSpPr/>
          <p:nvPr/>
        </p:nvSpPr>
        <p:spPr>
          <a:xfrm>
            <a:off x="2240280" y="230428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statusLine → script path, per scope</a:t>
            </a:r>
            <a:endParaRPr lang="en-US" sz="850" dirty="0"/>
          </a:p>
        </p:txBody>
      </p:sp>
      <p:sp>
        <p:nvSpPr>
          <p:cNvPr id="18" name="s37_mhr1"/>
          <p:cNvSpPr/>
          <p:nvPr/>
        </p:nvSpPr>
        <p:spPr>
          <a:xfrm>
            <a:off x="777240" y="2688336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19" name="s37_mk2"/>
          <p:cNvSpPr/>
          <p:nvPr/>
        </p:nvSpPr>
        <p:spPr>
          <a:xfrm>
            <a:off x="777240" y="2688336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theme</a:t>
            </a:r>
            <a:endParaRPr lang="en-US" sz="900" dirty="0"/>
          </a:p>
        </p:txBody>
      </p:sp>
      <p:sp>
        <p:nvSpPr>
          <p:cNvPr id="20" name="s37_mv2"/>
          <p:cNvSpPr/>
          <p:nvPr/>
        </p:nvSpPr>
        <p:spPr>
          <a:xfrm>
            <a:off x="2240280" y="2688336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strict JSON; name must equal filename</a:t>
            </a:r>
            <a:endParaRPr lang="en-US" sz="850" dirty="0"/>
          </a:p>
        </p:txBody>
      </p:sp>
      <p:sp>
        <p:nvSpPr>
          <p:cNvPr id="21" name="s37_mhr2"/>
          <p:cNvSpPr/>
          <p:nvPr/>
        </p:nvSpPr>
        <p:spPr>
          <a:xfrm>
            <a:off x="777240" y="3072384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2" name="s37_mk3"/>
          <p:cNvSpPr/>
          <p:nvPr/>
        </p:nvSpPr>
        <p:spPr>
          <a:xfrm>
            <a:off x="777240" y="3072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overlays</a:t>
            </a:r>
            <a:endParaRPr lang="en-US" sz="900" dirty="0"/>
          </a:p>
        </p:txBody>
      </p:sp>
      <p:sp>
        <p:nvSpPr>
          <p:cNvPr id="23" name="s37_mv3"/>
          <p:cNvSpPr/>
          <p:nvPr/>
        </p:nvSpPr>
        <p:spPr>
          <a:xfrm>
            <a:off x="2240280" y="3072384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 theme fields; claude script variant</a:t>
            </a:r>
            <a:endParaRPr lang="en-US" sz="850" dirty="0"/>
          </a:p>
        </p:txBody>
      </p:sp>
      <p:sp>
        <p:nvSpPr>
          <p:cNvPr id="24" name="s37_mhr3"/>
          <p:cNvSpPr/>
          <p:nvPr/>
        </p:nvSpPr>
        <p:spPr>
          <a:xfrm>
            <a:off x="777240" y="3456432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5" name="s37_mk4"/>
          <p:cNvSpPr/>
          <p:nvPr/>
        </p:nvSpPr>
        <p:spPr>
          <a:xfrm>
            <a:off x="777240" y="3456432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compat</a:t>
            </a:r>
            <a:endParaRPr lang="en-US" sz="900" dirty="0"/>
          </a:p>
        </p:txBody>
      </p:sp>
      <p:sp>
        <p:nvSpPr>
          <p:cNvPr id="26" name="s37_mv4"/>
          <p:cNvSpPr/>
          <p:nvPr/>
        </p:nvSpPr>
        <p:spPr>
          <a:xfrm>
            <a:off x="2240280" y="3456432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codex/oc supported=false — mark + skip</a:t>
            </a:r>
            <a:endParaRPr lang="en-US" sz="850" dirty="0"/>
          </a:p>
        </p:txBody>
      </p:sp>
      <p:sp>
        <p:nvSpPr>
          <p:cNvPr id="27" name="s37_mhr4"/>
          <p:cNvSpPr/>
          <p:nvPr/>
        </p:nvSpPr>
        <p:spPr>
          <a:xfrm>
            <a:off x="777240" y="3840480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8" name="s37_mk5"/>
          <p:cNvSpPr/>
          <p:nvPr/>
        </p:nvSpPr>
        <p:spPr>
          <a:xfrm>
            <a:off x="777240" y="384048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versionSeal</a:t>
            </a:r>
            <a:endParaRPr lang="en-US" sz="900" dirty="0"/>
          </a:p>
        </p:txBody>
      </p:sp>
      <p:sp>
        <p:nvSpPr>
          <p:cNvPr id="29" name="s37_mv5"/>
          <p:cNvSpPr/>
          <p:nvPr/>
        </p:nvSpPr>
        <p:spPr>
          <a:xfrm>
            <a:off x="2240280" y="384048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sha256 on script + theme file</a:t>
            </a:r>
            <a:endParaRPr lang="en-US" sz="850" dirty="0"/>
          </a:p>
        </p:txBody>
      </p:sp>
      <p:sp>
        <p:nvSpPr>
          <p:cNvPr id="30" name="s37_mhr5"/>
          <p:cNvSpPr/>
          <p:nvPr/>
        </p:nvSpPr>
        <p:spPr>
          <a:xfrm>
            <a:off x="777240" y="4224528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31" name="s37_mwhy"/>
          <p:cNvSpPr/>
          <p:nvPr/>
        </p:nvSpPr>
        <p:spPr>
          <a:xfrm>
            <a:off x="777240" y="498348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Claude takes a script + settings key, Pi theme JSON — record carries both forms and marks two unsupported.</a:t>
            </a:r>
            <a:endParaRPr lang="en-US" sz="950" dirty="0"/>
          </a:p>
        </p:txBody>
      </p:sp>
      <p:sp>
        <p:nvSpPr>
          <p:cNvPr id="32" name="s37_row_sh"/>
          <p:cNvSpPr/>
          <p:nvPr/>
        </p:nvSpPr>
        <p:spPr>
          <a:xfrm>
            <a:off x="6451092" y="1531620"/>
            <a:ext cx="5285232" cy="310896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33" name="s37_row"/>
          <p:cNvSpPr/>
          <p:nvPr/>
        </p:nvSpPr>
        <p:spPr>
          <a:xfrm>
            <a:off x="6400800" y="1481328"/>
            <a:ext cx="5285232" cy="310896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34" name="s37_rb"/>
          <p:cNvSpPr/>
          <p:nvPr/>
        </p:nvSpPr>
        <p:spPr>
          <a:xfrm>
            <a:off x="6675120" y="1627632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MATRIX ROW</a:t>
            </a:r>
            <a:endParaRPr lang="en-US" sz="1050" dirty="0"/>
          </a:p>
        </p:txBody>
      </p:sp>
      <p:sp>
        <p:nvSpPr>
          <p:cNvPr id="35" name="s37_rb0"/>
          <p:cNvSpPr/>
          <p:nvPr/>
        </p:nvSpPr>
        <p:spPr>
          <a:xfrm>
            <a:off x="6675120" y="2139696"/>
            <a:ext cx="109728" cy="109728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6" name="s37_rk0"/>
          <p:cNvSpPr/>
          <p:nvPr/>
        </p:nvSpPr>
        <p:spPr>
          <a:xfrm>
            <a:off x="6894576" y="1938528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CLAUDE CODE</a:t>
            </a:r>
            <a:endParaRPr lang="en-US" sz="950" dirty="0"/>
          </a:p>
        </p:txBody>
      </p:sp>
      <p:sp>
        <p:nvSpPr>
          <p:cNvPr id="37" name="s37_rc0_sh"/>
          <p:cNvSpPr/>
          <p:nvPr/>
        </p:nvSpPr>
        <p:spPr>
          <a:xfrm>
            <a:off x="8302752" y="2075688"/>
            <a:ext cx="826618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38" name="s37_rc0"/>
          <p:cNvSpPr/>
          <p:nvPr/>
        </p:nvSpPr>
        <p:spPr>
          <a:xfrm>
            <a:off x="8275320" y="2048256"/>
            <a:ext cx="826618" cy="287528"/>
          </a:xfrm>
          <a:prstGeom prst="rect">
            <a:avLst/>
          </a:prstGeom>
          <a:solidFill>
            <a:srgbClr val="E5F5EA"/>
          </a:solidFill>
          <a:ln w="15875">
            <a:solidFill>
              <a:srgbClr val="16A34A"/>
            </a:solidFill>
            <a:prstDash val="solid"/>
          </a:ln>
        </p:spPr>
      </p:sp>
      <p:sp>
        <p:nvSpPr>
          <p:cNvPr id="39" name="s37_rc0_t"/>
          <p:cNvSpPr/>
          <p:nvPr/>
        </p:nvSpPr>
        <p:spPr>
          <a:xfrm>
            <a:off x="8275320" y="2048256"/>
            <a:ext cx="826618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COPY-AS-IS</a:t>
            </a:r>
            <a:endParaRPr lang="en-US" sz="700" dirty="0"/>
          </a:p>
        </p:txBody>
      </p:sp>
      <p:sp>
        <p:nvSpPr>
          <p:cNvPr id="40" name="s37_rd0"/>
          <p:cNvSpPr/>
          <p:nvPr/>
        </p:nvSpPr>
        <p:spPr>
          <a:xfrm>
            <a:off x="9211666" y="2157984"/>
            <a:ext cx="68580" cy="68580"/>
          </a:xfrm>
          <a:prstGeom prst="rect">
            <a:avLst/>
          </a:prstGeom>
          <a:solidFill>
            <a:srgbClr val="C7CAD1"/>
          </a:solidFill>
          <a:ln/>
        </p:spPr>
      </p:sp>
      <p:sp>
        <p:nvSpPr>
          <p:cNvPr id="41" name="s37_rb1"/>
          <p:cNvSpPr/>
          <p:nvPr/>
        </p:nvSpPr>
        <p:spPr>
          <a:xfrm>
            <a:off x="6675120" y="2651760"/>
            <a:ext cx="109728" cy="109728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37_rk1"/>
          <p:cNvSpPr/>
          <p:nvPr/>
        </p:nvSpPr>
        <p:spPr>
          <a:xfrm>
            <a:off x="6894576" y="2450592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CODEX</a:t>
            </a:r>
            <a:endParaRPr lang="en-US" sz="950" dirty="0"/>
          </a:p>
        </p:txBody>
      </p:sp>
      <p:sp>
        <p:nvSpPr>
          <p:cNvPr id="43" name="s37_rc1_sh"/>
          <p:cNvSpPr/>
          <p:nvPr/>
        </p:nvSpPr>
        <p:spPr>
          <a:xfrm>
            <a:off x="8302752" y="2587752"/>
            <a:ext cx="826618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44" name="s37_rc1"/>
          <p:cNvSpPr/>
          <p:nvPr/>
        </p:nvSpPr>
        <p:spPr>
          <a:xfrm>
            <a:off x="8275320" y="2560320"/>
            <a:ext cx="826618" cy="287528"/>
          </a:xfrm>
          <a:prstGeom prst="rect">
            <a:avLst/>
          </a:prstGeom>
          <a:solidFill>
            <a:srgbClr val="EFEFEA"/>
          </a:solidFill>
          <a:ln w="15875">
            <a:solidFill>
              <a:srgbClr val="5C6068"/>
            </a:solidFill>
            <a:prstDash val="solid"/>
          </a:ln>
        </p:spPr>
      </p:sp>
      <p:sp>
        <p:nvSpPr>
          <p:cNvPr id="45" name="s37_rc1_t"/>
          <p:cNvSpPr/>
          <p:nvPr/>
        </p:nvSpPr>
        <p:spPr>
          <a:xfrm>
            <a:off x="8275320" y="2560320"/>
            <a:ext cx="826618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SURFACE</a:t>
            </a:r>
            <a:endParaRPr lang="en-US" sz="700" dirty="0"/>
          </a:p>
        </p:txBody>
      </p:sp>
      <p:sp>
        <p:nvSpPr>
          <p:cNvPr id="46" name="s37_rd1"/>
          <p:cNvSpPr/>
          <p:nvPr/>
        </p:nvSpPr>
        <p:spPr>
          <a:xfrm>
            <a:off x="9211666" y="2670048"/>
            <a:ext cx="68580" cy="68580"/>
          </a:xfrm>
          <a:prstGeom prst="rect">
            <a:avLst/>
          </a:prstGeom>
          <a:solidFill>
            <a:srgbClr val="C7CAD1"/>
          </a:solidFill>
          <a:ln/>
        </p:spPr>
      </p:sp>
      <p:sp>
        <p:nvSpPr>
          <p:cNvPr id="47" name="s37_rb2"/>
          <p:cNvSpPr/>
          <p:nvPr/>
        </p:nvSpPr>
        <p:spPr>
          <a:xfrm>
            <a:off x="6675120" y="3163824"/>
            <a:ext cx="109728" cy="109728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48" name="s37_rk2"/>
          <p:cNvSpPr/>
          <p:nvPr/>
        </p:nvSpPr>
        <p:spPr>
          <a:xfrm>
            <a:off x="6894576" y="2962656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OPENCODE</a:t>
            </a:r>
            <a:endParaRPr lang="en-US" sz="950" dirty="0"/>
          </a:p>
        </p:txBody>
      </p:sp>
      <p:sp>
        <p:nvSpPr>
          <p:cNvPr id="49" name="s37_rc2_sh"/>
          <p:cNvSpPr/>
          <p:nvPr/>
        </p:nvSpPr>
        <p:spPr>
          <a:xfrm>
            <a:off x="8302752" y="3099816"/>
            <a:ext cx="826618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50" name="s37_rc2"/>
          <p:cNvSpPr/>
          <p:nvPr/>
        </p:nvSpPr>
        <p:spPr>
          <a:xfrm>
            <a:off x="8275320" y="3072384"/>
            <a:ext cx="826618" cy="287528"/>
          </a:xfrm>
          <a:prstGeom prst="rect">
            <a:avLst/>
          </a:prstGeom>
          <a:solidFill>
            <a:srgbClr val="EFEFEA"/>
          </a:solidFill>
          <a:ln w="15875">
            <a:solidFill>
              <a:srgbClr val="5C6068"/>
            </a:solidFill>
            <a:prstDash val="solid"/>
          </a:ln>
        </p:spPr>
      </p:sp>
      <p:sp>
        <p:nvSpPr>
          <p:cNvPr id="51" name="s37_rc2_t"/>
          <p:cNvSpPr/>
          <p:nvPr/>
        </p:nvSpPr>
        <p:spPr>
          <a:xfrm>
            <a:off x="8275320" y="3072384"/>
            <a:ext cx="826618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SURFACE</a:t>
            </a:r>
            <a:endParaRPr lang="en-US" sz="700" dirty="0"/>
          </a:p>
        </p:txBody>
      </p:sp>
      <p:sp>
        <p:nvSpPr>
          <p:cNvPr id="52" name="s37_rd2"/>
          <p:cNvSpPr/>
          <p:nvPr/>
        </p:nvSpPr>
        <p:spPr>
          <a:xfrm>
            <a:off x="9211666" y="3182112"/>
            <a:ext cx="68580" cy="68580"/>
          </a:xfrm>
          <a:prstGeom prst="rect">
            <a:avLst/>
          </a:prstGeom>
          <a:solidFill>
            <a:srgbClr val="C7CAD1"/>
          </a:solidFill>
          <a:ln/>
        </p:spPr>
      </p:sp>
      <p:sp>
        <p:nvSpPr>
          <p:cNvPr id="53" name="s37_rb3"/>
          <p:cNvSpPr/>
          <p:nvPr/>
        </p:nvSpPr>
        <p:spPr>
          <a:xfrm>
            <a:off x="6675120" y="3675888"/>
            <a:ext cx="109728" cy="10972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4" name="s37_rk3"/>
          <p:cNvSpPr/>
          <p:nvPr/>
        </p:nvSpPr>
        <p:spPr>
          <a:xfrm>
            <a:off x="6894576" y="3474720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</a:t>
            </a:r>
            <a:endParaRPr lang="en-US" sz="950" dirty="0"/>
          </a:p>
        </p:txBody>
      </p:sp>
      <p:sp>
        <p:nvSpPr>
          <p:cNvPr id="55" name="s37_rc3_sh"/>
          <p:cNvSpPr/>
          <p:nvPr/>
        </p:nvSpPr>
        <p:spPr>
          <a:xfrm>
            <a:off x="8302752" y="3611880"/>
            <a:ext cx="649956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56" name="s37_rc3"/>
          <p:cNvSpPr/>
          <p:nvPr/>
        </p:nvSpPr>
        <p:spPr>
          <a:xfrm>
            <a:off x="8275320" y="3584448"/>
            <a:ext cx="649956" cy="287528"/>
          </a:xfrm>
          <a:prstGeom prst="rect">
            <a:avLst/>
          </a:prstGeom>
          <a:solidFill>
            <a:srgbClr val="FBEEDD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57" name="s37_rc3_t"/>
          <p:cNvSpPr/>
          <p:nvPr/>
        </p:nvSpPr>
        <p:spPr>
          <a:xfrm>
            <a:off x="8275320" y="3584448"/>
            <a:ext cx="649956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OVERLAY</a:t>
            </a:r>
            <a:endParaRPr lang="en-US" sz="700" dirty="0"/>
          </a:p>
        </p:txBody>
      </p:sp>
      <p:sp>
        <p:nvSpPr>
          <p:cNvPr id="58" name="s37_rd3"/>
          <p:cNvSpPr/>
          <p:nvPr/>
        </p:nvSpPr>
        <p:spPr>
          <a:xfrm>
            <a:off x="9035004" y="3694176"/>
            <a:ext cx="68580" cy="68580"/>
          </a:xfrm>
          <a:prstGeom prst="rect">
            <a:avLst/>
          </a:prstGeom>
          <a:solidFill>
            <a:srgbClr val="C7CAD1"/>
          </a:solidFill>
          <a:ln/>
        </p:spPr>
      </p:sp>
      <p:sp>
        <p:nvSpPr>
          <p:cNvPr id="59" name="s37_rhr"/>
          <p:cNvSpPr/>
          <p:nvPr/>
        </p:nvSpPr>
        <p:spPr>
          <a:xfrm>
            <a:off x="6675120" y="3986784"/>
            <a:ext cx="475488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60" name="s37_rsum"/>
          <p:cNvSpPr/>
          <p:nvPr/>
        </p:nvSpPr>
        <p:spPr>
          <a:xfrm>
            <a:off x="6675120" y="4133088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Script copies as-is into Claude; Pi gets a theme-JSON overlay; Codex and OpenCode document no status-line surface.</a:t>
            </a:r>
            <a:endParaRPr lang="en-US" sz="950" dirty="0"/>
          </a:p>
        </p:txBody>
      </p:sp>
      <p:sp>
        <p:nvSpPr>
          <p:cNvPr id="61" name="s37_au_sh"/>
          <p:cNvSpPr/>
          <p:nvPr/>
        </p:nvSpPr>
        <p:spPr>
          <a:xfrm>
            <a:off x="6451092" y="4777740"/>
            <a:ext cx="5285232" cy="155448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62" name="s37_au"/>
          <p:cNvSpPr/>
          <p:nvPr/>
        </p:nvSpPr>
        <p:spPr>
          <a:xfrm>
            <a:off x="6400800" y="4727448"/>
            <a:ext cx="5285232" cy="1554480"/>
          </a:xfrm>
          <a:prstGeom prst="rect">
            <a:avLst/>
          </a:prstGeom>
          <a:solidFill>
            <a:srgbClr val="EFEFEA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63" name="s37_ab"/>
          <p:cNvSpPr/>
          <p:nvPr/>
        </p:nvSpPr>
        <p:spPr>
          <a:xfrm>
            <a:off x="6675120" y="4873752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AUTO-UPDATE FOR THIS SURFACE</a:t>
            </a:r>
            <a:endParaRPr lang="en-US" sz="1000" dirty="0"/>
          </a:p>
        </p:txBody>
      </p:sp>
      <p:sp>
        <p:nvSpPr>
          <p:cNvPr id="64" name="s37_at"/>
          <p:cNvSpPr/>
          <p:nvPr/>
        </p:nvSpPr>
        <p:spPr>
          <a:xfrm>
            <a:off x="6675120" y="5157216"/>
            <a:ext cx="4754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Claude's script updates by file replace; Pi themes ride pi update when packaged, manual as drops — no update channel; lockfile pins.</a:t>
            </a:r>
            <a:endParaRPr lang="en-US" sz="1000" dirty="0"/>
          </a:p>
        </p:txBody>
      </p:sp>
      <p:sp>
        <p:nvSpPr>
          <p:cNvPr id="65" name="s37_sec_sh"/>
          <p:cNvSpPr/>
          <p:nvPr/>
        </p:nvSpPr>
        <p:spPr>
          <a:xfrm>
            <a:off x="553212" y="4777740"/>
            <a:ext cx="5669280" cy="155448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66" name="s37_sec"/>
          <p:cNvSpPr/>
          <p:nvPr/>
        </p:nvSpPr>
        <p:spPr>
          <a:xfrm>
            <a:off x="502920" y="4727448"/>
            <a:ext cx="5669280" cy="1554480"/>
          </a:xfrm>
          <a:prstGeom prst="rect">
            <a:avLst/>
          </a:prstGeom>
          <a:solidFill>
            <a:srgbClr val="E7EEFD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67" name="s37_secb"/>
          <p:cNvSpPr/>
          <p:nvPr/>
        </p:nvSpPr>
        <p:spPr>
          <a:xfrm>
            <a:off x="777240" y="487375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THIS SECTION</a:t>
            </a:r>
            <a:endParaRPr lang="en-US" sz="1000" dirty="0"/>
          </a:p>
        </p:txBody>
      </p:sp>
      <p:sp>
        <p:nvSpPr>
          <p:cNvPr id="68" name="s37_sc0_sh"/>
          <p:cNvSpPr/>
          <p:nvPr/>
        </p:nvSpPr>
        <p:spPr>
          <a:xfrm>
            <a:off x="804672" y="5221224"/>
            <a:ext cx="692018" cy="3383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69" name="s37_sc0"/>
          <p:cNvSpPr/>
          <p:nvPr/>
        </p:nvSpPr>
        <p:spPr>
          <a:xfrm>
            <a:off x="777240" y="5193792"/>
            <a:ext cx="692018" cy="338328"/>
          </a:xfrm>
          <a:prstGeom prst="rect">
            <a:avLst/>
          </a:prstGeom>
          <a:solidFill>
            <a:srgbClr val="2F6FED"/>
          </a:solidFill>
          <a:ln w="17780">
            <a:solidFill>
              <a:srgbClr val="2F6FED"/>
            </a:solidFill>
            <a:prstDash val="solid"/>
          </a:ln>
        </p:spPr>
      </p:sp>
      <p:sp>
        <p:nvSpPr>
          <p:cNvPr id="70" name="s37_sc0_t"/>
          <p:cNvSpPr/>
          <p:nvPr/>
        </p:nvSpPr>
        <p:spPr>
          <a:xfrm>
            <a:off x="777240" y="5193792"/>
            <a:ext cx="69201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BANNER</a:t>
            </a:r>
            <a:endParaRPr lang="en-US" sz="900" dirty="0"/>
          </a:p>
        </p:txBody>
      </p:sp>
      <p:sp>
        <p:nvSpPr>
          <p:cNvPr id="71" name="s37_sc1_sh"/>
          <p:cNvSpPr/>
          <p:nvPr/>
        </p:nvSpPr>
        <p:spPr>
          <a:xfrm>
            <a:off x="1606418" y="5221224"/>
            <a:ext cx="919155" cy="3383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72" name="s37_sc1"/>
          <p:cNvSpPr/>
          <p:nvPr/>
        </p:nvSpPr>
        <p:spPr>
          <a:xfrm>
            <a:off x="1578986" y="5193792"/>
            <a:ext cx="919155" cy="338328"/>
          </a:xfrm>
          <a:prstGeom prst="rect">
            <a:avLst/>
          </a:prstGeom>
          <a:solidFill>
            <a:srgbClr val="FFFFFF"/>
          </a:solidFill>
          <a:ln w="17780">
            <a:solidFill>
              <a:srgbClr val="1B1D22"/>
            </a:solidFill>
            <a:prstDash val="solid"/>
          </a:ln>
        </p:spPr>
      </p:sp>
      <p:sp>
        <p:nvSpPr>
          <p:cNvPr id="73" name="s37_sc1_t"/>
          <p:cNvSpPr/>
          <p:nvPr/>
        </p:nvSpPr>
        <p:spPr>
          <a:xfrm>
            <a:off x="1578986" y="5193792"/>
            <a:ext cx="919155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STANDARDS</a:t>
            </a:r>
            <a:endParaRPr lang="en-US" sz="900" dirty="0"/>
          </a:p>
        </p:txBody>
      </p:sp>
      <p:sp>
        <p:nvSpPr>
          <p:cNvPr id="74" name="s37_sc2_sh"/>
          <p:cNvSpPr/>
          <p:nvPr/>
        </p:nvSpPr>
        <p:spPr>
          <a:xfrm>
            <a:off x="2635301" y="5221224"/>
            <a:ext cx="1297716" cy="3383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75" name="s37_sc2"/>
          <p:cNvSpPr/>
          <p:nvPr/>
        </p:nvSpPr>
        <p:spPr>
          <a:xfrm>
            <a:off x="2607869" y="5193792"/>
            <a:ext cx="1297716" cy="338328"/>
          </a:xfrm>
          <a:prstGeom prst="rect">
            <a:avLst/>
          </a:prstGeom>
          <a:solidFill>
            <a:srgbClr val="FFFFFF"/>
          </a:solidFill>
          <a:ln w="17780">
            <a:solidFill>
              <a:srgbClr val="1B1D22"/>
            </a:solidFill>
            <a:prstDash val="solid"/>
          </a:ln>
        </p:spPr>
      </p:sp>
      <p:sp>
        <p:nvSpPr>
          <p:cNvPr id="76" name="s37_sc2_t"/>
          <p:cNvSpPr/>
          <p:nvPr/>
        </p:nvSpPr>
        <p:spPr>
          <a:xfrm>
            <a:off x="2607869" y="5193792"/>
            <a:ext cx="129771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CLAUDE + CODEX</a:t>
            </a:r>
            <a:endParaRPr lang="en-US" sz="900" dirty="0"/>
          </a:p>
        </p:txBody>
      </p:sp>
      <p:sp>
        <p:nvSpPr>
          <p:cNvPr id="77" name="s37_sc3_sh"/>
          <p:cNvSpPr/>
          <p:nvPr/>
        </p:nvSpPr>
        <p:spPr>
          <a:xfrm>
            <a:off x="4042745" y="5221224"/>
            <a:ext cx="1222004" cy="3383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78" name="s37_sc3"/>
          <p:cNvSpPr/>
          <p:nvPr/>
        </p:nvSpPr>
        <p:spPr>
          <a:xfrm>
            <a:off x="4015313" y="5193792"/>
            <a:ext cx="1222004" cy="338328"/>
          </a:xfrm>
          <a:prstGeom prst="rect">
            <a:avLst/>
          </a:prstGeom>
          <a:solidFill>
            <a:srgbClr val="FFFFFF"/>
          </a:solidFill>
          <a:ln w="17780">
            <a:solidFill>
              <a:srgbClr val="1B1D22"/>
            </a:solidFill>
            <a:prstDash val="solid"/>
          </a:ln>
        </p:spPr>
      </p:sp>
      <p:sp>
        <p:nvSpPr>
          <p:cNvPr id="79" name="s37_sc3_t"/>
          <p:cNvSpPr/>
          <p:nvPr/>
        </p:nvSpPr>
        <p:spPr>
          <a:xfrm>
            <a:off x="4015313" y="5193792"/>
            <a:ext cx="122200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OPENCODE + PI</a:t>
            </a:r>
            <a:endParaRPr lang="en-US" sz="900" dirty="0"/>
          </a:p>
        </p:txBody>
      </p:sp>
      <p:sp>
        <p:nvSpPr>
          <p:cNvPr id="80" name="s37_sect"/>
          <p:cNvSpPr/>
          <p:nvPr/>
        </p:nvSpPr>
        <p:spPr>
          <a:xfrm>
            <a:off x="777240" y="5779008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 slides per surface — spec state, then the harnesses in two pairs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38_vx_v1"/>
          <p:cNvSpPr/>
          <p:nvPr/>
        </p:nvSpPr>
        <p:spPr>
          <a:xfrm>
            <a:off x="11137392" y="384048"/>
            <a:ext cx="128016" cy="12801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" name="s38_vx_v2"/>
          <p:cNvSpPr/>
          <p:nvPr/>
        </p:nvSpPr>
        <p:spPr>
          <a:xfrm>
            <a:off x="11292840" y="384048"/>
            <a:ext cx="128016" cy="12801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" name="s38_vx_v3"/>
          <p:cNvSpPr/>
          <p:nvPr/>
        </p:nvSpPr>
        <p:spPr>
          <a:xfrm>
            <a:off x="11137392" y="539496"/>
            <a:ext cx="128016" cy="128016"/>
          </a:xfrm>
          <a:prstGeom prst="rect">
            <a:avLst/>
          </a:prstGeom>
          <a:solidFill>
            <a:srgbClr val="D97706"/>
          </a:solidFill>
          <a:ln/>
        </p:spPr>
      </p:sp>
      <p:pic>
        <p:nvPicPr>
          <p:cNvPr id="5" name="s38_kick" descr="assets/sks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02336"/>
            <a:ext cx="4362994" cy="182880"/>
          </a:xfrm>
          <a:prstGeom prst="rect">
            <a:avLst/>
          </a:prstGeom>
        </p:spPr>
      </p:pic>
      <p:pic>
        <p:nvPicPr>
          <p:cNvPr id="6" name="s38_title" descr="assets/st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58368"/>
            <a:ext cx="8898418" cy="475488"/>
          </a:xfrm>
          <a:prstGeom prst="rect">
            <a:avLst/>
          </a:prstGeom>
        </p:spPr>
      </p:pic>
      <p:sp>
        <p:nvSpPr>
          <p:cNvPr id="7" name="s38_spec"/>
          <p:cNvSpPr/>
          <p:nvPr/>
        </p:nvSpPr>
        <p:spPr>
          <a:xfrm>
            <a:off x="502920" y="1216152"/>
            <a:ext cx="10469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status line specification state — fields, rules, how the four diverge, and what the registry does about it</a:t>
            </a:r>
            <a:endParaRPr lang="en-US" sz="1100" dirty="0"/>
          </a:p>
        </p:txBody>
      </p:sp>
      <p:sp>
        <p:nvSpPr>
          <p:cNvPr id="8" name="s38_pg"/>
          <p:cNvSpPr/>
          <p:nvPr/>
        </p:nvSpPr>
        <p:spPr>
          <a:xfrm>
            <a:off x="11064240" y="648309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38 / 45</a:t>
            </a:r>
            <a:endParaRPr lang="en-US" sz="950" dirty="0"/>
          </a:p>
        </p:txBody>
      </p:sp>
      <p:sp>
        <p:nvSpPr>
          <p:cNvPr id="10" name="s38_f_sh"/>
          <p:cNvSpPr/>
          <p:nvPr/>
        </p:nvSpPr>
        <p:spPr>
          <a:xfrm>
            <a:off x="553212" y="1531620"/>
            <a:ext cx="5669280" cy="416052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1" name="s38_f"/>
          <p:cNvSpPr/>
          <p:nvPr/>
        </p:nvSpPr>
        <p:spPr>
          <a:xfrm>
            <a:off x="502920" y="1481328"/>
            <a:ext cx="5669280" cy="416052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12" name="s38_fb"/>
          <p:cNvSpPr/>
          <p:nvPr/>
        </p:nvSpPr>
        <p:spPr>
          <a:xfrm>
            <a:off x="777240" y="162763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FIELDS</a:t>
            </a:r>
            <a:endParaRPr lang="en-US" sz="1050" dirty="0"/>
          </a:p>
        </p:txBody>
      </p:sp>
      <p:sp>
        <p:nvSpPr>
          <p:cNvPr id="13" name="s38_fk0"/>
          <p:cNvSpPr/>
          <p:nvPr/>
        </p:nvSpPr>
        <p:spPr>
          <a:xfrm>
            <a:off x="777240" y="1920240"/>
            <a:ext cx="14173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</a:t>
            </a:r>
            <a:endParaRPr lang="en-US" sz="900" dirty="0"/>
          </a:p>
        </p:txBody>
      </p:sp>
      <p:sp>
        <p:nvSpPr>
          <p:cNvPr id="14" name="s38_fv0"/>
          <p:cNvSpPr/>
          <p:nvPr/>
        </p:nvSpPr>
        <p:spPr>
          <a:xfrm>
            <a:off x="2240280" y="1920240"/>
            <a:ext cx="365760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statusline script | theme json | none</a:t>
            </a:r>
            <a:endParaRPr lang="en-US" sz="850" dirty="0"/>
          </a:p>
        </p:txBody>
      </p:sp>
      <p:sp>
        <p:nvSpPr>
          <p:cNvPr id="15" name="s38_fhr0"/>
          <p:cNvSpPr/>
          <p:nvPr/>
        </p:nvSpPr>
        <p:spPr>
          <a:xfrm>
            <a:off x="777240" y="2272284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16" name="s38_fk1"/>
          <p:cNvSpPr/>
          <p:nvPr/>
        </p:nvSpPr>
        <p:spPr>
          <a:xfrm>
            <a:off x="777240" y="2272284"/>
            <a:ext cx="14173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statusLine</a:t>
            </a:r>
            <a:endParaRPr lang="en-US" sz="900" dirty="0"/>
          </a:p>
        </p:txBody>
      </p:sp>
      <p:sp>
        <p:nvSpPr>
          <p:cNvPr id="17" name="s38_fv1"/>
          <p:cNvSpPr/>
          <p:nvPr/>
        </p:nvSpPr>
        <p:spPr>
          <a:xfrm>
            <a:off x="2240280" y="2272284"/>
            <a:ext cx="365760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settings key → script path+args</a:t>
            </a:r>
            <a:endParaRPr lang="en-US" sz="850" dirty="0"/>
          </a:p>
        </p:txBody>
      </p:sp>
      <p:sp>
        <p:nvSpPr>
          <p:cNvPr id="18" name="s38_fhr1"/>
          <p:cNvSpPr/>
          <p:nvPr/>
        </p:nvSpPr>
        <p:spPr>
          <a:xfrm>
            <a:off x="777240" y="2624328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19" name="s38_fk2"/>
          <p:cNvSpPr/>
          <p:nvPr/>
        </p:nvSpPr>
        <p:spPr>
          <a:xfrm>
            <a:off x="777240" y="2624328"/>
            <a:ext cx="14173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endParaRPr lang="en-US" sz="900" dirty="0"/>
          </a:p>
        </p:txBody>
      </p:sp>
      <p:sp>
        <p:nvSpPr>
          <p:cNvPr id="20" name="s38_fv2"/>
          <p:cNvSpPr/>
          <p:nvPr/>
        </p:nvSpPr>
        <p:spPr>
          <a:xfrm>
            <a:off x="2240280" y="2624328"/>
            <a:ext cx="365760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JSON session state on stdin (claude)</a:t>
            </a:r>
            <a:endParaRPr lang="en-US" sz="850" dirty="0"/>
          </a:p>
        </p:txBody>
      </p:sp>
      <p:sp>
        <p:nvSpPr>
          <p:cNvPr id="21" name="s38_fhr2"/>
          <p:cNvSpPr/>
          <p:nvPr/>
        </p:nvSpPr>
        <p:spPr>
          <a:xfrm>
            <a:off x="777240" y="2976372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2" name="s38_fk3"/>
          <p:cNvSpPr/>
          <p:nvPr/>
        </p:nvSpPr>
        <p:spPr>
          <a:xfrm>
            <a:off x="777240" y="2976372"/>
            <a:ext cx="14173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theme.json</a:t>
            </a:r>
            <a:endParaRPr lang="en-US" sz="900" dirty="0"/>
          </a:p>
        </p:txBody>
      </p:sp>
      <p:sp>
        <p:nvSpPr>
          <p:cNvPr id="23" name="s38_fv3"/>
          <p:cNvSpPr/>
          <p:nvPr/>
        </p:nvSpPr>
        <p:spPr>
          <a:xfrm>
            <a:off x="2240280" y="2976372"/>
            <a:ext cx="365760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colors/look; pi: name must equal filename</a:t>
            </a:r>
            <a:endParaRPr lang="en-US" sz="850" dirty="0"/>
          </a:p>
        </p:txBody>
      </p:sp>
      <p:sp>
        <p:nvSpPr>
          <p:cNvPr id="24" name="s38_fhr3"/>
          <p:cNvSpPr/>
          <p:nvPr/>
        </p:nvSpPr>
        <p:spPr>
          <a:xfrm>
            <a:off x="777240" y="3328416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5" name="s38_fk4"/>
          <p:cNvSpPr/>
          <p:nvPr/>
        </p:nvSpPr>
        <p:spPr>
          <a:xfrm>
            <a:off x="777240" y="3328416"/>
            <a:ext cx="14173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scope</a:t>
            </a:r>
            <a:endParaRPr lang="en-US" sz="900" dirty="0"/>
          </a:p>
        </p:txBody>
      </p:sp>
      <p:sp>
        <p:nvSpPr>
          <p:cNvPr id="26" name="s38_fv4"/>
          <p:cNvSpPr/>
          <p:nvPr/>
        </p:nvSpPr>
        <p:spPr>
          <a:xfrm>
            <a:off x="2240280" y="3328416"/>
            <a:ext cx="365760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user|project|local|managed settings</a:t>
            </a:r>
            <a:endParaRPr lang="en-US" sz="850" dirty="0"/>
          </a:p>
        </p:txBody>
      </p:sp>
      <p:sp>
        <p:nvSpPr>
          <p:cNvPr id="27" name="s38_fhr4"/>
          <p:cNvSpPr/>
          <p:nvPr/>
        </p:nvSpPr>
        <p:spPr>
          <a:xfrm>
            <a:off x="777240" y="3680460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8" name="s38_fk5"/>
          <p:cNvSpPr/>
          <p:nvPr/>
        </p:nvSpPr>
        <p:spPr>
          <a:xfrm>
            <a:off x="777240" y="3680460"/>
            <a:ext cx="14173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widgets</a:t>
            </a:r>
            <a:endParaRPr lang="en-US" sz="900" dirty="0"/>
          </a:p>
        </p:txBody>
      </p:sp>
      <p:sp>
        <p:nvSpPr>
          <p:cNvPr id="29" name="s38_fv5"/>
          <p:cNvSpPr/>
          <p:nvPr/>
        </p:nvSpPr>
        <p:spPr>
          <a:xfrm>
            <a:off x="2240280" y="3680460"/>
            <a:ext cx="365760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live TUI needs extension code (pi ctx.ui)</a:t>
            </a:r>
            <a:endParaRPr lang="en-US" sz="850" dirty="0"/>
          </a:p>
        </p:txBody>
      </p:sp>
      <p:sp>
        <p:nvSpPr>
          <p:cNvPr id="30" name="s38_rb"/>
          <p:cNvSpPr/>
          <p:nvPr/>
        </p:nvSpPr>
        <p:spPr>
          <a:xfrm>
            <a:off x="777240" y="4114800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 RULES</a:t>
            </a:r>
            <a:endParaRPr lang="en-US" sz="900" dirty="0"/>
          </a:p>
        </p:txBody>
      </p:sp>
      <p:sp>
        <p:nvSpPr>
          <p:cNvPr id="31" name="s38_rb0"/>
          <p:cNvSpPr/>
          <p:nvPr/>
        </p:nvSpPr>
        <p:spPr>
          <a:xfrm>
            <a:off x="777240" y="4425696"/>
            <a:ext cx="82296" cy="8229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2" name="s38_rt0"/>
          <p:cNvSpPr/>
          <p:nvPr/>
        </p:nvSpPr>
        <p:spPr>
          <a:xfrm>
            <a:off x="941832" y="4379976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statusline standard — claude's key is de-facto</a:t>
            </a:r>
            <a:endParaRPr lang="en-US" sz="900" dirty="0"/>
          </a:p>
        </p:txBody>
      </p:sp>
      <p:sp>
        <p:nvSpPr>
          <p:cNvPr id="33" name="s38_rb1"/>
          <p:cNvSpPr/>
          <p:nvPr/>
        </p:nvSpPr>
        <p:spPr>
          <a:xfrm>
            <a:off x="777240" y="4727448"/>
            <a:ext cx="82296" cy="8229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4" name="s38_rt1"/>
          <p:cNvSpPr/>
          <p:nvPr/>
        </p:nvSpPr>
        <p:spPr>
          <a:xfrm>
            <a:off x="941832" y="4681728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Themes are look-only; no live session data feed</a:t>
            </a:r>
            <a:endParaRPr lang="en-US" sz="900" dirty="0"/>
          </a:p>
        </p:txBody>
      </p:sp>
      <p:sp>
        <p:nvSpPr>
          <p:cNvPr id="35" name="s38_rb2"/>
          <p:cNvSpPr/>
          <p:nvPr/>
        </p:nvSpPr>
        <p:spPr>
          <a:xfrm>
            <a:off x="777240" y="5029200"/>
            <a:ext cx="82296" cy="8229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6" name="s38_rt2"/>
          <p:cNvSpPr/>
          <p:nvPr/>
        </p:nvSpPr>
        <p:spPr>
          <a:xfrm>
            <a:off x="941832" y="4983480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 theme schema strict: name must equal filename</a:t>
            </a:r>
            <a:endParaRPr lang="en-US" sz="900" dirty="0"/>
          </a:p>
        </p:txBody>
      </p:sp>
      <p:sp>
        <p:nvSpPr>
          <p:cNvPr id="37" name="s38_rb3"/>
          <p:cNvSpPr/>
          <p:nvPr/>
        </p:nvSpPr>
        <p:spPr>
          <a:xfrm>
            <a:off x="777240" y="5330952"/>
            <a:ext cx="82296" cy="8229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8" name="s38_rt3"/>
          <p:cNvSpPr/>
          <p:nvPr/>
        </p:nvSpPr>
        <p:spPr>
          <a:xfrm>
            <a:off x="941832" y="5285232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Codex has no surface — skip; [tui] keys unrelated</a:t>
            </a:r>
            <a:endParaRPr lang="en-US" sz="900" dirty="0"/>
          </a:p>
        </p:txBody>
      </p:sp>
      <p:sp>
        <p:nvSpPr>
          <p:cNvPr id="39" name="s38_h_sh"/>
          <p:cNvSpPr/>
          <p:nvPr/>
        </p:nvSpPr>
        <p:spPr>
          <a:xfrm>
            <a:off x="6451092" y="1531620"/>
            <a:ext cx="5285232" cy="288036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40" name="s38_h"/>
          <p:cNvSpPr/>
          <p:nvPr/>
        </p:nvSpPr>
        <p:spPr>
          <a:xfrm>
            <a:off x="6400800" y="1481328"/>
            <a:ext cx="5285232" cy="288036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41" name="s38_hb"/>
          <p:cNvSpPr/>
          <p:nvPr/>
        </p:nvSpPr>
        <p:spPr>
          <a:xfrm>
            <a:off x="6675120" y="1627632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THE FOUR IMPLEMENT IT</a:t>
            </a:r>
            <a:endParaRPr lang="en-US" sz="1050" dirty="0"/>
          </a:p>
        </p:txBody>
      </p:sp>
      <p:sp>
        <p:nvSpPr>
          <p:cNvPr id="42" name="s38_hb0"/>
          <p:cNvSpPr/>
          <p:nvPr/>
        </p:nvSpPr>
        <p:spPr>
          <a:xfrm>
            <a:off x="6675120" y="2157984"/>
            <a:ext cx="109728" cy="109728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43" name="s38_hk0"/>
          <p:cNvSpPr/>
          <p:nvPr/>
        </p:nvSpPr>
        <p:spPr>
          <a:xfrm>
            <a:off x="6894576" y="1938528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CLAUDE CODE</a:t>
            </a:r>
            <a:endParaRPr lang="en-US" sz="1000" dirty="0"/>
          </a:p>
        </p:txBody>
      </p:sp>
      <p:sp>
        <p:nvSpPr>
          <p:cNvPr id="44" name="s38_hv0"/>
          <p:cNvSpPr/>
          <p:nvPr/>
        </p:nvSpPr>
        <p:spPr>
          <a:xfrm>
            <a:off x="8275320" y="1938528"/>
            <a:ext cx="3154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statusLine key → script; /statusline wizard</a:t>
            </a:r>
            <a:endParaRPr lang="en-US" sz="900" dirty="0"/>
          </a:p>
        </p:txBody>
      </p:sp>
      <p:sp>
        <p:nvSpPr>
          <p:cNvPr id="45" name="s38_hhr0"/>
          <p:cNvSpPr/>
          <p:nvPr/>
        </p:nvSpPr>
        <p:spPr>
          <a:xfrm>
            <a:off x="6675120" y="2505456"/>
            <a:ext cx="475488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46" name="s38_hb1"/>
          <p:cNvSpPr/>
          <p:nvPr/>
        </p:nvSpPr>
        <p:spPr>
          <a:xfrm>
            <a:off x="6675120" y="2734056"/>
            <a:ext cx="109728" cy="109728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7" name="s38_hk1"/>
          <p:cNvSpPr/>
          <p:nvPr/>
        </p:nvSpPr>
        <p:spPr>
          <a:xfrm>
            <a:off x="6894576" y="2514600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CODEX</a:t>
            </a:r>
            <a:endParaRPr lang="en-US" sz="1000" dirty="0"/>
          </a:p>
        </p:txBody>
      </p:sp>
      <p:sp>
        <p:nvSpPr>
          <p:cNvPr id="48" name="s38_hv1"/>
          <p:cNvSpPr/>
          <p:nvPr/>
        </p:nvSpPr>
        <p:spPr>
          <a:xfrm>
            <a:off x="8275320" y="2514600"/>
            <a:ext cx="3154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None; closest [tui] notification keys</a:t>
            </a:r>
            <a:endParaRPr lang="en-US" sz="900" dirty="0"/>
          </a:p>
        </p:txBody>
      </p:sp>
      <p:sp>
        <p:nvSpPr>
          <p:cNvPr id="49" name="s38_hhr1"/>
          <p:cNvSpPr/>
          <p:nvPr/>
        </p:nvSpPr>
        <p:spPr>
          <a:xfrm>
            <a:off x="6675120" y="3081528"/>
            <a:ext cx="475488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50" name="s38_hb2"/>
          <p:cNvSpPr/>
          <p:nvPr/>
        </p:nvSpPr>
        <p:spPr>
          <a:xfrm>
            <a:off x="6675120" y="3310128"/>
            <a:ext cx="109728" cy="109728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51" name="s38_hk2"/>
          <p:cNvSpPr/>
          <p:nvPr/>
        </p:nvSpPr>
        <p:spPr>
          <a:xfrm>
            <a:off x="6894576" y="3090672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OPENCODE</a:t>
            </a:r>
            <a:endParaRPr lang="en-US" sz="1000" dirty="0"/>
          </a:p>
        </p:txBody>
      </p:sp>
      <p:sp>
        <p:nvSpPr>
          <p:cNvPr id="52" name="s38_hv2"/>
          <p:cNvSpPr/>
          <p:nvPr/>
        </p:nvSpPr>
        <p:spPr>
          <a:xfrm>
            <a:off x="8275320" y="3090672"/>
            <a:ext cx="3154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statusline; themes/*.json adjacent</a:t>
            </a:r>
            <a:endParaRPr lang="en-US" sz="900" dirty="0"/>
          </a:p>
        </p:txBody>
      </p:sp>
      <p:sp>
        <p:nvSpPr>
          <p:cNvPr id="53" name="s38_hhr2"/>
          <p:cNvSpPr/>
          <p:nvPr/>
        </p:nvSpPr>
        <p:spPr>
          <a:xfrm>
            <a:off x="6675120" y="3657600"/>
            <a:ext cx="475488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54" name="s38_hb3"/>
          <p:cNvSpPr/>
          <p:nvPr/>
        </p:nvSpPr>
        <p:spPr>
          <a:xfrm>
            <a:off x="6675120" y="3886200"/>
            <a:ext cx="109728" cy="10972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5" name="s38_hk3"/>
          <p:cNvSpPr/>
          <p:nvPr/>
        </p:nvSpPr>
        <p:spPr>
          <a:xfrm>
            <a:off x="6894576" y="3666744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</a:t>
            </a:r>
            <a:endParaRPr lang="en-US" sz="1000" dirty="0"/>
          </a:p>
        </p:txBody>
      </p:sp>
      <p:sp>
        <p:nvSpPr>
          <p:cNvPr id="56" name="s38_hv3"/>
          <p:cNvSpPr/>
          <p:nvPr/>
        </p:nvSpPr>
        <p:spPr>
          <a:xfrm>
            <a:off x="8275320" y="3666744"/>
            <a:ext cx="3154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themes/&lt;n&gt;.json; ctx.ui.* via extensions</a:t>
            </a:r>
            <a:endParaRPr lang="en-US" sz="900" dirty="0"/>
          </a:p>
        </p:txBody>
      </p:sp>
      <p:sp>
        <p:nvSpPr>
          <p:cNvPr id="57" name="s38_st_sh"/>
          <p:cNvSpPr/>
          <p:nvPr/>
        </p:nvSpPr>
        <p:spPr>
          <a:xfrm>
            <a:off x="6451092" y="4549140"/>
            <a:ext cx="5285232" cy="114300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58" name="s38_st"/>
          <p:cNvSpPr/>
          <p:nvPr/>
        </p:nvSpPr>
        <p:spPr>
          <a:xfrm>
            <a:off x="6400800" y="4498848"/>
            <a:ext cx="5285232" cy="1143000"/>
          </a:xfrm>
          <a:prstGeom prst="rect">
            <a:avLst/>
          </a:prstGeom>
          <a:solidFill>
            <a:srgbClr val="1B1D22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59" name="s38_sb"/>
          <p:cNvSpPr/>
          <p:nvPr/>
        </p:nvSpPr>
        <p:spPr>
          <a:xfrm>
            <a:off x="6675120" y="46268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7CB0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REGISTRY STANCE</a:t>
            </a:r>
            <a:endParaRPr lang="en-US" sz="900" dirty="0"/>
          </a:p>
        </p:txBody>
      </p:sp>
      <p:sp>
        <p:nvSpPr>
          <p:cNvPr id="60" name="s38_stt"/>
          <p:cNvSpPr/>
          <p:nvPr/>
        </p:nvSpPr>
        <p:spPr>
          <a:xfrm>
            <a:off x="6675120" y="4882896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Per-harness overlays: statusline script for claude; theme JSON only where schemas exist</a:t>
            </a:r>
            <a:endParaRPr lang="en-US" sz="1100" dirty="0"/>
          </a:p>
        </p:txBody>
      </p:sp>
      <p:sp>
        <p:nvSpPr>
          <p:cNvPr id="61" name="s38_g_sh"/>
          <p:cNvSpPr/>
          <p:nvPr/>
        </p:nvSpPr>
        <p:spPr>
          <a:xfrm>
            <a:off x="553212" y="5829300"/>
            <a:ext cx="11183112" cy="65836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62" name="s38_g"/>
          <p:cNvSpPr/>
          <p:nvPr/>
        </p:nvSpPr>
        <p:spPr>
          <a:xfrm>
            <a:off x="502920" y="5779008"/>
            <a:ext cx="11183112" cy="658368"/>
          </a:xfrm>
          <a:prstGeom prst="rect">
            <a:avLst/>
          </a:prstGeom>
          <a:solidFill>
            <a:srgbClr val="EFEFEA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63" name="s38_gt"/>
          <p:cNvSpPr/>
          <p:nvPr/>
        </p:nvSpPr>
        <p:spPr>
          <a:xfrm>
            <a:off x="777240" y="5852160"/>
            <a:ext cx="10607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GAPS THE REGISTRY OWNS — Statusline exists on one harness only  ·  Theme JSON schemas differ per harness  ·  No shared session-state input schema</a:t>
            </a:r>
            <a:endParaRPr lang="en-US" sz="9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39_vx_v1"/>
          <p:cNvSpPr/>
          <p:nvPr/>
        </p:nvSpPr>
        <p:spPr>
          <a:xfrm>
            <a:off x="11137392" y="384048"/>
            <a:ext cx="128016" cy="12801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" name="s39_vx_v2"/>
          <p:cNvSpPr/>
          <p:nvPr/>
        </p:nvSpPr>
        <p:spPr>
          <a:xfrm>
            <a:off x="11292840" y="384048"/>
            <a:ext cx="128016" cy="12801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" name="s39_vx_v3"/>
          <p:cNvSpPr/>
          <p:nvPr/>
        </p:nvSpPr>
        <p:spPr>
          <a:xfrm>
            <a:off x="11137392" y="539496"/>
            <a:ext cx="128016" cy="128016"/>
          </a:xfrm>
          <a:prstGeom prst="rect">
            <a:avLst/>
          </a:prstGeom>
          <a:solidFill>
            <a:srgbClr val="D97706"/>
          </a:solidFill>
          <a:ln/>
        </p:spPr>
      </p:sp>
      <p:pic>
        <p:nvPicPr>
          <p:cNvPr id="5" name="s39_kick" descr="assets/skc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02336"/>
            <a:ext cx="5930537" cy="182880"/>
          </a:xfrm>
          <a:prstGeom prst="rect">
            <a:avLst/>
          </a:prstGeom>
        </p:spPr>
      </p:pic>
      <p:pic>
        <p:nvPicPr>
          <p:cNvPr id="6" name="s39_title" descr="assets/srf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58368"/>
            <a:ext cx="4415246" cy="475488"/>
          </a:xfrm>
          <a:prstGeom prst="rect">
            <a:avLst/>
          </a:prstGeom>
        </p:spPr>
      </p:pic>
      <p:sp>
        <p:nvSpPr>
          <p:cNvPr id="7" name="s39_spec"/>
          <p:cNvSpPr/>
          <p:nvPr/>
        </p:nvSpPr>
        <p:spPr>
          <a:xfrm>
            <a:off x="502920" y="1216152"/>
            <a:ext cx="10469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STATUS LINE in claude code + codex — the two most popular first</a:t>
            </a:r>
            <a:endParaRPr lang="en-US" sz="1100" dirty="0"/>
          </a:p>
        </p:txBody>
      </p:sp>
      <p:sp>
        <p:nvSpPr>
          <p:cNvPr id="8" name="s39_pg"/>
          <p:cNvSpPr/>
          <p:nvPr/>
        </p:nvSpPr>
        <p:spPr>
          <a:xfrm>
            <a:off x="11064240" y="648309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39 / 45</a:t>
            </a:r>
            <a:endParaRPr lang="en-US" sz="950" dirty="0"/>
          </a:p>
        </p:txBody>
      </p:sp>
      <p:sp>
        <p:nvSpPr>
          <p:cNvPr id="10" name="s39_c0_sh"/>
          <p:cNvSpPr/>
          <p:nvPr/>
        </p:nvSpPr>
        <p:spPr>
          <a:xfrm>
            <a:off x="553212" y="1531620"/>
            <a:ext cx="5477256" cy="489204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1" name="s39_c0"/>
          <p:cNvSpPr/>
          <p:nvPr/>
        </p:nvSpPr>
        <p:spPr>
          <a:xfrm>
            <a:off x="502920" y="1481328"/>
            <a:ext cx="5477256" cy="489204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12" name="s39_c0_sq"/>
          <p:cNvSpPr/>
          <p:nvPr/>
        </p:nvSpPr>
        <p:spPr>
          <a:xfrm>
            <a:off x="731520" y="1673352"/>
            <a:ext cx="137160" cy="13716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3" name="s39_c0_topic"/>
          <p:cNvSpPr/>
          <p:nvPr/>
        </p:nvSpPr>
        <p:spPr>
          <a:xfrm>
            <a:off x="960120" y="1609344"/>
            <a:ext cx="37965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50" kern="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STATUS LINE</a:t>
            </a:r>
            <a:endParaRPr lang="en-US" sz="1300" dirty="0"/>
          </a:p>
        </p:txBody>
      </p:sp>
      <p:sp>
        <p:nvSpPr>
          <p:cNvPr id="14" name="s39_c0_vc_sh"/>
          <p:cNvSpPr/>
          <p:nvPr/>
        </p:nvSpPr>
        <p:spPr>
          <a:xfrm>
            <a:off x="4811573" y="1636776"/>
            <a:ext cx="994867" cy="3383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5" name="s39_c0_vc"/>
          <p:cNvSpPr/>
          <p:nvPr/>
        </p:nvSpPr>
        <p:spPr>
          <a:xfrm>
            <a:off x="4784141" y="1609344"/>
            <a:ext cx="994867" cy="338328"/>
          </a:xfrm>
          <a:prstGeom prst="rect">
            <a:avLst/>
          </a:prstGeom>
          <a:solidFill>
            <a:srgbClr val="E5F5EA"/>
          </a:solidFill>
          <a:ln w="15875">
            <a:solidFill>
              <a:srgbClr val="16A34A"/>
            </a:solidFill>
            <a:prstDash val="solid"/>
          </a:ln>
        </p:spPr>
      </p:sp>
      <p:sp>
        <p:nvSpPr>
          <p:cNvPr id="16" name="s39_c0_vc_t"/>
          <p:cNvSpPr/>
          <p:nvPr/>
        </p:nvSpPr>
        <p:spPr>
          <a:xfrm>
            <a:off x="4784141" y="1609344"/>
            <a:ext cx="99486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COPY-AS-IS</a:t>
            </a:r>
            <a:endParaRPr lang="en-US" sz="900" dirty="0"/>
          </a:p>
        </p:txBody>
      </p:sp>
      <p:sp>
        <p:nvSpPr>
          <p:cNvPr id="17" name="s39_c0_why"/>
          <p:cNvSpPr/>
          <p:nvPr/>
        </p:nvSpPr>
        <p:spPr>
          <a:xfrm>
            <a:off x="731520" y="2011680"/>
            <a:ext cx="5020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i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script + one settings key; no format change</a:t>
            </a:r>
            <a:endParaRPr lang="en-US" sz="850" dirty="0"/>
          </a:p>
        </p:txBody>
      </p:sp>
      <p:sp>
        <p:nvSpPr>
          <p:cNvPr id="18" name="s39_c0_what"/>
          <p:cNvSpPr/>
          <p:nvPr/>
        </p:nvSpPr>
        <p:spPr>
          <a:xfrm>
            <a:off x="731520" y="2340864"/>
            <a:ext cx="5020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 bottom-bar status script fed session JSON on stdin</a:t>
            </a:r>
            <a:endParaRPr lang="en-US" sz="1050" dirty="0"/>
          </a:p>
        </p:txBody>
      </p:sp>
      <p:sp>
        <p:nvSpPr>
          <p:cNvPr id="19" name="s39_c0_hr1"/>
          <p:cNvSpPr/>
          <p:nvPr/>
        </p:nvSpPr>
        <p:spPr>
          <a:xfrm>
            <a:off x="731520" y="2798064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0" name="s39_c0_k0"/>
          <p:cNvSpPr/>
          <p:nvPr/>
        </p:nvSpPr>
        <p:spPr>
          <a:xfrm>
            <a:off x="731520" y="2852928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</a:t>
            </a:r>
            <a:endParaRPr lang="en-US" sz="850" dirty="0"/>
          </a:p>
        </p:txBody>
      </p:sp>
      <p:sp>
        <p:nvSpPr>
          <p:cNvPr id="21" name="s39_c0_v0"/>
          <p:cNvSpPr/>
          <p:nvPr/>
        </p:nvSpPr>
        <p:spPr>
          <a:xfrm>
            <a:off x="1883664" y="2852928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settings key statusLine → any script path (all scopes)</a:t>
            </a:r>
            <a:endParaRPr lang="en-US" sz="900" dirty="0"/>
          </a:p>
        </p:txBody>
      </p:sp>
      <p:sp>
        <p:nvSpPr>
          <p:cNvPr id="22" name="s39_c0_hr2"/>
          <p:cNvSpPr/>
          <p:nvPr/>
        </p:nvSpPr>
        <p:spPr>
          <a:xfrm>
            <a:off x="731520" y="3273552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3" name="s39_c0_k1"/>
          <p:cNvSpPr/>
          <p:nvPr/>
        </p:nvSpPr>
        <p:spPr>
          <a:xfrm>
            <a:off x="731520" y="3273552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FORMAT</a:t>
            </a:r>
            <a:endParaRPr lang="en-US" sz="850" dirty="0"/>
          </a:p>
        </p:txBody>
      </p:sp>
      <p:sp>
        <p:nvSpPr>
          <p:cNvPr id="24" name="s39_c0_v1"/>
          <p:cNvSpPr/>
          <p:nvPr/>
        </p:nvSpPr>
        <p:spPr>
          <a:xfrm>
            <a:off x="1883664" y="3273552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settings key statusLine → script (JSON stdin)</a:t>
            </a:r>
            <a:endParaRPr lang="en-US" sz="900" dirty="0"/>
          </a:p>
        </p:txBody>
      </p:sp>
      <p:sp>
        <p:nvSpPr>
          <p:cNvPr id="25" name="s39_c0_hr3"/>
          <p:cNvSpPr/>
          <p:nvPr/>
        </p:nvSpPr>
        <p:spPr>
          <a:xfrm>
            <a:off x="731520" y="3694176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6" name="s39_c0_k2"/>
          <p:cNvSpPr/>
          <p:nvPr/>
        </p:nvSpPr>
        <p:spPr>
          <a:xfrm>
            <a:off x="731520" y="3694176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</a:t>
            </a:r>
            <a:endParaRPr lang="en-US" sz="850" dirty="0"/>
          </a:p>
        </p:txBody>
      </p:sp>
      <p:sp>
        <p:nvSpPr>
          <p:cNvPr id="27" name="s39_c0_v2"/>
          <p:cNvSpPr/>
          <p:nvPr/>
        </p:nvSpPr>
        <p:spPr>
          <a:xfrm>
            <a:off x="1883664" y="3694176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/statusline wizard · edit settings key</a:t>
            </a:r>
            <a:endParaRPr lang="en-US" sz="900" dirty="0"/>
          </a:p>
        </p:txBody>
      </p:sp>
      <p:sp>
        <p:nvSpPr>
          <p:cNvPr id="28" name="s39_c0_hr4"/>
          <p:cNvSpPr/>
          <p:nvPr/>
        </p:nvSpPr>
        <p:spPr>
          <a:xfrm>
            <a:off x="731520" y="4114800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9" name="s39_c0_k3"/>
          <p:cNvSpPr/>
          <p:nvPr/>
        </p:nvSpPr>
        <p:spPr>
          <a:xfrm>
            <a:off x="731520" y="4114800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AUTO-UPDATE</a:t>
            </a:r>
            <a:endParaRPr lang="en-US" sz="850" dirty="0"/>
          </a:p>
        </p:txBody>
      </p:sp>
      <p:sp>
        <p:nvSpPr>
          <p:cNvPr id="30" name="s39_c0_v3"/>
          <p:cNvSpPr/>
          <p:nvPr/>
        </p:nvSpPr>
        <p:spPr>
          <a:xfrm>
            <a:off x="1883664" y="4114800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Rides parent — settings points at a script; replacing script updates it</a:t>
            </a:r>
            <a:endParaRPr lang="en-US" sz="900" dirty="0"/>
          </a:p>
        </p:txBody>
      </p:sp>
      <p:sp>
        <p:nvSpPr>
          <p:cNvPr id="31" name="s39_c0_emp"/>
          <p:cNvSpPr/>
          <p:nvPr/>
        </p:nvSpPr>
        <p:spPr>
          <a:xfrm>
            <a:off x="704088" y="4626864"/>
            <a:ext cx="5074920" cy="1581912"/>
          </a:xfrm>
          <a:prstGeom prst="rect">
            <a:avLst/>
          </a:prstGeom>
          <a:solidFill>
            <a:srgbClr val="FBEEDD"/>
          </a:solidFill>
          <a:ln/>
        </p:spPr>
      </p:sp>
      <p:sp>
        <p:nvSpPr>
          <p:cNvPr id="32" name="s39_c0_emb"/>
          <p:cNvSpPr/>
          <p:nvPr/>
        </p:nvSpPr>
        <p:spPr>
          <a:xfrm>
            <a:off x="886968" y="4736592"/>
            <a:ext cx="4709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spc="200" kern="0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REGISTRY EMISSION</a:t>
            </a:r>
            <a:endParaRPr lang="en-US" sz="800" dirty="0"/>
          </a:p>
        </p:txBody>
      </p:sp>
      <p:sp>
        <p:nvSpPr>
          <p:cNvPr id="33" name="s39_c0_em"/>
          <p:cNvSpPr/>
          <p:nvPr/>
        </p:nvSpPr>
        <p:spPr>
          <a:xfrm>
            <a:off x="886968" y="4956048"/>
            <a:ext cx="470916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install: drop script; set settings.statusLine</a:t>
            </a:r>
            <a:endParaRPr lang="en-US" sz="9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input: JSON session state on stdin</a:t>
            </a:r>
            <a:endParaRPr lang="en-US" sz="9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scopes: user | project | local | managed</a:t>
            </a:r>
            <a:endParaRPr lang="en-US" sz="900" dirty="0"/>
          </a:p>
        </p:txBody>
      </p:sp>
      <p:sp>
        <p:nvSpPr>
          <p:cNvPr id="34" name="s39_c1_sh"/>
          <p:cNvSpPr/>
          <p:nvPr/>
        </p:nvSpPr>
        <p:spPr>
          <a:xfrm>
            <a:off x="6259068" y="1531620"/>
            <a:ext cx="5477256" cy="489204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35" name="s39_c1"/>
          <p:cNvSpPr/>
          <p:nvPr/>
        </p:nvSpPr>
        <p:spPr>
          <a:xfrm>
            <a:off x="6208776" y="1481328"/>
            <a:ext cx="5477256" cy="489204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36" name="s39_c1_sq"/>
          <p:cNvSpPr/>
          <p:nvPr/>
        </p:nvSpPr>
        <p:spPr>
          <a:xfrm>
            <a:off x="6437376" y="1673352"/>
            <a:ext cx="137160" cy="13716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7" name="s39_c1_topic"/>
          <p:cNvSpPr/>
          <p:nvPr/>
        </p:nvSpPr>
        <p:spPr>
          <a:xfrm>
            <a:off x="6665976" y="1609344"/>
            <a:ext cx="37965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50" kern="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STATUS LINE</a:t>
            </a:r>
            <a:endParaRPr lang="en-US" sz="1300" dirty="0"/>
          </a:p>
        </p:txBody>
      </p:sp>
      <p:sp>
        <p:nvSpPr>
          <p:cNvPr id="38" name="s39_c1_vc_sh"/>
          <p:cNvSpPr/>
          <p:nvPr/>
        </p:nvSpPr>
        <p:spPr>
          <a:xfrm>
            <a:off x="10517429" y="1636776"/>
            <a:ext cx="994867" cy="3383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39" name="s39_c1_vc"/>
          <p:cNvSpPr/>
          <p:nvPr/>
        </p:nvSpPr>
        <p:spPr>
          <a:xfrm>
            <a:off x="10489997" y="1609344"/>
            <a:ext cx="994867" cy="338328"/>
          </a:xfrm>
          <a:prstGeom prst="rect">
            <a:avLst/>
          </a:prstGeom>
          <a:solidFill>
            <a:srgbClr val="EFEFEA"/>
          </a:solidFill>
          <a:ln w="15875">
            <a:solidFill>
              <a:srgbClr val="5C6068"/>
            </a:solidFill>
            <a:prstDash val="solid"/>
          </a:ln>
        </p:spPr>
      </p:sp>
      <p:sp>
        <p:nvSpPr>
          <p:cNvPr id="40" name="s39_c1_vc_t"/>
          <p:cNvSpPr/>
          <p:nvPr/>
        </p:nvSpPr>
        <p:spPr>
          <a:xfrm>
            <a:off x="10489997" y="1609344"/>
            <a:ext cx="99486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SURFACE</a:t>
            </a:r>
            <a:endParaRPr lang="en-US" sz="900" dirty="0"/>
          </a:p>
        </p:txBody>
      </p:sp>
      <p:sp>
        <p:nvSpPr>
          <p:cNvPr id="41" name="s39_c1_why"/>
          <p:cNvSpPr/>
          <p:nvPr/>
        </p:nvSpPr>
        <p:spPr>
          <a:xfrm>
            <a:off x="6437376" y="2011680"/>
            <a:ext cx="5020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i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only [tui] notifications; rust-v0.163.0, 2026-10</a:t>
            </a:r>
            <a:endParaRPr lang="en-US" sz="850" dirty="0"/>
          </a:p>
        </p:txBody>
      </p:sp>
      <p:sp>
        <p:nvSpPr>
          <p:cNvPr id="42" name="s39_c1_what"/>
          <p:cNvSpPr/>
          <p:nvPr/>
        </p:nvSpPr>
        <p:spPr>
          <a:xfrm>
            <a:off x="6437376" y="2340864"/>
            <a:ext cx="5020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status-line surface — closest is [tui] notification keys in config.</a:t>
            </a:r>
            <a:endParaRPr lang="en-US" sz="1050" dirty="0"/>
          </a:p>
        </p:txBody>
      </p:sp>
      <p:sp>
        <p:nvSpPr>
          <p:cNvPr id="43" name="s39_c1_hr1"/>
          <p:cNvSpPr/>
          <p:nvPr/>
        </p:nvSpPr>
        <p:spPr>
          <a:xfrm>
            <a:off x="6437376" y="2798064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44" name="s39_c1_k0"/>
          <p:cNvSpPr/>
          <p:nvPr/>
        </p:nvSpPr>
        <p:spPr>
          <a:xfrm>
            <a:off x="6437376" y="2852928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</a:t>
            </a:r>
            <a:endParaRPr lang="en-US" sz="850" dirty="0"/>
          </a:p>
        </p:txBody>
      </p:sp>
      <p:sp>
        <p:nvSpPr>
          <p:cNvPr id="45" name="s39_c1_v0"/>
          <p:cNvSpPr/>
          <p:nvPr/>
        </p:nvSpPr>
        <p:spPr>
          <a:xfrm>
            <a:off x="7589520" y="2852928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—</a:t>
            </a:r>
            <a:endParaRPr lang="en-US" sz="900" dirty="0"/>
          </a:p>
        </p:txBody>
      </p:sp>
      <p:sp>
        <p:nvSpPr>
          <p:cNvPr id="46" name="s39_c1_hr2"/>
          <p:cNvSpPr/>
          <p:nvPr/>
        </p:nvSpPr>
        <p:spPr>
          <a:xfrm>
            <a:off x="6437376" y="3273552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47" name="s39_c1_k1"/>
          <p:cNvSpPr/>
          <p:nvPr/>
        </p:nvSpPr>
        <p:spPr>
          <a:xfrm>
            <a:off x="6437376" y="3273552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FORMAT</a:t>
            </a:r>
            <a:endParaRPr lang="en-US" sz="850" dirty="0"/>
          </a:p>
        </p:txBody>
      </p:sp>
      <p:sp>
        <p:nvSpPr>
          <p:cNvPr id="48" name="s39_c1_v1"/>
          <p:cNvSpPr/>
          <p:nvPr/>
        </p:nvSpPr>
        <p:spPr>
          <a:xfrm>
            <a:off x="7589520" y="3273552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—</a:t>
            </a:r>
            <a:endParaRPr lang="en-US" sz="900" dirty="0"/>
          </a:p>
        </p:txBody>
      </p:sp>
      <p:sp>
        <p:nvSpPr>
          <p:cNvPr id="49" name="s39_c1_hr3"/>
          <p:cNvSpPr/>
          <p:nvPr/>
        </p:nvSpPr>
        <p:spPr>
          <a:xfrm>
            <a:off x="6437376" y="3694176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50" name="s39_c1_k2"/>
          <p:cNvSpPr/>
          <p:nvPr/>
        </p:nvSpPr>
        <p:spPr>
          <a:xfrm>
            <a:off x="6437376" y="3694176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</a:t>
            </a:r>
            <a:endParaRPr lang="en-US" sz="850" dirty="0"/>
          </a:p>
        </p:txBody>
      </p:sp>
      <p:sp>
        <p:nvSpPr>
          <p:cNvPr id="51" name="s39_c1_v2"/>
          <p:cNvSpPr/>
          <p:nvPr/>
        </p:nvSpPr>
        <p:spPr>
          <a:xfrm>
            <a:off x="7589520" y="3694176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—</a:t>
            </a:r>
            <a:endParaRPr lang="en-US" sz="900" dirty="0"/>
          </a:p>
        </p:txBody>
      </p:sp>
      <p:sp>
        <p:nvSpPr>
          <p:cNvPr id="52" name="s39_c1_hr4"/>
          <p:cNvSpPr/>
          <p:nvPr/>
        </p:nvSpPr>
        <p:spPr>
          <a:xfrm>
            <a:off x="6437376" y="4114800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53" name="s39_c1_k3"/>
          <p:cNvSpPr/>
          <p:nvPr/>
        </p:nvSpPr>
        <p:spPr>
          <a:xfrm>
            <a:off x="6437376" y="4114800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AUTO-UPDATE</a:t>
            </a:r>
            <a:endParaRPr lang="en-US" sz="850" dirty="0"/>
          </a:p>
        </p:txBody>
      </p:sp>
      <p:sp>
        <p:nvSpPr>
          <p:cNvPr id="54" name="s39_c1_v3"/>
          <p:cNvSpPr/>
          <p:nvPr/>
        </p:nvSpPr>
        <p:spPr>
          <a:xfrm>
            <a:off x="7589520" y="4114800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N/A — no artifact exists to update.</a:t>
            </a:r>
            <a:endParaRPr lang="en-US" sz="900" dirty="0"/>
          </a:p>
        </p:txBody>
      </p:sp>
      <p:sp>
        <p:nvSpPr>
          <p:cNvPr id="55" name="s39_c1_emp"/>
          <p:cNvSpPr/>
          <p:nvPr/>
        </p:nvSpPr>
        <p:spPr>
          <a:xfrm>
            <a:off x="6409944" y="4626864"/>
            <a:ext cx="5074920" cy="1581912"/>
          </a:xfrm>
          <a:prstGeom prst="rect">
            <a:avLst/>
          </a:prstGeom>
          <a:solidFill>
            <a:srgbClr val="E5F5EA"/>
          </a:solidFill>
          <a:ln/>
        </p:spPr>
      </p:sp>
      <p:sp>
        <p:nvSpPr>
          <p:cNvPr id="56" name="s39_c1_emb"/>
          <p:cNvSpPr/>
          <p:nvPr/>
        </p:nvSpPr>
        <p:spPr>
          <a:xfrm>
            <a:off x="6592824" y="4736592"/>
            <a:ext cx="4709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spc="200" kern="0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REGISTRY EMISSION</a:t>
            </a:r>
            <a:endParaRPr lang="en-US" sz="800" dirty="0"/>
          </a:p>
        </p:txBody>
      </p:sp>
      <p:sp>
        <p:nvSpPr>
          <p:cNvPr id="57" name="s39_c1_em"/>
          <p:cNvSpPr/>
          <p:nvPr/>
        </p:nvSpPr>
        <p:spPr>
          <a:xfrm>
            <a:off x="6592824" y="4956048"/>
            <a:ext cx="470916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compat.harnesses.codex.supported = false</a:t>
            </a:r>
            <a:endParaRPr lang="en-US" sz="9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surfaces: [] · via: []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40_vx_v1"/>
          <p:cNvSpPr/>
          <p:nvPr/>
        </p:nvSpPr>
        <p:spPr>
          <a:xfrm>
            <a:off x="11137392" y="384048"/>
            <a:ext cx="128016" cy="12801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" name="s40_vx_v2"/>
          <p:cNvSpPr/>
          <p:nvPr/>
        </p:nvSpPr>
        <p:spPr>
          <a:xfrm>
            <a:off x="11292840" y="384048"/>
            <a:ext cx="128016" cy="12801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" name="s40_vx_v3"/>
          <p:cNvSpPr/>
          <p:nvPr/>
        </p:nvSpPr>
        <p:spPr>
          <a:xfrm>
            <a:off x="11137392" y="539496"/>
            <a:ext cx="128016" cy="128016"/>
          </a:xfrm>
          <a:prstGeom prst="rect">
            <a:avLst/>
          </a:prstGeom>
          <a:solidFill>
            <a:srgbClr val="D97706"/>
          </a:solidFill>
          <a:ln/>
        </p:spPr>
      </p:sp>
      <p:pic>
        <p:nvPicPr>
          <p:cNvPr id="5" name="s40_kick" descr="assets/sko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02336"/>
            <a:ext cx="5773783" cy="182880"/>
          </a:xfrm>
          <a:prstGeom prst="rect">
            <a:avLst/>
          </a:prstGeom>
        </p:spPr>
      </p:pic>
      <p:pic>
        <p:nvPicPr>
          <p:cNvPr id="6" name="s40_title" descr="assets/srf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58368"/>
            <a:ext cx="4415246" cy="475488"/>
          </a:xfrm>
          <a:prstGeom prst="rect">
            <a:avLst/>
          </a:prstGeom>
        </p:spPr>
      </p:pic>
      <p:sp>
        <p:nvSpPr>
          <p:cNvPr id="7" name="s40_spec"/>
          <p:cNvSpPr/>
          <p:nvPr/>
        </p:nvSpPr>
        <p:spPr>
          <a:xfrm>
            <a:off x="502920" y="1216152"/>
            <a:ext cx="10469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STATUS LINE in opencode + pi</a:t>
            </a:r>
            <a:endParaRPr lang="en-US" sz="1100" dirty="0"/>
          </a:p>
        </p:txBody>
      </p:sp>
      <p:sp>
        <p:nvSpPr>
          <p:cNvPr id="8" name="s40_pg"/>
          <p:cNvSpPr/>
          <p:nvPr/>
        </p:nvSpPr>
        <p:spPr>
          <a:xfrm>
            <a:off x="11064240" y="648309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 / 45</a:t>
            </a:r>
            <a:endParaRPr lang="en-US" sz="950" dirty="0"/>
          </a:p>
        </p:txBody>
      </p:sp>
      <p:sp>
        <p:nvSpPr>
          <p:cNvPr id="10" name="s40_c0_sh"/>
          <p:cNvSpPr/>
          <p:nvPr/>
        </p:nvSpPr>
        <p:spPr>
          <a:xfrm>
            <a:off x="553212" y="1531620"/>
            <a:ext cx="5477256" cy="489204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1" name="s40_c0"/>
          <p:cNvSpPr/>
          <p:nvPr/>
        </p:nvSpPr>
        <p:spPr>
          <a:xfrm>
            <a:off x="502920" y="1481328"/>
            <a:ext cx="5477256" cy="489204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12" name="s40_c0_sq"/>
          <p:cNvSpPr/>
          <p:nvPr/>
        </p:nvSpPr>
        <p:spPr>
          <a:xfrm>
            <a:off x="731520" y="1673352"/>
            <a:ext cx="137160" cy="137160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13" name="s40_c0_topic"/>
          <p:cNvSpPr/>
          <p:nvPr/>
        </p:nvSpPr>
        <p:spPr>
          <a:xfrm>
            <a:off x="960120" y="1609344"/>
            <a:ext cx="37965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50" kern="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STATUS LINE</a:t>
            </a:r>
            <a:endParaRPr lang="en-US" sz="1300" dirty="0"/>
          </a:p>
        </p:txBody>
      </p:sp>
      <p:sp>
        <p:nvSpPr>
          <p:cNvPr id="14" name="s40_c0_vc_sh"/>
          <p:cNvSpPr/>
          <p:nvPr/>
        </p:nvSpPr>
        <p:spPr>
          <a:xfrm>
            <a:off x="4811573" y="1636776"/>
            <a:ext cx="994867" cy="3383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5" name="s40_c0_vc"/>
          <p:cNvSpPr/>
          <p:nvPr/>
        </p:nvSpPr>
        <p:spPr>
          <a:xfrm>
            <a:off x="4784141" y="1609344"/>
            <a:ext cx="994867" cy="338328"/>
          </a:xfrm>
          <a:prstGeom prst="rect">
            <a:avLst/>
          </a:prstGeom>
          <a:solidFill>
            <a:srgbClr val="EFEFEA"/>
          </a:solidFill>
          <a:ln w="15875">
            <a:solidFill>
              <a:srgbClr val="5C6068"/>
            </a:solidFill>
            <a:prstDash val="solid"/>
          </a:ln>
        </p:spPr>
      </p:sp>
      <p:sp>
        <p:nvSpPr>
          <p:cNvPr id="16" name="s40_c0_vc_t"/>
          <p:cNvSpPr/>
          <p:nvPr/>
        </p:nvSpPr>
        <p:spPr>
          <a:xfrm>
            <a:off x="4784141" y="1609344"/>
            <a:ext cx="99486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SURFACE</a:t>
            </a:r>
            <a:endParaRPr lang="en-US" sz="900" dirty="0"/>
          </a:p>
        </p:txBody>
      </p:sp>
      <p:sp>
        <p:nvSpPr>
          <p:cNvPr id="17" name="s40_c0_why"/>
          <p:cNvSpPr/>
          <p:nvPr/>
        </p:nvSpPr>
        <p:spPr>
          <a:xfrm>
            <a:off x="731520" y="2011680"/>
            <a:ext cx="5020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i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opencode.md documents themes only, no statusline</a:t>
            </a:r>
            <a:endParaRPr lang="en-US" sz="850" dirty="0"/>
          </a:p>
        </p:txBody>
      </p:sp>
      <p:sp>
        <p:nvSpPr>
          <p:cNvPr id="18" name="s40_c0_what"/>
          <p:cNvSpPr/>
          <p:nvPr/>
        </p:nvSpPr>
        <p:spPr>
          <a:xfrm>
            <a:off x="731520" y="2340864"/>
            <a:ext cx="5020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statusline surface; themes are the adjacent JSON drop</a:t>
            </a:r>
            <a:endParaRPr lang="en-US" sz="1050" dirty="0"/>
          </a:p>
        </p:txBody>
      </p:sp>
      <p:sp>
        <p:nvSpPr>
          <p:cNvPr id="19" name="s40_c0_hr1"/>
          <p:cNvSpPr/>
          <p:nvPr/>
        </p:nvSpPr>
        <p:spPr>
          <a:xfrm>
            <a:off x="731520" y="2798064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0" name="s40_c0_k0"/>
          <p:cNvSpPr/>
          <p:nvPr/>
        </p:nvSpPr>
        <p:spPr>
          <a:xfrm>
            <a:off x="731520" y="2852928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</a:t>
            </a:r>
            <a:endParaRPr lang="en-US" sz="850" dirty="0"/>
          </a:p>
        </p:txBody>
      </p:sp>
      <p:sp>
        <p:nvSpPr>
          <p:cNvPr id="21" name="s40_c0_v0"/>
          <p:cNvSpPr/>
          <p:nvPr/>
        </p:nvSpPr>
        <p:spPr>
          <a:xfrm>
            <a:off x="1883664" y="2852928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none · themes: .opencode/themes/&lt;name&gt;.json</a:t>
            </a:r>
            <a:endParaRPr lang="en-US" sz="900" dirty="0"/>
          </a:p>
        </p:txBody>
      </p:sp>
      <p:sp>
        <p:nvSpPr>
          <p:cNvPr id="22" name="s40_c0_hr2"/>
          <p:cNvSpPr/>
          <p:nvPr/>
        </p:nvSpPr>
        <p:spPr>
          <a:xfrm>
            <a:off x="731520" y="3273552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3" name="s40_c0_k1"/>
          <p:cNvSpPr/>
          <p:nvPr/>
        </p:nvSpPr>
        <p:spPr>
          <a:xfrm>
            <a:off x="731520" y="3273552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FORMAT</a:t>
            </a:r>
            <a:endParaRPr lang="en-US" sz="850" dirty="0"/>
          </a:p>
        </p:txBody>
      </p:sp>
      <p:sp>
        <p:nvSpPr>
          <p:cNvPr id="24" name="s40_c0_v1"/>
          <p:cNvSpPr/>
          <p:nvPr/>
        </p:nvSpPr>
        <p:spPr>
          <a:xfrm>
            <a:off x="1883664" y="3273552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theme.json only (no statusline format exists)</a:t>
            </a:r>
            <a:endParaRPr lang="en-US" sz="900" dirty="0"/>
          </a:p>
        </p:txBody>
      </p:sp>
      <p:sp>
        <p:nvSpPr>
          <p:cNvPr id="25" name="s40_c0_hr3"/>
          <p:cNvSpPr/>
          <p:nvPr/>
        </p:nvSpPr>
        <p:spPr>
          <a:xfrm>
            <a:off x="731520" y="3694176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6" name="s40_c0_k2"/>
          <p:cNvSpPr/>
          <p:nvPr/>
        </p:nvSpPr>
        <p:spPr>
          <a:xfrm>
            <a:off x="731520" y="3694176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</a:t>
            </a:r>
            <a:endParaRPr lang="en-US" sz="850" dirty="0"/>
          </a:p>
        </p:txBody>
      </p:sp>
      <p:sp>
        <p:nvSpPr>
          <p:cNvPr id="27" name="s40_c0_v2"/>
          <p:cNvSpPr/>
          <p:nvPr/>
        </p:nvSpPr>
        <p:spPr>
          <a:xfrm>
            <a:off x="1883664" y="3694176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none — /themes selects; theme file drop only</a:t>
            </a:r>
            <a:endParaRPr lang="en-US" sz="900" dirty="0"/>
          </a:p>
        </p:txBody>
      </p:sp>
      <p:sp>
        <p:nvSpPr>
          <p:cNvPr id="28" name="s40_c0_hr4"/>
          <p:cNvSpPr/>
          <p:nvPr/>
        </p:nvSpPr>
        <p:spPr>
          <a:xfrm>
            <a:off x="731520" y="4114800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9" name="s40_c0_k3"/>
          <p:cNvSpPr/>
          <p:nvPr/>
        </p:nvSpPr>
        <p:spPr>
          <a:xfrm>
            <a:off x="731520" y="4114800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AUTO-UPDATE</a:t>
            </a:r>
            <a:endParaRPr lang="en-US" sz="850" dirty="0"/>
          </a:p>
        </p:txBody>
      </p:sp>
      <p:sp>
        <p:nvSpPr>
          <p:cNvPr id="30" name="s40_c0_v3"/>
          <p:cNvSpPr/>
          <p:nvPr/>
        </p:nvSpPr>
        <p:spPr>
          <a:xfrm>
            <a:off x="1883664" y="4114800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 surface. Themes update only by file drop</a:t>
            </a:r>
            <a:endParaRPr lang="en-US" sz="900" dirty="0"/>
          </a:p>
        </p:txBody>
      </p:sp>
      <p:sp>
        <p:nvSpPr>
          <p:cNvPr id="31" name="s40_c0_emp"/>
          <p:cNvSpPr/>
          <p:nvPr/>
        </p:nvSpPr>
        <p:spPr>
          <a:xfrm>
            <a:off x="704088" y="4626864"/>
            <a:ext cx="5074920" cy="1581912"/>
          </a:xfrm>
          <a:prstGeom prst="rect">
            <a:avLst/>
          </a:prstGeom>
          <a:solidFill>
            <a:srgbClr val="E7EEFD"/>
          </a:solidFill>
          <a:ln/>
        </p:spPr>
      </p:sp>
      <p:sp>
        <p:nvSpPr>
          <p:cNvPr id="32" name="s40_c0_emb"/>
          <p:cNvSpPr/>
          <p:nvPr/>
        </p:nvSpPr>
        <p:spPr>
          <a:xfrm>
            <a:off x="886968" y="4736592"/>
            <a:ext cx="4709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spc="200" kern="0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REGISTRY EMISSION</a:t>
            </a:r>
            <a:endParaRPr lang="en-US" sz="800" dirty="0"/>
          </a:p>
        </p:txBody>
      </p:sp>
      <p:sp>
        <p:nvSpPr>
          <p:cNvPr id="33" name="s40_c0_em"/>
          <p:cNvSpPr/>
          <p:nvPr/>
        </p:nvSpPr>
        <p:spPr>
          <a:xfrm>
            <a:off x="886968" y="4956048"/>
            <a:ext cx="470916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 statusline surface in opencode.md</a:t>
            </a:r>
            <a:endParaRPr lang="en-US" sz="9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adjacent: copy json → .opencode/themes/&lt;n&gt;.json</a:t>
            </a:r>
            <a:endParaRPr lang="en-US" sz="9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via /themes; plugins can't register</a:t>
            </a:r>
            <a:endParaRPr lang="en-US" sz="900" dirty="0"/>
          </a:p>
        </p:txBody>
      </p:sp>
      <p:sp>
        <p:nvSpPr>
          <p:cNvPr id="34" name="s40_c1_sh"/>
          <p:cNvSpPr/>
          <p:nvPr/>
        </p:nvSpPr>
        <p:spPr>
          <a:xfrm>
            <a:off x="6259068" y="1531620"/>
            <a:ext cx="5477256" cy="489204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35" name="s40_c1"/>
          <p:cNvSpPr/>
          <p:nvPr/>
        </p:nvSpPr>
        <p:spPr>
          <a:xfrm>
            <a:off x="6208776" y="1481328"/>
            <a:ext cx="5477256" cy="489204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36" name="s40_c1_sq"/>
          <p:cNvSpPr/>
          <p:nvPr/>
        </p:nvSpPr>
        <p:spPr>
          <a:xfrm>
            <a:off x="6437376" y="1673352"/>
            <a:ext cx="137160" cy="13716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7" name="s40_c1_topic"/>
          <p:cNvSpPr/>
          <p:nvPr/>
        </p:nvSpPr>
        <p:spPr>
          <a:xfrm>
            <a:off x="6665976" y="1609344"/>
            <a:ext cx="40237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50" kern="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STATUS LINE</a:t>
            </a:r>
            <a:endParaRPr lang="en-US" sz="1300" dirty="0"/>
          </a:p>
        </p:txBody>
      </p:sp>
      <p:sp>
        <p:nvSpPr>
          <p:cNvPr id="38" name="s40_c1_vc_sh"/>
          <p:cNvSpPr/>
          <p:nvPr/>
        </p:nvSpPr>
        <p:spPr>
          <a:xfrm>
            <a:off x="10744566" y="1636776"/>
            <a:ext cx="767730" cy="3383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39" name="s40_c1_vc"/>
          <p:cNvSpPr/>
          <p:nvPr/>
        </p:nvSpPr>
        <p:spPr>
          <a:xfrm>
            <a:off x="10717134" y="1609344"/>
            <a:ext cx="767730" cy="338328"/>
          </a:xfrm>
          <a:prstGeom prst="rect">
            <a:avLst/>
          </a:prstGeom>
          <a:solidFill>
            <a:srgbClr val="FBEEDD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40" name="s40_c1_vc_t"/>
          <p:cNvSpPr/>
          <p:nvPr/>
        </p:nvSpPr>
        <p:spPr>
          <a:xfrm>
            <a:off x="10717134" y="1609344"/>
            <a:ext cx="76773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OVERLAY</a:t>
            </a:r>
            <a:endParaRPr lang="en-US" sz="900" dirty="0"/>
          </a:p>
        </p:txBody>
      </p:sp>
      <p:sp>
        <p:nvSpPr>
          <p:cNvPr id="41" name="s40_c1_why"/>
          <p:cNvSpPr/>
          <p:nvPr/>
        </p:nvSpPr>
        <p:spPr>
          <a:xfrm>
            <a:off x="6437376" y="2011680"/>
            <a:ext cx="5020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i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Theme schema Pi-only; core look + pi overlay fields</a:t>
            </a:r>
            <a:endParaRPr lang="en-US" sz="850" dirty="0"/>
          </a:p>
        </p:txBody>
      </p:sp>
      <p:sp>
        <p:nvSpPr>
          <p:cNvPr id="42" name="s40_c1_what"/>
          <p:cNvSpPr/>
          <p:nvPr/>
        </p:nvSpPr>
        <p:spPr>
          <a:xfrm>
            <a:off x="6437376" y="2340864"/>
            <a:ext cx="5020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Terminal look via JSON themes; deeper TUI widgets via extension code</a:t>
            </a:r>
            <a:endParaRPr lang="en-US" sz="1050" dirty="0"/>
          </a:p>
        </p:txBody>
      </p:sp>
      <p:sp>
        <p:nvSpPr>
          <p:cNvPr id="43" name="s40_c1_hr1"/>
          <p:cNvSpPr/>
          <p:nvPr/>
        </p:nvSpPr>
        <p:spPr>
          <a:xfrm>
            <a:off x="6437376" y="2798064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44" name="s40_c1_k0"/>
          <p:cNvSpPr/>
          <p:nvPr/>
        </p:nvSpPr>
        <p:spPr>
          <a:xfrm>
            <a:off x="6437376" y="2852928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</a:t>
            </a:r>
            <a:endParaRPr lang="en-US" sz="850" dirty="0"/>
          </a:p>
        </p:txBody>
      </p:sp>
      <p:sp>
        <p:nvSpPr>
          <p:cNvPr id="45" name="s40_c1_v0"/>
          <p:cNvSpPr/>
          <p:nvPr/>
        </p:nvSpPr>
        <p:spPr>
          <a:xfrm>
            <a:off x="7589520" y="2852928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~/.pi/agent/themes/&lt;name&gt;.json · .pi/themes (trust-gated)</a:t>
            </a:r>
            <a:endParaRPr lang="en-US" sz="900" dirty="0"/>
          </a:p>
        </p:txBody>
      </p:sp>
      <p:sp>
        <p:nvSpPr>
          <p:cNvPr id="46" name="s40_c1_hr2"/>
          <p:cNvSpPr/>
          <p:nvPr/>
        </p:nvSpPr>
        <p:spPr>
          <a:xfrm>
            <a:off x="6437376" y="3273552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47" name="s40_c1_k1"/>
          <p:cNvSpPr/>
          <p:nvPr/>
        </p:nvSpPr>
        <p:spPr>
          <a:xfrm>
            <a:off x="6437376" y="3273552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FORMAT</a:t>
            </a:r>
            <a:endParaRPr lang="en-US" sz="850" dirty="0"/>
          </a:p>
        </p:txBody>
      </p:sp>
      <p:sp>
        <p:nvSpPr>
          <p:cNvPr id="48" name="s40_c1_v1"/>
          <p:cNvSpPr/>
          <p:nvPr/>
        </p:nvSpPr>
        <p:spPr>
          <a:xfrm>
            <a:off x="7589520" y="3273552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strict theme JSON; name must equal filename</a:t>
            </a:r>
            <a:endParaRPr lang="en-US" sz="900" dirty="0"/>
          </a:p>
        </p:txBody>
      </p:sp>
      <p:sp>
        <p:nvSpPr>
          <p:cNvPr id="49" name="s40_c1_hr3"/>
          <p:cNvSpPr/>
          <p:nvPr/>
        </p:nvSpPr>
        <p:spPr>
          <a:xfrm>
            <a:off x="6437376" y="3694176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50" name="s40_c1_k2"/>
          <p:cNvSpPr/>
          <p:nvPr/>
        </p:nvSpPr>
        <p:spPr>
          <a:xfrm>
            <a:off x="6437376" y="3694176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</a:t>
            </a:r>
            <a:endParaRPr lang="en-US" sz="850" dirty="0"/>
          </a:p>
        </p:txBody>
      </p:sp>
      <p:sp>
        <p:nvSpPr>
          <p:cNvPr id="51" name="s40_c1_v2"/>
          <p:cNvSpPr/>
          <p:nvPr/>
        </p:nvSpPr>
        <p:spPr>
          <a:xfrm>
            <a:off x="7589520" y="3694176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/settings → theme · --use-theme &lt;name&gt; · /reload</a:t>
            </a:r>
            <a:endParaRPr lang="en-US" sz="900" dirty="0"/>
          </a:p>
        </p:txBody>
      </p:sp>
      <p:sp>
        <p:nvSpPr>
          <p:cNvPr id="52" name="s40_c1_hr4"/>
          <p:cNvSpPr/>
          <p:nvPr/>
        </p:nvSpPr>
        <p:spPr>
          <a:xfrm>
            <a:off x="6437376" y="4114800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53" name="s40_c1_k3"/>
          <p:cNvSpPr/>
          <p:nvPr/>
        </p:nvSpPr>
        <p:spPr>
          <a:xfrm>
            <a:off x="6437376" y="4114800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AUTO-UPDATE</a:t>
            </a:r>
            <a:endParaRPr lang="en-US" sz="850" dirty="0"/>
          </a:p>
        </p:txBody>
      </p:sp>
      <p:sp>
        <p:nvSpPr>
          <p:cNvPr id="54" name="s40_c1_v3"/>
          <p:cNvSpPr/>
          <p:nvPr/>
        </p:nvSpPr>
        <p:spPr>
          <a:xfrm>
            <a:off x="7589520" y="4114800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Themes in a package update with pi update; manual drops stay put</a:t>
            </a:r>
            <a:endParaRPr lang="en-US" sz="900" dirty="0"/>
          </a:p>
        </p:txBody>
      </p:sp>
      <p:sp>
        <p:nvSpPr>
          <p:cNvPr id="55" name="s40_c1_emp"/>
          <p:cNvSpPr/>
          <p:nvPr/>
        </p:nvSpPr>
        <p:spPr>
          <a:xfrm>
            <a:off x="6409944" y="4626864"/>
            <a:ext cx="5074920" cy="1581912"/>
          </a:xfrm>
          <a:prstGeom prst="rect">
            <a:avLst/>
          </a:prstGeom>
          <a:solidFill>
            <a:srgbClr val="EFE9FB"/>
          </a:solidFill>
          <a:ln/>
        </p:spPr>
      </p:sp>
      <p:sp>
        <p:nvSpPr>
          <p:cNvPr id="56" name="s40_c1_emb"/>
          <p:cNvSpPr/>
          <p:nvPr/>
        </p:nvSpPr>
        <p:spPr>
          <a:xfrm>
            <a:off x="6592824" y="4736592"/>
            <a:ext cx="4709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spc="200" kern="0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REGISTRY EMISSION</a:t>
            </a:r>
            <a:endParaRPr lang="en-US" sz="800" dirty="0"/>
          </a:p>
        </p:txBody>
      </p:sp>
      <p:sp>
        <p:nvSpPr>
          <p:cNvPr id="57" name="s40_c1_em"/>
          <p:cNvSpPr/>
          <p:nvPr/>
        </p:nvSpPr>
        <p:spPr>
          <a:xfrm>
            <a:off x="6592824" y="4956048"/>
            <a:ext cx="470916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install.pi: copy → ~/.pi/agent/themes/&lt;n&gt;.json</a:t>
            </a:r>
            <a:endParaRPr lang="en-US" sz="9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check: name == filename (strict schema)</a:t>
            </a:r>
            <a:endParaRPr lang="en-US" sz="9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deep TUI: ctx.ui.* needs extension (review)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41_vx_v1"/>
          <p:cNvSpPr/>
          <p:nvPr/>
        </p:nvSpPr>
        <p:spPr>
          <a:xfrm>
            <a:off x="11137392" y="384048"/>
            <a:ext cx="128016" cy="12801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" name="s41_vx_v2"/>
          <p:cNvSpPr/>
          <p:nvPr/>
        </p:nvSpPr>
        <p:spPr>
          <a:xfrm>
            <a:off x="11292840" y="384048"/>
            <a:ext cx="128016" cy="12801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" name="s41_vx_v3"/>
          <p:cNvSpPr/>
          <p:nvPr/>
        </p:nvSpPr>
        <p:spPr>
          <a:xfrm>
            <a:off x="11137392" y="539496"/>
            <a:ext cx="128016" cy="128016"/>
          </a:xfrm>
          <a:prstGeom prst="rect">
            <a:avLst/>
          </a:prstGeom>
          <a:solidFill>
            <a:srgbClr val="D97706"/>
          </a:solidFill>
          <a:ln/>
        </p:spPr>
      </p:sp>
      <p:pic>
        <p:nvPicPr>
          <p:cNvPr id="5" name="s41_kick" descr="assets/skb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02336"/>
            <a:ext cx="3422469" cy="182880"/>
          </a:xfrm>
          <a:prstGeom prst="rect">
            <a:avLst/>
          </a:prstGeom>
        </p:spPr>
      </p:pic>
      <p:pic>
        <p:nvPicPr>
          <p:cNvPr id="6" name="s41_title" descr="assets/srf1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58368"/>
            <a:ext cx="4415246" cy="475488"/>
          </a:xfrm>
          <a:prstGeom prst="rect">
            <a:avLst/>
          </a:prstGeom>
        </p:spPr>
      </p:pic>
      <p:sp>
        <p:nvSpPr>
          <p:cNvPr id="7" name="s41_spec"/>
          <p:cNvSpPr/>
          <p:nvPr/>
        </p:nvSpPr>
        <p:spPr>
          <a:xfrm>
            <a:off x="502920" y="1216152"/>
            <a:ext cx="10469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Permission rules, sandboxes and trust gates — emitted from the record's declared requirements</a:t>
            </a:r>
            <a:endParaRPr lang="en-US" sz="1100" dirty="0"/>
          </a:p>
        </p:txBody>
      </p:sp>
      <p:sp>
        <p:nvSpPr>
          <p:cNvPr id="8" name="s41_pg"/>
          <p:cNvSpPr/>
          <p:nvPr/>
        </p:nvSpPr>
        <p:spPr>
          <a:xfrm>
            <a:off x="11064240" y="648309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41 / 45</a:t>
            </a:r>
            <a:endParaRPr lang="en-US" sz="950" dirty="0"/>
          </a:p>
        </p:txBody>
      </p:sp>
      <p:sp>
        <p:nvSpPr>
          <p:cNvPr id="10" name="s41_min_sh"/>
          <p:cNvSpPr/>
          <p:nvPr/>
        </p:nvSpPr>
        <p:spPr>
          <a:xfrm>
            <a:off x="553212" y="1531620"/>
            <a:ext cx="5669280" cy="416052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1" name="s41_min"/>
          <p:cNvSpPr/>
          <p:nvPr/>
        </p:nvSpPr>
        <p:spPr>
          <a:xfrm>
            <a:off x="502920" y="1481328"/>
            <a:ext cx="5669280" cy="416052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12" name="s41_mb"/>
          <p:cNvSpPr/>
          <p:nvPr/>
        </p:nvSpPr>
        <p:spPr>
          <a:xfrm>
            <a:off x="777240" y="162763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REGISTRY MINIMUM — WHAT WE STORE</a:t>
            </a:r>
            <a:endParaRPr lang="en-US" sz="950" dirty="0"/>
          </a:p>
        </p:txBody>
      </p:sp>
      <p:sp>
        <p:nvSpPr>
          <p:cNvPr id="13" name="s41_mk0"/>
          <p:cNvSpPr/>
          <p:nvPr/>
        </p:nvSpPr>
        <p:spPr>
          <a:xfrm>
            <a:off x="777240" y="19202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requires</a:t>
            </a:r>
            <a:endParaRPr lang="en-US" sz="900" dirty="0"/>
          </a:p>
        </p:txBody>
      </p:sp>
      <p:sp>
        <p:nvSpPr>
          <p:cNvPr id="14" name="s41_mv0"/>
          <p:cNvSpPr/>
          <p:nvPr/>
        </p:nvSpPr>
        <p:spPr>
          <a:xfrm>
            <a:off x="2240280" y="192024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runtime[], mcp[], network[], shell flag</a:t>
            </a:r>
            <a:endParaRPr lang="en-US" sz="850" dirty="0"/>
          </a:p>
        </p:txBody>
      </p:sp>
      <p:sp>
        <p:nvSpPr>
          <p:cNvPr id="15" name="s41_mhr0"/>
          <p:cNvSpPr/>
          <p:nvPr/>
        </p:nvSpPr>
        <p:spPr>
          <a:xfrm>
            <a:off x="777240" y="2304288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16" name="s41_mk1"/>
          <p:cNvSpPr/>
          <p:nvPr/>
        </p:nvSpPr>
        <p:spPr>
          <a:xfrm>
            <a:off x="777240" y="230428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allow rules</a:t>
            </a:r>
            <a:endParaRPr lang="en-US" sz="900" dirty="0"/>
          </a:p>
        </p:txBody>
      </p:sp>
      <p:sp>
        <p:nvSpPr>
          <p:cNvPr id="17" name="s41_mv1"/>
          <p:cNvSpPr/>
          <p:nvPr/>
        </p:nvSpPr>
        <p:spPr>
          <a:xfrm>
            <a:off x="2240280" y="230428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claude permissions.allow statements</a:t>
            </a:r>
            <a:endParaRPr lang="en-US" sz="850" dirty="0"/>
          </a:p>
        </p:txBody>
      </p:sp>
      <p:sp>
        <p:nvSpPr>
          <p:cNvPr id="18" name="s41_mhr1"/>
          <p:cNvSpPr/>
          <p:nvPr/>
        </p:nvSpPr>
        <p:spPr>
          <a:xfrm>
            <a:off x="777240" y="2688336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19" name="s41_mk2"/>
          <p:cNvSpPr/>
          <p:nvPr/>
        </p:nvSpPr>
        <p:spPr>
          <a:xfrm>
            <a:off x="777240" y="2688336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sandbox</a:t>
            </a:r>
            <a:endParaRPr lang="en-US" sz="900" dirty="0"/>
          </a:p>
        </p:txBody>
      </p:sp>
      <p:sp>
        <p:nvSpPr>
          <p:cNvPr id="20" name="s41_mv2"/>
          <p:cNvSpPr/>
          <p:nvPr/>
        </p:nvSpPr>
        <p:spPr>
          <a:xfrm>
            <a:off x="2240280" y="2688336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codex sandbox_mode + network_access</a:t>
            </a:r>
            <a:endParaRPr lang="en-US" sz="850" dirty="0"/>
          </a:p>
        </p:txBody>
      </p:sp>
      <p:sp>
        <p:nvSpPr>
          <p:cNvPr id="21" name="s41_mhr2"/>
          <p:cNvSpPr/>
          <p:nvPr/>
        </p:nvSpPr>
        <p:spPr>
          <a:xfrm>
            <a:off x="777240" y="3072384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2" name="s41_mk3"/>
          <p:cNvSpPr/>
          <p:nvPr/>
        </p:nvSpPr>
        <p:spPr>
          <a:xfrm>
            <a:off x="777240" y="3072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effects</a:t>
            </a:r>
            <a:endParaRPr lang="en-US" sz="900" dirty="0"/>
          </a:p>
        </p:txBody>
      </p:sp>
      <p:sp>
        <p:nvSpPr>
          <p:cNvPr id="23" name="s41_mv3"/>
          <p:cNvSpPr/>
          <p:nvPr/>
        </p:nvSpPr>
        <p:spPr>
          <a:xfrm>
            <a:off x="2240280" y="3072384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oc permissions[] action/resource/effect</a:t>
            </a:r>
            <a:endParaRPr lang="en-US" sz="850" dirty="0"/>
          </a:p>
        </p:txBody>
      </p:sp>
      <p:sp>
        <p:nvSpPr>
          <p:cNvPr id="24" name="s41_mhr3"/>
          <p:cNvSpPr/>
          <p:nvPr/>
        </p:nvSpPr>
        <p:spPr>
          <a:xfrm>
            <a:off x="777240" y="3456432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5" name="s41_mk4"/>
          <p:cNvSpPr/>
          <p:nvPr/>
        </p:nvSpPr>
        <p:spPr>
          <a:xfrm>
            <a:off x="777240" y="3456432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risk</a:t>
            </a:r>
            <a:endParaRPr lang="en-US" sz="900" dirty="0"/>
          </a:p>
        </p:txBody>
      </p:sp>
      <p:sp>
        <p:nvSpPr>
          <p:cNvPr id="26" name="s41_mv4"/>
          <p:cNvSpPr/>
          <p:nvPr/>
        </p:nvSpPr>
        <p:spPr>
          <a:xfrm>
            <a:off x="2240280" y="3456432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trust.tier + capabilities[] at install</a:t>
            </a:r>
            <a:endParaRPr lang="en-US" sz="850" dirty="0"/>
          </a:p>
        </p:txBody>
      </p:sp>
      <p:sp>
        <p:nvSpPr>
          <p:cNvPr id="27" name="s41_mhr4"/>
          <p:cNvSpPr/>
          <p:nvPr/>
        </p:nvSpPr>
        <p:spPr>
          <a:xfrm>
            <a:off x="777240" y="3840480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8" name="s41_mk5"/>
          <p:cNvSpPr/>
          <p:nvPr/>
        </p:nvSpPr>
        <p:spPr>
          <a:xfrm>
            <a:off x="777240" y="384048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compat</a:t>
            </a:r>
            <a:endParaRPr lang="en-US" sz="900" dirty="0"/>
          </a:p>
        </p:txBody>
      </p:sp>
      <p:sp>
        <p:nvSpPr>
          <p:cNvPr id="29" name="s41_mv5"/>
          <p:cNvSpPr/>
          <p:nvPr/>
        </p:nvSpPr>
        <p:spPr>
          <a:xfrm>
            <a:off x="2240280" y="384048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pi: no policy surface (YOLO) — skip</a:t>
            </a:r>
            <a:endParaRPr lang="en-US" sz="850" dirty="0"/>
          </a:p>
        </p:txBody>
      </p:sp>
      <p:sp>
        <p:nvSpPr>
          <p:cNvPr id="30" name="s41_mhr5"/>
          <p:cNvSpPr/>
          <p:nvPr/>
        </p:nvSpPr>
        <p:spPr>
          <a:xfrm>
            <a:off x="777240" y="4224528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31" name="s41_mwhy"/>
          <p:cNvSpPr/>
          <p:nvPr/>
        </p:nvSpPr>
        <p:spPr>
          <a:xfrm>
            <a:off x="777240" y="498348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Policy is derived not dropped: each gated harness gets a dialect of the declared requirements; Pi has no gate.</a:t>
            </a:r>
            <a:endParaRPr lang="en-US" sz="950" dirty="0"/>
          </a:p>
        </p:txBody>
      </p:sp>
      <p:sp>
        <p:nvSpPr>
          <p:cNvPr id="32" name="s41_row_sh"/>
          <p:cNvSpPr/>
          <p:nvPr/>
        </p:nvSpPr>
        <p:spPr>
          <a:xfrm>
            <a:off x="6451092" y="1531620"/>
            <a:ext cx="5285232" cy="310896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33" name="s41_row"/>
          <p:cNvSpPr/>
          <p:nvPr/>
        </p:nvSpPr>
        <p:spPr>
          <a:xfrm>
            <a:off x="6400800" y="1481328"/>
            <a:ext cx="5285232" cy="310896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34" name="s41_rb"/>
          <p:cNvSpPr/>
          <p:nvPr/>
        </p:nvSpPr>
        <p:spPr>
          <a:xfrm>
            <a:off x="6675120" y="1627632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MATRIX ROW</a:t>
            </a:r>
            <a:endParaRPr lang="en-US" sz="1050" dirty="0"/>
          </a:p>
        </p:txBody>
      </p:sp>
      <p:sp>
        <p:nvSpPr>
          <p:cNvPr id="35" name="s41_rb0"/>
          <p:cNvSpPr/>
          <p:nvPr/>
        </p:nvSpPr>
        <p:spPr>
          <a:xfrm>
            <a:off x="6675120" y="2139696"/>
            <a:ext cx="109728" cy="109728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6" name="s41_rk0"/>
          <p:cNvSpPr/>
          <p:nvPr/>
        </p:nvSpPr>
        <p:spPr>
          <a:xfrm>
            <a:off x="6894576" y="1938528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CLAUDE CODE</a:t>
            </a:r>
            <a:endParaRPr lang="en-US" sz="950" dirty="0"/>
          </a:p>
        </p:txBody>
      </p:sp>
      <p:sp>
        <p:nvSpPr>
          <p:cNvPr id="37" name="s41_rc0_sh"/>
          <p:cNvSpPr/>
          <p:nvPr/>
        </p:nvSpPr>
        <p:spPr>
          <a:xfrm>
            <a:off x="8302752" y="2075688"/>
            <a:ext cx="649956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38" name="s41_rc0"/>
          <p:cNvSpPr/>
          <p:nvPr/>
        </p:nvSpPr>
        <p:spPr>
          <a:xfrm>
            <a:off x="8275320" y="2048256"/>
            <a:ext cx="649956" cy="287528"/>
          </a:xfrm>
          <a:prstGeom prst="rect">
            <a:avLst/>
          </a:prstGeom>
          <a:solidFill>
            <a:srgbClr val="FBEEDD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39" name="s41_rc0_t"/>
          <p:cNvSpPr/>
          <p:nvPr/>
        </p:nvSpPr>
        <p:spPr>
          <a:xfrm>
            <a:off x="8275320" y="2048256"/>
            <a:ext cx="649956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OVERLAY</a:t>
            </a:r>
            <a:endParaRPr lang="en-US" sz="700" dirty="0"/>
          </a:p>
        </p:txBody>
      </p:sp>
      <p:sp>
        <p:nvSpPr>
          <p:cNvPr id="40" name="s41_rd0"/>
          <p:cNvSpPr/>
          <p:nvPr/>
        </p:nvSpPr>
        <p:spPr>
          <a:xfrm>
            <a:off x="9035004" y="2157984"/>
            <a:ext cx="68580" cy="68580"/>
          </a:xfrm>
          <a:prstGeom prst="rect">
            <a:avLst/>
          </a:prstGeom>
          <a:solidFill>
            <a:srgbClr val="C7CAD1"/>
          </a:solidFill>
          <a:ln/>
        </p:spPr>
      </p:sp>
      <p:sp>
        <p:nvSpPr>
          <p:cNvPr id="41" name="s41_rb1"/>
          <p:cNvSpPr/>
          <p:nvPr/>
        </p:nvSpPr>
        <p:spPr>
          <a:xfrm>
            <a:off x="6675120" y="2651760"/>
            <a:ext cx="109728" cy="109728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41_rk1"/>
          <p:cNvSpPr/>
          <p:nvPr/>
        </p:nvSpPr>
        <p:spPr>
          <a:xfrm>
            <a:off x="6894576" y="2450592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CODEX</a:t>
            </a:r>
            <a:endParaRPr lang="en-US" sz="950" dirty="0"/>
          </a:p>
        </p:txBody>
      </p:sp>
      <p:sp>
        <p:nvSpPr>
          <p:cNvPr id="43" name="s41_rc1_sh"/>
          <p:cNvSpPr/>
          <p:nvPr/>
        </p:nvSpPr>
        <p:spPr>
          <a:xfrm>
            <a:off x="8302752" y="2587752"/>
            <a:ext cx="826618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44" name="s41_rc1"/>
          <p:cNvSpPr/>
          <p:nvPr/>
        </p:nvSpPr>
        <p:spPr>
          <a:xfrm>
            <a:off x="8275320" y="2560320"/>
            <a:ext cx="826618" cy="287528"/>
          </a:xfrm>
          <a:prstGeom prst="rect">
            <a:avLst/>
          </a:prstGeom>
          <a:solidFill>
            <a:srgbClr val="E5F5EA"/>
          </a:solidFill>
          <a:ln w="15875">
            <a:solidFill>
              <a:srgbClr val="16A34A"/>
            </a:solidFill>
            <a:prstDash val="solid"/>
          </a:ln>
        </p:spPr>
      </p:sp>
      <p:sp>
        <p:nvSpPr>
          <p:cNvPr id="45" name="s41_rc1_t"/>
          <p:cNvSpPr/>
          <p:nvPr/>
        </p:nvSpPr>
        <p:spPr>
          <a:xfrm>
            <a:off x="8275320" y="2560320"/>
            <a:ext cx="826618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COPY-AS-IS</a:t>
            </a:r>
            <a:endParaRPr lang="en-US" sz="700" dirty="0"/>
          </a:p>
        </p:txBody>
      </p:sp>
      <p:sp>
        <p:nvSpPr>
          <p:cNvPr id="46" name="s41_rd1"/>
          <p:cNvSpPr/>
          <p:nvPr/>
        </p:nvSpPr>
        <p:spPr>
          <a:xfrm>
            <a:off x="9211666" y="2670048"/>
            <a:ext cx="68580" cy="68580"/>
          </a:xfrm>
          <a:prstGeom prst="rect">
            <a:avLst/>
          </a:prstGeom>
          <a:solidFill>
            <a:srgbClr val="C7CAD1"/>
          </a:solidFill>
          <a:ln/>
        </p:spPr>
      </p:sp>
      <p:sp>
        <p:nvSpPr>
          <p:cNvPr id="47" name="s41_rb2"/>
          <p:cNvSpPr/>
          <p:nvPr/>
        </p:nvSpPr>
        <p:spPr>
          <a:xfrm>
            <a:off x="6675120" y="3163824"/>
            <a:ext cx="109728" cy="109728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48" name="s41_rk2"/>
          <p:cNvSpPr/>
          <p:nvPr/>
        </p:nvSpPr>
        <p:spPr>
          <a:xfrm>
            <a:off x="6894576" y="2962656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OPENCODE</a:t>
            </a:r>
            <a:endParaRPr lang="en-US" sz="950" dirty="0"/>
          </a:p>
        </p:txBody>
      </p:sp>
      <p:sp>
        <p:nvSpPr>
          <p:cNvPr id="49" name="s41_rc2_sh"/>
          <p:cNvSpPr/>
          <p:nvPr/>
        </p:nvSpPr>
        <p:spPr>
          <a:xfrm>
            <a:off x="8302752" y="3099816"/>
            <a:ext cx="649956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50" name="s41_rc2"/>
          <p:cNvSpPr/>
          <p:nvPr/>
        </p:nvSpPr>
        <p:spPr>
          <a:xfrm>
            <a:off x="8275320" y="3072384"/>
            <a:ext cx="649956" cy="287528"/>
          </a:xfrm>
          <a:prstGeom prst="rect">
            <a:avLst/>
          </a:prstGeom>
          <a:solidFill>
            <a:srgbClr val="FBEEDD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51" name="s41_rc2_t"/>
          <p:cNvSpPr/>
          <p:nvPr/>
        </p:nvSpPr>
        <p:spPr>
          <a:xfrm>
            <a:off x="8275320" y="3072384"/>
            <a:ext cx="649956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OVERLAY</a:t>
            </a:r>
            <a:endParaRPr lang="en-US" sz="700" dirty="0"/>
          </a:p>
        </p:txBody>
      </p:sp>
      <p:sp>
        <p:nvSpPr>
          <p:cNvPr id="52" name="s41_rd2"/>
          <p:cNvSpPr/>
          <p:nvPr/>
        </p:nvSpPr>
        <p:spPr>
          <a:xfrm>
            <a:off x="9035004" y="3182112"/>
            <a:ext cx="68580" cy="68580"/>
          </a:xfrm>
          <a:prstGeom prst="rect">
            <a:avLst/>
          </a:prstGeom>
          <a:solidFill>
            <a:srgbClr val="C7CAD1"/>
          </a:solidFill>
          <a:ln/>
        </p:spPr>
      </p:sp>
      <p:sp>
        <p:nvSpPr>
          <p:cNvPr id="53" name="s41_rb3"/>
          <p:cNvSpPr/>
          <p:nvPr/>
        </p:nvSpPr>
        <p:spPr>
          <a:xfrm>
            <a:off x="6675120" y="3675888"/>
            <a:ext cx="109728" cy="10972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4" name="s41_rk3"/>
          <p:cNvSpPr/>
          <p:nvPr/>
        </p:nvSpPr>
        <p:spPr>
          <a:xfrm>
            <a:off x="6894576" y="3474720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</a:t>
            </a:r>
            <a:endParaRPr lang="en-US" sz="950" dirty="0"/>
          </a:p>
        </p:txBody>
      </p:sp>
      <p:sp>
        <p:nvSpPr>
          <p:cNvPr id="55" name="s41_rc3_sh"/>
          <p:cNvSpPr/>
          <p:nvPr/>
        </p:nvSpPr>
        <p:spPr>
          <a:xfrm>
            <a:off x="8302752" y="3611880"/>
            <a:ext cx="826618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56" name="s41_rc3"/>
          <p:cNvSpPr/>
          <p:nvPr/>
        </p:nvSpPr>
        <p:spPr>
          <a:xfrm>
            <a:off x="8275320" y="3584448"/>
            <a:ext cx="826618" cy="287528"/>
          </a:xfrm>
          <a:prstGeom prst="rect">
            <a:avLst/>
          </a:prstGeom>
          <a:solidFill>
            <a:srgbClr val="EFEFEA"/>
          </a:solidFill>
          <a:ln w="15875">
            <a:solidFill>
              <a:srgbClr val="5C6068"/>
            </a:solidFill>
            <a:prstDash val="solid"/>
          </a:ln>
        </p:spPr>
      </p:sp>
      <p:sp>
        <p:nvSpPr>
          <p:cNvPr id="57" name="s41_rc3_t"/>
          <p:cNvSpPr/>
          <p:nvPr/>
        </p:nvSpPr>
        <p:spPr>
          <a:xfrm>
            <a:off x="8275320" y="3584448"/>
            <a:ext cx="826618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SURFACE</a:t>
            </a:r>
            <a:endParaRPr lang="en-US" sz="700" dirty="0"/>
          </a:p>
        </p:txBody>
      </p:sp>
      <p:sp>
        <p:nvSpPr>
          <p:cNvPr id="58" name="s41_rd3"/>
          <p:cNvSpPr/>
          <p:nvPr/>
        </p:nvSpPr>
        <p:spPr>
          <a:xfrm>
            <a:off x="9211666" y="3694176"/>
            <a:ext cx="68580" cy="68580"/>
          </a:xfrm>
          <a:prstGeom prst="rect">
            <a:avLst/>
          </a:prstGeom>
          <a:solidFill>
            <a:srgbClr val="C7CAD1"/>
          </a:solidFill>
          <a:ln/>
        </p:spPr>
      </p:sp>
      <p:sp>
        <p:nvSpPr>
          <p:cNvPr id="59" name="s41_rhr"/>
          <p:cNvSpPr/>
          <p:nvPr/>
        </p:nvSpPr>
        <p:spPr>
          <a:xfrm>
            <a:off x="6675120" y="3986784"/>
            <a:ext cx="475488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60" name="s41_rsum"/>
          <p:cNvSpPr/>
          <p:nvPr/>
        </p:nvSpPr>
        <p:spPr>
          <a:xfrm>
            <a:off x="6675120" y="4133088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Derived, not installed: Claude allow-rules, Codex .rules verbatim, OpenCode permission effects — Pi runs ungated.</a:t>
            </a:r>
            <a:endParaRPr lang="en-US" sz="950" dirty="0"/>
          </a:p>
        </p:txBody>
      </p:sp>
      <p:sp>
        <p:nvSpPr>
          <p:cNvPr id="61" name="s41_au_sh"/>
          <p:cNvSpPr/>
          <p:nvPr/>
        </p:nvSpPr>
        <p:spPr>
          <a:xfrm>
            <a:off x="6451092" y="4777740"/>
            <a:ext cx="5285232" cy="155448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62" name="s41_au"/>
          <p:cNvSpPr/>
          <p:nvPr/>
        </p:nvSpPr>
        <p:spPr>
          <a:xfrm>
            <a:off x="6400800" y="4727448"/>
            <a:ext cx="5285232" cy="1554480"/>
          </a:xfrm>
          <a:prstGeom prst="rect">
            <a:avLst/>
          </a:prstGeom>
          <a:solidFill>
            <a:srgbClr val="EFEFEA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63" name="s41_ab"/>
          <p:cNvSpPr/>
          <p:nvPr/>
        </p:nvSpPr>
        <p:spPr>
          <a:xfrm>
            <a:off x="6675120" y="4873752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AUTO-UPDATE FOR THIS SURFACE</a:t>
            </a:r>
            <a:endParaRPr lang="en-US" sz="1000" dirty="0"/>
          </a:p>
        </p:txBody>
      </p:sp>
      <p:sp>
        <p:nvSpPr>
          <p:cNvPr id="64" name="s41_at"/>
          <p:cNvSpPr/>
          <p:nvPr/>
        </p:nvSpPr>
        <p:spPr>
          <a:xfrm>
            <a:off x="6675120" y="5157216"/>
            <a:ext cx="4754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auto-updates: managed keys admin-only (Claude), admins pin requirements.toml (Codex), orgs push oc policies — registry supplies diffs.</a:t>
            </a:r>
            <a:endParaRPr lang="en-US" sz="1000" dirty="0"/>
          </a:p>
        </p:txBody>
      </p:sp>
      <p:sp>
        <p:nvSpPr>
          <p:cNvPr id="65" name="s41_sec_sh"/>
          <p:cNvSpPr/>
          <p:nvPr/>
        </p:nvSpPr>
        <p:spPr>
          <a:xfrm>
            <a:off x="553212" y="4777740"/>
            <a:ext cx="5669280" cy="155448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66" name="s41_sec"/>
          <p:cNvSpPr/>
          <p:nvPr/>
        </p:nvSpPr>
        <p:spPr>
          <a:xfrm>
            <a:off x="502920" y="4727448"/>
            <a:ext cx="5669280" cy="1554480"/>
          </a:xfrm>
          <a:prstGeom prst="rect">
            <a:avLst/>
          </a:prstGeom>
          <a:solidFill>
            <a:srgbClr val="E7EEFD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67" name="s41_secb"/>
          <p:cNvSpPr/>
          <p:nvPr/>
        </p:nvSpPr>
        <p:spPr>
          <a:xfrm>
            <a:off x="777240" y="487375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THIS SECTION</a:t>
            </a:r>
            <a:endParaRPr lang="en-US" sz="1000" dirty="0"/>
          </a:p>
        </p:txBody>
      </p:sp>
      <p:sp>
        <p:nvSpPr>
          <p:cNvPr id="68" name="s41_sc0_sh"/>
          <p:cNvSpPr/>
          <p:nvPr/>
        </p:nvSpPr>
        <p:spPr>
          <a:xfrm>
            <a:off x="804672" y="5221224"/>
            <a:ext cx="692018" cy="3383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69" name="s41_sc0"/>
          <p:cNvSpPr/>
          <p:nvPr/>
        </p:nvSpPr>
        <p:spPr>
          <a:xfrm>
            <a:off x="777240" y="5193792"/>
            <a:ext cx="692018" cy="338328"/>
          </a:xfrm>
          <a:prstGeom prst="rect">
            <a:avLst/>
          </a:prstGeom>
          <a:solidFill>
            <a:srgbClr val="2F6FED"/>
          </a:solidFill>
          <a:ln w="17780">
            <a:solidFill>
              <a:srgbClr val="2F6FED"/>
            </a:solidFill>
            <a:prstDash val="solid"/>
          </a:ln>
        </p:spPr>
      </p:sp>
      <p:sp>
        <p:nvSpPr>
          <p:cNvPr id="70" name="s41_sc0_t"/>
          <p:cNvSpPr/>
          <p:nvPr/>
        </p:nvSpPr>
        <p:spPr>
          <a:xfrm>
            <a:off x="777240" y="5193792"/>
            <a:ext cx="69201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BANNER</a:t>
            </a:r>
            <a:endParaRPr lang="en-US" sz="900" dirty="0"/>
          </a:p>
        </p:txBody>
      </p:sp>
      <p:sp>
        <p:nvSpPr>
          <p:cNvPr id="71" name="s41_sc1_sh"/>
          <p:cNvSpPr/>
          <p:nvPr/>
        </p:nvSpPr>
        <p:spPr>
          <a:xfrm>
            <a:off x="1606418" y="5221224"/>
            <a:ext cx="919155" cy="3383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72" name="s41_sc1"/>
          <p:cNvSpPr/>
          <p:nvPr/>
        </p:nvSpPr>
        <p:spPr>
          <a:xfrm>
            <a:off x="1578986" y="5193792"/>
            <a:ext cx="919155" cy="338328"/>
          </a:xfrm>
          <a:prstGeom prst="rect">
            <a:avLst/>
          </a:prstGeom>
          <a:solidFill>
            <a:srgbClr val="FFFFFF"/>
          </a:solidFill>
          <a:ln w="17780">
            <a:solidFill>
              <a:srgbClr val="1B1D22"/>
            </a:solidFill>
            <a:prstDash val="solid"/>
          </a:ln>
        </p:spPr>
      </p:sp>
      <p:sp>
        <p:nvSpPr>
          <p:cNvPr id="73" name="s41_sc1_t"/>
          <p:cNvSpPr/>
          <p:nvPr/>
        </p:nvSpPr>
        <p:spPr>
          <a:xfrm>
            <a:off x="1578986" y="5193792"/>
            <a:ext cx="919155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STANDARDS</a:t>
            </a:r>
            <a:endParaRPr lang="en-US" sz="900" dirty="0"/>
          </a:p>
        </p:txBody>
      </p:sp>
      <p:sp>
        <p:nvSpPr>
          <p:cNvPr id="74" name="s41_sc2_sh"/>
          <p:cNvSpPr/>
          <p:nvPr/>
        </p:nvSpPr>
        <p:spPr>
          <a:xfrm>
            <a:off x="2635301" y="5221224"/>
            <a:ext cx="1297716" cy="3383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75" name="s41_sc2"/>
          <p:cNvSpPr/>
          <p:nvPr/>
        </p:nvSpPr>
        <p:spPr>
          <a:xfrm>
            <a:off x="2607869" y="5193792"/>
            <a:ext cx="1297716" cy="338328"/>
          </a:xfrm>
          <a:prstGeom prst="rect">
            <a:avLst/>
          </a:prstGeom>
          <a:solidFill>
            <a:srgbClr val="FFFFFF"/>
          </a:solidFill>
          <a:ln w="17780">
            <a:solidFill>
              <a:srgbClr val="1B1D22"/>
            </a:solidFill>
            <a:prstDash val="solid"/>
          </a:ln>
        </p:spPr>
      </p:sp>
      <p:sp>
        <p:nvSpPr>
          <p:cNvPr id="76" name="s41_sc2_t"/>
          <p:cNvSpPr/>
          <p:nvPr/>
        </p:nvSpPr>
        <p:spPr>
          <a:xfrm>
            <a:off x="2607869" y="5193792"/>
            <a:ext cx="129771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CLAUDE + CODEX</a:t>
            </a:r>
            <a:endParaRPr lang="en-US" sz="900" dirty="0"/>
          </a:p>
        </p:txBody>
      </p:sp>
      <p:sp>
        <p:nvSpPr>
          <p:cNvPr id="77" name="s41_sc3_sh"/>
          <p:cNvSpPr/>
          <p:nvPr/>
        </p:nvSpPr>
        <p:spPr>
          <a:xfrm>
            <a:off x="4042745" y="5221224"/>
            <a:ext cx="1222004" cy="3383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78" name="s41_sc3"/>
          <p:cNvSpPr/>
          <p:nvPr/>
        </p:nvSpPr>
        <p:spPr>
          <a:xfrm>
            <a:off x="4015313" y="5193792"/>
            <a:ext cx="1222004" cy="338328"/>
          </a:xfrm>
          <a:prstGeom prst="rect">
            <a:avLst/>
          </a:prstGeom>
          <a:solidFill>
            <a:srgbClr val="FFFFFF"/>
          </a:solidFill>
          <a:ln w="17780">
            <a:solidFill>
              <a:srgbClr val="1B1D22"/>
            </a:solidFill>
            <a:prstDash val="solid"/>
          </a:ln>
        </p:spPr>
      </p:sp>
      <p:sp>
        <p:nvSpPr>
          <p:cNvPr id="79" name="s41_sc3_t"/>
          <p:cNvSpPr/>
          <p:nvPr/>
        </p:nvSpPr>
        <p:spPr>
          <a:xfrm>
            <a:off x="4015313" y="5193792"/>
            <a:ext cx="122200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OPENCODE + PI</a:t>
            </a:r>
            <a:endParaRPr lang="en-US" sz="900" dirty="0"/>
          </a:p>
        </p:txBody>
      </p:sp>
      <p:sp>
        <p:nvSpPr>
          <p:cNvPr id="80" name="s41_sect"/>
          <p:cNvSpPr/>
          <p:nvPr/>
        </p:nvSpPr>
        <p:spPr>
          <a:xfrm>
            <a:off x="777240" y="5779008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 slides per surface — spec state, then the harnesses in two pairs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42_vx_v1"/>
          <p:cNvSpPr/>
          <p:nvPr/>
        </p:nvSpPr>
        <p:spPr>
          <a:xfrm>
            <a:off x="11137392" y="384048"/>
            <a:ext cx="128016" cy="12801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" name="s42_vx_v2"/>
          <p:cNvSpPr/>
          <p:nvPr/>
        </p:nvSpPr>
        <p:spPr>
          <a:xfrm>
            <a:off x="11292840" y="384048"/>
            <a:ext cx="128016" cy="12801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" name="s42_vx_v3"/>
          <p:cNvSpPr/>
          <p:nvPr/>
        </p:nvSpPr>
        <p:spPr>
          <a:xfrm>
            <a:off x="11137392" y="539496"/>
            <a:ext cx="128016" cy="128016"/>
          </a:xfrm>
          <a:prstGeom prst="rect">
            <a:avLst/>
          </a:prstGeom>
          <a:solidFill>
            <a:srgbClr val="D97706"/>
          </a:solidFill>
          <a:ln/>
        </p:spPr>
      </p:sp>
      <p:pic>
        <p:nvPicPr>
          <p:cNvPr id="5" name="s42_kick" descr="assets/sks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02336"/>
            <a:ext cx="4519749" cy="182880"/>
          </a:xfrm>
          <a:prstGeom prst="rect">
            <a:avLst/>
          </a:prstGeom>
        </p:spPr>
      </p:pic>
      <p:pic>
        <p:nvPicPr>
          <p:cNvPr id="6" name="s42_title" descr="assets/st1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58368"/>
            <a:ext cx="7268174" cy="475488"/>
          </a:xfrm>
          <a:prstGeom prst="rect">
            <a:avLst/>
          </a:prstGeom>
        </p:spPr>
      </p:pic>
      <p:sp>
        <p:nvSpPr>
          <p:cNvPr id="7" name="s42_spec"/>
          <p:cNvSpPr/>
          <p:nvPr/>
        </p:nvSpPr>
        <p:spPr>
          <a:xfrm>
            <a:off x="502920" y="1216152"/>
            <a:ext cx="10469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exec policy specification state — fields, rules, how the four diverge, and what the registry does about it</a:t>
            </a:r>
            <a:endParaRPr lang="en-US" sz="1100" dirty="0"/>
          </a:p>
        </p:txBody>
      </p:sp>
      <p:sp>
        <p:nvSpPr>
          <p:cNvPr id="8" name="s42_pg"/>
          <p:cNvSpPr/>
          <p:nvPr/>
        </p:nvSpPr>
        <p:spPr>
          <a:xfrm>
            <a:off x="11064240" y="648309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 / 45</a:t>
            </a:r>
            <a:endParaRPr lang="en-US" sz="950" dirty="0"/>
          </a:p>
        </p:txBody>
      </p:sp>
      <p:sp>
        <p:nvSpPr>
          <p:cNvPr id="10" name="s42_f_sh"/>
          <p:cNvSpPr/>
          <p:nvPr/>
        </p:nvSpPr>
        <p:spPr>
          <a:xfrm>
            <a:off x="553212" y="1531620"/>
            <a:ext cx="5669280" cy="416052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1" name="s42_f"/>
          <p:cNvSpPr/>
          <p:nvPr/>
        </p:nvSpPr>
        <p:spPr>
          <a:xfrm>
            <a:off x="502920" y="1481328"/>
            <a:ext cx="5669280" cy="416052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12" name="s42_fb"/>
          <p:cNvSpPr/>
          <p:nvPr/>
        </p:nvSpPr>
        <p:spPr>
          <a:xfrm>
            <a:off x="777240" y="162763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FIELDS</a:t>
            </a:r>
            <a:endParaRPr lang="en-US" sz="1050" dirty="0"/>
          </a:p>
        </p:txBody>
      </p:sp>
      <p:sp>
        <p:nvSpPr>
          <p:cNvPr id="13" name="s42_fk0"/>
          <p:cNvSpPr/>
          <p:nvPr/>
        </p:nvSpPr>
        <p:spPr>
          <a:xfrm>
            <a:off x="777240" y="1920240"/>
            <a:ext cx="14173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permissions</a:t>
            </a:r>
            <a:endParaRPr lang="en-US" sz="900" dirty="0"/>
          </a:p>
        </p:txBody>
      </p:sp>
      <p:sp>
        <p:nvSpPr>
          <p:cNvPr id="14" name="s42_fv0"/>
          <p:cNvSpPr/>
          <p:nvPr/>
        </p:nvSpPr>
        <p:spPr>
          <a:xfrm>
            <a:off x="2240280" y="1920240"/>
            <a:ext cx="365760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 allow/deny rules the artifact needs</a:t>
            </a:r>
            <a:endParaRPr lang="en-US" sz="850" dirty="0"/>
          </a:p>
        </p:txBody>
      </p:sp>
      <p:sp>
        <p:nvSpPr>
          <p:cNvPr id="15" name="s42_fhr0"/>
          <p:cNvSpPr/>
          <p:nvPr/>
        </p:nvSpPr>
        <p:spPr>
          <a:xfrm>
            <a:off x="777240" y="2272284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16" name="s42_fk1"/>
          <p:cNvSpPr/>
          <p:nvPr/>
        </p:nvSpPr>
        <p:spPr>
          <a:xfrm>
            <a:off x="777240" y="2272284"/>
            <a:ext cx="14173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sandbox</a:t>
            </a:r>
            <a:endParaRPr lang="en-US" sz="900" dirty="0"/>
          </a:p>
        </p:txBody>
      </p:sp>
      <p:sp>
        <p:nvSpPr>
          <p:cNvPr id="17" name="s42_fv1"/>
          <p:cNvSpPr/>
          <p:nvPr/>
        </p:nvSpPr>
        <p:spPr>
          <a:xfrm>
            <a:off x="2240280" y="2272284"/>
            <a:ext cx="365760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read-only | workspace-write | full</a:t>
            </a:r>
            <a:endParaRPr lang="en-US" sz="850" dirty="0"/>
          </a:p>
        </p:txBody>
      </p:sp>
      <p:sp>
        <p:nvSpPr>
          <p:cNvPr id="18" name="s42_fhr1"/>
          <p:cNvSpPr/>
          <p:nvPr/>
        </p:nvSpPr>
        <p:spPr>
          <a:xfrm>
            <a:off x="777240" y="2624328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19" name="s42_fk2"/>
          <p:cNvSpPr/>
          <p:nvPr/>
        </p:nvSpPr>
        <p:spPr>
          <a:xfrm>
            <a:off x="777240" y="2624328"/>
            <a:ext cx="14173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network</a:t>
            </a:r>
            <a:endParaRPr lang="en-US" sz="900" dirty="0"/>
          </a:p>
        </p:txBody>
      </p:sp>
      <p:sp>
        <p:nvSpPr>
          <p:cNvPr id="20" name="s42_fv2"/>
          <p:cNvSpPr/>
          <p:nvPr/>
        </p:nvSpPr>
        <p:spPr>
          <a:xfrm>
            <a:off x="2240280" y="2624328"/>
            <a:ext cx="365760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egress bool/domains for workspace-write</a:t>
            </a:r>
            <a:endParaRPr lang="en-US" sz="850" dirty="0"/>
          </a:p>
        </p:txBody>
      </p:sp>
      <p:sp>
        <p:nvSpPr>
          <p:cNvPr id="21" name="s42_fhr2"/>
          <p:cNvSpPr/>
          <p:nvPr/>
        </p:nvSpPr>
        <p:spPr>
          <a:xfrm>
            <a:off x="777240" y="2976372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2" name="s42_fk3"/>
          <p:cNvSpPr/>
          <p:nvPr/>
        </p:nvSpPr>
        <p:spPr>
          <a:xfrm>
            <a:off x="777240" y="2976372"/>
            <a:ext cx="14173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filesystem</a:t>
            </a:r>
            <a:endParaRPr lang="en-US" sz="900" dirty="0"/>
          </a:p>
        </p:txBody>
      </p:sp>
      <p:sp>
        <p:nvSpPr>
          <p:cNvPr id="23" name="s42_fv3"/>
          <p:cNvSpPr/>
          <p:nvPr/>
        </p:nvSpPr>
        <p:spPr>
          <a:xfrm>
            <a:off x="2240280" y="2976372"/>
            <a:ext cx="365760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 paths/globs beyond the workspace</a:t>
            </a:r>
            <a:endParaRPr lang="en-US" sz="850" dirty="0"/>
          </a:p>
        </p:txBody>
      </p:sp>
      <p:sp>
        <p:nvSpPr>
          <p:cNvPr id="24" name="s42_fhr3"/>
          <p:cNvSpPr/>
          <p:nvPr/>
        </p:nvSpPr>
        <p:spPr>
          <a:xfrm>
            <a:off x="777240" y="3328416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5" name="s42_fk4"/>
          <p:cNvSpPr/>
          <p:nvPr/>
        </p:nvSpPr>
        <p:spPr>
          <a:xfrm>
            <a:off x="777240" y="3328416"/>
            <a:ext cx="14173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approval</a:t>
            </a:r>
            <a:endParaRPr lang="en-US" sz="900" dirty="0"/>
          </a:p>
        </p:txBody>
      </p:sp>
      <p:sp>
        <p:nvSpPr>
          <p:cNvPr id="26" name="s42_fv4"/>
          <p:cNvSpPr/>
          <p:nvPr/>
        </p:nvSpPr>
        <p:spPr>
          <a:xfrm>
            <a:off x="2240280" y="3328416"/>
            <a:ext cx="365760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ask|auto per action; codex granular</a:t>
            </a:r>
            <a:endParaRPr lang="en-US" sz="850" dirty="0"/>
          </a:p>
        </p:txBody>
      </p:sp>
      <p:sp>
        <p:nvSpPr>
          <p:cNvPr id="27" name="s42_fhr4"/>
          <p:cNvSpPr/>
          <p:nvPr/>
        </p:nvSpPr>
        <p:spPr>
          <a:xfrm>
            <a:off x="777240" y="3680460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8" name="s42_fk5"/>
          <p:cNvSpPr/>
          <p:nvPr/>
        </p:nvSpPr>
        <p:spPr>
          <a:xfrm>
            <a:off x="777240" y="3680460"/>
            <a:ext cx="14173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tier</a:t>
            </a:r>
            <a:endParaRPr lang="en-US" sz="900" dirty="0"/>
          </a:p>
        </p:txBody>
      </p:sp>
      <p:sp>
        <p:nvSpPr>
          <p:cNvPr id="29" name="s42_fv5"/>
          <p:cNvSpPr/>
          <p:nvPr/>
        </p:nvSpPr>
        <p:spPr>
          <a:xfrm>
            <a:off x="2240280" y="3680460"/>
            <a:ext cx="365760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standard|review — install diff + gates</a:t>
            </a:r>
            <a:endParaRPr lang="en-US" sz="850" dirty="0"/>
          </a:p>
        </p:txBody>
      </p:sp>
      <p:sp>
        <p:nvSpPr>
          <p:cNvPr id="30" name="s42_rb"/>
          <p:cNvSpPr/>
          <p:nvPr/>
        </p:nvSpPr>
        <p:spPr>
          <a:xfrm>
            <a:off x="777240" y="4114800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 RULES</a:t>
            </a:r>
            <a:endParaRPr lang="en-US" sz="900" dirty="0"/>
          </a:p>
        </p:txBody>
      </p:sp>
      <p:sp>
        <p:nvSpPr>
          <p:cNvPr id="31" name="s42_rb0"/>
          <p:cNvSpPr/>
          <p:nvPr/>
        </p:nvSpPr>
        <p:spPr>
          <a:xfrm>
            <a:off x="777240" y="4425696"/>
            <a:ext cx="82296" cy="8229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2" name="s42_rt0"/>
          <p:cNvSpPr/>
          <p:nvPr/>
        </p:nvSpPr>
        <p:spPr>
          <a:xfrm>
            <a:off x="941832" y="4379976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De-facto: declare needs once; derive per harness</a:t>
            </a:r>
            <a:endParaRPr lang="en-US" sz="900" dirty="0"/>
          </a:p>
        </p:txBody>
      </p:sp>
      <p:sp>
        <p:nvSpPr>
          <p:cNvPr id="33" name="s42_rb1"/>
          <p:cNvSpPr/>
          <p:nvPr/>
        </p:nvSpPr>
        <p:spPr>
          <a:xfrm>
            <a:off x="777240" y="4727448"/>
            <a:ext cx="82296" cy="8229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4" name="s42_rt1"/>
          <p:cNvSpPr/>
          <p:nvPr/>
        </p:nvSpPr>
        <p:spPr>
          <a:xfrm>
            <a:off x="941832" y="4681728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Emit least privilege — only real needs become rules</a:t>
            </a:r>
            <a:endParaRPr lang="en-US" sz="900" dirty="0"/>
          </a:p>
        </p:txBody>
      </p:sp>
      <p:sp>
        <p:nvSpPr>
          <p:cNvPr id="35" name="s42_rb2"/>
          <p:cNvSpPr/>
          <p:nvPr/>
        </p:nvSpPr>
        <p:spPr>
          <a:xfrm>
            <a:off x="777240" y="5029200"/>
            <a:ext cx="82296" cy="8229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6" name="s42_rt2"/>
          <p:cNvSpPr/>
          <p:nvPr/>
        </p:nvSpPr>
        <p:spPr>
          <a:xfrm>
            <a:off x="941832" y="4983480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 layers outrank everything — emitters never fight</a:t>
            </a:r>
            <a:endParaRPr lang="en-US" sz="900" dirty="0"/>
          </a:p>
        </p:txBody>
      </p:sp>
      <p:sp>
        <p:nvSpPr>
          <p:cNvPr id="37" name="s42_rb3"/>
          <p:cNvSpPr/>
          <p:nvPr/>
        </p:nvSpPr>
        <p:spPr>
          <a:xfrm>
            <a:off x="777240" y="5330952"/>
            <a:ext cx="82296" cy="8229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8" name="s42_rt3"/>
          <p:cNvSpPr/>
          <p:nvPr/>
        </p:nvSpPr>
        <p:spPr>
          <a:xfrm>
            <a:off x="941832" y="5285232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 enforces nothing — surface tier+capabilities instead</a:t>
            </a:r>
            <a:endParaRPr lang="en-US" sz="900" dirty="0"/>
          </a:p>
        </p:txBody>
      </p:sp>
      <p:sp>
        <p:nvSpPr>
          <p:cNvPr id="39" name="s42_h_sh"/>
          <p:cNvSpPr/>
          <p:nvPr/>
        </p:nvSpPr>
        <p:spPr>
          <a:xfrm>
            <a:off x="6451092" y="1531620"/>
            <a:ext cx="5285232" cy="288036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40" name="s42_h"/>
          <p:cNvSpPr/>
          <p:nvPr/>
        </p:nvSpPr>
        <p:spPr>
          <a:xfrm>
            <a:off x="6400800" y="1481328"/>
            <a:ext cx="5285232" cy="288036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41" name="s42_hb"/>
          <p:cNvSpPr/>
          <p:nvPr/>
        </p:nvSpPr>
        <p:spPr>
          <a:xfrm>
            <a:off x="6675120" y="1627632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THE FOUR IMPLEMENT IT</a:t>
            </a:r>
            <a:endParaRPr lang="en-US" sz="1050" dirty="0"/>
          </a:p>
        </p:txBody>
      </p:sp>
      <p:sp>
        <p:nvSpPr>
          <p:cNvPr id="42" name="s42_hb0"/>
          <p:cNvSpPr/>
          <p:nvPr/>
        </p:nvSpPr>
        <p:spPr>
          <a:xfrm>
            <a:off x="6675120" y="2157984"/>
            <a:ext cx="109728" cy="109728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43" name="s42_hk0"/>
          <p:cNvSpPr/>
          <p:nvPr/>
        </p:nvSpPr>
        <p:spPr>
          <a:xfrm>
            <a:off x="6894576" y="1938528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CLAUDE CODE</a:t>
            </a:r>
            <a:endParaRPr lang="en-US" sz="1000" dirty="0"/>
          </a:p>
        </p:txBody>
      </p:sp>
      <p:sp>
        <p:nvSpPr>
          <p:cNvPr id="44" name="s42_hv0"/>
          <p:cNvSpPr/>
          <p:nvPr/>
        </p:nvSpPr>
        <p:spPr>
          <a:xfrm>
            <a:off x="8275320" y="1938528"/>
            <a:ext cx="3154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settings permissions.allow/deny; managed keys</a:t>
            </a:r>
            <a:endParaRPr lang="en-US" sz="900" dirty="0"/>
          </a:p>
        </p:txBody>
      </p:sp>
      <p:sp>
        <p:nvSpPr>
          <p:cNvPr id="45" name="s42_hhr0"/>
          <p:cNvSpPr/>
          <p:nvPr/>
        </p:nvSpPr>
        <p:spPr>
          <a:xfrm>
            <a:off x="6675120" y="2505456"/>
            <a:ext cx="475488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46" name="s42_hb1"/>
          <p:cNvSpPr/>
          <p:nvPr/>
        </p:nvSpPr>
        <p:spPr>
          <a:xfrm>
            <a:off x="6675120" y="2734056"/>
            <a:ext cx="109728" cy="109728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7" name="s42_hk1"/>
          <p:cNvSpPr/>
          <p:nvPr/>
        </p:nvSpPr>
        <p:spPr>
          <a:xfrm>
            <a:off x="6894576" y="2514600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CODEX</a:t>
            </a:r>
            <a:endParaRPr lang="en-US" sz="1000" dirty="0"/>
          </a:p>
        </p:txBody>
      </p:sp>
      <p:sp>
        <p:nvSpPr>
          <p:cNvPr id="48" name="s42_hv1"/>
          <p:cNvSpPr/>
          <p:nvPr/>
        </p:nvSpPr>
        <p:spPr>
          <a:xfrm>
            <a:off x="8275320" y="2514600"/>
            <a:ext cx="3154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sandbox_mode + approval_policy + Starlark .rules</a:t>
            </a:r>
            <a:endParaRPr lang="en-US" sz="900" dirty="0"/>
          </a:p>
        </p:txBody>
      </p:sp>
      <p:sp>
        <p:nvSpPr>
          <p:cNvPr id="49" name="s42_hhr1"/>
          <p:cNvSpPr/>
          <p:nvPr/>
        </p:nvSpPr>
        <p:spPr>
          <a:xfrm>
            <a:off x="6675120" y="3081528"/>
            <a:ext cx="475488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50" name="s42_hb2"/>
          <p:cNvSpPr/>
          <p:nvPr/>
        </p:nvSpPr>
        <p:spPr>
          <a:xfrm>
            <a:off x="6675120" y="3310128"/>
            <a:ext cx="109728" cy="109728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51" name="s42_hk2"/>
          <p:cNvSpPr/>
          <p:nvPr/>
        </p:nvSpPr>
        <p:spPr>
          <a:xfrm>
            <a:off x="6894576" y="3090672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OPENCODE</a:t>
            </a:r>
            <a:endParaRPr lang="en-US" sz="1000" dirty="0"/>
          </a:p>
        </p:txBody>
      </p:sp>
      <p:sp>
        <p:nvSpPr>
          <p:cNvPr id="52" name="s42_hv2"/>
          <p:cNvSpPr/>
          <p:nvPr/>
        </p:nvSpPr>
        <p:spPr>
          <a:xfrm>
            <a:off x="8275320" y="3090672"/>
            <a:ext cx="3154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permissions[] {action,resource,effect}</a:t>
            </a:r>
            <a:endParaRPr lang="en-US" sz="900" dirty="0"/>
          </a:p>
        </p:txBody>
      </p:sp>
      <p:sp>
        <p:nvSpPr>
          <p:cNvPr id="53" name="s42_hhr2"/>
          <p:cNvSpPr/>
          <p:nvPr/>
        </p:nvSpPr>
        <p:spPr>
          <a:xfrm>
            <a:off x="6675120" y="3657600"/>
            <a:ext cx="475488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54" name="s42_hb3"/>
          <p:cNvSpPr/>
          <p:nvPr/>
        </p:nvSpPr>
        <p:spPr>
          <a:xfrm>
            <a:off x="6675120" y="3886200"/>
            <a:ext cx="109728" cy="10972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5" name="s42_hk3"/>
          <p:cNvSpPr/>
          <p:nvPr/>
        </p:nvSpPr>
        <p:spPr>
          <a:xfrm>
            <a:off x="6894576" y="3666744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</a:t>
            </a:r>
            <a:endParaRPr lang="en-US" sz="1000" dirty="0"/>
          </a:p>
        </p:txBody>
      </p:sp>
      <p:sp>
        <p:nvSpPr>
          <p:cNvPr id="56" name="s42_hv3"/>
          <p:cNvSpPr/>
          <p:nvPr/>
        </p:nvSpPr>
        <p:spPr>
          <a:xfrm>
            <a:off x="8275320" y="3666744"/>
            <a:ext cx="3154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None — YOLO; trust gate + codemode sandbox</a:t>
            </a:r>
            <a:endParaRPr lang="en-US" sz="900" dirty="0"/>
          </a:p>
        </p:txBody>
      </p:sp>
      <p:sp>
        <p:nvSpPr>
          <p:cNvPr id="57" name="s42_st_sh"/>
          <p:cNvSpPr/>
          <p:nvPr/>
        </p:nvSpPr>
        <p:spPr>
          <a:xfrm>
            <a:off x="6451092" y="4549140"/>
            <a:ext cx="5285232" cy="114300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58" name="s42_st"/>
          <p:cNvSpPr/>
          <p:nvPr/>
        </p:nvSpPr>
        <p:spPr>
          <a:xfrm>
            <a:off x="6400800" y="4498848"/>
            <a:ext cx="5285232" cy="1143000"/>
          </a:xfrm>
          <a:prstGeom prst="rect">
            <a:avLst/>
          </a:prstGeom>
          <a:solidFill>
            <a:srgbClr val="1B1D22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59" name="s42_sb"/>
          <p:cNvSpPr/>
          <p:nvPr/>
        </p:nvSpPr>
        <p:spPr>
          <a:xfrm>
            <a:off x="6675120" y="46268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7CB0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REGISTRY STANCE</a:t>
            </a:r>
            <a:endParaRPr lang="en-US" sz="900" dirty="0"/>
          </a:p>
        </p:txBody>
      </p:sp>
      <p:sp>
        <p:nvSpPr>
          <p:cNvPr id="60" name="s42_stt"/>
          <p:cNvSpPr/>
          <p:nvPr/>
        </p:nvSpPr>
        <p:spPr>
          <a:xfrm>
            <a:off x="6675120" y="4882896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Declare permissions, sandbox, network once; each emitter derives its own dialect</a:t>
            </a:r>
            <a:endParaRPr lang="en-US" sz="1100" dirty="0"/>
          </a:p>
        </p:txBody>
      </p:sp>
      <p:sp>
        <p:nvSpPr>
          <p:cNvPr id="61" name="s42_g_sh"/>
          <p:cNvSpPr/>
          <p:nvPr/>
        </p:nvSpPr>
        <p:spPr>
          <a:xfrm>
            <a:off x="553212" y="5829300"/>
            <a:ext cx="11183112" cy="65836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62" name="s42_g"/>
          <p:cNvSpPr/>
          <p:nvPr/>
        </p:nvSpPr>
        <p:spPr>
          <a:xfrm>
            <a:off x="502920" y="5779008"/>
            <a:ext cx="11183112" cy="658368"/>
          </a:xfrm>
          <a:prstGeom prst="rect">
            <a:avLst/>
          </a:prstGeom>
          <a:solidFill>
            <a:srgbClr val="EFEFEA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63" name="s42_gt"/>
          <p:cNvSpPr/>
          <p:nvPr/>
        </p:nvSpPr>
        <p:spPr>
          <a:xfrm>
            <a:off x="777240" y="5852160"/>
            <a:ext cx="10607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GAPS THE REGISTRY OWNS — No shared grammar for allow/ask/deny across 4  ·  Pi cannot enforce — registry must warn at install  ·  Policy is mutable settings; nothing versioned</a:t>
            </a:r>
            <a:endParaRPr lang="en-US" sz="9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43_vx_v1"/>
          <p:cNvSpPr/>
          <p:nvPr/>
        </p:nvSpPr>
        <p:spPr>
          <a:xfrm>
            <a:off x="11137392" y="384048"/>
            <a:ext cx="128016" cy="12801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" name="s43_vx_v2"/>
          <p:cNvSpPr/>
          <p:nvPr/>
        </p:nvSpPr>
        <p:spPr>
          <a:xfrm>
            <a:off x="11292840" y="384048"/>
            <a:ext cx="128016" cy="12801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" name="s43_vx_v3"/>
          <p:cNvSpPr/>
          <p:nvPr/>
        </p:nvSpPr>
        <p:spPr>
          <a:xfrm>
            <a:off x="11137392" y="539496"/>
            <a:ext cx="128016" cy="128016"/>
          </a:xfrm>
          <a:prstGeom prst="rect">
            <a:avLst/>
          </a:prstGeom>
          <a:solidFill>
            <a:srgbClr val="D97706"/>
          </a:solidFill>
          <a:ln/>
        </p:spPr>
      </p:sp>
      <p:pic>
        <p:nvPicPr>
          <p:cNvPr id="5" name="s43_kick" descr="assets/skc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02336"/>
            <a:ext cx="6087291" cy="182880"/>
          </a:xfrm>
          <a:prstGeom prst="rect">
            <a:avLst/>
          </a:prstGeom>
        </p:spPr>
      </p:pic>
      <p:pic>
        <p:nvPicPr>
          <p:cNvPr id="6" name="s43_title" descr="assets/srf1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58368"/>
            <a:ext cx="4415246" cy="475488"/>
          </a:xfrm>
          <a:prstGeom prst="rect">
            <a:avLst/>
          </a:prstGeom>
        </p:spPr>
      </p:pic>
      <p:sp>
        <p:nvSpPr>
          <p:cNvPr id="7" name="s43_spec"/>
          <p:cNvSpPr/>
          <p:nvPr/>
        </p:nvSpPr>
        <p:spPr>
          <a:xfrm>
            <a:off x="502920" y="1216152"/>
            <a:ext cx="10469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 POLICY in claude code + codex — the two most popular first</a:t>
            </a:r>
            <a:endParaRPr lang="en-US" sz="1100" dirty="0"/>
          </a:p>
        </p:txBody>
      </p:sp>
      <p:sp>
        <p:nvSpPr>
          <p:cNvPr id="8" name="s43_pg"/>
          <p:cNvSpPr/>
          <p:nvPr/>
        </p:nvSpPr>
        <p:spPr>
          <a:xfrm>
            <a:off x="11064240" y="648309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43 / 45</a:t>
            </a:r>
            <a:endParaRPr lang="en-US" sz="950" dirty="0"/>
          </a:p>
        </p:txBody>
      </p:sp>
      <p:sp>
        <p:nvSpPr>
          <p:cNvPr id="10" name="s43_c0_sh"/>
          <p:cNvSpPr/>
          <p:nvPr/>
        </p:nvSpPr>
        <p:spPr>
          <a:xfrm>
            <a:off x="553212" y="1531620"/>
            <a:ext cx="5477256" cy="489204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1" name="s43_c0"/>
          <p:cNvSpPr/>
          <p:nvPr/>
        </p:nvSpPr>
        <p:spPr>
          <a:xfrm>
            <a:off x="502920" y="1481328"/>
            <a:ext cx="5477256" cy="489204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12" name="s43_c0_sq"/>
          <p:cNvSpPr/>
          <p:nvPr/>
        </p:nvSpPr>
        <p:spPr>
          <a:xfrm>
            <a:off x="731520" y="1673352"/>
            <a:ext cx="137160" cy="13716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3" name="s43_c0_topic"/>
          <p:cNvSpPr/>
          <p:nvPr/>
        </p:nvSpPr>
        <p:spPr>
          <a:xfrm>
            <a:off x="960120" y="1609344"/>
            <a:ext cx="40237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50" kern="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 POLICY</a:t>
            </a:r>
            <a:endParaRPr lang="en-US" sz="1300" dirty="0"/>
          </a:p>
        </p:txBody>
      </p:sp>
      <p:sp>
        <p:nvSpPr>
          <p:cNvPr id="14" name="s43_c0_vc_sh"/>
          <p:cNvSpPr/>
          <p:nvPr/>
        </p:nvSpPr>
        <p:spPr>
          <a:xfrm>
            <a:off x="5038710" y="1636776"/>
            <a:ext cx="767730" cy="3383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5" name="s43_c0_vc"/>
          <p:cNvSpPr/>
          <p:nvPr/>
        </p:nvSpPr>
        <p:spPr>
          <a:xfrm>
            <a:off x="5011278" y="1609344"/>
            <a:ext cx="767730" cy="338328"/>
          </a:xfrm>
          <a:prstGeom prst="rect">
            <a:avLst/>
          </a:prstGeom>
          <a:solidFill>
            <a:srgbClr val="FBEEDD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16" name="s43_c0_vc_t"/>
          <p:cNvSpPr/>
          <p:nvPr/>
        </p:nvSpPr>
        <p:spPr>
          <a:xfrm>
            <a:off x="5011278" y="1609344"/>
            <a:ext cx="76773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OVERLAY</a:t>
            </a:r>
            <a:endParaRPr lang="en-US" sz="900" dirty="0"/>
          </a:p>
        </p:txBody>
      </p:sp>
      <p:sp>
        <p:nvSpPr>
          <p:cNvPr id="17" name="s43_c0_why"/>
          <p:cNvSpPr/>
          <p:nvPr/>
        </p:nvSpPr>
        <p:spPr>
          <a:xfrm>
            <a:off x="731520" y="2011680"/>
            <a:ext cx="5020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i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record declares required perms → allow-rule overlay</a:t>
            </a:r>
            <a:endParaRPr lang="en-US" sz="850" dirty="0"/>
          </a:p>
        </p:txBody>
      </p:sp>
      <p:sp>
        <p:nvSpPr>
          <p:cNvPr id="18" name="s43_c0_what"/>
          <p:cNvSpPr/>
          <p:nvPr/>
        </p:nvSpPr>
        <p:spPr>
          <a:xfrm>
            <a:off x="731520" y="2340864"/>
            <a:ext cx="5020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Permission rules and modes deciding which tool runs need approval</a:t>
            </a:r>
            <a:endParaRPr lang="en-US" sz="1050" dirty="0"/>
          </a:p>
        </p:txBody>
      </p:sp>
      <p:sp>
        <p:nvSpPr>
          <p:cNvPr id="19" name="s43_c0_hr1"/>
          <p:cNvSpPr/>
          <p:nvPr/>
        </p:nvSpPr>
        <p:spPr>
          <a:xfrm>
            <a:off x="731520" y="2798064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0" name="s43_c0_k0"/>
          <p:cNvSpPr/>
          <p:nvPr/>
        </p:nvSpPr>
        <p:spPr>
          <a:xfrm>
            <a:off x="731520" y="2852928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</a:t>
            </a:r>
            <a:endParaRPr lang="en-US" sz="850" dirty="0"/>
          </a:p>
        </p:txBody>
      </p:sp>
      <p:sp>
        <p:nvSpPr>
          <p:cNvPr id="21" name="s43_c0_v0"/>
          <p:cNvSpPr/>
          <p:nvPr/>
        </p:nvSpPr>
        <p:spPr>
          <a:xfrm>
            <a:off x="1883664" y="2852928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settings.json permissions · managed-settings.json</a:t>
            </a:r>
            <a:endParaRPr lang="en-US" sz="900" dirty="0"/>
          </a:p>
        </p:txBody>
      </p:sp>
      <p:sp>
        <p:nvSpPr>
          <p:cNvPr id="22" name="s43_c0_hr2"/>
          <p:cNvSpPr/>
          <p:nvPr/>
        </p:nvSpPr>
        <p:spPr>
          <a:xfrm>
            <a:off x="731520" y="3273552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3" name="s43_c0_k1"/>
          <p:cNvSpPr/>
          <p:nvPr/>
        </p:nvSpPr>
        <p:spPr>
          <a:xfrm>
            <a:off x="731520" y="3273552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FORMAT</a:t>
            </a:r>
            <a:endParaRPr lang="en-US" sz="850" dirty="0"/>
          </a:p>
        </p:txBody>
      </p:sp>
      <p:sp>
        <p:nvSpPr>
          <p:cNvPr id="24" name="s43_c0_v1"/>
          <p:cNvSpPr/>
          <p:nvPr/>
        </p:nvSpPr>
        <p:spPr>
          <a:xfrm>
            <a:off x="1883664" y="3273552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permissions.allow/deny rules; managed security keys</a:t>
            </a:r>
            <a:endParaRPr lang="en-US" sz="900" dirty="0"/>
          </a:p>
        </p:txBody>
      </p:sp>
      <p:sp>
        <p:nvSpPr>
          <p:cNvPr id="25" name="s43_c0_hr3"/>
          <p:cNvSpPr/>
          <p:nvPr/>
        </p:nvSpPr>
        <p:spPr>
          <a:xfrm>
            <a:off x="731520" y="3694176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6" name="s43_c0_k2"/>
          <p:cNvSpPr/>
          <p:nvPr/>
        </p:nvSpPr>
        <p:spPr>
          <a:xfrm>
            <a:off x="731520" y="3694176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</a:t>
            </a:r>
            <a:endParaRPr lang="en-US" sz="850" dirty="0"/>
          </a:p>
        </p:txBody>
      </p:sp>
      <p:sp>
        <p:nvSpPr>
          <p:cNvPr id="27" name="s43_c0_v2"/>
          <p:cNvSpPr/>
          <p:nvPr/>
        </p:nvSpPr>
        <p:spPr>
          <a:xfrm>
            <a:off x="1883664" y="3694176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settings edits · claude --settings · --accept-command sha</a:t>
            </a:r>
            <a:endParaRPr lang="en-US" sz="900" dirty="0"/>
          </a:p>
        </p:txBody>
      </p:sp>
      <p:sp>
        <p:nvSpPr>
          <p:cNvPr id="28" name="s43_c0_hr4"/>
          <p:cNvSpPr/>
          <p:nvPr/>
        </p:nvSpPr>
        <p:spPr>
          <a:xfrm>
            <a:off x="731520" y="4114800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9" name="s43_c0_k3"/>
          <p:cNvSpPr/>
          <p:nvPr/>
        </p:nvSpPr>
        <p:spPr>
          <a:xfrm>
            <a:off x="731520" y="4114800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AUTO-UPDATE</a:t>
            </a:r>
            <a:endParaRPr lang="en-US" sz="850" dirty="0"/>
          </a:p>
        </p:txBody>
      </p:sp>
      <p:sp>
        <p:nvSpPr>
          <p:cNvPr id="30" name="s43_c0_v3"/>
          <p:cNvSpPr/>
          <p:nvPr/>
        </p:nvSpPr>
        <p:spPr>
          <a:xfrm>
            <a:off x="1883664" y="4114800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 an artifact — settings state; no update channel; managed keys admin-only</a:t>
            </a:r>
            <a:endParaRPr lang="en-US" sz="900" dirty="0"/>
          </a:p>
        </p:txBody>
      </p:sp>
      <p:sp>
        <p:nvSpPr>
          <p:cNvPr id="31" name="s43_c0_emp"/>
          <p:cNvSpPr/>
          <p:nvPr/>
        </p:nvSpPr>
        <p:spPr>
          <a:xfrm>
            <a:off x="704088" y="4626864"/>
            <a:ext cx="5074920" cy="1581912"/>
          </a:xfrm>
          <a:prstGeom prst="rect">
            <a:avLst/>
          </a:prstGeom>
          <a:solidFill>
            <a:srgbClr val="FBEEDD"/>
          </a:solidFill>
          <a:ln/>
        </p:spPr>
      </p:sp>
      <p:sp>
        <p:nvSpPr>
          <p:cNvPr id="32" name="s43_c0_emb"/>
          <p:cNvSpPr/>
          <p:nvPr/>
        </p:nvSpPr>
        <p:spPr>
          <a:xfrm>
            <a:off x="886968" y="4736592"/>
            <a:ext cx="4709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spc="200" kern="0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REGISTRY EMISSION</a:t>
            </a:r>
            <a:endParaRPr lang="en-US" sz="800" dirty="0"/>
          </a:p>
        </p:txBody>
      </p:sp>
      <p:sp>
        <p:nvSpPr>
          <p:cNvPr id="33" name="s43_c0_em"/>
          <p:cNvSpPr/>
          <p:nvPr/>
        </p:nvSpPr>
        <p:spPr>
          <a:xfrm>
            <a:off x="886968" y="4956048"/>
            <a:ext cx="470916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compatibility.requires → permissions.allow</a:t>
            </a:r>
            <a:endParaRPr lang="en-US" sz="9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auto/bypass barred from project+local</a:t>
            </a:r>
            <a:endParaRPr lang="en-US" sz="9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managed: disableSkillShellExecution, hook keys</a:t>
            </a:r>
            <a:endParaRPr lang="en-US" sz="900" dirty="0"/>
          </a:p>
        </p:txBody>
      </p:sp>
      <p:sp>
        <p:nvSpPr>
          <p:cNvPr id="34" name="s43_c1_sh"/>
          <p:cNvSpPr/>
          <p:nvPr/>
        </p:nvSpPr>
        <p:spPr>
          <a:xfrm>
            <a:off x="6259068" y="1531620"/>
            <a:ext cx="5477256" cy="489204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35" name="s43_c1"/>
          <p:cNvSpPr/>
          <p:nvPr/>
        </p:nvSpPr>
        <p:spPr>
          <a:xfrm>
            <a:off x="6208776" y="1481328"/>
            <a:ext cx="5477256" cy="489204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36" name="s43_c1_sq"/>
          <p:cNvSpPr/>
          <p:nvPr/>
        </p:nvSpPr>
        <p:spPr>
          <a:xfrm>
            <a:off x="6437376" y="1673352"/>
            <a:ext cx="137160" cy="13716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7" name="s43_c1_topic"/>
          <p:cNvSpPr/>
          <p:nvPr/>
        </p:nvSpPr>
        <p:spPr>
          <a:xfrm>
            <a:off x="6665976" y="1609344"/>
            <a:ext cx="37965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50" kern="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 POLICY</a:t>
            </a:r>
            <a:endParaRPr lang="en-US" sz="1300" dirty="0"/>
          </a:p>
        </p:txBody>
      </p:sp>
      <p:sp>
        <p:nvSpPr>
          <p:cNvPr id="38" name="s43_c1_vc_sh"/>
          <p:cNvSpPr/>
          <p:nvPr/>
        </p:nvSpPr>
        <p:spPr>
          <a:xfrm>
            <a:off x="10517429" y="1636776"/>
            <a:ext cx="994867" cy="3383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39" name="s43_c1_vc"/>
          <p:cNvSpPr/>
          <p:nvPr/>
        </p:nvSpPr>
        <p:spPr>
          <a:xfrm>
            <a:off x="10489997" y="1609344"/>
            <a:ext cx="994867" cy="338328"/>
          </a:xfrm>
          <a:prstGeom prst="rect">
            <a:avLst/>
          </a:prstGeom>
          <a:solidFill>
            <a:srgbClr val="E5F5EA"/>
          </a:solidFill>
          <a:ln w="15875">
            <a:solidFill>
              <a:srgbClr val="16A34A"/>
            </a:solidFill>
            <a:prstDash val="solid"/>
          </a:ln>
        </p:spPr>
      </p:sp>
      <p:sp>
        <p:nvSpPr>
          <p:cNvPr id="40" name="s43_c1_vc_t"/>
          <p:cNvSpPr/>
          <p:nvPr/>
        </p:nvSpPr>
        <p:spPr>
          <a:xfrm>
            <a:off x="10489997" y="1609344"/>
            <a:ext cx="99486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COPY-AS-IS</a:t>
            </a:r>
            <a:endParaRPr lang="en-US" sz="900" dirty="0"/>
          </a:p>
        </p:txBody>
      </p:sp>
      <p:sp>
        <p:nvSpPr>
          <p:cNvPr id="41" name="s43_c1_why"/>
          <p:cNvSpPr/>
          <p:nvPr/>
        </p:nvSpPr>
        <p:spPr>
          <a:xfrm>
            <a:off x="6437376" y="2011680"/>
            <a:ext cx="5020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i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.rules drop verbatim; record declares sandbox+approval needs</a:t>
            </a:r>
            <a:endParaRPr lang="en-US" sz="850" dirty="0"/>
          </a:p>
        </p:txBody>
      </p:sp>
      <p:sp>
        <p:nvSpPr>
          <p:cNvPr id="42" name="s43_c1_what"/>
          <p:cNvSpPr/>
          <p:nvPr/>
        </p:nvSpPr>
        <p:spPr>
          <a:xfrm>
            <a:off x="6437376" y="2340864"/>
            <a:ext cx="5020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Declarative sandbox, approvals, permission profiles, Starlark cmd rules.</a:t>
            </a:r>
            <a:endParaRPr lang="en-US" sz="1050" dirty="0"/>
          </a:p>
        </p:txBody>
      </p:sp>
      <p:sp>
        <p:nvSpPr>
          <p:cNvPr id="43" name="s43_c1_hr1"/>
          <p:cNvSpPr/>
          <p:nvPr/>
        </p:nvSpPr>
        <p:spPr>
          <a:xfrm>
            <a:off x="6437376" y="2798064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44" name="s43_c1_k0"/>
          <p:cNvSpPr/>
          <p:nvPr/>
        </p:nvSpPr>
        <p:spPr>
          <a:xfrm>
            <a:off x="6437376" y="2852928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</a:t>
            </a:r>
            <a:endParaRPr lang="en-US" sz="850" dirty="0"/>
          </a:p>
        </p:txBody>
      </p:sp>
      <p:sp>
        <p:nvSpPr>
          <p:cNvPr id="45" name="s43_c1_v0"/>
          <p:cNvSpPr/>
          <p:nvPr/>
        </p:nvSpPr>
        <p:spPr>
          <a:xfrm>
            <a:off x="7589520" y="2852928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config.toml · rules/*.rules · /etc/codex/requirements.toml</a:t>
            </a:r>
            <a:endParaRPr lang="en-US" sz="900" dirty="0"/>
          </a:p>
        </p:txBody>
      </p:sp>
      <p:sp>
        <p:nvSpPr>
          <p:cNvPr id="46" name="s43_c1_hr2"/>
          <p:cNvSpPr/>
          <p:nvPr/>
        </p:nvSpPr>
        <p:spPr>
          <a:xfrm>
            <a:off x="6437376" y="3273552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47" name="s43_c1_k1"/>
          <p:cNvSpPr/>
          <p:nvPr/>
        </p:nvSpPr>
        <p:spPr>
          <a:xfrm>
            <a:off x="6437376" y="3273552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FORMAT</a:t>
            </a:r>
            <a:endParaRPr lang="en-US" sz="850" dirty="0"/>
          </a:p>
        </p:txBody>
      </p:sp>
      <p:sp>
        <p:nvSpPr>
          <p:cNvPr id="48" name="s43_c1_v1"/>
          <p:cNvSpPr/>
          <p:nvPr/>
        </p:nvSpPr>
        <p:spPr>
          <a:xfrm>
            <a:off x="7589520" y="3273552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TOML sections + Starlark prefix_rule() .rules files</a:t>
            </a:r>
            <a:endParaRPr lang="en-US" sz="900" dirty="0"/>
          </a:p>
        </p:txBody>
      </p:sp>
      <p:sp>
        <p:nvSpPr>
          <p:cNvPr id="49" name="s43_c1_hr3"/>
          <p:cNvSpPr/>
          <p:nvPr/>
        </p:nvSpPr>
        <p:spPr>
          <a:xfrm>
            <a:off x="6437376" y="3694176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50" name="s43_c1_k2"/>
          <p:cNvSpPr/>
          <p:nvPr/>
        </p:nvSpPr>
        <p:spPr>
          <a:xfrm>
            <a:off x="6437376" y="3694176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</a:t>
            </a:r>
            <a:endParaRPr lang="en-US" sz="850" dirty="0"/>
          </a:p>
        </p:txBody>
      </p:sp>
      <p:sp>
        <p:nvSpPr>
          <p:cNvPr id="51" name="s43_c1_v2"/>
          <p:cNvSpPr/>
          <p:nvPr/>
        </p:nvSpPr>
        <p:spPr>
          <a:xfrm>
            <a:off x="7589520" y="3694176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codex execpolicy check --rules … -- &lt;cmd&gt; · codex exec --json</a:t>
            </a:r>
            <a:endParaRPr lang="en-US" sz="900" dirty="0"/>
          </a:p>
        </p:txBody>
      </p:sp>
      <p:sp>
        <p:nvSpPr>
          <p:cNvPr id="52" name="s43_c1_hr4"/>
          <p:cNvSpPr/>
          <p:nvPr/>
        </p:nvSpPr>
        <p:spPr>
          <a:xfrm>
            <a:off x="6437376" y="4114800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53" name="s43_c1_k3"/>
          <p:cNvSpPr/>
          <p:nvPr/>
        </p:nvSpPr>
        <p:spPr>
          <a:xfrm>
            <a:off x="6437376" y="4114800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AUTO-UPDATE</a:t>
            </a:r>
            <a:endParaRPr lang="en-US" sz="850" dirty="0"/>
          </a:p>
        </p:txBody>
      </p:sp>
      <p:sp>
        <p:nvSpPr>
          <p:cNvPr id="54" name="s43_c1_v3"/>
          <p:cNvSpPr/>
          <p:nvPr/>
        </p:nvSpPr>
        <p:spPr>
          <a:xfrm>
            <a:off x="7589520" y="4114800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No. Policy = static config/rule files; admins pin via requirements.toml.</a:t>
            </a:r>
            <a:endParaRPr lang="en-US" sz="900" dirty="0"/>
          </a:p>
        </p:txBody>
      </p:sp>
      <p:sp>
        <p:nvSpPr>
          <p:cNvPr id="55" name="s43_c1_emp"/>
          <p:cNvSpPr/>
          <p:nvPr/>
        </p:nvSpPr>
        <p:spPr>
          <a:xfrm>
            <a:off x="6409944" y="4626864"/>
            <a:ext cx="5074920" cy="1581912"/>
          </a:xfrm>
          <a:prstGeom prst="rect">
            <a:avLst/>
          </a:prstGeom>
          <a:solidFill>
            <a:srgbClr val="E5F5EA"/>
          </a:solidFill>
          <a:ln/>
        </p:spPr>
      </p:sp>
      <p:sp>
        <p:nvSpPr>
          <p:cNvPr id="56" name="s43_c1_emb"/>
          <p:cNvSpPr/>
          <p:nvPr/>
        </p:nvSpPr>
        <p:spPr>
          <a:xfrm>
            <a:off x="6592824" y="4736592"/>
            <a:ext cx="4709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spc="200" kern="0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REGISTRY EMISSION</a:t>
            </a:r>
            <a:endParaRPr lang="en-US" sz="800" dirty="0"/>
          </a:p>
        </p:txBody>
      </p:sp>
      <p:sp>
        <p:nvSpPr>
          <p:cNvPr id="57" name="s43_c1_em"/>
          <p:cNvSpPr/>
          <p:nvPr/>
        </p:nvSpPr>
        <p:spPr>
          <a:xfrm>
            <a:off x="6592824" y="4956048"/>
            <a:ext cx="470916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compat.requires → sandbox_mode + network_access</a:t>
            </a:r>
            <a:endParaRPr lang="en-US" sz="9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emit: rules/&lt;name&gt;.rules prefix_rule(allow|prompt)</a:t>
            </a:r>
            <a:endParaRPr lang="en-US" sz="9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validate: codex execpolicy check -- &lt;cmd&gt;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44_vx_v1"/>
          <p:cNvSpPr/>
          <p:nvPr/>
        </p:nvSpPr>
        <p:spPr>
          <a:xfrm>
            <a:off x="11137392" y="384048"/>
            <a:ext cx="128016" cy="12801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" name="s44_vx_v2"/>
          <p:cNvSpPr/>
          <p:nvPr/>
        </p:nvSpPr>
        <p:spPr>
          <a:xfrm>
            <a:off x="11292840" y="384048"/>
            <a:ext cx="128016" cy="12801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" name="s44_vx_v3"/>
          <p:cNvSpPr/>
          <p:nvPr/>
        </p:nvSpPr>
        <p:spPr>
          <a:xfrm>
            <a:off x="11137392" y="539496"/>
            <a:ext cx="128016" cy="128016"/>
          </a:xfrm>
          <a:prstGeom prst="rect">
            <a:avLst/>
          </a:prstGeom>
          <a:solidFill>
            <a:srgbClr val="D97706"/>
          </a:solidFill>
          <a:ln/>
        </p:spPr>
      </p:sp>
      <p:pic>
        <p:nvPicPr>
          <p:cNvPr id="5" name="s44_kick" descr="assets/sko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02336"/>
            <a:ext cx="5930537" cy="182880"/>
          </a:xfrm>
          <a:prstGeom prst="rect">
            <a:avLst/>
          </a:prstGeom>
        </p:spPr>
      </p:pic>
      <p:pic>
        <p:nvPicPr>
          <p:cNvPr id="6" name="s44_title" descr="assets/srf1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58368"/>
            <a:ext cx="4415246" cy="475488"/>
          </a:xfrm>
          <a:prstGeom prst="rect">
            <a:avLst/>
          </a:prstGeom>
        </p:spPr>
      </p:pic>
      <p:sp>
        <p:nvSpPr>
          <p:cNvPr id="7" name="s44_spec"/>
          <p:cNvSpPr/>
          <p:nvPr/>
        </p:nvSpPr>
        <p:spPr>
          <a:xfrm>
            <a:off x="502920" y="1216152"/>
            <a:ext cx="10469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 POLICY in opencode + pi</a:t>
            </a:r>
            <a:endParaRPr lang="en-US" sz="1100" dirty="0"/>
          </a:p>
        </p:txBody>
      </p:sp>
      <p:sp>
        <p:nvSpPr>
          <p:cNvPr id="8" name="s44_pg"/>
          <p:cNvSpPr/>
          <p:nvPr/>
        </p:nvSpPr>
        <p:spPr>
          <a:xfrm>
            <a:off x="11064240" y="648309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44 / 45</a:t>
            </a:r>
            <a:endParaRPr lang="en-US" sz="950" dirty="0"/>
          </a:p>
        </p:txBody>
      </p:sp>
      <p:sp>
        <p:nvSpPr>
          <p:cNvPr id="10" name="s44_c0_sh"/>
          <p:cNvSpPr/>
          <p:nvPr/>
        </p:nvSpPr>
        <p:spPr>
          <a:xfrm>
            <a:off x="553212" y="1531620"/>
            <a:ext cx="5477256" cy="489204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1" name="s44_c0"/>
          <p:cNvSpPr/>
          <p:nvPr/>
        </p:nvSpPr>
        <p:spPr>
          <a:xfrm>
            <a:off x="502920" y="1481328"/>
            <a:ext cx="5477256" cy="489204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12" name="s44_c0_sq"/>
          <p:cNvSpPr/>
          <p:nvPr/>
        </p:nvSpPr>
        <p:spPr>
          <a:xfrm>
            <a:off x="731520" y="1673352"/>
            <a:ext cx="137160" cy="137160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13" name="s44_c0_topic"/>
          <p:cNvSpPr/>
          <p:nvPr/>
        </p:nvSpPr>
        <p:spPr>
          <a:xfrm>
            <a:off x="960120" y="1609344"/>
            <a:ext cx="40237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50" kern="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 POLICY</a:t>
            </a:r>
            <a:endParaRPr lang="en-US" sz="1300" dirty="0"/>
          </a:p>
        </p:txBody>
      </p:sp>
      <p:sp>
        <p:nvSpPr>
          <p:cNvPr id="14" name="s44_c0_vc_sh"/>
          <p:cNvSpPr/>
          <p:nvPr/>
        </p:nvSpPr>
        <p:spPr>
          <a:xfrm>
            <a:off x="5038710" y="1636776"/>
            <a:ext cx="767730" cy="3383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5" name="s44_c0_vc"/>
          <p:cNvSpPr/>
          <p:nvPr/>
        </p:nvSpPr>
        <p:spPr>
          <a:xfrm>
            <a:off x="5011278" y="1609344"/>
            <a:ext cx="767730" cy="338328"/>
          </a:xfrm>
          <a:prstGeom prst="rect">
            <a:avLst/>
          </a:prstGeom>
          <a:solidFill>
            <a:srgbClr val="FBEEDD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16" name="s44_c0_vc_t"/>
          <p:cNvSpPr/>
          <p:nvPr/>
        </p:nvSpPr>
        <p:spPr>
          <a:xfrm>
            <a:off x="5011278" y="1609344"/>
            <a:ext cx="76773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OVERLAY</a:t>
            </a:r>
            <a:endParaRPr lang="en-US" sz="900" dirty="0"/>
          </a:p>
        </p:txBody>
      </p:sp>
      <p:sp>
        <p:nvSpPr>
          <p:cNvPr id="17" name="s44_c0_why"/>
          <p:cNvSpPr/>
          <p:nvPr/>
        </p:nvSpPr>
        <p:spPr>
          <a:xfrm>
            <a:off x="731520" y="2011680"/>
            <a:ext cx="5020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i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record declares action/resource/effect statements</a:t>
            </a:r>
            <a:endParaRPr lang="en-US" sz="850" dirty="0"/>
          </a:p>
        </p:txBody>
      </p:sp>
      <p:sp>
        <p:nvSpPr>
          <p:cNvPr id="18" name="s44_c0_what"/>
          <p:cNvSpPr/>
          <p:nvPr/>
        </p:nvSpPr>
        <p:spPr>
          <a:xfrm>
            <a:off x="731520" y="2340864"/>
            <a:ext cx="5020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Config rules saying which tool actions are allowed or must ask</a:t>
            </a:r>
            <a:endParaRPr lang="en-US" sz="1050" dirty="0"/>
          </a:p>
        </p:txBody>
      </p:sp>
      <p:sp>
        <p:nvSpPr>
          <p:cNvPr id="19" name="s44_c0_hr1"/>
          <p:cNvSpPr/>
          <p:nvPr/>
        </p:nvSpPr>
        <p:spPr>
          <a:xfrm>
            <a:off x="731520" y="2798064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0" name="s44_c0_k0"/>
          <p:cNvSpPr/>
          <p:nvPr/>
        </p:nvSpPr>
        <p:spPr>
          <a:xfrm>
            <a:off x="731520" y="2852928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</a:t>
            </a:r>
            <a:endParaRPr lang="en-US" sz="850" dirty="0"/>
          </a:p>
        </p:txBody>
      </p:sp>
      <p:sp>
        <p:nvSpPr>
          <p:cNvPr id="21" name="s44_c0_v0"/>
          <p:cNvSpPr/>
          <p:nvPr/>
        </p:nvSpPr>
        <p:spPr>
          <a:xfrm>
            <a:off x="1883664" y="2852928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opencode.json permissions[] · policies[] (v2.0.29+)</a:t>
            </a:r>
            <a:endParaRPr lang="en-US" sz="900" dirty="0"/>
          </a:p>
        </p:txBody>
      </p:sp>
      <p:sp>
        <p:nvSpPr>
          <p:cNvPr id="22" name="s44_c0_hr2"/>
          <p:cNvSpPr/>
          <p:nvPr/>
        </p:nvSpPr>
        <p:spPr>
          <a:xfrm>
            <a:off x="731520" y="3273552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3" name="s44_c0_k1"/>
          <p:cNvSpPr/>
          <p:nvPr/>
        </p:nvSpPr>
        <p:spPr>
          <a:xfrm>
            <a:off x="731520" y="3273552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FORMAT</a:t>
            </a:r>
            <a:endParaRPr lang="en-US" sz="850" dirty="0"/>
          </a:p>
        </p:txBody>
      </p:sp>
      <p:sp>
        <p:nvSpPr>
          <p:cNvPr id="24" name="s44_c0_v1"/>
          <p:cNvSpPr/>
          <p:nvPr/>
        </p:nvSpPr>
        <p:spPr>
          <a:xfrm>
            <a:off x="1883664" y="3273552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permissions[] {action,resource,effect} + policies[]</a:t>
            </a:r>
            <a:endParaRPr lang="en-US" sz="900" dirty="0"/>
          </a:p>
        </p:txBody>
      </p:sp>
      <p:sp>
        <p:nvSpPr>
          <p:cNvPr id="25" name="s44_c0_hr3"/>
          <p:cNvSpPr/>
          <p:nvPr/>
        </p:nvSpPr>
        <p:spPr>
          <a:xfrm>
            <a:off x="731520" y="3694176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6" name="s44_c0_k2"/>
          <p:cNvSpPr/>
          <p:nvPr/>
        </p:nvSpPr>
        <p:spPr>
          <a:xfrm>
            <a:off x="731520" y="3694176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</a:t>
            </a:r>
            <a:endParaRPr lang="en-US" sz="850" dirty="0"/>
          </a:p>
        </p:txBody>
      </p:sp>
      <p:sp>
        <p:nvSpPr>
          <p:cNvPr id="27" name="s44_c0_v2"/>
          <p:cNvSpPr/>
          <p:nvPr/>
        </p:nvSpPr>
        <p:spPr>
          <a:xfrm>
            <a:off x="1883664" y="3694176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none — config only; --auto approves non-denied</a:t>
            </a:r>
            <a:endParaRPr lang="en-US" sz="900" dirty="0"/>
          </a:p>
        </p:txBody>
      </p:sp>
      <p:sp>
        <p:nvSpPr>
          <p:cNvPr id="28" name="s44_c0_hr4"/>
          <p:cNvSpPr/>
          <p:nvPr/>
        </p:nvSpPr>
        <p:spPr>
          <a:xfrm>
            <a:off x="731520" y="4114800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9" name="s44_c0_k3"/>
          <p:cNvSpPr/>
          <p:nvPr/>
        </p:nvSpPr>
        <p:spPr>
          <a:xfrm>
            <a:off x="731520" y="4114800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AUTO-UPDATE</a:t>
            </a:r>
            <a:endParaRPr lang="en-US" sz="850" dirty="0"/>
          </a:p>
        </p:txBody>
      </p:sp>
      <p:sp>
        <p:nvSpPr>
          <p:cNvPr id="30" name="s44_c0_v3"/>
          <p:cNvSpPr/>
          <p:nvPr/>
        </p:nvSpPr>
        <p:spPr>
          <a:xfrm>
            <a:off x="1883664" y="4114800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 — manual config edit; org .well-known can push policies</a:t>
            </a:r>
            <a:endParaRPr lang="en-US" sz="900" dirty="0"/>
          </a:p>
        </p:txBody>
      </p:sp>
      <p:sp>
        <p:nvSpPr>
          <p:cNvPr id="31" name="s44_c0_emp"/>
          <p:cNvSpPr/>
          <p:nvPr/>
        </p:nvSpPr>
        <p:spPr>
          <a:xfrm>
            <a:off x="704088" y="4626864"/>
            <a:ext cx="5074920" cy="1581912"/>
          </a:xfrm>
          <a:prstGeom prst="rect">
            <a:avLst/>
          </a:prstGeom>
          <a:solidFill>
            <a:srgbClr val="E7EEFD"/>
          </a:solidFill>
          <a:ln/>
        </p:spPr>
      </p:sp>
      <p:sp>
        <p:nvSpPr>
          <p:cNvPr id="32" name="s44_c0_emb"/>
          <p:cNvSpPr/>
          <p:nvPr/>
        </p:nvSpPr>
        <p:spPr>
          <a:xfrm>
            <a:off x="886968" y="4736592"/>
            <a:ext cx="4709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spc="200" kern="0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REGISTRY EMISSION</a:t>
            </a:r>
            <a:endParaRPr lang="en-US" sz="800" dirty="0"/>
          </a:p>
        </p:txBody>
      </p:sp>
      <p:sp>
        <p:nvSpPr>
          <p:cNvPr id="33" name="s44_c0_em"/>
          <p:cNvSpPr/>
          <p:nvPr/>
        </p:nvSpPr>
        <p:spPr>
          <a:xfrm>
            <a:off x="886968" y="4956048"/>
            <a:ext cx="470916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emit permissions[] {action,resource,effect}</a:t>
            </a:r>
            <a:endParaRPr lang="en-US" sz="9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defaults: read deny .env* · doom_loop ask</a:t>
            </a:r>
            <a:endParaRPr lang="en-US" sz="9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policies provider.use; global &gt; project</a:t>
            </a:r>
            <a:endParaRPr lang="en-US" sz="900" dirty="0"/>
          </a:p>
        </p:txBody>
      </p:sp>
      <p:sp>
        <p:nvSpPr>
          <p:cNvPr id="34" name="s44_c1_sh"/>
          <p:cNvSpPr/>
          <p:nvPr/>
        </p:nvSpPr>
        <p:spPr>
          <a:xfrm>
            <a:off x="6259068" y="1531620"/>
            <a:ext cx="5477256" cy="489204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35" name="s44_c1"/>
          <p:cNvSpPr/>
          <p:nvPr/>
        </p:nvSpPr>
        <p:spPr>
          <a:xfrm>
            <a:off x="6208776" y="1481328"/>
            <a:ext cx="5477256" cy="489204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36" name="s44_c1_sq"/>
          <p:cNvSpPr/>
          <p:nvPr/>
        </p:nvSpPr>
        <p:spPr>
          <a:xfrm>
            <a:off x="6437376" y="1673352"/>
            <a:ext cx="137160" cy="13716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7" name="s44_c1_topic"/>
          <p:cNvSpPr/>
          <p:nvPr/>
        </p:nvSpPr>
        <p:spPr>
          <a:xfrm>
            <a:off x="6665976" y="1609344"/>
            <a:ext cx="37965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50" kern="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 POLICY</a:t>
            </a:r>
            <a:endParaRPr lang="en-US" sz="1300" dirty="0"/>
          </a:p>
        </p:txBody>
      </p:sp>
      <p:sp>
        <p:nvSpPr>
          <p:cNvPr id="38" name="s44_c1_vc_sh"/>
          <p:cNvSpPr/>
          <p:nvPr/>
        </p:nvSpPr>
        <p:spPr>
          <a:xfrm>
            <a:off x="10517429" y="1636776"/>
            <a:ext cx="994867" cy="3383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39" name="s44_c1_vc"/>
          <p:cNvSpPr/>
          <p:nvPr/>
        </p:nvSpPr>
        <p:spPr>
          <a:xfrm>
            <a:off x="10489997" y="1609344"/>
            <a:ext cx="994867" cy="338328"/>
          </a:xfrm>
          <a:prstGeom prst="rect">
            <a:avLst/>
          </a:prstGeom>
          <a:solidFill>
            <a:srgbClr val="EFEFEA"/>
          </a:solidFill>
          <a:ln w="15875">
            <a:solidFill>
              <a:srgbClr val="5C6068"/>
            </a:solidFill>
            <a:prstDash val="solid"/>
          </a:ln>
        </p:spPr>
      </p:sp>
      <p:sp>
        <p:nvSpPr>
          <p:cNvPr id="40" name="s44_c1_vc_t"/>
          <p:cNvSpPr/>
          <p:nvPr/>
        </p:nvSpPr>
        <p:spPr>
          <a:xfrm>
            <a:off x="10489997" y="1609344"/>
            <a:ext cx="99486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SURFACE</a:t>
            </a:r>
            <a:endParaRPr lang="en-US" sz="900" dirty="0"/>
          </a:p>
        </p:txBody>
      </p:sp>
      <p:sp>
        <p:nvSpPr>
          <p:cNvPr id="41" name="s44_c1_why"/>
          <p:cNvSpPr/>
          <p:nvPr/>
        </p:nvSpPr>
        <p:spPr>
          <a:xfrm>
            <a:off x="6437376" y="2011680"/>
            <a:ext cx="5020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i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Nothing declarative to emit; record carries risk metadata</a:t>
            </a:r>
            <a:endParaRPr lang="en-US" sz="850" dirty="0"/>
          </a:p>
        </p:txBody>
      </p:sp>
      <p:sp>
        <p:nvSpPr>
          <p:cNvPr id="42" name="s44_c1_what"/>
          <p:cNvSpPr/>
          <p:nvPr/>
        </p:nvSpPr>
        <p:spPr>
          <a:xfrm>
            <a:off x="6437376" y="2340864"/>
            <a:ext cx="5020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permission system or sandbox; a project trust gate decides what loads</a:t>
            </a:r>
            <a:endParaRPr lang="en-US" sz="1050" dirty="0"/>
          </a:p>
        </p:txBody>
      </p:sp>
      <p:sp>
        <p:nvSpPr>
          <p:cNvPr id="43" name="s44_c1_hr1"/>
          <p:cNvSpPr/>
          <p:nvPr/>
        </p:nvSpPr>
        <p:spPr>
          <a:xfrm>
            <a:off x="6437376" y="2798064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44" name="s44_c1_k0"/>
          <p:cNvSpPr/>
          <p:nvPr/>
        </p:nvSpPr>
        <p:spPr>
          <a:xfrm>
            <a:off x="6437376" y="2852928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</a:t>
            </a:r>
            <a:endParaRPr lang="en-US" sz="850" dirty="0"/>
          </a:p>
        </p:txBody>
      </p:sp>
      <p:sp>
        <p:nvSpPr>
          <p:cNvPr id="45" name="s44_c1_v0"/>
          <p:cNvSpPr/>
          <p:nvPr/>
        </p:nvSpPr>
        <p:spPr>
          <a:xfrm>
            <a:off x="7589520" y="2852928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.pi/* trust-gated · defaultProjectTrust ask|always|never</a:t>
            </a:r>
            <a:endParaRPr lang="en-US" sz="900" dirty="0"/>
          </a:p>
        </p:txBody>
      </p:sp>
      <p:sp>
        <p:nvSpPr>
          <p:cNvPr id="46" name="s44_c1_hr2"/>
          <p:cNvSpPr/>
          <p:nvPr/>
        </p:nvSpPr>
        <p:spPr>
          <a:xfrm>
            <a:off x="6437376" y="3273552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47" name="s44_c1_k1"/>
          <p:cNvSpPr/>
          <p:nvPr/>
        </p:nvSpPr>
        <p:spPr>
          <a:xfrm>
            <a:off x="6437376" y="3273552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FORMAT</a:t>
            </a:r>
            <a:endParaRPr lang="en-US" sz="850" dirty="0"/>
          </a:p>
        </p:txBody>
      </p:sp>
      <p:sp>
        <p:nvSpPr>
          <p:cNvPr id="48" name="s44_c1_v1"/>
          <p:cNvSpPr/>
          <p:nvPr/>
        </p:nvSpPr>
        <p:spPr>
          <a:xfrm>
            <a:off x="7589520" y="3273552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none — settings trust + exposure flags only</a:t>
            </a:r>
            <a:endParaRPr lang="en-US" sz="900" dirty="0"/>
          </a:p>
        </p:txBody>
      </p:sp>
      <p:sp>
        <p:nvSpPr>
          <p:cNvPr id="49" name="s44_c1_hr3"/>
          <p:cNvSpPr/>
          <p:nvPr/>
        </p:nvSpPr>
        <p:spPr>
          <a:xfrm>
            <a:off x="6437376" y="3694176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50" name="s44_c1_k2"/>
          <p:cNvSpPr/>
          <p:nvPr/>
        </p:nvSpPr>
        <p:spPr>
          <a:xfrm>
            <a:off x="6437376" y="3694176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</a:t>
            </a:r>
            <a:endParaRPr lang="en-US" sz="850" dirty="0"/>
          </a:p>
        </p:txBody>
      </p:sp>
      <p:sp>
        <p:nvSpPr>
          <p:cNvPr id="51" name="s44_c1_v2"/>
          <p:cNvSpPr/>
          <p:nvPr/>
        </p:nvSpPr>
        <p:spPr>
          <a:xfrm>
            <a:off x="7589520" y="3694176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 config · /settings · codemode QuickJS sandbox</a:t>
            </a:r>
            <a:endParaRPr lang="en-US" sz="900" dirty="0"/>
          </a:p>
        </p:txBody>
      </p:sp>
      <p:sp>
        <p:nvSpPr>
          <p:cNvPr id="52" name="s44_c1_hr4"/>
          <p:cNvSpPr/>
          <p:nvPr/>
        </p:nvSpPr>
        <p:spPr>
          <a:xfrm>
            <a:off x="6437376" y="4114800"/>
            <a:ext cx="5020056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53" name="s44_c1_k3"/>
          <p:cNvSpPr/>
          <p:nvPr/>
        </p:nvSpPr>
        <p:spPr>
          <a:xfrm>
            <a:off x="6437376" y="4114800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AUTO-UPDATE</a:t>
            </a:r>
            <a:endParaRPr lang="en-US" sz="850" dirty="0"/>
          </a:p>
        </p:txBody>
      </p:sp>
      <p:sp>
        <p:nvSpPr>
          <p:cNvPr id="54" name="s44_c1_v3"/>
          <p:cNvSpPr/>
          <p:nvPr/>
        </p:nvSpPr>
        <p:spPr>
          <a:xfrm>
            <a:off x="7589520" y="4114800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 artifact to update — trust is a per-project prompt, not a file</a:t>
            </a:r>
            <a:endParaRPr lang="en-US" sz="900" dirty="0"/>
          </a:p>
        </p:txBody>
      </p:sp>
      <p:sp>
        <p:nvSpPr>
          <p:cNvPr id="55" name="s44_c1_emp"/>
          <p:cNvSpPr/>
          <p:nvPr/>
        </p:nvSpPr>
        <p:spPr>
          <a:xfrm>
            <a:off x="6409944" y="4626864"/>
            <a:ext cx="5074920" cy="1581912"/>
          </a:xfrm>
          <a:prstGeom prst="rect">
            <a:avLst/>
          </a:prstGeom>
          <a:solidFill>
            <a:srgbClr val="EFE9FB"/>
          </a:solidFill>
          <a:ln/>
        </p:spPr>
      </p:sp>
      <p:sp>
        <p:nvSpPr>
          <p:cNvPr id="56" name="s44_c1_emb"/>
          <p:cNvSpPr/>
          <p:nvPr/>
        </p:nvSpPr>
        <p:spPr>
          <a:xfrm>
            <a:off x="6592824" y="4736592"/>
            <a:ext cx="4709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spc="200" kern="0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REGISTRY EMISSION</a:t>
            </a:r>
            <a:endParaRPr lang="en-US" sz="800" dirty="0"/>
          </a:p>
        </p:txBody>
      </p:sp>
      <p:sp>
        <p:nvSpPr>
          <p:cNvPr id="57" name="s44_c1_em"/>
          <p:cNvSpPr/>
          <p:nvPr/>
        </p:nvSpPr>
        <p:spPr>
          <a:xfrm>
            <a:off x="6592824" y="4956048"/>
            <a:ext cx="470916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compatibility.pi: no policy surface (YOLO)</a:t>
            </a:r>
            <a:endParaRPr lang="en-US" sz="9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emit: trust.tier + capabilities[] at install</a:t>
            </a:r>
            <a:endParaRPr lang="en-US" sz="9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codemode: sandbox for model-written JS only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B1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25_vx1_v1"/>
          <p:cNvSpPr/>
          <p:nvPr/>
        </p:nvSpPr>
        <p:spPr>
          <a:xfrm>
            <a:off x="11137392" y="384048"/>
            <a:ext cx="146304" cy="146304"/>
          </a:xfrm>
          <a:prstGeom prst="rect">
            <a:avLst/>
          </a:prstGeom>
          <a:solidFill>
            <a:srgbClr val="7CB0FF"/>
          </a:solidFill>
          <a:ln/>
        </p:spPr>
      </p:sp>
      <p:sp>
        <p:nvSpPr>
          <p:cNvPr id="4" name="s25_vx1_v2"/>
          <p:cNvSpPr/>
          <p:nvPr/>
        </p:nvSpPr>
        <p:spPr>
          <a:xfrm>
            <a:off x="11311128" y="384048"/>
            <a:ext cx="146304" cy="14630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5" name="s25_vx1_v3"/>
          <p:cNvSpPr/>
          <p:nvPr/>
        </p:nvSpPr>
        <p:spPr>
          <a:xfrm>
            <a:off x="11137392" y="557784"/>
            <a:ext cx="146304" cy="14630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6" name="s25_vx2_v1"/>
          <p:cNvSpPr/>
          <p:nvPr/>
        </p:nvSpPr>
        <p:spPr>
          <a:xfrm>
            <a:off x="548640" y="5989320"/>
            <a:ext cx="146304" cy="14630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7" name="s25_vx2_v2"/>
          <p:cNvSpPr/>
          <p:nvPr/>
        </p:nvSpPr>
        <p:spPr>
          <a:xfrm>
            <a:off x="722376" y="5989320"/>
            <a:ext cx="146304" cy="146304"/>
          </a:xfrm>
          <a:prstGeom prst="rect">
            <a:avLst/>
          </a:prstGeom>
          <a:solidFill>
            <a:srgbClr val="7CB0FF"/>
          </a:solidFill>
          <a:ln/>
        </p:spPr>
      </p:sp>
      <p:sp>
        <p:nvSpPr>
          <p:cNvPr id="8" name="s25_vx2_v3"/>
          <p:cNvSpPr/>
          <p:nvPr/>
        </p:nvSpPr>
        <p:spPr>
          <a:xfrm>
            <a:off x="548640" y="6163056"/>
            <a:ext cx="146304" cy="146304"/>
          </a:xfrm>
          <a:prstGeom prst="rect">
            <a:avLst/>
          </a:prstGeom>
          <a:solidFill>
            <a:srgbClr val="16A34A"/>
          </a:solidFill>
          <a:ln/>
        </p:spPr>
      </p:sp>
      <p:pic>
        <p:nvPicPr>
          <p:cNvPr id="9" name="s25_kick" descr="assets/k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02336"/>
            <a:ext cx="3579223" cy="182880"/>
          </a:xfrm>
          <a:prstGeom prst="rect">
            <a:avLst/>
          </a:prstGeom>
        </p:spPr>
      </p:pic>
      <p:pic>
        <p:nvPicPr>
          <p:cNvPr id="10" name="s25_title" descr="assets/tz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58368"/>
            <a:ext cx="10528663" cy="475488"/>
          </a:xfrm>
          <a:prstGeom prst="rect">
            <a:avLst/>
          </a:prstGeom>
        </p:spPr>
      </p:pic>
      <p:sp>
        <p:nvSpPr>
          <p:cNvPr id="11" name="s25_spec"/>
          <p:cNvSpPr/>
          <p:nvPr/>
        </p:nvSpPr>
        <p:spPr>
          <a:xfrm>
            <a:off x="502920" y="1216152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0A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registry is buildable because every harness answers the same six questions — we wrote them down</a:t>
            </a:r>
            <a:endParaRPr lang="en-US" sz="1100" dirty="0"/>
          </a:p>
        </p:txBody>
      </p:sp>
      <p:sp>
        <p:nvSpPr>
          <p:cNvPr id="12" name="s25_tk0_sq"/>
          <p:cNvSpPr/>
          <p:nvPr/>
        </p:nvSpPr>
        <p:spPr>
          <a:xfrm>
            <a:off x="502920" y="2203704"/>
            <a:ext cx="146304" cy="146304"/>
          </a:xfrm>
          <a:prstGeom prst="rect">
            <a:avLst/>
          </a:prstGeom>
          <a:solidFill>
            <a:srgbClr val="7CB0FF"/>
          </a:solidFill>
          <a:ln/>
        </p:spPr>
      </p:sp>
      <p:sp>
        <p:nvSpPr>
          <p:cNvPr id="13" name="s25_tk0_h"/>
          <p:cNvSpPr/>
          <p:nvPr/>
        </p:nvSpPr>
        <p:spPr>
          <a:xfrm>
            <a:off x="868680" y="2148840"/>
            <a:ext cx="6309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Packages update. Artifacts don't.</a:t>
            </a:r>
            <a:endParaRPr lang="en-US" sz="1550" dirty="0"/>
          </a:p>
        </p:txBody>
      </p:sp>
      <p:sp>
        <p:nvSpPr>
          <p:cNvPr id="14" name="s25_tk0_d"/>
          <p:cNvSpPr/>
          <p:nvPr/>
        </p:nvSpPr>
        <p:spPr>
          <a:xfrm>
            <a:off x="868680" y="2478024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9AA0A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skills, mcp, agents and hooks are file-drops in all four harnesses — agentreg.lock is the missing updater</a:t>
            </a:r>
            <a:endParaRPr lang="en-US" sz="1050" dirty="0"/>
          </a:p>
        </p:txBody>
      </p:sp>
      <p:sp>
        <p:nvSpPr>
          <p:cNvPr id="15" name="s25_tk1_sq"/>
          <p:cNvSpPr/>
          <p:nvPr/>
        </p:nvSpPr>
        <p:spPr>
          <a:xfrm>
            <a:off x="502920" y="3255264"/>
            <a:ext cx="146304" cy="14630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6" name="s25_tk1_h"/>
          <p:cNvSpPr/>
          <p:nvPr/>
        </p:nvSpPr>
        <p:spPr>
          <a:xfrm>
            <a:off x="868680" y="3200400"/>
            <a:ext cx="6309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Emit overlays, not forks</a:t>
            </a:r>
            <a:endParaRPr lang="en-US" sz="1550" dirty="0"/>
          </a:p>
        </p:txBody>
      </p:sp>
      <p:sp>
        <p:nvSpPr>
          <p:cNvPr id="17" name="s25_tk1_d"/>
          <p:cNvSpPr/>
          <p:nvPr/>
        </p:nvSpPr>
        <p:spPr>
          <a:xfrm>
            <a:off x="868680" y="3529584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9AA0A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spec-pure core plus per-harness overlay fields; only pi takes claude's mcp json copy-as-is</a:t>
            </a:r>
            <a:endParaRPr lang="en-US" sz="1050" dirty="0"/>
          </a:p>
        </p:txBody>
      </p:sp>
      <p:sp>
        <p:nvSpPr>
          <p:cNvPr id="18" name="s25_tk2_sq"/>
          <p:cNvSpPr/>
          <p:nvPr/>
        </p:nvSpPr>
        <p:spPr>
          <a:xfrm>
            <a:off x="502920" y="4306824"/>
            <a:ext cx="146304" cy="14630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9" name="s25_tk2_h"/>
          <p:cNvSpPr/>
          <p:nvPr/>
        </p:nvSpPr>
        <p:spPr>
          <a:xfrm>
            <a:off x="868680" y="4251960"/>
            <a:ext cx="6309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SURFACE is an answer</a:t>
            </a:r>
            <a:endParaRPr lang="en-US" sz="1550" dirty="0"/>
          </a:p>
        </p:txBody>
      </p:sp>
      <p:sp>
        <p:nvSpPr>
          <p:cNvPr id="20" name="s25_tk2_d"/>
          <p:cNvSpPr/>
          <p:nvPr/>
        </p:nvSpPr>
        <p:spPr>
          <a:xfrm>
            <a:off x="868680" y="4581144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9AA0A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lsp, statusline and custom tools exist in two of four harnesses — the record says unsupported, never broken</a:t>
            </a:r>
            <a:endParaRPr lang="en-US" sz="1050" dirty="0"/>
          </a:p>
        </p:txBody>
      </p:sp>
      <p:pic>
        <p:nvPicPr>
          <p:cNvPr id="21" name="machine" descr="assets/machin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0" y="2468880"/>
            <a:ext cx="1111195" cy="1965960"/>
          </a:xfrm>
          <a:prstGeom prst="rect">
            <a:avLst/>
          </a:prstGeom>
        </p:spPr>
      </p:pic>
      <p:pic>
        <p:nvPicPr>
          <p:cNvPr id="22" name="machineCup" descr="assets/cup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44200" y="3977640"/>
            <a:ext cx="365760" cy="274320"/>
          </a:xfrm>
          <a:prstGeom prst="rect">
            <a:avLst/>
          </a:prstGeom>
        </p:spPr>
      </p:pic>
      <p:pic>
        <p:nvPicPr>
          <p:cNvPr id="23" name="runner" descr="assets/runne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1000" y="3611880"/>
            <a:ext cx="701040" cy="1051560"/>
          </a:xfrm>
          <a:prstGeom prst="rect">
            <a:avLst/>
          </a:prstGeom>
        </p:spPr>
      </p:pic>
      <p:pic>
        <p:nvPicPr>
          <p:cNvPr id="24" name="s25_cube0" descr="assets/cube_claud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52560" y="5715000"/>
            <a:ext cx="347472" cy="347472"/>
          </a:xfrm>
          <a:prstGeom prst="rect">
            <a:avLst/>
          </a:prstGeom>
        </p:spPr>
      </p:pic>
      <p:pic>
        <p:nvPicPr>
          <p:cNvPr id="25" name="s25_cube1" descr="assets/cube_codex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29800" y="5715000"/>
            <a:ext cx="347472" cy="347472"/>
          </a:xfrm>
          <a:prstGeom prst="rect">
            <a:avLst/>
          </a:prstGeom>
        </p:spPr>
      </p:pic>
      <p:pic>
        <p:nvPicPr>
          <p:cNvPr id="26" name="s25_cube2" descr="assets/cube_opencod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0" y="5715000"/>
            <a:ext cx="347472" cy="347472"/>
          </a:xfrm>
          <a:prstGeom prst="rect">
            <a:avLst/>
          </a:prstGeom>
        </p:spPr>
      </p:pic>
      <p:pic>
        <p:nvPicPr>
          <p:cNvPr id="27" name="s25_cube3" descr="assets/cube_pi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384280" y="5715000"/>
            <a:ext cx="347472" cy="347472"/>
          </a:xfrm>
          <a:prstGeom prst="rect">
            <a:avLst/>
          </a:prstGeom>
        </p:spPr>
      </p:pic>
      <p:sp>
        <p:nvSpPr>
          <p:cNvPr id="28" name="s25_src"/>
          <p:cNvSpPr/>
          <p:nvPr/>
        </p:nvSpPr>
        <p:spPr>
          <a:xfrm>
            <a:off x="502920" y="635508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9AA0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sources: agents-unified-registry corpus · every fact verified 2026-10-16 · deck: nano-super-slides-v5</a:t>
            </a:r>
            <a:endParaRPr lang="en-US" sz="9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9AA0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next: agentreg v0 — skills + mcp × 4 harnesses, then the adapters this deck maps.</a:t>
            </a:r>
            <a:endParaRPr lang="en-US" sz="900" dirty="0"/>
          </a:p>
        </p:txBody>
      </p:sp>
      <p:sp>
        <p:nvSpPr>
          <p:cNvPr id="29" name="s25_pg"/>
          <p:cNvSpPr/>
          <p:nvPr/>
        </p:nvSpPr>
        <p:spPr>
          <a:xfrm>
            <a:off x="11064240" y="648309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0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45 / 45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Building Our Own Registry — nano-super v5</dc:title>
  <dc:subject>PptxGenJS Presentation</dc:subject>
  <dc:creator>aryan-rajoria</dc:creator>
  <cp:lastModifiedBy>aryan-rajoria</cp:lastModifiedBy>
  <cp:revision>1</cp:revision>
  <dcterms:created xsi:type="dcterms:W3CDTF">2026-10-21T00:19:49Z</dcterms:created>
  <dcterms:modified xsi:type="dcterms:W3CDTF">2026-10-21T00:19:49Z</dcterms:modified>
</cp:coreProperties>
</file>