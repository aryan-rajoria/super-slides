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v5 refocus: not the market survey (that is v4) — the integration guide. For each of the 4 harnesses the same 10 surfaces answer the same 6 facts; the deck defines the registry data model as it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notation slide. Six facts per card, four verdicts, honest auto-update framing, and the five-slide chapter structure. This is the consistency contract for all 20 chapter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model, condensed from v4's design + emission slides: artifact-record.json (identity/version/payload+overlays/compat/trust/install), the publish-to-lock pipeline, and agentreg.lock as the missing updater.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cheat sheet (user moved it to slide 4 on 2026-10-20). Verdict chips per surface per harness, plus the auto-update dot (green = the harness can update this artifact type itself). Derived at build time from the four content files. The specifications behind these rows follow on slides 5-12.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1/4 explainer: skills. The only artifact all four harnesses consume today — the universal payload; spec-pure skills work everywhere. Next: Detail: the 6 fields + constraints, the metadata extension channel, per-harness divergence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1/4 detail: skills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2/4 explainer: plugins. The only vendor-neutral container; only Codex consumes it of ours — but its skills/ + mcp.json payloads are the two universal formats. Next: Detail: the closed 9-field manifest, mcp.json rules, extensions, and who actually loads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2/4 detail: plugins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3/4 explainer: mcp. MCP config is the lingua franca — mcpServers JSON copies as-is into Pi; the registry's verify-then-point model is the governance blueprint to copy. Next: Detail: server.json fields, reverse-DNS identity, federation API, per-harness 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3/4 detail: mcp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4/4 explainer: subagents. Subagents are pure fragmentation: four shapes, no shared fields, no standard to anchor on — adapters, not standards. Next: Detail: the de-facto Claude md shape vs Codex TOML, OpenCode dialect, and Pi's gap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4/4 detail: subagents contract — fields, rules, per-harness divergence, gaps,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1/5: SKILLS &amp; COMMANDS. Cards: SKILLS, COMMANDS.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2/5: SUBAGENTS &amp; HOOKS. Cards: SUBAGENTS, HOOKS.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3/5: PLUGINS &amp; MARKETPLACES. Cards: PLUGINS.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4/5: MCP · LSP · CUSTOM TOOLS. Cards: MCP, LSP, CUSTOM TOOLS.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V2.1.302, topic slide 5/5: STATUS LINE &amp; EXEC POLICY. Cards: STATUS LINE, EXEC POLICY. Trust model: Ask-to-approve tool permissions + unoverridable managed settings; npm plugin sources never run scripts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1/5: SKILLS &amp; COMMANDS. Cards: SKILLS, COMMANDS.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2/5: SUBAGENTS &amp; HOOKS. Cards: SUBAGENTS, HOOKS.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3/5: PLUGINS &amp; MARKETPLACES. Cards: PLUGINS.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4/5: MCP · LSP · CUSTOM TOOLS. Cards: MCP, LSP, CUSTOM TOOLS.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RUST-V0.163.0, topic slide 5/5: STATUS LINE &amp; EXEC POLICY. Cards: STATUS LINE, EXEC POLICY. Trust model: Three sandbox modes + approval_policy (incl. granular); project .codex/ layers stay inert until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1/5: SKILLS &amp; COMMANDS. Cards: SKILLS, COMMANDS.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2/5: SUBAGENTS &amp; HOOKS. Cards: SUBAGENTS, HOOKS.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3/5: PLUGINS &amp; MARKETPLACES. Cards: PLUGINS.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4/5: MCP · LSP · CUSTOM TOOLS. Cards: MCP, LSP, CUSTOM TOOLS.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2.0.X, topic slide 5/5: STATUS LINE &amp; EXEC POLICY. Cards: STATUS LINE, EXEC POLICY. Trust model: Config permission maps + policies gate every tool action; deny .env*, ask doom_loop/external dirs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1/5: SKILLS &amp; COMMANDS. Cards: SKILLS, COMMANDS.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2/5: SUBAGENTS &amp; HOOKS. Cards: SUBAGENTS, HOOKS.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3/5: PLUGINS &amp; MARKETPLACES. Cards: PLUGINS.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4/5: MCP · LSP · CUSTOM TOOLS. Cards: MCP, LSP, CUSTOM TOOLS.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1.3.0, topic slide 5/5: STATUS LINE &amp; EXEC POLICY. Cards: STATUS LINE, EXEC POLICY. Trust model: No permission system or sandbox (YOLO mode) — .pi/ resources gated by project trust; codemode QuickJS sandbox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Closer. Three takeaways: packages update but artifacts don't (lockfile wedge), emit overlays not forks, NO SURFACE is a first-class answer. Static machine art — no game in v5.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_vx1_v1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1_vx1_v2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1_vx1_v3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1_vx2_v1"/>
          <p:cNvSpPr/>
          <p:nvPr/>
        </p:nvSpPr>
        <p:spPr>
          <a:xfrm>
            <a:off x="548640" y="59436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1_vx2_v2"/>
          <p:cNvSpPr/>
          <p:nvPr/>
        </p:nvSpPr>
        <p:spPr>
          <a:xfrm>
            <a:off x="722376" y="594360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1_vx2_v3"/>
          <p:cNvSpPr/>
          <p:nvPr/>
        </p:nvSpPr>
        <p:spPr>
          <a:xfrm>
            <a:off x="548640" y="611733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1_kick" descr="assets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2325189" cy="182880"/>
          </a:xfrm>
          <a:prstGeom prst="rect">
            <a:avLst/>
          </a:prstGeom>
        </p:spPr>
      </p:pic>
      <p:pic>
        <p:nvPicPr>
          <p:cNvPr id="10" name="s1_title1" descr="assets/c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121255" cy="603504"/>
          </a:xfrm>
          <a:prstGeom prst="rect">
            <a:avLst/>
          </a:prstGeom>
        </p:spPr>
      </p:pic>
      <p:pic>
        <p:nvPicPr>
          <p:cNvPr id="11" name="s1_title2" descr="assets/c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6121255" cy="603504"/>
          </a:xfrm>
          <a:prstGeom prst="rect">
            <a:avLst/>
          </a:prstGeom>
        </p:spPr>
      </p:pic>
      <p:sp>
        <p:nvSpPr>
          <p:cNvPr id="12" name="s1_sub"/>
          <p:cNvSpPr/>
          <p:nvPr/>
        </p:nvSpPr>
        <p:spPr>
          <a:xfrm>
            <a:off x="50292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CD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registry, four harnesses — the per-harness integration guide.</a:t>
            </a:r>
            <a:endParaRPr lang="en-US" sz="1900" dirty="0"/>
          </a:p>
        </p:txBody>
      </p:sp>
      <p:sp>
        <p:nvSpPr>
          <p:cNvPr id="13" name="s1_desc"/>
          <p:cNvSpPr/>
          <p:nvPr/>
        </p:nvSpPr>
        <p:spPr>
          <a:xfrm>
            <a:off x="502920" y="3520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harness chapter covers the same ten surfaces, and every surface answers the same six questions —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is, where it lives, how it is managed, whether it can auto-update, and what our registry must emit.</a:t>
            </a:r>
            <a:endParaRPr lang="en-US" sz="1400" dirty="0"/>
          </a:p>
        </p:txBody>
      </p:sp>
      <p:sp>
        <p:nvSpPr>
          <p:cNvPr id="14" name="s1_chip0_sh"/>
          <p:cNvSpPr/>
          <p:nvPr/>
        </p:nvSpPr>
        <p:spPr>
          <a:xfrm>
            <a:off x="539496" y="4608576"/>
            <a:ext cx="1330452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5" name="s1_chip0"/>
          <p:cNvSpPr/>
          <p:nvPr/>
        </p:nvSpPr>
        <p:spPr>
          <a:xfrm>
            <a:off x="502920" y="4572000"/>
            <a:ext cx="1330452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6" name="s1_chip0_t"/>
          <p:cNvSpPr/>
          <p:nvPr/>
        </p:nvSpPr>
        <p:spPr>
          <a:xfrm>
            <a:off x="502920" y="4572000"/>
            <a:ext cx="13304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HARNESSES</a:t>
            </a:r>
            <a:endParaRPr lang="en-US" sz="1200" dirty="0"/>
          </a:p>
        </p:txBody>
      </p:sp>
      <p:sp>
        <p:nvSpPr>
          <p:cNvPr id="17" name="s1_chip1_sh"/>
          <p:cNvSpPr/>
          <p:nvPr/>
        </p:nvSpPr>
        <p:spPr>
          <a:xfrm>
            <a:off x="2098548" y="4608576"/>
            <a:ext cx="1330452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8" name="s1_chip1"/>
          <p:cNvSpPr/>
          <p:nvPr/>
        </p:nvSpPr>
        <p:spPr>
          <a:xfrm>
            <a:off x="2061972" y="4572000"/>
            <a:ext cx="1330452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9" name="s1_chip1_t"/>
          <p:cNvSpPr/>
          <p:nvPr/>
        </p:nvSpPr>
        <p:spPr>
          <a:xfrm>
            <a:off x="2061972" y="4572000"/>
            <a:ext cx="13304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SURFACES</a:t>
            </a:r>
            <a:endParaRPr lang="en-US" sz="1200" dirty="0"/>
          </a:p>
        </p:txBody>
      </p:sp>
      <p:sp>
        <p:nvSpPr>
          <p:cNvPr id="20" name="s1_chip2_sh"/>
          <p:cNvSpPr/>
          <p:nvPr/>
        </p:nvSpPr>
        <p:spPr>
          <a:xfrm>
            <a:off x="3657600" y="4608576"/>
            <a:ext cx="2098548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1" name="s1_chip2"/>
          <p:cNvSpPr/>
          <p:nvPr/>
        </p:nvSpPr>
        <p:spPr>
          <a:xfrm>
            <a:off x="3621024" y="4572000"/>
            <a:ext cx="2098548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2" name="s1_chip2_t"/>
          <p:cNvSpPr/>
          <p:nvPr/>
        </p:nvSpPr>
        <p:spPr>
          <a:xfrm>
            <a:off x="3621024" y="4572000"/>
            <a:ext cx="2098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FACTS PER SURFACE</a:t>
            </a:r>
            <a:endParaRPr lang="en-US" sz="1200" dirty="0"/>
          </a:p>
        </p:txBody>
      </p:sp>
      <p:sp>
        <p:nvSpPr>
          <p:cNvPr id="23" name="s1_chip3_sh"/>
          <p:cNvSpPr/>
          <p:nvPr/>
        </p:nvSpPr>
        <p:spPr>
          <a:xfrm>
            <a:off x="5984748" y="4608576"/>
            <a:ext cx="1042416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4" name="s1_chip3"/>
          <p:cNvSpPr/>
          <p:nvPr/>
        </p:nvSpPr>
        <p:spPr>
          <a:xfrm>
            <a:off x="5948172" y="4572000"/>
            <a:ext cx="1042416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5" name="s1_chip3_t"/>
          <p:cNvSpPr/>
          <p:nvPr/>
        </p:nvSpPr>
        <p:spPr>
          <a:xfrm>
            <a:off x="5948172" y="4572000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RECORD</a:t>
            </a:r>
            <a:endParaRPr lang="en-US" sz="1200" dirty="0"/>
          </a:p>
        </p:txBody>
      </p:sp>
      <p:sp>
        <p:nvSpPr>
          <p:cNvPr id="26" name="s1_src"/>
          <p:cNvSpPr/>
          <p:nvPr/>
        </p:nvSpPr>
        <p:spPr>
          <a:xfrm>
            <a:off x="502920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agents-unified-registry corpus — claude-code · codex · opencode · pi · cross-spec · prior-art · security · design (verified 2026-10-16)</a:t>
            </a:r>
            <a:endParaRPr lang="en-US" sz="1000" dirty="0"/>
          </a:p>
        </p:txBody>
      </p:sp>
      <p:pic>
        <p:nvPicPr>
          <p:cNvPr id="27" name="s1_runner" descr="assets/run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011680"/>
            <a:ext cx="1767840" cy="2651760"/>
          </a:xfrm>
          <a:prstGeom prst="rect">
            <a:avLst/>
          </a:prstGeom>
        </p:spPr>
      </p:pic>
      <p:pic>
        <p:nvPicPr>
          <p:cNvPr id="28" name="s1_cube0" descr="assets/cube_clau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892040"/>
            <a:ext cx="384048" cy="384048"/>
          </a:xfrm>
          <a:prstGeom prst="rect">
            <a:avLst/>
          </a:prstGeom>
        </p:spPr>
      </p:pic>
      <p:pic>
        <p:nvPicPr>
          <p:cNvPr id="29" name="s1_cube1" descr="assets/cube_code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892040"/>
            <a:ext cx="384048" cy="384048"/>
          </a:xfrm>
          <a:prstGeom prst="rect">
            <a:avLst/>
          </a:prstGeom>
        </p:spPr>
      </p:pic>
      <p:pic>
        <p:nvPicPr>
          <p:cNvPr id="30" name="s1_cube2" descr="assets/cube_open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4892040"/>
            <a:ext cx="384048" cy="384048"/>
          </a:xfrm>
          <a:prstGeom prst="rect">
            <a:avLst/>
          </a:prstGeom>
        </p:spPr>
      </p:pic>
      <p:pic>
        <p:nvPicPr>
          <p:cNvPr id="31" name="s1_cube3" descr="assets/cube_p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4280" y="4892040"/>
            <a:ext cx="384048" cy="384048"/>
          </a:xfrm>
          <a:prstGeom prst="rect">
            <a:avLst/>
          </a:prstGeom>
        </p:spPr>
      </p:pic>
      <p:sp>
        <p:nvSpPr>
          <p:cNvPr id="32" name="s1_repo"/>
          <p:cNvSpPr/>
          <p:nvPr/>
        </p:nvSpPr>
        <p:spPr>
          <a:xfrm>
            <a:off x="5029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github.com/aryan-rajoria/agents-unified-registry</a:t>
            </a:r>
            <a:endParaRPr lang="en-US" sz="1100" dirty="0"/>
          </a:p>
        </p:txBody>
      </p:sp>
      <p:sp>
        <p:nvSpPr>
          <p:cNvPr id="33" name="s1_date"/>
          <p:cNvSpPr/>
          <p:nvPr/>
        </p:nvSpPr>
        <p:spPr>
          <a:xfrm>
            <a:off x="9966960" y="635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_kick" descr="assets/k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265714" cy="182880"/>
          </a:xfrm>
          <a:prstGeom prst="rect">
            <a:avLst/>
          </a:prstGeom>
        </p:spPr>
      </p:pic>
      <p:pic>
        <p:nvPicPr>
          <p:cNvPr id="6" name="s2_title" descr="assets/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s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surface, in every harness, answers the same six questions — same card, same rows, same order; only the accent changes</a:t>
            </a:r>
            <a:endParaRPr lang="en-US" sz="1100" dirty="0"/>
          </a:p>
        </p:txBody>
      </p:sp>
      <p:sp>
        <p:nvSpPr>
          <p:cNvPr id="8" name="s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33</a:t>
            </a:r>
            <a:endParaRPr lang="en-US" sz="950" dirty="0"/>
          </a:p>
        </p:txBody>
      </p:sp>
      <p:sp>
        <p:nvSpPr>
          <p:cNvPr id="10" name="s2_six_sh"/>
          <p:cNvSpPr/>
          <p:nvPr/>
        </p:nvSpPr>
        <p:spPr>
          <a:xfrm>
            <a:off x="553212" y="1531620"/>
            <a:ext cx="5989320" cy="3749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2_six"/>
          <p:cNvSpPr/>
          <p:nvPr/>
        </p:nvSpPr>
        <p:spPr>
          <a:xfrm>
            <a:off x="502920" y="1481328"/>
            <a:ext cx="5989320" cy="3749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2_six_band"/>
          <p:cNvSpPr/>
          <p:nvPr/>
        </p:nvSpPr>
        <p:spPr>
          <a:xfrm>
            <a:off x="777240" y="1645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SIX FACTS ON EVERY CARD</a:t>
            </a:r>
            <a:endParaRPr lang="en-US" sz="1050" dirty="0"/>
          </a:p>
        </p:txBody>
      </p:sp>
      <p:sp>
        <p:nvSpPr>
          <p:cNvPr id="13" name="s2_six_b0"/>
          <p:cNvSpPr/>
          <p:nvPr/>
        </p:nvSpPr>
        <p:spPr>
          <a:xfrm>
            <a:off x="777240" y="202996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_six_k0"/>
          <p:cNvSpPr/>
          <p:nvPr/>
        </p:nvSpPr>
        <p:spPr>
          <a:xfrm>
            <a:off x="1005840" y="1956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endParaRPr lang="en-US" sz="1150" dirty="0"/>
          </a:p>
        </p:txBody>
      </p:sp>
      <p:sp>
        <p:nvSpPr>
          <p:cNvPr id="15" name="s2_six_d0"/>
          <p:cNvSpPr/>
          <p:nvPr/>
        </p:nvSpPr>
        <p:spPr>
          <a:xfrm>
            <a:off x="2697480" y="1956816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surface is, in plain words</a:t>
            </a:r>
            <a:endParaRPr lang="en-US" sz="1000" dirty="0"/>
          </a:p>
        </p:txBody>
      </p:sp>
      <p:sp>
        <p:nvSpPr>
          <p:cNvPr id="16" name="s2_six_hr0"/>
          <p:cNvSpPr/>
          <p:nvPr/>
        </p:nvSpPr>
        <p:spPr>
          <a:xfrm>
            <a:off x="777240" y="2468880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7" name="s2_six_b1"/>
          <p:cNvSpPr/>
          <p:nvPr/>
        </p:nvSpPr>
        <p:spPr>
          <a:xfrm>
            <a:off x="777240" y="2560320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2_six_k1"/>
          <p:cNvSpPr/>
          <p:nvPr/>
        </p:nvSpPr>
        <p:spPr>
          <a:xfrm>
            <a:off x="1005840" y="2487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1150" dirty="0"/>
          </a:p>
        </p:txBody>
      </p:sp>
      <p:sp>
        <p:nvSpPr>
          <p:cNvPr id="19" name="s2_six_d1"/>
          <p:cNvSpPr/>
          <p:nvPr/>
        </p:nvSpPr>
        <p:spPr>
          <a:xfrm>
            <a:off x="2697480" y="2487168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directories and scopes it can live in</a:t>
            </a:r>
            <a:endParaRPr lang="en-US" sz="1000" dirty="0"/>
          </a:p>
        </p:txBody>
      </p:sp>
      <p:sp>
        <p:nvSpPr>
          <p:cNvPr id="20" name="s2_six_hr1"/>
          <p:cNvSpPr/>
          <p:nvPr/>
        </p:nvSpPr>
        <p:spPr>
          <a:xfrm>
            <a:off x="777240" y="2999232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_six_b2"/>
          <p:cNvSpPr/>
          <p:nvPr/>
        </p:nvSpPr>
        <p:spPr>
          <a:xfrm>
            <a:off x="777240" y="3090672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2" name="s2_six_k2"/>
          <p:cNvSpPr/>
          <p:nvPr/>
        </p:nvSpPr>
        <p:spPr>
          <a:xfrm>
            <a:off x="1005840" y="3017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150" dirty="0"/>
          </a:p>
        </p:txBody>
      </p:sp>
      <p:sp>
        <p:nvSpPr>
          <p:cNvPr id="23" name="s2_six_d2"/>
          <p:cNvSpPr/>
          <p:nvPr/>
        </p:nvSpPr>
        <p:spPr>
          <a:xfrm>
            <a:off x="2697480" y="3017520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manifest or file shape it uses</a:t>
            </a:r>
            <a:endParaRPr lang="en-US" sz="1000" dirty="0"/>
          </a:p>
        </p:txBody>
      </p:sp>
      <p:sp>
        <p:nvSpPr>
          <p:cNvPr id="24" name="s2_six_hr2"/>
          <p:cNvSpPr/>
          <p:nvPr/>
        </p:nvSpPr>
        <p:spPr>
          <a:xfrm>
            <a:off x="777240" y="3529584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2_six_b3"/>
          <p:cNvSpPr/>
          <p:nvPr/>
        </p:nvSpPr>
        <p:spPr>
          <a:xfrm>
            <a:off x="777240" y="3621024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6" name="s2_six_k3"/>
          <p:cNvSpPr/>
          <p:nvPr/>
        </p:nvSpPr>
        <p:spPr>
          <a:xfrm>
            <a:off x="1005840" y="3547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1150" dirty="0"/>
          </a:p>
        </p:txBody>
      </p:sp>
      <p:sp>
        <p:nvSpPr>
          <p:cNvPr id="27" name="s2_six_d3"/>
          <p:cNvSpPr/>
          <p:nvPr/>
        </p:nvSpPr>
        <p:spPr>
          <a:xfrm>
            <a:off x="2697480" y="3547872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built-in commands that install or manage it</a:t>
            </a:r>
            <a:endParaRPr lang="en-US" sz="1000" dirty="0"/>
          </a:p>
        </p:txBody>
      </p:sp>
      <p:sp>
        <p:nvSpPr>
          <p:cNvPr id="28" name="s2_six_hr3"/>
          <p:cNvSpPr/>
          <p:nvPr/>
        </p:nvSpPr>
        <p:spPr>
          <a:xfrm>
            <a:off x="777240" y="4059936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9" name="s2_six_b4"/>
          <p:cNvSpPr/>
          <p:nvPr/>
        </p:nvSpPr>
        <p:spPr>
          <a:xfrm>
            <a:off x="777240" y="415137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0" name="s2_six_k4"/>
          <p:cNvSpPr/>
          <p:nvPr/>
        </p:nvSpPr>
        <p:spPr>
          <a:xfrm>
            <a:off x="1005840" y="40782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1150" dirty="0"/>
          </a:p>
        </p:txBody>
      </p:sp>
      <p:sp>
        <p:nvSpPr>
          <p:cNvPr id="31" name="s2_six_d4"/>
          <p:cNvSpPr/>
          <p:nvPr/>
        </p:nvSpPr>
        <p:spPr>
          <a:xfrm>
            <a:off x="2697480" y="4078224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the harness updates it by itself — and through what</a:t>
            </a:r>
            <a:endParaRPr lang="en-US" sz="1000" dirty="0"/>
          </a:p>
        </p:txBody>
      </p:sp>
      <p:sp>
        <p:nvSpPr>
          <p:cNvPr id="32" name="s2_six_hr4"/>
          <p:cNvSpPr/>
          <p:nvPr/>
        </p:nvSpPr>
        <p:spPr>
          <a:xfrm>
            <a:off x="777240" y="4590288"/>
            <a:ext cx="54406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3" name="s2_six_b5"/>
          <p:cNvSpPr/>
          <p:nvPr/>
        </p:nvSpPr>
        <p:spPr>
          <a:xfrm>
            <a:off x="777240" y="46817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2_six_k5"/>
          <p:cNvSpPr/>
          <p:nvPr/>
        </p:nvSpPr>
        <p:spPr>
          <a:xfrm>
            <a:off x="1005840" y="46085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 + EMISSION</a:t>
            </a:r>
            <a:endParaRPr lang="en-US" sz="1150" dirty="0"/>
          </a:p>
        </p:txBody>
      </p:sp>
      <p:sp>
        <p:nvSpPr>
          <p:cNvPr id="35" name="s2_six_d5"/>
          <p:cNvSpPr/>
          <p:nvPr/>
        </p:nvSpPr>
        <p:spPr>
          <a:xfrm>
            <a:off x="2697480" y="4608576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· translate · overlay · no surface — and the exact fields our registry emits</a:t>
            </a:r>
            <a:endParaRPr lang="en-US" sz="1000" dirty="0"/>
          </a:p>
        </p:txBody>
      </p:sp>
      <p:sp>
        <p:nvSpPr>
          <p:cNvPr id="36" name="s2_vd_sh"/>
          <p:cNvSpPr/>
          <p:nvPr/>
        </p:nvSpPr>
        <p:spPr>
          <a:xfrm>
            <a:off x="6771132" y="1531620"/>
            <a:ext cx="4965192" cy="2286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2_vd"/>
          <p:cNvSpPr/>
          <p:nvPr/>
        </p:nvSpPr>
        <p:spPr>
          <a:xfrm>
            <a:off x="6720840" y="1481328"/>
            <a:ext cx="4965192" cy="228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8" name="s2_vd_band"/>
          <p:cNvSpPr/>
          <p:nvPr/>
        </p:nvSpPr>
        <p:spPr>
          <a:xfrm>
            <a:off x="6995160" y="16459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VERDICTS</a:t>
            </a:r>
            <a:endParaRPr lang="en-US" sz="1050" dirty="0"/>
          </a:p>
        </p:txBody>
      </p:sp>
      <p:sp>
        <p:nvSpPr>
          <p:cNvPr id="39" name="s2_vd_c0_sh"/>
          <p:cNvSpPr/>
          <p:nvPr/>
        </p:nvSpPr>
        <p:spPr>
          <a:xfrm>
            <a:off x="7022592" y="2020824"/>
            <a:ext cx="952805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_vd_c0"/>
          <p:cNvSpPr/>
          <p:nvPr/>
        </p:nvSpPr>
        <p:spPr>
          <a:xfrm>
            <a:off x="6995160" y="1993392"/>
            <a:ext cx="952805" cy="3256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_vd_c0_t"/>
          <p:cNvSpPr/>
          <p:nvPr/>
        </p:nvSpPr>
        <p:spPr>
          <a:xfrm>
            <a:off x="6995160" y="1993392"/>
            <a:ext cx="95280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850" dirty="0"/>
          </a:p>
        </p:txBody>
      </p:sp>
      <p:sp>
        <p:nvSpPr>
          <p:cNvPr id="42" name="s2_vd_t0"/>
          <p:cNvSpPr/>
          <p:nvPr/>
        </p:nvSpPr>
        <p:spPr>
          <a:xfrm>
            <a:off x="8275320" y="19933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drops in with zero changes</a:t>
            </a:r>
            <a:endParaRPr lang="en-US" sz="950" dirty="0"/>
          </a:p>
        </p:txBody>
      </p:sp>
      <p:sp>
        <p:nvSpPr>
          <p:cNvPr id="43" name="s2_vd_c1_sh"/>
          <p:cNvSpPr/>
          <p:nvPr/>
        </p:nvSpPr>
        <p:spPr>
          <a:xfrm>
            <a:off x="7022592" y="2441448"/>
            <a:ext cx="881299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2_vd_c1"/>
          <p:cNvSpPr/>
          <p:nvPr/>
        </p:nvSpPr>
        <p:spPr>
          <a:xfrm>
            <a:off x="6995160" y="2414016"/>
            <a:ext cx="881299" cy="3256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5" name="s2_vd_c1_t"/>
          <p:cNvSpPr/>
          <p:nvPr/>
        </p:nvSpPr>
        <p:spPr>
          <a:xfrm>
            <a:off x="6995160" y="2414016"/>
            <a:ext cx="881299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850" dirty="0"/>
          </a:p>
        </p:txBody>
      </p:sp>
      <p:sp>
        <p:nvSpPr>
          <p:cNvPr id="46" name="s2_vd_t1"/>
          <p:cNvSpPr/>
          <p:nvPr/>
        </p:nvSpPr>
        <p:spPr>
          <a:xfrm>
            <a:off x="8275320" y="24140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converts the format first</a:t>
            </a:r>
            <a:endParaRPr lang="en-US" sz="950" dirty="0"/>
          </a:p>
        </p:txBody>
      </p:sp>
      <p:sp>
        <p:nvSpPr>
          <p:cNvPr id="47" name="s2_vd_c2_sh"/>
          <p:cNvSpPr/>
          <p:nvPr/>
        </p:nvSpPr>
        <p:spPr>
          <a:xfrm>
            <a:off x="7022592" y="2862072"/>
            <a:ext cx="738287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2_vd_c2"/>
          <p:cNvSpPr/>
          <p:nvPr/>
        </p:nvSpPr>
        <p:spPr>
          <a:xfrm>
            <a:off x="6995160" y="2834640"/>
            <a:ext cx="738287" cy="3256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9" name="s2_vd_c2_t"/>
          <p:cNvSpPr/>
          <p:nvPr/>
        </p:nvSpPr>
        <p:spPr>
          <a:xfrm>
            <a:off x="6995160" y="2834640"/>
            <a:ext cx="738287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850" dirty="0"/>
          </a:p>
        </p:txBody>
      </p:sp>
      <p:sp>
        <p:nvSpPr>
          <p:cNvPr id="50" name="s2_vd_t2"/>
          <p:cNvSpPr/>
          <p:nvPr/>
        </p:nvSpPr>
        <p:spPr>
          <a:xfrm>
            <a:off x="8275320" y="28346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core + harness-specific extra fields</a:t>
            </a:r>
            <a:endParaRPr lang="en-US" sz="950" dirty="0"/>
          </a:p>
        </p:txBody>
      </p:sp>
      <p:sp>
        <p:nvSpPr>
          <p:cNvPr id="51" name="s2_vd_c3_sh"/>
          <p:cNvSpPr/>
          <p:nvPr/>
        </p:nvSpPr>
        <p:spPr>
          <a:xfrm>
            <a:off x="7022592" y="3282696"/>
            <a:ext cx="952805" cy="3256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2_vd_c3"/>
          <p:cNvSpPr/>
          <p:nvPr/>
        </p:nvSpPr>
        <p:spPr>
          <a:xfrm>
            <a:off x="6995160" y="3255264"/>
            <a:ext cx="952805" cy="3256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53" name="s2_vd_c3_t"/>
          <p:cNvSpPr/>
          <p:nvPr/>
        </p:nvSpPr>
        <p:spPr>
          <a:xfrm>
            <a:off x="6995160" y="3255264"/>
            <a:ext cx="95280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850" dirty="0"/>
          </a:p>
        </p:txBody>
      </p:sp>
      <p:sp>
        <p:nvSpPr>
          <p:cNvPr id="54" name="s2_vd_t3"/>
          <p:cNvSpPr/>
          <p:nvPr/>
        </p:nvSpPr>
        <p:spPr>
          <a:xfrm>
            <a:off x="8275320" y="32552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native target — the record marks it unsupported</a:t>
            </a:r>
            <a:endParaRPr lang="en-US" sz="950" dirty="0"/>
          </a:p>
        </p:txBody>
      </p:sp>
      <p:sp>
        <p:nvSpPr>
          <p:cNvPr id="55" name="s2_au_sh"/>
          <p:cNvSpPr/>
          <p:nvPr/>
        </p:nvSpPr>
        <p:spPr>
          <a:xfrm>
            <a:off x="6771132" y="3954780"/>
            <a:ext cx="4965192" cy="13258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2_au"/>
          <p:cNvSpPr/>
          <p:nvPr/>
        </p:nvSpPr>
        <p:spPr>
          <a:xfrm>
            <a:off x="6720840" y="3904488"/>
            <a:ext cx="4965192" cy="132588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7" name="s2_au_band"/>
          <p:cNvSpPr/>
          <p:nvPr/>
        </p:nvSpPr>
        <p:spPr>
          <a:xfrm>
            <a:off x="6995160" y="40507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AUTO-UPDATE, HONESTLY</a:t>
            </a:r>
            <a:endParaRPr lang="en-US" sz="1000" dirty="0"/>
          </a:p>
        </p:txBody>
      </p:sp>
      <p:sp>
        <p:nvSpPr>
          <p:cNvPr id="58" name="s2_au_t"/>
          <p:cNvSpPr/>
          <p:nvPr/>
        </p:nvSpPr>
        <p:spPr>
          <a:xfrm>
            <a:off x="6995160" y="431596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bundles update themselves — claude plugin marketplaces, codex marketplace upgrade, opencode plugin update, pi update.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MCP servers, subagents and hooks are file-drops in all four. Version pinning is the registry's job.</a:t>
            </a:r>
            <a:endParaRPr lang="en-US" sz="950" dirty="0"/>
          </a:p>
        </p:txBody>
      </p:sp>
      <p:sp>
        <p:nvSpPr>
          <p:cNvPr id="59" name="s2_rail_sh"/>
          <p:cNvSpPr/>
          <p:nvPr/>
        </p:nvSpPr>
        <p:spPr>
          <a:xfrm>
            <a:off x="553212" y="5417820"/>
            <a:ext cx="11183112" cy="1005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2_rail"/>
          <p:cNvSpPr/>
          <p:nvPr/>
        </p:nvSpPr>
        <p:spPr>
          <a:xfrm>
            <a:off x="502920" y="5367528"/>
            <a:ext cx="11183112" cy="100584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2_rail_band"/>
          <p:cNvSpPr/>
          <p:nvPr/>
        </p:nvSpPr>
        <p:spPr>
          <a:xfrm>
            <a:off x="777240" y="55138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TEN SURFACES · FIVE SLIDES PER HARNESS</a:t>
            </a:r>
            <a:endParaRPr lang="en-US" sz="1000" dirty="0"/>
          </a:p>
        </p:txBody>
      </p:sp>
      <p:sp>
        <p:nvSpPr>
          <p:cNvPr id="62" name="s2_rail_c0_sh"/>
          <p:cNvSpPr/>
          <p:nvPr/>
        </p:nvSpPr>
        <p:spPr>
          <a:xfrm>
            <a:off x="804672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s2_rail_c0"/>
          <p:cNvSpPr/>
          <p:nvPr/>
        </p:nvSpPr>
        <p:spPr>
          <a:xfrm>
            <a:off x="777240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64" name="s2_rail_c0_t"/>
          <p:cNvSpPr/>
          <p:nvPr/>
        </p:nvSpPr>
        <p:spPr>
          <a:xfrm>
            <a:off x="777240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SKILLS + COMMANDS</a:t>
            </a:r>
            <a:endParaRPr lang="en-US" sz="900" dirty="0"/>
          </a:p>
        </p:txBody>
      </p:sp>
      <p:sp>
        <p:nvSpPr>
          <p:cNvPr id="65" name="s2_rail_a0_shaft"/>
          <p:cNvSpPr/>
          <p:nvPr/>
        </p:nvSpPr>
        <p:spPr>
          <a:xfrm>
            <a:off x="2714671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s2_rail_a0_h1"/>
          <p:cNvSpPr/>
          <p:nvPr/>
        </p:nvSpPr>
        <p:spPr>
          <a:xfrm>
            <a:off x="2897551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s2_rail_a0_h2"/>
          <p:cNvSpPr/>
          <p:nvPr/>
        </p:nvSpPr>
        <p:spPr>
          <a:xfrm>
            <a:off x="2897551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s2_rail_a0_tip"/>
          <p:cNvSpPr/>
          <p:nvPr/>
        </p:nvSpPr>
        <p:spPr>
          <a:xfrm>
            <a:off x="2988991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s2_rail_c1_sh"/>
          <p:cNvSpPr/>
          <p:nvPr/>
        </p:nvSpPr>
        <p:spPr>
          <a:xfrm>
            <a:off x="3126151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s2_rail_c1"/>
          <p:cNvSpPr/>
          <p:nvPr/>
        </p:nvSpPr>
        <p:spPr>
          <a:xfrm>
            <a:off x="3098719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71" name="s2_rail_c1_t"/>
          <p:cNvSpPr/>
          <p:nvPr/>
        </p:nvSpPr>
        <p:spPr>
          <a:xfrm>
            <a:off x="3098719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SUBAGENTS + HOOKS</a:t>
            </a:r>
            <a:endParaRPr lang="en-US" sz="900" dirty="0"/>
          </a:p>
        </p:txBody>
      </p:sp>
      <p:sp>
        <p:nvSpPr>
          <p:cNvPr id="72" name="s2_rail_a1_shaft"/>
          <p:cNvSpPr/>
          <p:nvPr/>
        </p:nvSpPr>
        <p:spPr>
          <a:xfrm>
            <a:off x="5036149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s2_rail_a1_h1"/>
          <p:cNvSpPr/>
          <p:nvPr/>
        </p:nvSpPr>
        <p:spPr>
          <a:xfrm>
            <a:off x="5219029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2_rail_a1_h2"/>
          <p:cNvSpPr/>
          <p:nvPr/>
        </p:nvSpPr>
        <p:spPr>
          <a:xfrm>
            <a:off x="5219029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s2_rail_a1_tip"/>
          <p:cNvSpPr/>
          <p:nvPr/>
        </p:nvSpPr>
        <p:spPr>
          <a:xfrm>
            <a:off x="5310469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s2_rail_c2_sh"/>
          <p:cNvSpPr/>
          <p:nvPr/>
        </p:nvSpPr>
        <p:spPr>
          <a:xfrm>
            <a:off x="5447629" y="586130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s2_rail_c2"/>
          <p:cNvSpPr/>
          <p:nvPr/>
        </p:nvSpPr>
        <p:spPr>
          <a:xfrm>
            <a:off x="5420197" y="583387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78" name="s2_rail_c2_t"/>
          <p:cNvSpPr/>
          <p:nvPr/>
        </p:nvSpPr>
        <p:spPr>
          <a:xfrm>
            <a:off x="5420197" y="583387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PLUGINS</a:t>
            </a:r>
            <a:endParaRPr lang="en-US" sz="900" dirty="0"/>
          </a:p>
        </p:txBody>
      </p:sp>
      <p:sp>
        <p:nvSpPr>
          <p:cNvPr id="79" name="s2_rail_a2_shaft"/>
          <p:cNvSpPr/>
          <p:nvPr/>
        </p:nvSpPr>
        <p:spPr>
          <a:xfrm>
            <a:off x="6600505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s2_rail_a2_h1"/>
          <p:cNvSpPr/>
          <p:nvPr/>
        </p:nvSpPr>
        <p:spPr>
          <a:xfrm>
            <a:off x="6783385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s2_rail_a2_h2"/>
          <p:cNvSpPr/>
          <p:nvPr/>
        </p:nvSpPr>
        <p:spPr>
          <a:xfrm>
            <a:off x="6783385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2_rail_a2_tip"/>
          <p:cNvSpPr/>
          <p:nvPr/>
        </p:nvSpPr>
        <p:spPr>
          <a:xfrm>
            <a:off x="6874825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s2_rail_c3_sh"/>
          <p:cNvSpPr/>
          <p:nvPr/>
        </p:nvSpPr>
        <p:spPr>
          <a:xfrm>
            <a:off x="7011985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s2_rail_c3"/>
          <p:cNvSpPr/>
          <p:nvPr/>
        </p:nvSpPr>
        <p:spPr>
          <a:xfrm>
            <a:off x="6984553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85" name="s2_rail_c3_t"/>
          <p:cNvSpPr/>
          <p:nvPr/>
        </p:nvSpPr>
        <p:spPr>
          <a:xfrm>
            <a:off x="6984553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MCP · LSP · TOOLS</a:t>
            </a:r>
            <a:endParaRPr lang="en-US" sz="900" dirty="0"/>
          </a:p>
        </p:txBody>
      </p:sp>
      <p:sp>
        <p:nvSpPr>
          <p:cNvPr id="86" name="s2_rail_a3_shaft"/>
          <p:cNvSpPr/>
          <p:nvPr/>
        </p:nvSpPr>
        <p:spPr>
          <a:xfrm>
            <a:off x="8921984" y="5987034"/>
            <a:ext cx="18288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s2_rail_a3_h1"/>
          <p:cNvSpPr/>
          <p:nvPr/>
        </p:nvSpPr>
        <p:spPr>
          <a:xfrm>
            <a:off x="9104864" y="59024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s2_rail_a3_h2"/>
          <p:cNvSpPr/>
          <p:nvPr/>
        </p:nvSpPr>
        <p:spPr>
          <a:xfrm>
            <a:off x="9104864" y="60213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s2_rail_a3_tip"/>
          <p:cNvSpPr/>
          <p:nvPr/>
        </p:nvSpPr>
        <p:spPr>
          <a:xfrm>
            <a:off x="9196304" y="59618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s2_rail_c4_sh"/>
          <p:cNvSpPr/>
          <p:nvPr/>
        </p:nvSpPr>
        <p:spPr>
          <a:xfrm>
            <a:off x="9333464" y="5861304"/>
            <a:ext cx="182770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s2_rail_c4"/>
          <p:cNvSpPr/>
          <p:nvPr/>
        </p:nvSpPr>
        <p:spPr>
          <a:xfrm>
            <a:off x="9306032" y="5833872"/>
            <a:ext cx="182770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92" name="s2_rail_c4_t"/>
          <p:cNvSpPr/>
          <p:nvPr/>
        </p:nvSpPr>
        <p:spPr>
          <a:xfrm>
            <a:off x="9306032" y="5833872"/>
            <a:ext cx="18277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STATUSLINE + EXEC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_kick" descr="assets/k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6" name="s3_title" descr="assets/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stores one canonical record per artifact — every chapter card fills in this record's install.&lt;harness&gt; fields</a:t>
            </a:r>
            <a:endParaRPr lang="en-US" sz="1100" dirty="0"/>
          </a:p>
        </p:txBody>
      </p:sp>
      <p:sp>
        <p:nvSpPr>
          <p:cNvPr id="8" name="s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33</a:t>
            </a:r>
            <a:endParaRPr lang="en-US" sz="950" dirty="0"/>
          </a:p>
        </p:txBody>
      </p:sp>
      <p:sp>
        <p:nvSpPr>
          <p:cNvPr id="10" name="s3_rec_sh"/>
          <p:cNvSpPr/>
          <p:nvPr/>
        </p:nvSpPr>
        <p:spPr>
          <a:xfrm>
            <a:off x="553212" y="1531620"/>
            <a:ext cx="58978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3_rec"/>
          <p:cNvSpPr/>
          <p:nvPr/>
        </p:nvSpPr>
        <p:spPr>
          <a:xfrm>
            <a:off x="502920" y="1481328"/>
            <a:ext cx="58978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3_rec_band"/>
          <p:cNvSpPr/>
          <p:nvPr/>
        </p:nvSpPr>
        <p:spPr>
          <a:xfrm>
            <a:off x="777240" y="1645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CANONICAL RECORD — artifact-record.json</a:t>
            </a:r>
            <a:endParaRPr lang="en-US" sz="950" dirty="0"/>
          </a:p>
        </p:txBody>
      </p:sp>
      <p:sp>
        <p:nvSpPr>
          <p:cNvPr id="13" name="s3_rec_json"/>
          <p:cNvSpPr/>
          <p:nvPr/>
        </p:nvSpPr>
        <p:spPr>
          <a:xfrm>
            <a:off x="777240" y="1956816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       urn: io.github.acme.pdf-writer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type: skill|mcp|agent|command|hook|plugin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        semver + contentSha256 seal — immutable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        layout: agent-plugins/1.0.0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overlays: claude · codex · opencode · pi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   harness map + requires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          scan results · capabilities · egress</a:t>
            </a:r>
            <a:endParaRPr lang="en-US" sz="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        per-harness emission — the chapters</a:t>
            </a:r>
            <a:endParaRPr lang="en-US" sz="950" dirty="0"/>
          </a:p>
        </p:txBody>
      </p:sp>
      <p:sp>
        <p:nvSpPr>
          <p:cNvPr id="14" name="s3_rec_hr"/>
          <p:cNvSpPr/>
          <p:nvPr/>
        </p:nvSpPr>
        <p:spPr>
          <a:xfrm>
            <a:off x="777240" y="3703320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3_rec_b0"/>
          <p:cNvSpPr/>
          <p:nvPr/>
        </p:nvSpPr>
        <p:spPr>
          <a:xfrm>
            <a:off x="777240" y="3904488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6" name="s3_rec_t0"/>
          <p:cNvSpPr/>
          <p:nvPr/>
        </p:nvSpPr>
        <p:spPr>
          <a:xfrm>
            <a:off x="987552" y="3840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spec-pure core works in all four harnesses today</a:t>
            </a:r>
            <a:endParaRPr lang="en-US" sz="1050" dirty="0"/>
          </a:p>
        </p:txBody>
      </p:sp>
      <p:sp>
        <p:nvSpPr>
          <p:cNvPr id="17" name="s3_rec_b1"/>
          <p:cNvSpPr/>
          <p:nvPr/>
        </p:nvSpPr>
        <p:spPr>
          <a:xfrm>
            <a:off x="777240" y="4416552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3_rec_t1"/>
          <p:cNvSpPr/>
          <p:nvPr/>
        </p:nvSpPr>
        <p:spPr>
          <a:xfrm>
            <a:off x="987552" y="43525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extras live in overlays — never in forks</a:t>
            </a:r>
            <a:endParaRPr lang="en-US" sz="1050" dirty="0"/>
          </a:p>
        </p:txBody>
      </p:sp>
      <p:sp>
        <p:nvSpPr>
          <p:cNvPr id="19" name="s3_rec_b2"/>
          <p:cNvSpPr/>
          <p:nvPr/>
        </p:nvSpPr>
        <p:spPr>
          <a:xfrm>
            <a:off x="777240" y="4928616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0" name="s3_rec_t2"/>
          <p:cNvSpPr/>
          <p:nvPr/>
        </p:nvSpPr>
        <p:spPr>
          <a:xfrm>
            <a:off x="987552" y="4864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record, four native emissions, zero new paths</a:t>
            </a:r>
            <a:endParaRPr lang="en-US" sz="1050" dirty="0"/>
          </a:p>
        </p:txBody>
      </p:sp>
      <p:sp>
        <p:nvSpPr>
          <p:cNvPr id="21" name="s3_pipe_sh"/>
          <p:cNvSpPr/>
          <p:nvPr/>
        </p:nvSpPr>
        <p:spPr>
          <a:xfrm>
            <a:off x="6679692" y="1531620"/>
            <a:ext cx="5056632" cy="1600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3_pipe"/>
          <p:cNvSpPr/>
          <p:nvPr/>
        </p:nvSpPr>
        <p:spPr>
          <a:xfrm>
            <a:off x="6629400" y="1481328"/>
            <a:ext cx="5056632" cy="1600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3" name="s3_pipe_band"/>
          <p:cNvSpPr/>
          <p:nvPr/>
        </p:nvSpPr>
        <p:spPr>
          <a:xfrm>
            <a:off x="6903720" y="16276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</a:t>
            </a:r>
            <a:endParaRPr lang="en-US" sz="1000" dirty="0"/>
          </a:p>
        </p:txBody>
      </p:sp>
      <p:sp>
        <p:nvSpPr>
          <p:cNvPr id="24" name="s3_pipe_c0_0_sh"/>
          <p:cNvSpPr/>
          <p:nvPr/>
        </p:nvSpPr>
        <p:spPr>
          <a:xfrm>
            <a:off x="6931152" y="1984248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3_pipe_c0_0"/>
          <p:cNvSpPr/>
          <p:nvPr/>
        </p:nvSpPr>
        <p:spPr>
          <a:xfrm>
            <a:off x="6903720" y="1956816"/>
            <a:ext cx="76773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26" name="s3_pipe_c0_0_t"/>
          <p:cNvSpPr/>
          <p:nvPr/>
        </p:nvSpPr>
        <p:spPr>
          <a:xfrm>
            <a:off x="6903720" y="1956816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900" dirty="0"/>
          </a:p>
        </p:txBody>
      </p:sp>
      <p:sp>
        <p:nvSpPr>
          <p:cNvPr id="27" name="s3_pipe_a0_0_shaft"/>
          <p:cNvSpPr/>
          <p:nvPr/>
        </p:nvSpPr>
        <p:spPr>
          <a:xfrm>
            <a:off x="7762890" y="210997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3_pipe_a0_0_h1"/>
          <p:cNvSpPr/>
          <p:nvPr/>
        </p:nvSpPr>
        <p:spPr>
          <a:xfrm>
            <a:off x="7927482" y="2025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3_pipe_a0_0_h2"/>
          <p:cNvSpPr/>
          <p:nvPr/>
        </p:nvSpPr>
        <p:spPr>
          <a:xfrm>
            <a:off x="7927482" y="214426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s3_pipe_a0_0_tip"/>
          <p:cNvSpPr/>
          <p:nvPr/>
        </p:nvSpPr>
        <p:spPr>
          <a:xfrm>
            <a:off x="8018922" y="208483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3_pipe_c0_1_sh"/>
          <p:cNvSpPr/>
          <p:nvPr/>
        </p:nvSpPr>
        <p:spPr>
          <a:xfrm>
            <a:off x="8156082" y="1984248"/>
            <a:ext cx="692018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3_pipe_c0_1"/>
          <p:cNvSpPr/>
          <p:nvPr/>
        </p:nvSpPr>
        <p:spPr>
          <a:xfrm>
            <a:off x="8128650" y="1956816"/>
            <a:ext cx="692018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33" name="s3_pipe_c0_1_t"/>
          <p:cNvSpPr/>
          <p:nvPr/>
        </p:nvSpPr>
        <p:spPr>
          <a:xfrm>
            <a:off x="8128650" y="1956816"/>
            <a:ext cx="6920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900" dirty="0"/>
          </a:p>
        </p:txBody>
      </p:sp>
      <p:sp>
        <p:nvSpPr>
          <p:cNvPr id="34" name="s3_pipe_a0_1_shaft"/>
          <p:cNvSpPr/>
          <p:nvPr/>
        </p:nvSpPr>
        <p:spPr>
          <a:xfrm>
            <a:off x="8912108" y="210997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3_pipe_a0_1_h1"/>
          <p:cNvSpPr/>
          <p:nvPr/>
        </p:nvSpPr>
        <p:spPr>
          <a:xfrm>
            <a:off x="9076700" y="2025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3_pipe_a0_1_h2"/>
          <p:cNvSpPr/>
          <p:nvPr/>
        </p:nvSpPr>
        <p:spPr>
          <a:xfrm>
            <a:off x="9076700" y="214426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3_pipe_a0_1_tip"/>
          <p:cNvSpPr/>
          <p:nvPr/>
        </p:nvSpPr>
        <p:spPr>
          <a:xfrm>
            <a:off x="9168140" y="208483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3_pipe_c0_2_sh"/>
          <p:cNvSpPr/>
          <p:nvPr/>
        </p:nvSpPr>
        <p:spPr>
          <a:xfrm>
            <a:off x="9305300" y="1984248"/>
            <a:ext cx="54059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3_pipe_c0_2"/>
          <p:cNvSpPr/>
          <p:nvPr/>
        </p:nvSpPr>
        <p:spPr>
          <a:xfrm>
            <a:off x="9277868" y="1956816"/>
            <a:ext cx="54059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0" name="s3_pipe_c0_2_t"/>
          <p:cNvSpPr/>
          <p:nvPr/>
        </p:nvSpPr>
        <p:spPr>
          <a:xfrm>
            <a:off x="9277868" y="1956816"/>
            <a:ext cx="5405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</a:t>
            </a:r>
            <a:endParaRPr lang="en-US" sz="900" dirty="0"/>
          </a:p>
        </p:txBody>
      </p:sp>
      <p:sp>
        <p:nvSpPr>
          <p:cNvPr id="41" name="s3_pipe_a0_2_shaft"/>
          <p:cNvSpPr/>
          <p:nvPr/>
        </p:nvSpPr>
        <p:spPr>
          <a:xfrm>
            <a:off x="9909901" y="210997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3_pipe_a0_2_h1"/>
          <p:cNvSpPr/>
          <p:nvPr/>
        </p:nvSpPr>
        <p:spPr>
          <a:xfrm>
            <a:off x="10074493" y="2025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s3_pipe_a0_2_h2"/>
          <p:cNvSpPr/>
          <p:nvPr/>
        </p:nvSpPr>
        <p:spPr>
          <a:xfrm>
            <a:off x="10074493" y="214426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3_pipe_a0_2_tip"/>
          <p:cNvSpPr/>
          <p:nvPr/>
        </p:nvSpPr>
        <p:spPr>
          <a:xfrm>
            <a:off x="10165933" y="208483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3_pipe_c0_3_sh"/>
          <p:cNvSpPr/>
          <p:nvPr/>
        </p:nvSpPr>
        <p:spPr>
          <a:xfrm>
            <a:off x="10303093" y="1984248"/>
            <a:ext cx="54059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3_pipe_c0_3"/>
          <p:cNvSpPr/>
          <p:nvPr/>
        </p:nvSpPr>
        <p:spPr>
          <a:xfrm>
            <a:off x="10275661" y="1956816"/>
            <a:ext cx="54059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7" name="s3_pipe_c0_3_t"/>
          <p:cNvSpPr/>
          <p:nvPr/>
        </p:nvSpPr>
        <p:spPr>
          <a:xfrm>
            <a:off x="10275661" y="1956816"/>
            <a:ext cx="5405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</a:t>
            </a:r>
            <a:endParaRPr lang="en-US" sz="900" dirty="0"/>
          </a:p>
        </p:txBody>
      </p:sp>
      <p:sp>
        <p:nvSpPr>
          <p:cNvPr id="48" name="s3_pipe_c1_0_sh"/>
          <p:cNvSpPr/>
          <p:nvPr/>
        </p:nvSpPr>
        <p:spPr>
          <a:xfrm>
            <a:off x="6931152" y="2487168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3_pipe_c1_0"/>
          <p:cNvSpPr/>
          <p:nvPr/>
        </p:nvSpPr>
        <p:spPr>
          <a:xfrm>
            <a:off x="6903720" y="2459736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0" name="s3_pipe_c1_0_t"/>
          <p:cNvSpPr/>
          <p:nvPr/>
        </p:nvSpPr>
        <p:spPr>
          <a:xfrm>
            <a:off x="6903720" y="2459736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900" dirty="0"/>
          </a:p>
        </p:txBody>
      </p:sp>
      <p:sp>
        <p:nvSpPr>
          <p:cNvPr id="51" name="s3_pipe_a1_0_shaft"/>
          <p:cNvSpPr/>
          <p:nvPr/>
        </p:nvSpPr>
        <p:spPr>
          <a:xfrm>
            <a:off x="7611466" y="261289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3_pipe_a1_0_h1"/>
          <p:cNvSpPr/>
          <p:nvPr/>
        </p:nvSpPr>
        <p:spPr>
          <a:xfrm>
            <a:off x="7776058" y="252831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3_pipe_a1_0_h2"/>
          <p:cNvSpPr/>
          <p:nvPr/>
        </p:nvSpPr>
        <p:spPr>
          <a:xfrm>
            <a:off x="7776058" y="264718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s3_pipe_a1_0_tip"/>
          <p:cNvSpPr/>
          <p:nvPr/>
        </p:nvSpPr>
        <p:spPr>
          <a:xfrm>
            <a:off x="7867498" y="258775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3_pipe_c1_1_sh"/>
          <p:cNvSpPr/>
          <p:nvPr/>
        </p:nvSpPr>
        <p:spPr>
          <a:xfrm>
            <a:off x="8004658" y="2487168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3_pipe_c1_1"/>
          <p:cNvSpPr/>
          <p:nvPr/>
        </p:nvSpPr>
        <p:spPr>
          <a:xfrm>
            <a:off x="7977226" y="2459736"/>
            <a:ext cx="76773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7" name="s3_pipe_c1_1_t"/>
          <p:cNvSpPr/>
          <p:nvPr/>
        </p:nvSpPr>
        <p:spPr>
          <a:xfrm>
            <a:off x="7977226" y="2459736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</a:t>
            </a:r>
            <a:endParaRPr lang="en-US" sz="900" dirty="0"/>
          </a:p>
        </p:txBody>
      </p:sp>
      <p:sp>
        <p:nvSpPr>
          <p:cNvPr id="58" name="s3_pipe_a1_1_shaft"/>
          <p:cNvSpPr/>
          <p:nvPr/>
        </p:nvSpPr>
        <p:spPr>
          <a:xfrm>
            <a:off x="8836396" y="2612898"/>
            <a:ext cx="16459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3_pipe_a1_1_h1"/>
          <p:cNvSpPr/>
          <p:nvPr/>
        </p:nvSpPr>
        <p:spPr>
          <a:xfrm>
            <a:off x="9000988" y="252831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3_pipe_a1_1_h2"/>
          <p:cNvSpPr/>
          <p:nvPr/>
        </p:nvSpPr>
        <p:spPr>
          <a:xfrm>
            <a:off x="9000988" y="264718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s3_pipe_a1_1_tip"/>
          <p:cNvSpPr/>
          <p:nvPr/>
        </p:nvSpPr>
        <p:spPr>
          <a:xfrm>
            <a:off x="9092428" y="258775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3_pipe_c1_2_sh"/>
          <p:cNvSpPr/>
          <p:nvPr/>
        </p:nvSpPr>
        <p:spPr>
          <a:xfrm>
            <a:off x="9229588" y="2487168"/>
            <a:ext cx="54059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s3_pipe_c1_2"/>
          <p:cNvSpPr/>
          <p:nvPr/>
        </p:nvSpPr>
        <p:spPr>
          <a:xfrm>
            <a:off x="9202156" y="2459736"/>
            <a:ext cx="54059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64" name="s3_pipe_c1_2_t"/>
          <p:cNvSpPr/>
          <p:nvPr/>
        </p:nvSpPr>
        <p:spPr>
          <a:xfrm>
            <a:off x="9202156" y="2459736"/>
            <a:ext cx="54059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</a:t>
            </a:r>
            <a:endParaRPr lang="en-US" sz="900" dirty="0"/>
          </a:p>
        </p:txBody>
      </p:sp>
      <p:sp>
        <p:nvSpPr>
          <p:cNvPr id="65" name="s3_lock_sh"/>
          <p:cNvSpPr/>
          <p:nvPr/>
        </p:nvSpPr>
        <p:spPr>
          <a:xfrm>
            <a:off x="6679692" y="3268980"/>
            <a:ext cx="5056632" cy="2423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s3_lock"/>
          <p:cNvSpPr/>
          <p:nvPr/>
        </p:nvSpPr>
        <p:spPr>
          <a:xfrm>
            <a:off x="6629400" y="3218688"/>
            <a:ext cx="5056632" cy="242316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7" name="s3_lock_band"/>
          <p:cNvSpPr/>
          <p:nvPr/>
        </p:nvSpPr>
        <p:spPr>
          <a:xfrm>
            <a:off x="6903720" y="33832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MISSING UPDATER — agentreg.lock</a:t>
            </a:r>
            <a:endParaRPr lang="en-US" sz="950" dirty="0"/>
          </a:p>
        </p:txBody>
      </p:sp>
      <p:sp>
        <p:nvSpPr>
          <p:cNvPr id="68" name="s3_lock_line"/>
          <p:cNvSpPr/>
          <p:nvPr/>
        </p:nvSpPr>
        <p:spPr>
          <a:xfrm>
            <a:off x="6903720" y="36758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urn → version → sha256 → per-harness targets</a:t>
            </a:r>
            <a:endParaRPr lang="en-US" sz="1100" dirty="0"/>
          </a:p>
        </p:txBody>
      </p:sp>
      <p:sp>
        <p:nvSpPr>
          <p:cNvPr id="69" name="s3_lock_t"/>
          <p:cNvSpPr/>
          <p:nvPr/>
        </p:nvSpPr>
        <p:spPr>
          <a:xfrm>
            <a:off x="6903720" y="404164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 like package-lock.json. agentreg update re-scans an artifact before bumping it — one pin, four harnesses at once.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harness ships a lockfile. This is the wedge.</a:t>
            </a:r>
            <a:endParaRPr lang="en-US" sz="1050" dirty="0"/>
          </a:p>
        </p:txBody>
      </p:sp>
      <p:sp>
        <p:nvSpPr>
          <p:cNvPr id="70" name="s3_lock_note"/>
          <p:cNvSpPr/>
          <p:nvPr/>
        </p:nvSpPr>
        <p:spPr>
          <a:xfrm>
            <a:off x="6903720" y="51389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 row on every card → what the lock has to own</a:t>
            </a:r>
            <a:endParaRPr lang="en-US" sz="900" dirty="0"/>
          </a:p>
        </p:txBody>
      </p:sp>
      <p:sp>
        <p:nvSpPr>
          <p:cNvPr id="71" name="s3_note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s3_note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73" name="s3_note_t"/>
          <p:cNvSpPr/>
          <p:nvPr/>
        </p:nvSpPr>
        <p:spPr>
          <a:xfrm>
            <a:off x="777240" y="587044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chapter card ends with a REGISTRY EMISSION block — those mono lines are the fields this record carries.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chapters are the matrix; this slide is the row.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4_kick" descr="assets/k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325189" cy="182880"/>
          </a:xfrm>
          <a:prstGeom prst="rect">
            <a:avLst/>
          </a:prstGeom>
        </p:spPr>
      </p:pic>
      <p:pic>
        <p:nvPicPr>
          <p:cNvPr id="6" name="s4_title" descr="assets/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surfaces × four harnesses at a glance — derived from the same cards as the chapters · the specs behind these rows are next</a:t>
            </a:r>
            <a:endParaRPr lang="en-US" sz="1100" dirty="0"/>
          </a:p>
        </p:txBody>
      </p:sp>
      <p:sp>
        <p:nvSpPr>
          <p:cNvPr id="8" name="s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33</a:t>
            </a:r>
            <a:endParaRPr lang="en-US" sz="950" dirty="0"/>
          </a:p>
        </p:txBody>
      </p:sp>
      <p:sp>
        <p:nvSpPr>
          <p:cNvPr id="10" name="s04_mx_sh"/>
          <p:cNvSpPr/>
          <p:nvPr/>
        </p:nvSpPr>
        <p:spPr>
          <a:xfrm>
            <a:off x="553212" y="1531620"/>
            <a:ext cx="11183112" cy="4224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04_mx"/>
          <p:cNvSpPr/>
          <p:nvPr/>
        </p:nvSpPr>
        <p:spPr>
          <a:xfrm>
            <a:off x="502920" y="1481328"/>
            <a:ext cx="11183112" cy="42245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04_ch0"/>
          <p:cNvSpPr/>
          <p:nvPr/>
        </p:nvSpPr>
        <p:spPr>
          <a:xfrm>
            <a:off x="777240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850" dirty="0"/>
          </a:p>
        </p:txBody>
      </p:sp>
      <p:sp>
        <p:nvSpPr>
          <p:cNvPr id="13" name="s04_ch1"/>
          <p:cNvSpPr/>
          <p:nvPr/>
        </p:nvSpPr>
        <p:spPr>
          <a:xfrm>
            <a:off x="2212848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4" name="s04_ch2"/>
          <p:cNvSpPr/>
          <p:nvPr/>
        </p:nvSpPr>
        <p:spPr>
          <a:xfrm>
            <a:off x="4517136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900" dirty="0"/>
          </a:p>
        </p:txBody>
      </p:sp>
      <p:sp>
        <p:nvSpPr>
          <p:cNvPr id="15" name="s04_ch3"/>
          <p:cNvSpPr/>
          <p:nvPr/>
        </p:nvSpPr>
        <p:spPr>
          <a:xfrm>
            <a:off x="6821424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900" dirty="0"/>
          </a:p>
        </p:txBody>
      </p:sp>
      <p:sp>
        <p:nvSpPr>
          <p:cNvPr id="16" name="s04_ch4"/>
          <p:cNvSpPr/>
          <p:nvPr/>
        </p:nvSpPr>
        <p:spPr>
          <a:xfrm>
            <a:off x="9125712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00" dirty="0"/>
          </a:p>
        </p:txBody>
      </p:sp>
      <p:sp>
        <p:nvSpPr>
          <p:cNvPr id="17" name="s04_hr0"/>
          <p:cNvSpPr/>
          <p:nvPr/>
        </p:nvSpPr>
        <p:spPr>
          <a:xfrm>
            <a:off x="777240" y="195681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04_r0_lab"/>
          <p:cNvSpPr/>
          <p:nvPr/>
        </p:nvSpPr>
        <p:spPr>
          <a:xfrm>
            <a:off x="777240" y="1956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850" dirty="0"/>
          </a:p>
        </p:txBody>
      </p:sp>
      <p:sp>
        <p:nvSpPr>
          <p:cNvPr id="19" name="s04_r0c0_sh"/>
          <p:cNvSpPr/>
          <p:nvPr/>
        </p:nvSpPr>
        <p:spPr>
          <a:xfrm>
            <a:off x="2957718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04_r0c0"/>
          <p:cNvSpPr/>
          <p:nvPr/>
        </p:nvSpPr>
        <p:spPr>
          <a:xfrm>
            <a:off x="2930286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s04_r0c0_t"/>
          <p:cNvSpPr/>
          <p:nvPr/>
        </p:nvSpPr>
        <p:spPr>
          <a:xfrm>
            <a:off x="2930286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22" name="s04_r0d0"/>
          <p:cNvSpPr/>
          <p:nvPr/>
        </p:nvSpPr>
        <p:spPr>
          <a:xfrm>
            <a:off x="3781410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3" name="s04_r0c1_sh"/>
          <p:cNvSpPr/>
          <p:nvPr/>
        </p:nvSpPr>
        <p:spPr>
          <a:xfrm>
            <a:off x="5262006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04_r0c1"/>
          <p:cNvSpPr/>
          <p:nvPr/>
        </p:nvSpPr>
        <p:spPr>
          <a:xfrm>
            <a:off x="5234574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5" name="s04_r0c1_t"/>
          <p:cNvSpPr/>
          <p:nvPr/>
        </p:nvSpPr>
        <p:spPr>
          <a:xfrm>
            <a:off x="5234574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26" name="s04_r0d1"/>
          <p:cNvSpPr/>
          <p:nvPr/>
        </p:nvSpPr>
        <p:spPr>
          <a:xfrm>
            <a:off x="6085698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7" name="s04_r0c2_sh"/>
          <p:cNvSpPr/>
          <p:nvPr/>
        </p:nvSpPr>
        <p:spPr>
          <a:xfrm>
            <a:off x="7566294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04_r0c2"/>
          <p:cNvSpPr/>
          <p:nvPr/>
        </p:nvSpPr>
        <p:spPr>
          <a:xfrm>
            <a:off x="7538862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s04_r0c2_t"/>
          <p:cNvSpPr/>
          <p:nvPr/>
        </p:nvSpPr>
        <p:spPr>
          <a:xfrm>
            <a:off x="7538862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30" name="s04_r0d2"/>
          <p:cNvSpPr/>
          <p:nvPr/>
        </p:nvSpPr>
        <p:spPr>
          <a:xfrm>
            <a:off x="8389986" y="2107692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s04_r0c3_sh"/>
          <p:cNvSpPr/>
          <p:nvPr/>
        </p:nvSpPr>
        <p:spPr>
          <a:xfrm>
            <a:off x="9782251" y="204825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04_r0c3"/>
          <p:cNvSpPr/>
          <p:nvPr/>
        </p:nvSpPr>
        <p:spPr>
          <a:xfrm>
            <a:off x="9754819" y="2020824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3" name="s04_r0c3_t"/>
          <p:cNvSpPr/>
          <p:nvPr/>
        </p:nvSpPr>
        <p:spPr>
          <a:xfrm>
            <a:off x="9754819" y="202082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34" name="s04_r0d3"/>
          <p:cNvSpPr/>
          <p:nvPr/>
        </p:nvSpPr>
        <p:spPr>
          <a:xfrm>
            <a:off x="10782605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35" name="s04_hr1"/>
          <p:cNvSpPr/>
          <p:nvPr/>
        </p:nvSpPr>
        <p:spPr>
          <a:xfrm>
            <a:off x="777240" y="2324405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04_r1_lab"/>
          <p:cNvSpPr/>
          <p:nvPr/>
        </p:nvSpPr>
        <p:spPr>
          <a:xfrm>
            <a:off x="777240" y="232440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850" dirty="0"/>
          </a:p>
        </p:txBody>
      </p:sp>
      <p:sp>
        <p:nvSpPr>
          <p:cNvPr id="37" name="s04_r1c0_sh"/>
          <p:cNvSpPr/>
          <p:nvPr/>
        </p:nvSpPr>
        <p:spPr>
          <a:xfrm>
            <a:off x="2869387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04_r1c0"/>
          <p:cNvSpPr/>
          <p:nvPr/>
        </p:nvSpPr>
        <p:spPr>
          <a:xfrm>
            <a:off x="2841955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s04_r1c0_t"/>
          <p:cNvSpPr/>
          <p:nvPr/>
        </p:nvSpPr>
        <p:spPr>
          <a:xfrm>
            <a:off x="2841955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0" name="s04_r1d0"/>
          <p:cNvSpPr/>
          <p:nvPr/>
        </p:nvSpPr>
        <p:spPr>
          <a:xfrm>
            <a:off x="3869741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1" name="s04_r1c1_sh"/>
          <p:cNvSpPr/>
          <p:nvPr/>
        </p:nvSpPr>
        <p:spPr>
          <a:xfrm>
            <a:off x="5173675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04_r1c1"/>
          <p:cNvSpPr/>
          <p:nvPr/>
        </p:nvSpPr>
        <p:spPr>
          <a:xfrm>
            <a:off x="5146243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3" name="s04_r1c1_t"/>
          <p:cNvSpPr/>
          <p:nvPr/>
        </p:nvSpPr>
        <p:spPr>
          <a:xfrm>
            <a:off x="5146243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4" name="s04_r1d1"/>
          <p:cNvSpPr/>
          <p:nvPr/>
        </p:nvSpPr>
        <p:spPr>
          <a:xfrm>
            <a:off x="6174029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5" name="s04_r1c2_sh"/>
          <p:cNvSpPr/>
          <p:nvPr/>
        </p:nvSpPr>
        <p:spPr>
          <a:xfrm>
            <a:off x="7477963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04_r1c2"/>
          <p:cNvSpPr/>
          <p:nvPr/>
        </p:nvSpPr>
        <p:spPr>
          <a:xfrm>
            <a:off x="7450531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7" name="s04_r1c2_t"/>
          <p:cNvSpPr/>
          <p:nvPr/>
        </p:nvSpPr>
        <p:spPr>
          <a:xfrm>
            <a:off x="7450531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8" name="s04_r1d2"/>
          <p:cNvSpPr/>
          <p:nvPr/>
        </p:nvSpPr>
        <p:spPr>
          <a:xfrm>
            <a:off x="8478317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9" name="s04_r1c3_sh"/>
          <p:cNvSpPr/>
          <p:nvPr/>
        </p:nvSpPr>
        <p:spPr>
          <a:xfrm>
            <a:off x="9782251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04_r1c3"/>
          <p:cNvSpPr/>
          <p:nvPr/>
        </p:nvSpPr>
        <p:spPr>
          <a:xfrm>
            <a:off x="9754819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1" name="s04_r1c3_t"/>
          <p:cNvSpPr/>
          <p:nvPr/>
        </p:nvSpPr>
        <p:spPr>
          <a:xfrm>
            <a:off x="9754819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52" name="s04_r1d3"/>
          <p:cNvSpPr/>
          <p:nvPr/>
        </p:nvSpPr>
        <p:spPr>
          <a:xfrm>
            <a:off x="10782605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53" name="s04_hr2"/>
          <p:cNvSpPr/>
          <p:nvPr/>
        </p:nvSpPr>
        <p:spPr>
          <a:xfrm>
            <a:off x="777240" y="269199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04_r2_lab"/>
          <p:cNvSpPr/>
          <p:nvPr/>
        </p:nvSpPr>
        <p:spPr>
          <a:xfrm>
            <a:off x="777240" y="269199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850" dirty="0"/>
          </a:p>
        </p:txBody>
      </p:sp>
      <p:sp>
        <p:nvSpPr>
          <p:cNvPr id="55" name="s04_r2c0_sh"/>
          <p:cNvSpPr/>
          <p:nvPr/>
        </p:nvSpPr>
        <p:spPr>
          <a:xfrm>
            <a:off x="2869387" y="2783434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04_r2c0"/>
          <p:cNvSpPr/>
          <p:nvPr/>
        </p:nvSpPr>
        <p:spPr>
          <a:xfrm>
            <a:off x="2841955" y="2756002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7" name="s04_r2c0_t"/>
          <p:cNvSpPr/>
          <p:nvPr/>
        </p:nvSpPr>
        <p:spPr>
          <a:xfrm>
            <a:off x="2841955" y="2756002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58" name="s04_r2d0"/>
          <p:cNvSpPr/>
          <p:nvPr/>
        </p:nvSpPr>
        <p:spPr>
          <a:xfrm>
            <a:off x="3869741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59" name="s04_r2c1_sh"/>
          <p:cNvSpPr/>
          <p:nvPr/>
        </p:nvSpPr>
        <p:spPr>
          <a:xfrm>
            <a:off x="5203119" y="2783434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04_r2c1"/>
          <p:cNvSpPr/>
          <p:nvPr/>
        </p:nvSpPr>
        <p:spPr>
          <a:xfrm>
            <a:off x="5175687" y="2756002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1" name="s04_r2c1_t"/>
          <p:cNvSpPr/>
          <p:nvPr/>
        </p:nvSpPr>
        <p:spPr>
          <a:xfrm>
            <a:off x="5175687" y="2756002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62" name="s04_r2d1"/>
          <p:cNvSpPr/>
          <p:nvPr/>
        </p:nvSpPr>
        <p:spPr>
          <a:xfrm>
            <a:off x="6144585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63" name="s04_r2c2_sh"/>
          <p:cNvSpPr/>
          <p:nvPr/>
        </p:nvSpPr>
        <p:spPr>
          <a:xfrm>
            <a:off x="7507407" y="2783434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04_r2c2"/>
          <p:cNvSpPr/>
          <p:nvPr/>
        </p:nvSpPr>
        <p:spPr>
          <a:xfrm>
            <a:off x="7479975" y="2756002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04_r2c2_t"/>
          <p:cNvSpPr/>
          <p:nvPr/>
        </p:nvSpPr>
        <p:spPr>
          <a:xfrm>
            <a:off x="7479975" y="2756002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66" name="s04_r2d2"/>
          <p:cNvSpPr/>
          <p:nvPr/>
        </p:nvSpPr>
        <p:spPr>
          <a:xfrm>
            <a:off x="8448873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67" name="s04_r2c3_sh"/>
          <p:cNvSpPr/>
          <p:nvPr/>
        </p:nvSpPr>
        <p:spPr>
          <a:xfrm>
            <a:off x="9782251" y="2783434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s04_r2c3"/>
          <p:cNvSpPr/>
          <p:nvPr/>
        </p:nvSpPr>
        <p:spPr>
          <a:xfrm>
            <a:off x="9754819" y="2756002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9" name="s04_r2c3_t"/>
          <p:cNvSpPr/>
          <p:nvPr/>
        </p:nvSpPr>
        <p:spPr>
          <a:xfrm>
            <a:off x="9754819" y="2756002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70" name="s04_r2d3"/>
          <p:cNvSpPr/>
          <p:nvPr/>
        </p:nvSpPr>
        <p:spPr>
          <a:xfrm>
            <a:off x="10782605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71" name="s04_hr3"/>
          <p:cNvSpPr/>
          <p:nvPr/>
        </p:nvSpPr>
        <p:spPr>
          <a:xfrm>
            <a:off x="777240" y="3059582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04_r3_lab"/>
          <p:cNvSpPr/>
          <p:nvPr/>
        </p:nvSpPr>
        <p:spPr>
          <a:xfrm>
            <a:off x="777240" y="305958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850" dirty="0"/>
          </a:p>
        </p:txBody>
      </p:sp>
      <p:sp>
        <p:nvSpPr>
          <p:cNvPr id="73" name="s04_r3c0_sh"/>
          <p:cNvSpPr/>
          <p:nvPr/>
        </p:nvSpPr>
        <p:spPr>
          <a:xfrm>
            <a:off x="2869387" y="3151022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04_r3c0"/>
          <p:cNvSpPr/>
          <p:nvPr/>
        </p:nvSpPr>
        <p:spPr>
          <a:xfrm>
            <a:off x="2841955" y="3123590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75" name="s04_r3c0_t"/>
          <p:cNvSpPr/>
          <p:nvPr/>
        </p:nvSpPr>
        <p:spPr>
          <a:xfrm>
            <a:off x="2841955" y="3123590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76" name="s04_r3d0"/>
          <p:cNvSpPr/>
          <p:nvPr/>
        </p:nvSpPr>
        <p:spPr>
          <a:xfrm>
            <a:off x="3869741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77" name="s04_r3c1_sh"/>
          <p:cNvSpPr/>
          <p:nvPr/>
        </p:nvSpPr>
        <p:spPr>
          <a:xfrm>
            <a:off x="5173675" y="3151022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s04_r3c1"/>
          <p:cNvSpPr/>
          <p:nvPr/>
        </p:nvSpPr>
        <p:spPr>
          <a:xfrm>
            <a:off x="5146243" y="3123590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79" name="s04_r3c1_t"/>
          <p:cNvSpPr/>
          <p:nvPr/>
        </p:nvSpPr>
        <p:spPr>
          <a:xfrm>
            <a:off x="5146243" y="3123590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80" name="s04_r3d1"/>
          <p:cNvSpPr/>
          <p:nvPr/>
        </p:nvSpPr>
        <p:spPr>
          <a:xfrm>
            <a:off x="6174029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81" name="s04_r3c2_sh"/>
          <p:cNvSpPr/>
          <p:nvPr/>
        </p:nvSpPr>
        <p:spPr>
          <a:xfrm>
            <a:off x="7507407" y="3151022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04_r3c2"/>
          <p:cNvSpPr/>
          <p:nvPr/>
        </p:nvSpPr>
        <p:spPr>
          <a:xfrm>
            <a:off x="7479975" y="3123590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3" name="s04_r3c2_t"/>
          <p:cNvSpPr/>
          <p:nvPr/>
        </p:nvSpPr>
        <p:spPr>
          <a:xfrm>
            <a:off x="7479975" y="3123590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84" name="s04_r3d2"/>
          <p:cNvSpPr/>
          <p:nvPr/>
        </p:nvSpPr>
        <p:spPr>
          <a:xfrm>
            <a:off x="8448873" y="3210458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5" name="s04_r3c3_sh"/>
          <p:cNvSpPr/>
          <p:nvPr/>
        </p:nvSpPr>
        <p:spPr>
          <a:xfrm>
            <a:off x="9811695" y="3151022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s04_r3c3"/>
          <p:cNvSpPr/>
          <p:nvPr/>
        </p:nvSpPr>
        <p:spPr>
          <a:xfrm>
            <a:off x="9784263" y="3123590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7" name="s04_r3c3_t"/>
          <p:cNvSpPr/>
          <p:nvPr/>
        </p:nvSpPr>
        <p:spPr>
          <a:xfrm>
            <a:off x="9784263" y="3123590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88" name="s04_r3d3"/>
          <p:cNvSpPr/>
          <p:nvPr/>
        </p:nvSpPr>
        <p:spPr>
          <a:xfrm>
            <a:off x="10753161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89" name="s04_hr4"/>
          <p:cNvSpPr/>
          <p:nvPr/>
        </p:nvSpPr>
        <p:spPr>
          <a:xfrm>
            <a:off x="777240" y="3427171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90" name="s04_r4_lab"/>
          <p:cNvSpPr/>
          <p:nvPr/>
        </p:nvSpPr>
        <p:spPr>
          <a:xfrm>
            <a:off x="777240" y="3427171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850" dirty="0"/>
          </a:p>
        </p:txBody>
      </p:sp>
      <p:sp>
        <p:nvSpPr>
          <p:cNvPr id="91" name="s04_r4c0_sh"/>
          <p:cNvSpPr/>
          <p:nvPr/>
        </p:nvSpPr>
        <p:spPr>
          <a:xfrm>
            <a:off x="2898831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s04_r4c0"/>
          <p:cNvSpPr/>
          <p:nvPr/>
        </p:nvSpPr>
        <p:spPr>
          <a:xfrm>
            <a:off x="2871399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93" name="s04_r4c0_t"/>
          <p:cNvSpPr/>
          <p:nvPr/>
        </p:nvSpPr>
        <p:spPr>
          <a:xfrm>
            <a:off x="2871399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94" name="s04_r4d0"/>
          <p:cNvSpPr/>
          <p:nvPr/>
        </p:nvSpPr>
        <p:spPr>
          <a:xfrm>
            <a:off x="3840297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5" name="s04_r4c1_sh"/>
          <p:cNvSpPr/>
          <p:nvPr/>
        </p:nvSpPr>
        <p:spPr>
          <a:xfrm>
            <a:off x="5262006" y="3518611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s04_r4c1"/>
          <p:cNvSpPr/>
          <p:nvPr/>
        </p:nvSpPr>
        <p:spPr>
          <a:xfrm>
            <a:off x="5234574" y="3491179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97" name="s04_r4c1_t"/>
          <p:cNvSpPr/>
          <p:nvPr/>
        </p:nvSpPr>
        <p:spPr>
          <a:xfrm>
            <a:off x="5234574" y="3491179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98" name="s04_r4d1"/>
          <p:cNvSpPr/>
          <p:nvPr/>
        </p:nvSpPr>
        <p:spPr>
          <a:xfrm>
            <a:off x="6085698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9" name="s04_r4c2_sh"/>
          <p:cNvSpPr/>
          <p:nvPr/>
        </p:nvSpPr>
        <p:spPr>
          <a:xfrm>
            <a:off x="7507407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s04_r4c2"/>
          <p:cNvSpPr/>
          <p:nvPr/>
        </p:nvSpPr>
        <p:spPr>
          <a:xfrm>
            <a:off x="7479975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01" name="s04_r4c2_t"/>
          <p:cNvSpPr/>
          <p:nvPr/>
        </p:nvSpPr>
        <p:spPr>
          <a:xfrm>
            <a:off x="7479975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02" name="s04_r4d2"/>
          <p:cNvSpPr/>
          <p:nvPr/>
        </p:nvSpPr>
        <p:spPr>
          <a:xfrm>
            <a:off x="8448873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3" name="s04_r4c3_sh"/>
          <p:cNvSpPr/>
          <p:nvPr/>
        </p:nvSpPr>
        <p:spPr>
          <a:xfrm>
            <a:off x="9811695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s04_r4c3"/>
          <p:cNvSpPr/>
          <p:nvPr/>
        </p:nvSpPr>
        <p:spPr>
          <a:xfrm>
            <a:off x="9784263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05" name="s04_r4c3_t"/>
          <p:cNvSpPr/>
          <p:nvPr/>
        </p:nvSpPr>
        <p:spPr>
          <a:xfrm>
            <a:off x="9784263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06" name="s04_r4d3"/>
          <p:cNvSpPr/>
          <p:nvPr/>
        </p:nvSpPr>
        <p:spPr>
          <a:xfrm>
            <a:off x="10753161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7" name="s04_hr5"/>
          <p:cNvSpPr/>
          <p:nvPr/>
        </p:nvSpPr>
        <p:spPr>
          <a:xfrm>
            <a:off x="777240" y="3794760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08" name="s04_r5_lab"/>
          <p:cNvSpPr/>
          <p:nvPr/>
        </p:nvSpPr>
        <p:spPr>
          <a:xfrm>
            <a:off x="77724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850" dirty="0"/>
          </a:p>
        </p:txBody>
      </p:sp>
      <p:sp>
        <p:nvSpPr>
          <p:cNvPr id="109" name="s04_r5c0_sh"/>
          <p:cNvSpPr/>
          <p:nvPr/>
        </p:nvSpPr>
        <p:spPr>
          <a:xfrm>
            <a:off x="2869387" y="3886200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s04_r5c0"/>
          <p:cNvSpPr/>
          <p:nvPr/>
        </p:nvSpPr>
        <p:spPr>
          <a:xfrm>
            <a:off x="2841955" y="3858768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11" name="s04_r5c0_t"/>
          <p:cNvSpPr/>
          <p:nvPr/>
        </p:nvSpPr>
        <p:spPr>
          <a:xfrm>
            <a:off x="2841955" y="3858768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12" name="s04_r5d0"/>
          <p:cNvSpPr/>
          <p:nvPr/>
        </p:nvSpPr>
        <p:spPr>
          <a:xfrm>
            <a:off x="3869741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13" name="s04_r5c1_sh"/>
          <p:cNvSpPr/>
          <p:nvPr/>
        </p:nvSpPr>
        <p:spPr>
          <a:xfrm>
            <a:off x="5203119" y="3886200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s04_r5c1"/>
          <p:cNvSpPr/>
          <p:nvPr/>
        </p:nvSpPr>
        <p:spPr>
          <a:xfrm>
            <a:off x="5175687" y="3858768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15" name="s04_r5c1_t"/>
          <p:cNvSpPr/>
          <p:nvPr/>
        </p:nvSpPr>
        <p:spPr>
          <a:xfrm>
            <a:off x="5175687" y="3858768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16" name="s04_r5d1"/>
          <p:cNvSpPr/>
          <p:nvPr/>
        </p:nvSpPr>
        <p:spPr>
          <a:xfrm>
            <a:off x="6144585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17" name="s04_r5c2_sh"/>
          <p:cNvSpPr/>
          <p:nvPr/>
        </p:nvSpPr>
        <p:spPr>
          <a:xfrm>
            <a:off x="7507407" y="3886200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s04_r5c2"/>
          <p:cNvSpPr/>
          <p:nvPr/>
        </p:nvSpPr>
        <p:spPr>
          <a:xfrm>
            <a:off x="7479975" y="3858768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19" name="s04_r5c2_t"/>
          <p:cNvSpPr/>
          <p:nvPr/>
        </p:nvSpPr>
        <p:spPr>
          <a:xfrm>
            <a:off x="7479975" y="3858768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20" name="s04_r5d2"/>
          <p:cNvSpPr/>
          <p:nvPr/>
        </p:nvSpPr>
        <p:spPr>
          <a:xfrm>
            <a:off x="8448873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21" name="s04_r5c3_sh"/>
          <p:cNvSpPr/>
          <p:nvPr/>
        </p:nvSpPr>
        <p:spPr>
          <a:xfrm>
            <a:off x="9782251" y="3886200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s04_r5c3"/>
          <p:cNvSpPr/>
          <p:nvPr/>
        </p:nvSpPr>
        <p:spPr>
          <a:xfrm>
            <a:off x="9754819" y="3858768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3" name="s04_r5c3_t"/>
          <p:cNvSpPr/>
          <p:nvPr/>
        </p:nvSpPr>
        <p:spPr>
          <a:xfrm>
            <a:off x="9754819" y="3858768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24" name="s04_r5d3"/>
          <p:cNvSpPr/>
          <p:nvPr/>
        </p:nvSpPr>
        <p:spPr>
          <a:xfrm>
            <a:off x="10782605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25" name="s04_hr6"/>
          <p:cNvSpPr/>
          <p:nvPr/>
        </p:nvSpPr>
        <p:spPr>
          <a:xfrm>
            <a:off x="777240" y="4162349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26" name="s04_r6_lab"/>
          <p:cNvSpPr/>
          <p:nvPr/>
        </p:nvSpPr>
        <p:spPr>
          <a:xfrm>
            <a:off x="777240" y="416234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</a:t>
            </a:r>
            <a:endParaRPr lang="en-US" sz="850" dirty="0"/>
          </a:p>
        </p:txBody>
      </p:sp>
      <p:sp>
        <p:nvSpPr>
          <p:cNvPr id="127" name="s04_r6c0_sh"/>
          <p:cNvSpPr/>
          <p:nvPr/>
        </p:nvSpPr>
        <p:spPr>
          <a:xfrm>
            <a:off x="2898831" y="4253789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s04_r6c0"/>
          <p:cNvSpPr/>
          <p:nvPr/>
        </p:nvSpPr>
        <p:spPr>
          <a:xfrm>
            <a:off x="2871399" y="4226357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29" name="s04_r6c0_t"/>
          <p:cNvSpPr/>
          <p:nvPr/>
        </p:nvSpPr>
        <p:spPr>
          <a:xfrm>
            <a:off x="2871399" y="4226357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30" name="s04_r6d0"/>
          <p:cNvSpPr/>
          <p:nvPr/>
        </p:nvSpPr>
        <p:spPr>
          <a:xfrm>
            <a:off x="3840297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1" name="s04_r6c1_sh"/>
          <p:cNvSpPr/>
          <p:nvPr/>
        </p:nvSpPr>
        <p:spPr>
          <a:xfrm>
            <a:off x="5173675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s04_r6c1"/>
          <p:cNvSpPr/>
          <p:nvPr/>
        </p:nvSpPr>
        <p:spPr>
          <a:xfrm>
            <a:off x="5146243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33" name="s04_r6c1_t"/>
          <p:cNvSpPr/>
          <p:nvPr/>
        </p:nvSpPr>
        <p:spPr>
          <a:xfrm>
            <a:off x="5146243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34" name="s04_r6d1"/>
          <p:cNvSpPr/>
          <p:nvPr/>
        </p:nvSpPr>
        <p:spPr>
          <a:xfrm>
            <a:off x="6174029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5" name="s04_r6c2_sh"/>
          <p:cNvSpPr/>
          <p:nvPr/>
        </p:nvSpPr>
        <p:spPr>
          <a:xfrm>
            <a:off x="7477963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6" name="s04_r6c2"/>
          <p:cNvSpPr/>
          <p:nvPr/>
        </p:nvSpPr>
        <p:spPr>
          <a:xfrm>
            <a:off x="7450531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37" name="s04_r6c2_t"/>
          <p:cNvSpPr/>
          <p:nvPr/>
        </p:nvSpPr>
        <p:spPr>
          <a:xfrm>
            <a:off x="7450531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38" name="s04_r6d2"/>
          <p:cNvSpPr/>
          <p:nvPr/>
        </p:nvSpPr>
        <p:spPr>
          <a:xfrm>
            <a:off x="8478317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9" name="s04_r6c3_sh"/>
          <p:cNvSpPr/>
          <p:nvPr/>
        </p:nvSpPr>
        <p:spPr>
          <a:xfrm>
            <a:off x="9782251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0" name="s04_r6c3"/>
          <p:cNvSpPr/>
          <p:nvPr/>
        </p:nvSpPr>
        <p:spPr>
          <a:xfrm>
            <a:off x="9754819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41" name="s04_r6c3_t"/>
          <p:cNvSpPr/>
          <p:nvPr/>
        </p:nvSpPr>
        <p:spPr>
          <a:xfrm>
            <a:off x="9754819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42" name="s04_r6d3"/>
          <p:cNvSpPr/>
          <p:nvPr/>
        </p:nvSpPr>
        <p:spPr>
          <a:xfrm>
            <a:off x="10782605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43" name="s04_hr7"/>
          <p:cNvSpPr/>
          <p:nvPr/>
        </p:nvSpPr>
        <p:spPr>
          <a:xfrm>
            <a:off x="777240" y="4529938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44" name="s04_r7_lab"/>
          <p:cNvSpPr/>
          <p:nvPr/>
        </p:nvSpPr>
        <p:spPr>
          <a:xfrm>
            <a:off x="777240" y="45299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TOOLS</a:t>
            </a:r>
            <a:endParaRPr lang="en-US" sz="850" dirty="0"/>
          </a:p>
        </p:txBody>
      </p:sp>
      <p:sp>
        <p:nvSpPr>
          <p:cNvPr id="145" name="s04_r7c0_sh"/>
          <p:cNvSpPr/>
          <p:nvPr/>
        </p:nvSpPr>
        <p:spPr>
          <a:xfrm>
            <a:off x="2869387" y="4621378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6" name="s04_r7c0"/>
          <p:cNvSpPr/>
          <p:nvPr/>
        </p:nvSpPr>
        <p:spPr>
          <a:xfrm>
            <a:off x="2841955" y="4593946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47" name="s04_r7c0_t"/>
          <p:cNvSpPr/>
          <p:nvPr/>
        </p:nvSpPr>
        <p:spPr>
          <a:xfrm>
            <a:off x="2841955" y="4593946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48" name="s04_r7d0"/>
          <p:cNvSpPr/>
          <p:nvPr/>
        </p:nvSpPr>
        <p:spPr>
          <a:xfrm>
            <a:off x="3869741" y="4680814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49" name="s04_r7c1_sh"/>
          <p:cNvSpPr/>
          <p:nvPr/>
        </p:nvSpPr>
        <p:spPr>
          <a:xfrm>
            <a:off x="5173675" y="4621378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0" name="s04_r7c1"/>
          <p:cNvSpPr/>
          <p:nvPr/>
        </p:nvSpPr>
        <p:spPr>
          <a:xfrm>
            <a:off x="5146243" y="4593946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51" name="s04_r7c1_t"/>
          <p:cNvSpPr/>
          <p:nvPr/>
        </p:nvSpPr>
        <p:spPr>
          <a:xfrm>
            <a:off x="5146243" y="4593946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52" name="s04_r7d1"/>
          <p:cNvSpPr/>
          <p:nvPr/>
        </p:nvSpPr>
        <p:spPr>
          <a:xfrm>
            <a:off x="6174029" y="4680814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53" name="s04_r7c2_sh"/>
          <p:cNvSpPr/>
          <p:nvPr/>
        </p:nvSpPr>
        <p:spPr>
          <a:xfrm>
            <a:off x="7507407" y="4621378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4" name="s04_r7c2"/>
          <p:cNvSpPr/>
          <p:nvPr/>
        </p:nvSpPr>
        <p:spPr>
          <a:xfrm>
            <a:off x="7479975" y="4593946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55" name="s04_r7c2_t"/>
          <p:cNvSpPr/>
          <p:nvPr/>
        </p:nvSpPr>
        <p:spPr>
          <a:xfrm>
            <a:off x="7479975" y="4593946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56" name="s04_r7d2"/>
          <p:cNvSpPr/>
          <p:nvPr/>
        </p:nvSpPr>
        <p:spPr>
          <a:xfrm>
            <a:off x="8448873" y="4680814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7" name="s04_r7c3_sh"/>
          <p:cNvSpPr/>
          <p:nvPr/>
        </p:nvSpPr>
        <p:spPr>
          <a:xfrm>
            <a:off x="9811695" y="4621378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8" name="s04_r7c3"/>
          <p:cNvSpPr/>
          <p:nvPr/>
        </p:nvSpPr>
        <p:spPr>
          <a:xfrm>
            <a:off x="9784263" y="4593946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59" name="s04_r7c3_t"/>
          <p:cNvSpPr/>
          <p:nvPr/>
        </p:nvSpPr>
        <p:spPr>
          <a:xfrm>
            <a:off x="9784263" y="4593946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60" name="s04_r7d3"/>
          <p:cNvSpPr/>
          <p:nvPr/>
        </p:nvSpPr>
        <p:spPr>
          <a:xfrm>
            <a:off x="10753161" y="4680814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1" name="s04_hr8"/>
          <p:cNvSpPr/>
          <p:nvPr/>
        </p:nvSpPr>
        <p:spPr>
          <a:xfrm>
            <a:off x="777240" y="489752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2" name="s04_r8_lab"/>
          <p:cNvSpPr/>
          <p:nvPr/>
        </p:nvSpPr>
        <p:spPr>
          <a:xfrm>
            <a:off x="777240" y="489752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LINE</a:t>
            </a:r>
            <a:endParaRPr lang="en-US" sz="850" dirty="0"/>
          </a:p>
        </p:txBody>
      </p:sp>
      <p:sp>
        <p:nvSpPr>
          <p:cNvPr id="163" name="s04_r8c0_sh"/>
          <p:cNvSpPr/>
          <p:nvPr/>
        </p:nvSpPr>
        <p:spPr>
          <a:xfrm>
            <a:off x="2869387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4" name="s04_r8c0"/>
          <p:cNvSpPr/>
          <p:nvPr/>
        </p:nvSpPr>
        <p:spPr>
          <a:xfrm>
            <a:off x="2841955" y="4961534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65" name="s04_r8c0_t"/>
          <p:cNvSpPr/>
          <p:nvPr/>
        </p:nvSpPr>
        <p:spPr>
          <a:xfrm>
            <a:off x="2841955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66" name="s04_r8d0"/>
          <p:cNvSpPr/>
          <p:nvPr/>
        </p:nvSpPr>
        <p:spPr>
          <a:xfrm>
            <a:off x="3869741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67" name="s04_r8c1_sh"/>
          <p:cNvSpPr/>
          <p:nvPr/>
        </p:nvSpPr>
        <p:spPr>
          <a:xfrm>
            <a:off x="5173675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8" name="s04_r8c1"/>
          <p:cNvSpPr/>
          <p:nvPr/>
        </p:nvSpPr>
        <p:spPr>
          <a:xfrm>
            <a:off x="5146243" y="4961534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69" name="s04_r8c1_t"/>
          <p:cNvSpPr/>
          <p:nvPr/>
        </p:nvSpPr>
        <p:spPr>
          <a:xfrm>
            <a:off x="5146243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70" name="s04_r8d1"/>
          <p:cNvSpPr/>
          <p:nvPr/>
        </p:nvSpPr>
        <p:spPr>
          <a:xfrm>
            <a:off x="6174029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1" name="s04_r8c2_sh"/>
          <p:cNvSpPr/>
          <p:nvPr/>
        </p:nvSpPr>
        <p:spPr>
          <a:xfrm>
            <a:off x="7477963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2" name="s04_r8c2"/>
          <p:cNvSpPr/>
          <p:nvPr/>
        </p:nvSpPr>
        <p:spPr>
          <a:xfrm>
            <a:off x="7450531" y="4961534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3" name="s04_r8c2_t"/>
          <p:cNvSpPr/>
          <p:nvPr/>
        </p:nvSpPr>
        <p:spPr>
          <a:xfrm>
            <a:off x="7450531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74" name="s04_r8d2"/>
          <p:cNvSpPr/>
          <p:nvPr/>
        </p:nvSpPr>
        <p:spPr>
          <a:xfrm>
            <a:off x="8478317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5" name="s04_r8c3_sh"/>
          <p:cNvSpPr/>
          <p:nvPr/>
        </p:nvSpPr>
        <p:spPr>
          <a:xfrm>
            <a:off x="9870582" y="498896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6" name="s04_r8c3"/>
          <p:cNvSpPr/>
          <p:nvPr/>
        </p:nvSpPr>
        <p:spPr>
          <a:xfrm>
            <a:off x="9843150" y="496153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7" name="s04_r8c3_t"/>
          <p:cNvSpPr/>
          <p:nvPr/>
        </p:nvSpPr>
        <p:spPr>
          <a:xfrm>
            <a:off x="9843150" y="496153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78" name="s04_r8d3"/>
          <p:cNvSpPr/>
          <p:nvPr/>
        </p:nvSpPr>
        <p:spPr>
          <a:xfrm>
            <a:off x="10694274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9" name="s04_hr9"/>
          <p:cNvSpPr/>
          <p:nvPr/>
        </p:nvSpPr>
        <p:spPr>
          <a:xfrm>
            <a:off x="777240" y="5265115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0" name="s04_r9_lab"/>
          <p:cNvSpPr/>
          <p:nvPr/>
        </p:nvSpPr>
        <p:spPr>
          <a:xfrm>
            <a:off x="777240" y="526511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POLICY</a:t>
            </a:r>
            <a:endParaRPr lang="en-US" sz="850" dirty="0"/>
          </a:p>
        </p:txBody>
      </p:sp>
      <p:sp>
        <p:nvSpPr>
          <p:cNvPr id="181" name="s04_r9c0_sh"/>
          <p:cNvSpPr/>
          <p:nvPr/>
        </p:nvSpPr>
        <p:spPr>
          <a:xfrm>
            <a:off x="2957718" y="5356555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2" name="s04_r9c0"/>
          <p:cNvSpPr/>
          <p:nvPr/>
        </p:nvSpPr>
        <p:spPr>
          <a:xfrm>
            <a:off x="2930286" y="5329123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83" name="s04_r9c0_t"/>
          <p:cNvSpPr/>
          <p:nvPr/>
        </p:nvSpPr>
        <p:spPr>
          <a:xfrm>
            <a:off x="2930286" y="5329123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84" name="s04_r9d0"/>
          <p:cNvSpPr/>
          <p:nvPr/>
        </p:nvSpPr>
        <p:spPr>
          <a:xfrm>
            <a:off x="3781410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85" name="s04_r9c1_sh"/>
          <p:cNvSpPr/>
          <p:nvPr/>
        </p:nvSpPr>
        <p:spPr>
          <a:xfrm>
            <a:off x="5173675" y="535655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6" name="s04_r9c1"/>
          <p:cNvSpPr/>
          <p:nvPr/>
        </p:nvSpPr>
        <p:spPr>
          <a:xfrm>
            <a:off x="5146243" y="532912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87" name="s04_r9c1_t"/>
          <p:cNvSpPr/>
          <p:nvPr/>
        </p:nvSpPr>
        <p:spPr>
          <a:xfrm>
            <a:off x="5146243" y="532912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88" name="s04_r9d1"/>
          <p:cNvSpPr/>
          <p:nvPr/>
        </p:nvSpPr>
        <p:spPr>
          <a:xfrm>
            <a:off x="6174029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89" name="s04_r9c2_sh"/>
          <p:cNvSpPr/>
          <p:nvPr/>
        </p:nvSpPr>
        <p:spPr>
          <a:xfrm>
            <a:off x="7566294" y="5356555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0" name="s04_r9c2"/>
          <p:cNvSpPr/>
          <p:nvPr/>
        </p:nvSpPr>
        <p:spPr>
          <a:xfrm>
            <a:off x="7538862" y="5329123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91" name="s04_r9c2_t"/>
          <p:cNvSpPr/>
          <p:nvPr/>
        </p:nvSpPr>
        <p:spPr>
          <a:xfrm>
            <a:off x="7538862" y="5329123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92" name="s04_r9d2"/>
          <p:cNvSpPr/>
          <p:nvPr/>
        </p:nvSpPr>
        <p:spPr>
          <a:xfrm>
            <a:off x="8389986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93" name="s04_r9c3_sh"/>
          <p:cNvSpPr/>
          <p:nvPr/>
        </p:nvSpPr>
        <p:spPr>
          <a:xfrm>
            <a:off x="9782251" y="535655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4" name="s04_r9c3"/>
          <p:cNvSpPr/>
          <p:nvPr/>
        </p:nvSpPr>
        <p:spPr>
          <a:xfrm>
            <a:off x="9754819" y="5329123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95" name="s04_r9c3_t"/>
          <p:cNvSpPr/>
          <p:nvPr/>
        </p:nvSpPr>
        <p:spPr>
          <a:xfrm>
            <a:off x="9754819" y="532912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96" name="s04_r9d3"/>
          <p:cNvSpPr/>
          <p:nvPr/>
        </p:nvSpPr>
        <p:spPr>
          <a:xfrm>
            <a:off x="10782605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97" name="s04_hr10"/>
          <p:cNvSpPr/>
          <p:nvPr/>
        </p:nvSpPr>
        <p:spPr>
          <a:xfrm>
            <a:off x="777240" y="563270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8" name="s04_key_sh"/>
          <p:cNvSpPr/>
          <p:nvPr/>
        </p:nvSpPr>
        <p:spPr>
          <a:xfrm>
            <a:off x="553212" y="5884164"/>
            <a:ext cx="11183112" cy="6217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9" name="s04_key"/>
          <p:cNvSpPr/>
          <p:nvPr/>
        </p:nvSpPr>
        <p:spPr>
          <a:xfrm>
            <a:off x="502920" y="5833872"/>
            <a:ext cx="11183112" cy="621792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00" name="s04_dot1"/>
          <p:cNvSpPr/>
          <p:nvPr/>
        </p:nvSpPr>
        <p:spPr>
          <a:xfrm>
            <a:off x="777240" y="6035040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1" name="s04_lg1"/>
          <p:cNvSpPr/>
          <p:nvPr/>
        </p:nvSpPr>
        <p:spPr>
          <a:xfrm>
            <a:off x="914400" y="5943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updates itself once installed</a:t>
            </a:r>
            <a:endParaRPr lang="en-US" sz="900" dirty="0"/>
          </a:p>
        </p:txBody>
      </p:sp>
      <p:sp>
        <p:nvSpPr>
          <p:cNvPr id="202" name="s04_dot2"/>
          <p:cNvSpPr/>
          <p:nvPr/>
        </p:nvSpPr>
        <p:spPr>
          <a:xfrm>
            <a:off x="3063240" y="6035040"/>
            <a:ext cx="82296" cy="82296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03" name="s04_lg2"/>
          <p:cNvSpPr/>
          <p:nvPr/>
        </p:nvSpPr>
        <p:spPr>
          <a:xfrm>
            <a:off x="3200400" y="5943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manual — the lockfile owns updates</a:t>
            </a:r>
            <a:endParaRPr lang="en-US" sz="900" dirty="0"/>
          </a:p>
        </p:txBody>
      </p:sp>
      <p:sp>
        <p:nvSpPr>
          <p:cNvPr id="204" name="s04_take"/>
          <p:cNvSpPr/>
          <p:nvPr/>
        </p:nvSpPr>
        <p:spPr>
          <a:xfrm>
            <a:off x="6035040" y="594360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skills: overlay everywhere, translate only metadata · mcp: json everywhere except codex toml · only plugins self-update — lockfile covers the rest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5_kick" descr="assets/sp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5_title" descr="assets/sp_s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4822807" cy="475488"/>
          </a:xfrm>
          <a:prstGeom prst="rect">
            <a:avLst/>
          </a:prstGeom>
        </p:spPr>
      </p:pic>
      <p:sp>
        <p:nvSpPr>
          <p:cNvPr id="7" name="s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agentskills.io: a skill = directory with SKILL.md (YAML frontmatter + Markdown body)</a:t>
            </a:r>
            <a:endParaRPr lang="en-US" sz="1100" dirty="0"/>
          </a:p>
        </p:txBody>
      </p:sp>
      <p:sp>
        <p:nvSpPr>
          <p:cNvPr id="8" name="s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33</a:t>
            </a:r>
            <a:endParaRPr lang="en-US" sz="950" dirty="0"/>
          </a:p>
        </p:txBody>
      </p:sp>
      <p:sp>
        <p:nvSpPr>
          <p:cNvPr id="10" name="s5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5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5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5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agentskills.io: a skill = directory with SKILL.md (YAML frontmatter + Markdown body)</a:t>
            </a:r>
            <a:endParaRPr lang="en-US" sz="1200" dirty="0"/>
          </a:p>
        </p:txBody>
      </p:sp>
      <p:sp>
        <p:nvSpPr>
          <p:cNvPr id="14" name="s5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5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5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Anthropic-donated 2025-12-16; informal GitHub+Discord</a:t>
            </a:r>
            <a:endParaRPr lang="en-US" sz="1000" dirty="0"/>
          </a:p>
        </p:txBody>
      </p:sp>
      <p:sp>
        <p:nvSpPr>
          <p:cNvPr id="17" name="s5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5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5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Living spec: unversioned, zero tags</a:t>
            </a:r>
            <a:endParaRPr lang="en-US" sz="1000" dirty="0"/>
          </a:p>
        </p:txBody>
      </p:sp>
      <p:sp>
        <p:nvSpPr>
          <p:cNvPr id="20" name="s5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5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5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 clients counted 2026-10-16; all four of our harnesses</a:t>
            </a:r>
            <a:endParaRPr lang="en-US" sz="1000" dirty="0"/>
          </a:p>
        </p:txBody>
      </p:sp>
      <p:sp>
        <p:nvSpPr>
          <p:cNvPr id="23" name="s5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5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5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· COMMANDS</a:t>
            </a:r>
            <a:endParaRPr lang="en-US" sz="1000" dirty="0"/>
          </a:p>
        </p:txBody>
      </p:sp>
      <p:sp>
        <p:nvSpPr>
          <p:cNvPr id="26" name="s5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5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5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5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artifact all four harnesses consume today — the universal payload; spec-pure skills work everywhere.</a:t>
            </a:r>
            <a:endParaRPr lang="en-US" sz="1150" dirty="0"/>
          </a:p>
        </p:txBody>
      </p:sp>
      <p:sp>
        <p:nvSpPr>
          <p:cNvPr id="30" name="s5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5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5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5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the 6 fields + constraints, the metadata extension channel, per-harness divergence</a:t>
            </a:r>
            <a:endParaRPr lang="en-US" sz="1050" dirty="0"/>
          </a:p>
        </p:txBody>
      </p:sp>
      <p:sp>
        <p:nvSpPr>
          <p:cNvPr id="34" name="s5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5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5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5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5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5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5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5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5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43" name="s5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5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5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6" name="s5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5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5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9" name="s5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5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5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2" name="s5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6_kick" descr="assets/sp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6_title" descr="assets/sp_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s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33</a:t>
            </a:r>
            <a:endParaRPr lang="en-US" sz="950" dirty="0"/>
          </a:p>
        </p:txBody>
      </p:sp>
      <p:sp>
        <p:nvSpPr>
          <p:cNvPr id="10" name="s6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6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6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6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6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1–64 chars [a-z0-9-]; must match dir name</a:t>
            </a:r>
            <a:endParaRPr lang="en-US" sz="850" dirty="0"/>
          </a:p>
        </p:txBody>
      </p:sp>
      <p:sp>
        <p:nvSpPr>
          <p:cNvPr id="15" name="s6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6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7" name="s6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1–1024 chars; what + when; keyword-rich</a:t>
            </a:r>
            <a:endParaRPr lang="en-US" sz="850" dirty="0"/>
          </a:p>
        </p:txBody>
      </p:sp>
      <p:sp>
        <p:nvSpPr>
          <p:cNvPr id="18" name="s6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6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00" dirty="0"/>
          </a:p>
        </p:txBody>
      </p:sp>
      <p:sp>
        <p:nvSpPr>
          <p:cNvPr id="20" name="s6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license name or pointer to bundled file</a:t>
            </a:r>
            <a:endParaRPr lang="en-US" sz="850" dirty="0"/>
          </a:p>
        </p:txBody>
      </p:sp>
      <p:sp>
        <p:nvSpPr>
          <p:cNvPr id="21" name="s6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6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23" name="s6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1–500 chars; env requirements</a:t>
            </a:r>
            <a:endParaRPr lang="en-US" sz="850" dirty="0"/>
          </a:p>
        </p:txBody>
      </p:sp>
      <p:sp>
        <p:nvSpPr>
          <p:cNvPr id="24" name="s6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6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900" dirty="0"/>
          </a:p>
        </p:txBody>
      </p:sp>
      <p:sp>
        <p:nvSpPr>
          <p:cNvPr id="26" name="s6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string→string map; sanctioned extension channel</a:t>
            </a:r>
            <a:endParaRPr lang="en-US" sz="850" dirty="0"/>
          </a:p>
        </p:txBody>
      </p:sp>
      <p:sp>
        <p:nvSpPr>
          <p:cNvPr id="27" name="s6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6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900" dirty="0"/>
          </a:p>
        </p:txBody>
      </p:sp>
      <p:sp>
        <p:nvSpPr>
          <p:cNvPr id="29" name="s6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experimental; support varies by client</a:t>
            </a:r>
            <a:endParaRPr lang="en-US" sz="850" dirty="0"/>
          </a:p>
        </p:txBody>
      </p:sp>
      <p:sp>
        <p:nvSpPr>
          <p:cNvPr id="30" name="s6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6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6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name+description required; all other fields optional</a:t>
            </a:r>
            <a:endParaRPr lang="en-US" sz="900" dirty="0"/>
          </a:p>
        </p:txBody>
      </p:sp>
      <p:sp>
        <p:nvSpPr>
          <p:cNvPr id="33" name="s6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6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char limits: name ≤64, description ≤1024</a:t>
            </a:r>
            <a:endParaRPr lang="en-US" sz="900" dirty="0"/>
          </a:p>
        </p:txBody>
      </p:sp>
      <p:sp>
        <p:nvSpPr>
          <p:cNvPr id="35" name="s6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6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map is the only sanctioned extension channel</a:t>
            </a:r>
            <a:endParaRPr lang="en-US" sz="900" dirty="0"/>
          </a:p>
        </p:txBody>
      </p:sp>
      <p:sp>
        <p:nvSpPr>
          <p:cNvPr id="37" name="s6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6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top-level fields break claude.ai — use overlays</a:t>
            </a:r>
            <a:endParaRPr lang="en-US" sz="900" dirty="0"/>
          </a:p>
        </p:txBody>
      </p:sp>
      <p:sp>
        <p:nvSpPr>
          <p:cNvPr id="39" name="s6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6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6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6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6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6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extras; claude.ai hard-errors non-spec fields</a:t>
            </a:r>
            <a:endParaRPr lang="en-US" sz="900" dirty="0"/>
          </a:p>
        </p:txBody>
      </p:sp>
      <p:sp>
        <p:nvSpPr>
          <p:cNvPr id="45" name="s6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6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6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6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fields + agents/openai.yaml sidecar</a:t>
            </a:r>
            <a:endParaRPr lang="en-US" sz="900" dirty="0"/>
          </a:p>
        </p:txBody>
      </p:sp>
      <p:sp>
        <p:nvSpPr>
          <p:cNvPr id="49" name="s6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6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6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6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metadata.opencode/* keys; license ignored</a:t>
            </a:r>
            <a:endParaRPr lang="en-US" sz="900" dirty="0"/>
          </a:p>
        </p:txBody>
      </p:sp>
      <p:sp>
        <p:nvSpPr>
          <p:cNvPr id="53" name="s6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6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6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6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fields; name need not match dir</a:t>
            </a:r>
            <a:endParaRPr lang="en-US" sz="900" dirty="0"/>
          </a:p>
        </p:txBody>
      </p:sp>
      <p:sp>
        <p:nvSpPr>
          <p:cNvPr id="57" name="s6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6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6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6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Spec-pure SKILL.md + namespaced metadata keys — the one artifact all four consume</a:t>
            </a:r>
            <a:endParaRPr lang="en-US" sz="1100" dirty="0"/>
          </a:p>
        </p:txBody>
      </p:sp>
      <p:sp>
        <p:nvSpPr>
          <p:cNvPr id="61" name="s6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6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6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No version field; registry must own semver + seals  ·  No dependencies, signing, or discovery paths in spec  ·  allowed-tools experimental — support varies by client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7_kick" descr="assets/sp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7_title" descr="assets/sp_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230368" cy="475488"/>
          </a:xfrm>
          <a:prstGeom prst="rect">
            <a:avLst/>
          </a:prstGeom>
        </p:spPr>
      </p:pic>
      <p:sp>
        <p:nvSpPr>
          <p:cNvPr id="7" name="s7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agent-plugins.org bundle: plugin.json (closed 9-field set) + skills/ + mcp.json + overlays</a:t>
            </a:r>
            <a:endParaRPr lang="en-US" sz="1100" dirty="0"/>
          </a:p>
        </p:txBody>
      </p:sp>
      <p:sp>
        <p:nvSpPr>
          <p:cNvPr id="8" name="s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33</a:t>
            </a:r>
            <a:endParaRPr lang="en-US" sz="950" dirty="0"/>
          </a:p>
        </p:txBody>
      </p:sp>
      <p:sp>
        <p:nvSpPr>
          <p:cNvPr id="10" name="s7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7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7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7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agent-plugins.org bundle: plugin.json (closed 9-field set) + skills/ + mcp.json + overlays</a:t>
            </a:r>
            <a:endParaRPr lang="en-US" sz="1200" dirty="0"/>
          </a:p>
        </p:txBody>
      </p:sp>
      <p:sp>
        <p:nvSpPr>
          <p:cNvPr id="14" name="s7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7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7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 Amazon·Cursor·Microsoft·OpenAI·Vercel; no Anthropic</a:t>
            </a:r>
            <a:endParaRPr lang="en-US" sz="1000" dirty="0"/>
          </a:p>
        </p:txBody>
      </p:sp>
      <p:sp>
        <p:nvSpPr>
          <p:cNvPr id="17" name="s7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7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7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v1.0.0 published 2026-08-06; 1.1 draft</a:t>
            </a:r>
            <a:endParaRPr lang="en-US" sz="1000" dirty="0"/>
          </a:p>
        </p:txBody>
      </p:sp>
      <p:sp>
        <p:nvSpPr>
          <p:cNvPr id="20" name="s7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7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7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compatible clients; of our four, only Codex</a:t>
            </a:r>
            <a:endParaRPr lang="en-US" sz="1000" dirty="0"/>
          </a:p>
        </p:txBody>
      </p:sp>
      <p:sp>
        <p:nvSpPr>
          <p:cNvPr id="23" name="s7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7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7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· SKILLS · MCP</a:t>
            </a:r>
            <a:endParaRPr lang="en-US" sz="1000" dirty="0"/>
          </a:p>
        </p:txBody>
      </p:sp>
      <p:sp>
        <p:nvSpPr>
          <p:cNvPr id="26" name="s7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7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7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7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vendor-neutral container; only Codex consumes it of ours — but its skills/ + mcp.json payloads are the two universal formats.</a:t>
            </a:r>
            <a:endParaRPr lang="en-US" sz="1150" dirty="0"/>
          </a:p>
        </p:txBody>
      </p:sp>
      <p:sp>
        <p:nvSpPr>
          <p:cNvPr id="30" name="s7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7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7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7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the closed 9-field manifest, mcp.json rules, extensions, and who actually loads it</a:t>
            </a:r>
            <a:endParaRPr lang="en-US" sz="1050" dirty="0"/>
          </a:p>
        </p:txBody>
      </p:sp>
      <p:sp>
        <p:nvSpPr>
          <p:cNvPr id="34" name="s7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7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7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7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7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7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7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7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7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3" name="s7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7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7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46" name="s7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7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7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9" name="s7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7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7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2" name="s7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8_kick" descr="assets/sp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8_title" descr="assets/sp_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33</a:t>
            </a:r>
            <a:endParaRPr lang="en-US" sz="950" dirty="0"/>
          </a:p>
        </p:txBody>
      </p:sp>
      <p:sp>
        <p:nvSpPr>
          <p:cNvPr id="10" name="s8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8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8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8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$schema</a:t>
            </a:r>
            <a:endParaRPr lang="en-US" sz="900" dirty="0"/>
          </a:p>
        </p:txBody>
      </p:sp>
      <p:sp>
        <p:nvSpPr>
          <p:cNvPr id="14" name="s8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exact URL agent-plugins.org/schemas/1.0.0</a:t>
            </a:r>
            <a:endParaRPr lang="en-US" sz="850" dirty="0"/>
          </a:p>
        </p:txBody>
      </p:sp>
      <p:sp>
        <p:nvSpPr>
          <p:cNvPr id="15" name="s8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8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7" name="s8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1–64 chars [a-z0-9.-]; alphanumeric ends</a:t>
            </a:r>
            <a:endParaRPr lang="en-US" sz="850" dirty="0"/>
          </a:p>
        </p:txBody>
      </p:sp>
      <p:sp>
        <p:nvSpPr>
          <p:cNvPr id="18" name="s8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8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00" dirty="0"/>
          </a:p>
        </p:txBody>
      </p:sp>
      <p:sp>
        <p:nvSpPr>
          <p:cNvPr id="20" name="s8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type-only; semver recommended, not enforced</a:t>
            </a:r>
            <a:endParaRPr lang="en-US" sz="850" dirty="0"/>
          </a:p>
        </p:txBody>
      </p:sp>
      <p:sp>
        <p:nvSpPr>
          <p:cNvPr id="21" name="s8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8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00" dirty="0"/>
          </a:p>
        </p:txBody>
      </p:sp>
      <p:sp>
        <p:nvSpPr>
          <p:cNvPr id="23" name="s8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{name,email,url}; part of closed 9-field set</a:t>
            </a:r>
            <a:endParaRPr lang="en-US" sz="850" dirty="0"/>
          </a:p>
        </p:txBody>
      </p:sp>
      <p:sp>
        <p:nvSpPr>
          <p:cNvPr id="24" name="s8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8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900" dirty="0"/>
          </a:p>
        </p:txBody>
      </p:sp>
      <p:sp>
        <p:nvSpPr>
          <p:cNvPr id="26" name="s8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string array (one of the closed 9)</a:t>
            </a:r>
            <a:endParaRPr lang="en-US" sz="850" dirty="0"/>
          </a:p>
        </p:txBody>
      </p:sp>
      <p:sp>
        <p:nvSpPr>
          <p:cNvPr id="27" name="s8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8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endParaRPr lang="en-US" sz="900" dirty="0"/>
          </a:p>
        </p:txBody>
      </p:sp>
      <p:sp>
        <p:nvSpPr>
          <p:cNvPr id="29" name="s8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of reverse-DNS namespaces; client-defined</a:t>
            </a:r>
            <a:endParaRPr lang="en-US" sz="850" dirty="0"/>
          </a:p>
        </p:txBody>
      </p:sp>
      <p:sp>
        <p:nvSpPr>
          <p:cNvPr id="30" name="s8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8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8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plugin.json = closed 9-field set; unknown fields warn+ignore</a:t>
            </a:r>
            <a:endParaRPr lang="en-US" sz="900" dirty="0"/>
          </a:p>
        </p:txBody>
      </p:sp>
      <p:sp>
        <p:nvSpPr>
          <p:cNvPr id="33" name="s8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8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$schema + name required; version type-checked only</a:t>
            </a:r>
            <a:endParaRPr lang="en-US" sz="900" dirty="0"/>
          </a:p>
        </p:txBody>
      </p:sp>
      <p:sp>
        <p:nvSpPr>
          <p:cNvPr id="35" name="s8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8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= skills + mcp.json only; no commands/hooks/agents</a:t>
            </a:r>
            <a:endParaRPr lang="en-US" sz="900" dirty="0"/>
          </a:p>
        </p:txBody>
      </p:sp>
      <p:sp>
        <p:nvSpPr>
          <p:cNvPr id="37" name="s8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8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mcp.json: non-loopback URLs HTTPS; no OAuth fields in v1</a:t>
            </a:r>
            <a:endParaRPr lang="en-US" sz="900" dirty="0"/>
          </a:p>
        </p:txBody>
      </p:sp>
      <p:sp>
        <p:nvSpPr>
          <p:cNvPr id="39" name="s8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8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8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8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8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8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uses own .claude-plugin/; declined .agents/</a:t>
            </a:r>
            <a:endParaRPr lang="en-US" sz="900" dirty="0"/>
          </a:p>
        </p:txBody>
      </p:sp>
      <p:sp>
        <p:nvSpPr>
          <p:cNvPr id="45" name="s8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8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8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8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— root plugin.json + .codex-plugin/ overlay</a:t>
            </a:r>
            <a:endParaRPr lang="en-US" sz="900" dirty="0"/>
          </a:p>
        </p:txBody>
      </p:sp>
      <p:sp>
        <p:nvSpPr>
          <p:cNvPr id="49" name="s8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8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8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8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npm TS plugins; spec never mentioned</a:t>
            </a:r>
            <a:endParaRPr lang="en-US" sz="900" dirty="0"/>
          </a:p>
        </p:txBody>
      </p:sp>
      <p:sp>
        <p:nvSpPr>
          <p:cNvPr id="53" name="s8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8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8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8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npm packages w/ keyword pi-package</a:t>
            </a:r>
            <a:endParaRPr lang="en-US" sz="900" dirty="0"/>
          </a:p>
        </p:txBody>
      </p:sp>
      <p:sp>
        <p:nvSpPr>
          <p:cNvPr id="57" name="s8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8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8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8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= packaging substrate; dual-emit .claude-plugin/ until Anthropic converges</a:t>
            </a:r>
            <a:endParaRPr lang="en-US" sz="1100" dirty="0"/>
          </a:p>
        </p:txBody>
      </p:sp>
      <p:sp>
        <p:nvSpPr>
          <p:cNvPr id="61" name="s8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8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8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No marketplace/distribution/install in spec  ·  Only 2 component types; commands/hooks/agents excluded  ·  No signing; no auth/credentials; Claude absent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9_kick" descr="assets/sp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9_title" descr="assets/sp_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Tool-server protocol + registry: metadata-only server.json records pointing at npm/PyPI/Docker</a:t>
            </a:r>
            <a:endParaRPr lang="en-US" sz="1100" dirty="0"/>
          </a:p>
        </p:txBody>
      </p:sp>
      <p:sp>
        <p:nvSpPr>
          <p:cNvPr id="8" name="s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33</a:t>
            </a:r>
            <a:endParaRPr lang="en-US" sz="950" dirty="0"/>
          </a:p>
        </p:txBody>
      </p:sp>
      <p:sp>
        <p:nvSpPr>
          <p:cNvPr id="10" name="s9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9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9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9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Tool-server protocol + registry: metadata-only server.json records pointing at npm/PyPI/Docker</a:t>
            </a:r>
            <a:endParaRPr lang="en-US" sz="1200" dirty="0"/>
          </a:p>
        </p:txBody>
      </p:sp>
      <p:sp>
        <p:nvSpPr>
          <p:cNvPr id="14" name="s9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9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9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MCP→AAIF/LF 2025-12-09; Registry: community WG</a:t>
            </a:r>
            <a:endParaRPr lang="en-US" sz="1000" dirty="0"/>
          </a:p>
        </p:txBody>
      </p:sp>
      <p:sp>
        <p:nvSpPr>
          <p:cNvPr id="17" name="s9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9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9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preview 2025-09-08; API v0.1</a:t>
            </a:r>
            <a:endParaRPr lang="en-US" sz="1000" dirty="0"/>
          </a:p>
        </p:txBody>
      </p:sp>
      <p:sp>
        <p:nvSpPr>
          <p:cNvPr id="20" name="s9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9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9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speak MCP; registry ~9,652 servers (2026-05)</a:t>
            </a:r>
            <a:endParaRPr lang="en-US" sz="1000" dirty="0"/>
          </a:p>
        </p:txBody>
      </p:sp>
      <p:sp>
        <p:nvSpPr>
          <p:cNvPr id="23" name="s9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9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9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(+ custom tools via MCP in claude)</a:t>
            </a:r>
            <a:endParaRPr lang="en-US" sz="1000" dirty="0"/>
          </a:p>
        </p:txBody>
      </p:sp>
      <p:sp>
        <p:nvSpPr>
          <p:cNvPr id="26" name="s9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9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9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9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config is the lingua franca — mcpServers JSON copies as-is into Pi; the registry's verify-then-point model is the governance blueprint to copy.</a:t>
            </a:r>
            <a:endParaRPr lang="en-US" sz="1150" dirty="0"/>
          </a:p>
        </p:txBody>
      </p:sp>
      <p:sp>
        <p:nvSpPr>
          <p:cNvPr id="30" name="s9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9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9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9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server.json fields, reverse-DNS identity, federation API, per-harness config</a:t>
            </a:r>
            <a:endParaRPr lang="en-US" sz="1050" dirty="0"/>
          </a:p>
        </p:txBody>
      </p:sp>
      <p:sp>
        <p:nvSpPr>
          <p:cNvPr id="34" name="s9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9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9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9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9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9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9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9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9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3" name="s9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9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9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6" name="s9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9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9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49" name="s9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9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9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52" name="s9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0_kick" descr="assets/sp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10_title" descr="assets/sp_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1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1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33</a:t>
            </a:r>
            <a:endParaRPr lang="en-US" sz="950" dirty="0"/>
          </a:p>
        </p:txBody>
      </p:sp>
      <p:sp>
        <p:nvSpPr>
          <p:cNvPr id="10" name="s10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0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0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10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10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reverse-DNS id, e.g. io.github.user/server</a:t>
            </a:r>
            <a:endParaRPr lang="en-US" sz="850" dirty="0"/>
          </a:p>
        </p:txBody>
      </p:sp>
      <p:sp>
        <p:nvSpPr>
          <p:cNvPr id="15" name="s10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10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00" dirty="0"/>
          </a:p>
        </p:txBody>
      </p:sp>
      <p:sp>
        <p:nvSpPr>
          <p:cNvPr id="17" name="s10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per-name versions + status via API</a:t>
            </a:r>
            <a:endParaRPr lang="en-US" sz="850" dirty="0"/>
          </a:p>
        </p:txBody>
      </p:sp>
      <p:sp>
        <p:nvSpPr>
          <p:cNvPr id="18" name="s10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10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0" name="s10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{url,source,id,subfolder}</a:t>
            </a:r>
            <a:endParaRPr lang="en-US" sz="850" dirty="0"/>
          </a:p>
        </p:txBody>
      </p:sp>
      <p:sp>
        <p:nvSpPr>
          <p:cNvPr id="21" name="s10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10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packages[]</a:t>
            </a:r>
            <a:endParaRPr lang="en-US" sz="900" dirty="0"/>
          </a:p>
        </p:txBody>
      </p:sp>
      <p:sp>
        <p:nvSpPr>
          <p:cNvPr id="23" name="s10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npm|pypi|nuget|cargo|oci|mcpb; URL allowlist</a:t>
            </a:r>
            <a:endParaRPr lang="en-US" sz="850" dirty="0"/>
          </a:p>
        </p:txBody>
      </p:sp>
      <p:sp>
        <p:nvSpPr>
          <p:cNvPr id="24" name="s10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10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remotes[]</a:t>
            </a:r>
            <a:endParaRPr lang="en-US" sz="900" dirty="0"/>
          </a:p>
        </p:txBody>
      </p:sp>
      <p:sp>
        <p:nvSpPr>
          <p:cNvPr id="26" name="s10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templates + headers</a:t>
            </a:r>
            <a:endParaRPr lang="en-US" sz="850" dirty="0"/>
          </a:p>
        </p:txBody>
      </p:sp>
      <p:sp>
        <p:nvSpPr>
          <p:cNvPr id="27" name="s10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0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_meta</a:t>
            </a:r>
            <a:endParaRPr lang="en-US" sz="900" dirty="0"/>
          </a:p>
        </p:txBody>
      </p:sp>
      <p:sp>
        <p:nvSpPr>
          <p:cNvPr id="29" name="s10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publisher-provided only; 4 KiB cap</a:t>
            </a:r>
            <a:endParaRPr lang="en-US" sz="850" dirty="0"/>
          </a:p>
        </p:txBody>
      </p:sp>
      <p:sp>
        <p:nvSpPr>
          <p:cNvPr id="30" name="s10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10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10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Metadata-only, no code hosting; packages live on npm/PyPI</a:t>
            </a:r>
            <a:endParaRPr lang="en-US" sz="900" dirty="0"/>
          </a:p>
        </p:txBody>
      </p:sp>
      <p:sp>
        <p:nvSpPr>
          <p:cNvPr id="33" name="s10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10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Namespace proof to publish: GitHub OIDC or DNS challenge</a:t>
            </a:r>
            <a:endParaRPr lang="en-US" sz="900" dirty="0"/>
          </a:p>
        </p:txBody>
      </p:sp>
      <p:sp>
        <p:nvSpPr>
          <p:cNvPr id="35" name="s10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10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private servers, no scanning — delegated to registries</a:t>
            </a:r>
            <a:endParaRPr lang="en-US" sz="900" dirty="0"/>
          </a:p>
        </p:txBody>
      </p:sp>
      <p:sp>
        <p:nvSpPr>
          <p:cNvPr id="37" name="s10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10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/v0.1/servers; aggregators pull ~hourly</a:t>
            </a:r>
            <a:endParaRPr lang="en-US" sz="900" dirty="0"/>
          </a:p>
        </p:txBody>
      </p:sp>
      <p:sp>
        <p:nvSpPr>
          <p:cNvPr id="39" name="s10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0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10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10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10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10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mcpServers JSON — the de-facto shape</a:t>
            </a:r>
            <a:endParaRPr lang="en-US" sz="900" dirty="0"/>
          </a:p>
        </p:txBody>
      </p:sp>
      <p:sp>
        <p:nvSpPr>
          <p:cNvPr id="45" name="s10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10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10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10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TOML: [mcp_servers.&lt;id&gt;] in config</a:t>
            </a:r>
            <a:endParaRPr lang="en-US" sz="900" dirty="0"/>
          </a:p>
        </p:txBody>
      </p:sp>
      <p:sp>
        <p:nvSpPr>
          <p:cNvPr id="49" name="s10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10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10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10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config mcp.servers.&lt;name&gt; (v2)</a:t>
            </a:r>
            <a:endParaRPr lang="en-US" sz="900" dirty="0"/>
          </a:p>
        </p:txBody>
      </p:sp>
      <p:sp>
        <p:nvSpPr>
          <p:cNvPr id="53" name="s10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0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10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10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Copies Claude mcp.json entries as-is</a:t>
            </a:r>
            <a:endParaRPr lang="en-US" sz="900" dirty="0"/>
          </a:p>
        </p:txBody>
      </p:sp>
      <p:sp>
        <p:nvSpPr>
          <p:cNvPr id="57" name="s10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10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10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10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server.json-shaped metadata; emit mcp.json + JSON/TOML configs mechanically</a:t>
            </a:r>
            <a:endParaRPr lang="en-US" sz="1100" dirty="0"/>
          </a:p>
        </p:txBody>
      </p:sp>
      <p:sp>
        <p:nvSpPr>
          <p:cNvPr id="61" name="s10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10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10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MCP-only: no skills/plugins coverage  ·  No private servers; scanning delegated  ·  Config syntax splits: JSON everywhere but Codex TOML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1_kick" descr="assets/sp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11_title" descr="assets/sp_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3600123" cy="475488"/>
          </a:xfrm>
          <a:prstGeom prst="rect">
            <a:avLst/>
          </a:prstGeom>
        </p:spPr>
      </p:pic>
      <p:sp>
        <p:nvSpPr>
          <p:cNvPr id="7" name="s1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cross-vendor standard exists — every harness ships its own subagent format</a:t>
            </a:r>
            <a:endParaRPr lang="en-US" sz="1100" dirty="0"/>
          </a:p>
        </p:txBody>
      </p:sp>
      <p:sp>
        <p:nvSpPr>
          <p:cNvPr id="8" name="s1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33</a:t>
            </a:r>
            <a:endParaRPr lang="en-US" sz="950" dirty="0"/>
          </a:p>
        </p:txBody>
      </p:sp>
      <p:sp>
        <p:nvSpPr>
          <p:cNvPr id="10" name="s11_what_sh"/>
          <p:cNvSpPr/>
          <p:nvPr/>
        </p:nvSpPr>
        <p:spPr>
          <a:xfrm>
            <a:off x="553212" y="1531620"/>
            <a:ext cx="5669280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1_what"/>
          <p:cNvSpPr/>
          <p:nvPr/>
        </p:nvSpPr>
        <p:spPr>
          <a:xfrm>
            <a:off x="502920" y="1481328"/>
            <a:ext cx="5669280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1_w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SPEC IS</a:t>
            </a:r>
            <a:endParaRPr lang="en-US" sz="1050" dirty="0"/>
          </a:p>
        </p:txBody>
      </p:sp>
      <p:sp>
        <p:nvSpPr>
          <p:cNvPr id="13" name="s11_wt"/>
          <p:cNvSpPr/>
          <p:nvPr/>
        </p:nvSpPr>
        <p:spPr>
          <a:xfrm>
            <a:off x="777240" y="19385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cross-vendor standard exists — every harness ships its own subagent format</a:t>
            </a:r>
            <a:endParaRPr lang="en-US" sz="1200" dirty="0"/>
          </a:p>
        </p:txBody>
      </p:sp>
      <p:sp>
        <p:nvSpPr>
          <p:cNvPr id="14" name="s11_whr"/>
          <p:cNvSpPr/>
          <p:nvPr/>
        </p:nvSpPr>
        <p:spPr>
          <a:xfrm>
            <a:off x="777240" y="25968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11_k0"/>
          <p:cNvSpPr/>
          <p:nvPr/>
        </p:nvSpPr>
        <p:spPr>
          <a:xfrm>
            <a:off x="77724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</a:t>
            </a:r>
            <a:endParaRPr lang="en-US" sz="900" dirty="0"/>
          </a:p>
        </p:txBody>
      </p:sp>
      <p:sp>
        <p:nvSpPr>
          <p:cNvPr id="16" name="s11_v0"/>
          <p:cNvSpPr/>
          <p:nvPr/>
        </p:nvSpPr>
        <p:spPr>
          <a:xfrm>
            <a:off x="18288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— no owning body for subagents anywhere</a:t>
            </a:r>
            <a:endParaRPr lang="en-US" sz="1000" dirty="0"/>
          </a:p>
        </p:txBody>
      </p:sp>
      <p:sp>
        <p:nvSpPr>
          <p:cNvPr id="17" name="s11_hr0"/>
          <p:cNvSpPr/>
          <p:nvPr/>
        </p:nvSpPr>
        <p:spPr>
          <a:xfrm>
            <a:off x="777240" y="31638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1_k1"/>
          <p:cNvSpPr/>
          <p:nvPr/>
        </p:nvSpPr>
        <p:spPr>
          <a:xfrm>
            <a:off x="777240" y="31638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11_v1"/>
          <p:cNvSpPr/>
          <p:nvPr/>
        </p:nvSpPr>
        <p:spPr>
          <a:xfrm>
            <a:off x="1828800" y="31638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spec to version; formats de-facto</a:t>
            </a:r>
            <a:endParaRPr lang="en-US" sz="1000" dirty="0"/>
          </a:p>
        </p:txBody>
      </p:sp>
      <p:sp>
        <p:nvSpPr>
          <p:cNvPr id="20" name="s11_hr1"/>
          <p:cNvSpPr/>
          <p:nvPr/>
        </p:nvSpPr>
        <p:spPr>
          <a:xfrm>
            <a:off x="777240" y="36210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1_k2"/>
          <p:cNvSpPr/>
          <p:nvPr/>
        </p:nvSpPr>
        <p:spPr>
          <a:xfrm>
            <a:off x="7772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11_v2"/>
          <p:cNvSpPr/>
          <p:nvPr/>
        </p:nvSpPr>
        <p:spPr>
          <a:xfrm>
            <a:off x="1828800" y="36210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Claude/Codex/OpenCode native; Pi example-level</a:t>
            </a:r>
            <a:endParaRPr lang="en-US" sz="1000" dirty="0"/>
          </a:p>
        </p:txBody>
      </p:sp>
      <p:sp>
        <p:nvSpPr>
          <p:cNvPr id="23" name="s11_hr2"/>
          <p:cNvSpPr/>
          <p:nvPr/>
        </p:nvSpPr>
        <p:spPr>
          <a:xfrm>
            <a:off x="777240" y="407822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1_k3"/>
          <p:cNvSpPr/>
          <p:nvPr/>
        </p:nvSpPr>
        <p:spPr>
          <a:xfrm>
            <a:off x="777240" y="40782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</a:t>
            </a:r>
            <a:endParaRPr lang="en-US" sz="900" dirty="0"/>
          </a:p>
        </p:txBody>
      </p:sp>
      <p:sp>
        <p:nvSpPr>
          <p:cNvPr id="25" name="s11_v3"/>
          <p:cNvSpPr/>
          <p:nvPr/>
        </p:nvSpPr>
        <p:spPr>
          <a:xfrm>
            <a:off x="182880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000" dirty="0"/>
          </a:p>
        </p:txBody>
      </p:sp>
      <p:sp>
        <p:nvSpPr>
          <p:cNvPr id="26" name="s11_why_sh"/>
          <p:cNvSpPr/>
          <p:nvPr/>
        </p:nvSpPr>
        <p:spPr>
          <a:xfrm>
            <a:off x="6451092" y="1531620"/>
            <a:ext cx="5285232" cy="3108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11_why"/>
          <p:cNvSpPr/>
          <p:nvPr/>
        </p:nvSpPr>
        <p:spPr>
          <a:xfrm>
            <a:off x="6400800" y="1481328"/>
            <a:ext cx="5285232" cy="31089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11_yb"/>
          <p:cNvSpPr/>
          <p:nvPr/>
        </p:nvSpPr>
        <p:spPr>
          <a:xfrm>
            <a:off x="6675120" y="1645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REGISTRY CARES</a:t>
            </a:r>
            <a:endParaRPr lang="en-US" sz="1050" dirty="0"/>
          </a:p>
        </p:txBody>
      </p:sp>
      <p:sp>
        <p:nvSpPr>
          <p:cNvPr id="29" name="s11_yt"/>
          <p:cNvSpPr/>
          <p:nvPr/>
        </p:nvSpPr>
        <p:spPr>
          <a:xfrm>
            <a:off x="6675120" y="1956816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 are pure fragmentation: four shapes, no shared fields, no standard to anchor on — adapters, not standards.</a:t>
            </a:r>
            <a:endParaRPr lang="en-US" sz="1150" dirty="0"/>
          </a:p>
        </p:txBody>
      </p:sp>
      <p:sp>
        <p:nvSpPr>
          <p:cNvPr id="30" name="s11_next_sh"/>
          <p:cNvSpPr/>
          <p:nvPr/>
        </p:nvSpPr>
        <p:spPr>
          <a:xfrm>
            <a:off x="553212" y="4777740"/>
            <a:ext cx="5669280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1_next"/>
          <p:cNvSpPr/>
          <p:nvPr/>
        </p:nvSpPr>
        <p:spPr>
          <a:xfrm>
            <a:off x="502920" y="4727448"/>
            <a:ext cx="5669280" cy="155448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11_nb"/>
          <p:cNvSpPr/>
          <p:nvPr/>
        </p:nvSpPr>
        <p:spPr>
          <a:xfrm>
            <a:off x="77724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NEXT SLIDE</a:t>
            </a:r>
            <a:endParaRPr lang="en-US" sz="1000" dirty="0"/>
          </a:p>
        </p:txBody>
      </p:sp>
      <p:sp>
        <p:nvSpPr>
          <p:cNvPr id="33" name="s11_nt"/>
          <p:cNvSpPr/>
          <p:nvPr/>
        </p:nvSpPr>
        <p:spPr>
          <a:xfrm>
            <a:off x="7772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Detail: the de-facto Claude md shape vs Codex TOML, OpenCode dialect, and Pi's gap</a:t>
            </a:r>
            <a:endParaRPr lang="en-US" sz="1050" dirty="0"/>
          </a:p>
        </p:txBody>
      </p:sp>
      <p:sp>
        <p:nvSpPr>
          <p:cNvPr id="34" name="s11_na_shaft"/>
          <p:cNvSpPr/>
          <p:nvPr/>
        </p:nvSpPr>
        <p:spPr>
          <a:xfrm>
            <a:off x="5532120" y="5465826"/>
            <a:ext cx="32004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5" name="s11_na_h1"/>
          <p:cNvSpPr/>
          <p:nvPr/>
        </p:nvSpPr>
        <p:spPr>
          <a:xfrm>
            <a:off x="5852160" y="538124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11_na_h2"/>
          <p:cNvSpPr/>
          <p:nvPr/>
        </p:nvSpPr>
        <p:spPr>
          <a:xfrm>
            <a:off x="5852160" y="550011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s11_na_tip"/>
          <p:cNvSpPr/>
          <p:nvPr/>
        </p:nvSpPr>
        <p:spPr>
          <a:xfrm>
            <a:off x="5943600" y="5440680"/>
            <a:ext cx="4572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11_rail_sh"/>
          <p:cNvSpPr/>
          <p:nvPr/>
        </p:nvSpPr>
        <p:spPr>
          <a:xfrm>
            <a:off x="6451092" y="4777740"/>
            <a:ext cx="528523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11_rail"/>
          <p:cNvSpPr/>
          <p:nvPr/>
        </p:nvSpPr>
        <p:spPr>
          <a:xfrm>
            <a:off x="6400800" y="4727448"/>
            <a:ext cx="5285232" cy="1554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11_rb2"/>
          <p:cNvSpPr/>
          <p:nvPr/>
        </p:nvSpPr>
        <p:spPr>
          <a:xfrm>
            <a:off x="6675120" y="4873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SERIES</a:t>
            </a:r>
            <a:endParaRPr lang="en-US" sz="1000" dirty="0"/>
          </a:p>
        </p:txBody>
      </p:sp>
      <p:sp>
        <p:nvSpPr>
          <p:cNvPr id="41" name="s11_rc0_sh"/>
          <p:cNvSpPr/>
          <p:nvPr/>
        </p:nvSpPr>
        <p:spPr>
          <a:xfrm>
            <a:off x="6702552" y="5221224"/>
            <a:ext cx="843443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11_rc0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3" name="s11_rc0_t"/>
          <p:cNvSpPr/>
          <p:nvPr/>
        </p:nvSpPr>
        <p:spPr>
          <a:xfrm>
            <a:off x="6675120" y="5193792"/>
            <a:ext cx="84344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SKILLS</a:t>
            </a:r>
            <a:endParaRPr lang="en-US" sz="900" dirty="0"/>
          </a:p>
        </p:txBody>
      </p:sp>
      <p:sp>
        <p:nvSpPr>
          <p:cNvPr id="44" name="s11_rc1_sh"/>
          <p:cNvSpPr/>
          <p:nvPr/>
        </p:nvSpPr>
        <p:spPr>
          <a:xfrm>
            <a:off x="7683155" y="5221224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11_rc1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6" name="s11_rc1_t"/>
          <p:cNvSpPr/>
          <p:nvPr/>
        </p:nvSpPr>
        <p:spPr>
          <a:xfrm>
            <a:off x="7655723" y="5193792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PLUGINS</a:t>
            </a:r>
            <a:endParaRPr lang="en-US" sz="900" dirty="0"/>
          </a:p>
        </p:txBody>
      </p:sp>
      <p:sp>
        <p:nvSpPr>
          <p:cNvPr id="47" name="s11_rc2_sh"/>
          <p:cNvSpPr/>
          <p:nvPr/>
        </p:nvSpPr>
        <p:spPr>
          <a:xfrm>
            <a:off x="8739469" y="5221224"/>
            <a:ext cx="616306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11_rc2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B1D22"/>
            </a:solidFill>
            <a:prstDash val="solid"/>
          </a:ln>
        </p:spPr>
      </p:sp>
      <p:sp>
        <p:nvSpPr>
          <p:cNvPr id="49" name="s11_rc2_t"/>
          <p:cNvSpPr/>
          <p:nvPr/>
        </p:nvSpPr>
        <p:spPr>
          <a:xfrm>
            <a:off x="8712037" y="5193792"/>
            <a:ext cx="6163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MCP</a:t>
            </a:r>
            <a:endParaRPr lang="en-US" sz="900" dirty="0"/>
          </a:p>
        </p:txBody>
      </p:sp>
      <p:sp>
        <p:nvSpPr>
          <p:cNvPr id="50" name="s11_rc3_sh"/>
          <p:cNvSpPr/>
          <p:nvPr/>
        </p:nvSpPr>
        <p:spPr>
          <a:xfrm>
            <a:off x="9492935" y="5221224"/>
            <a:ext cx="107058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11_rc3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solidFill>
            <a:srgbClr val="2F6FED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52" name="s11_rc3_t"/>
          <p:cNvSpPr/>
          <p:nvPr/>
        </p:nvSpPr>
        <p:spPr>
          <a:xfrm>
            <a:off x="9465503" y="5193792"/>
            <a:ext cx="1070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SUBAGENTS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2_kick" descr="assets/sp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79223" cy="182880"/>
          </a:xfrm>
          <a:prstGeom prst="rect">
            <a:avLst/>
          </a:prstGeom>
        </p:spPr>
      </p:pic>
      <p:pic>
        <p:nvPicPr>
          <p:cNvPr id="6" name="s12_title" descr="assets/sp_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083296" cy="475488"/>
          </a:xfrm>
          <a:prstGeom prst="rect">
            <a:avLst/>
          </a:prstGeom>
        </p:spPr>
      </p:pic>
      <p:sp>
        <p:nvSpPr>
          <p:cNvPr id="7" name="s1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fields, the hard rules, how the four harnesses diverge — and what the registry does about the gaps</a:t>
            </a:r>
            <a:endParaRPr lang="en-US" sz="1100" dirty="0"/>
          </a:p>
        </p:txBody>
      </p:sp>
      <p:sp>
        <p:nvSpPr>
          <p:cNvPr id="8" name="s1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33</a:t>
            </a:r>
            <a:endParaRPr lang="en-US" sz="950" dirty="0"/>
          </a:p>
        </p:txBody>
      </p:sp>
      <p:sp>
        <p:nvSpPr>
          <p:cNvPr id="10" name="s12_f_sh"/>
          <p:cNvSpPr/>
          <p:nvPr/>
        </p:nvSpPr>
        <p:spPr>
          <a:xfrm>
            <a:off x="553212" y="1531620"/>
            <a:ext cx="566928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2_f"/>
          <p:cNvSpPr/>
          <p:nvPr/>
        </p:nvSpPr>
        <p:spPr>
          <a:xfrm>
            <a:off x="502920" y="1481328"/>
            <a:ext cx="566928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2_fb"/>
          <p:cNvSpPr/>
          <p:nvPr/>
        </p:nvSpPr>
        <p:spPr>
          <a:xfrm>
            <a:off x="777240" y="1627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FIELDS</a:t>
            </a:r>
            <a:endParaRPr lang="en-US" sz="1050" dirty="0"/>
          </a:p>
        </p:txBody>
      </p:sp>
      <p:sp>
        <p:nvSpPr>
          <p:cNvPr id="13" name="s12_fk0"/>
          <p:cNvSpPr/>
          <p:nvPr/>
        </p:nvSpPr>
        <p:spPr>
          <a:xfrm>
            <a:off x="777240" y="192024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12_fv0"/>
          <p:cNvSpPr/>
          <p:nvPr/>
        </p:nvSpPr>
        <p:spPr>
          <a:xfrm>
            <a:off x="2240280" y="192024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(de-facto); ≤256 chars; no colons</a:t>
            </a:r>
            <a:endParaRPr lang="en-US" sz="850" dirty="0"/>
          </a:p>
        </p:txBody>
      </p:sp>
      <p:sp>
        <p:nvSpPr>
          <p:cNvPr id="15" name="s12_fhr0"/>
          <p:cNvSpPr/>
          <p:nvPr/>
        </p:nvSpPr>
        <p:spPr>
          <a:xfrm>
            <a:off x="777240" y="227228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12_fk1"/>
          <p:cNvSpPr/>
          <p:nvPr/>
        </p:nvSpPr>
        <p:spPr>
          <a:xfrm>
            <a:off x="777240" y="2272284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7" name="s12_fv1"/>
          <p:cNvSpPr/>
          <p:nvPr/>
        </p:nvSpPr>
        <p:spPr>
          <a:xfrm>
            <a:off x="2240280" y="2272284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req; delegation trigger — no whenToUse field</a:t>
            </a:r>
            <a:endParaRPr lang="en-US" sz="850" dirty="0"/>
          </a:p>
        </p:txBody>
      </p:sp>
      <p:sp>
        <p:nvSpPr>
          <p:cNvPr id="18" name="s12_fhr1"/>
          <p:cNvSpPr/>
          <p:nvPr/>
        </p:nvSpPr>
        <p:spPr>
          <a:xfrm>
            <a:off x="777240" y="26243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12_fk2"/>
          <p:cNvSpPr/>
          <p:nvPr/>
        </p:nvSpPr>
        <p:spPr>
          <a:xfrm>
            <a:off x="777240" y="2624328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20" name="s12_fv2"/>
          <p:cNvSpPr/>
          <p:nvPr/>
        </p:nvSpPr>
        <p:spPr>
          <a:xfrm>
            <a:off x="2240280" y="2624328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allowlist; supports mcp__github__*</a:t>
            </a:r>
            <a:endParaRPr lang="en-US" sz="850" dirty="0"/>
          </a:p>
        </p:txBody>
      </p:sp>
      <p:sp>
        <p:nvSpPr>
          <p:cNvPr id="21" name="s12_fhr2"/>
          <p:cNvSpPr/>
          <p:nvPr/>
        </p:nvSpPr>
        <p:spPr>
          <a:xfrm>
            <a:off x="777240" y="297637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12_fk3"/>
          <p:cNvSpPr/>
          <p:nvPr/>
        </p:nvSpPr>
        <p:spPr>
          <a:xfrm>
            <a:off x="777240" y="2976372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00" dirty="0"/>
          </a:p>
        </p:txBody>
      </p:sp>
      <p:sp>
        <p:nvSpPr>
          <p:cNvPr id="23" name="s12_fv3"/>
          <p:cNvSpPr/>
          <p:nvPr/>
        </p:nvSpPr>
        <p:spPr>
          <a:xfrm>
            <a:off x="2240280" y="2976372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sonnet|opus|haiku|&lt;id&gt;|inherit</a:t>
            </a:r>
            <a:endParaRPr lang="en-US" sz="850" dirty="0"/>
          </a:p>
        </p:txBody>
      </p:sp>
      <p:sp>
        <p:nvSpPr>
          <p:cNvPr id="24" name="s12_fhr3"/>
          <p:cNvSpPr/>
          <p:nvPr/>
        </p:nvSpPr>
        <p:spPr>
          <a:xfrm>
            <a:off x="777240" y="332841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12_fk4"/>
          <p:cNvSpPr/>
          <p:nvPr/>
        </p:nvSpPr>
        <p:spPr>
          <a:xfrm>
            <a:off x="777240" y="3328416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00" dirty="0"/>
          </a:p>
        </p:txBody>
      </p:sp>
      <p:sp>
        <p:nvSpPr>
          <p:cNvPr id="26" name="s12_fv4"/>
          <p:cNvSpPr/>
          <p:nvPr/>
        </p:nvSpPr>
        <p:spPr>
          <a:xfrm>
            <a:off x="2240280" y="3328416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preload ≤32 skill bodies</a:t>
            </a:r>
            <a:endParaRPr lang="en-US" sz="850" dirty="0"/>
          </a:p>
        </p:txBody>
      </p:sp>
      <p:sp>
        <p:nvSpPr>
          <p:cNvPr id="27" name="s12_fhr4"/>
          <p:cNvSpPr/>
          <p:nvPr/>
        </p:nvSpPr>
        <p:spPr>
          <a:xfrm>
            <a:off x="777240" y="36804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2_fk5"/>
          <p:cNvSpPr/>
          <p:nvPr/>
        </p:nvSpPr>
        <p:spPr>
          <a:xfrm>
            <a:off x="777240" y="3680460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</a:t>
            </a:r>
            <a:endParaRPr lang="en-US" sz="900" dirty="0"/>
          </a:p>
        </p:txBody>
      </p:sp>
      <p:sp>
        <p:nvSpPr>
          <p:cNvPr id="29" name="s12_fv5"/>
          <p:cNvSpPr/>
          <p:nvPr/>
        </p:nvSpPr>
        <p:spPr>
          <a:xfrm>
            <a:off x="2240280" y="3680460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opt; per-agent MCP server set</a:t>
            </a:r>
            <a:endParaRPr lang="en-US" sz="850" dirty="0"/>
          </a:p>
        </p:txBody>
      </p:sp>
      <p:sp>
        <p:nvSpPr>
          <p:cNvPr id="30" name="s12_rb"/>
          <p:cNvSpPr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RULES</a:t>
            </a:r>
            <a:endParaRPr lang="en-US" sz="900" dirty="0"/>
          </a:p>
        </p:txBody>
      </p:sp>
      <p:sp>
        <p:nvSpPr>
          <p:cNvPr id="31" name="s12_rb0"/>
          <p:cNvSpPr/>
          <p:nvPr/>
        </p:nvSpPr>
        <p:spPr>
          <a:xfrm>
            <a:off x="777240" y="442569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s12_rt0"/>
          <p:cNvSpPr/>
          <p:nvPr/>
        </p:nvSpPr>
        <p:spPr>
          <a:xfrm>
            <a:off x="941832" y="4379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below are Claude's de-facto shape — no spec exists</a:t>
            </a:r>
            <a:endParaRPr lang="en-US" sz="900" dirty="0"/>
          </a:p>
        </p:txBody>
      </p:sp>
      <p:sp>
        <p:nvSpPr>
          <p:cNvPr id="33" name="s12_rb1"/>
          <p:cNvSpPr/>
          <p:nvPr/>
        </p:nvSpPr>
        <p:spPr>
          <a:xfrm>
            <a:off x="777240" y="4727448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12_rt1"/>
          <p:cNvSpPr/>
          <p:nvPr/>
        </p:nvSpPr>
        <p:spPr>
          <a:xfrm>
            <a:off x="941832" y="46817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of the md file is the system prompt</a:t>
            </a:r>
            <a:endParaRPr lang="en-US" sz="900" dirty="0"/>
          </a:p>
        </p:txBody>
      </p:sp>
      <p:sp>
        <p:nvSpPr>
          <p:cNvPr id="35" name="s12_rb2"/>
          <p:cNvSpPr/>
          <p:nvPr/>
        </p:nvSpPr>
        <p:spPr>
          <a:xfrm>
            <a:off x="777240" y="502920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6" name="s12_rt2"/>
          <p:cNvSpPr/>
          <p:nvPr/>
        </p:nvSpPr>
        <p:spPr>
          <a:xfrm>
            <a:off x="941832" y="4983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Codex: TOML requires developer_instructions — generate it</a:t>
            </a:r>
            <a:endParaRPr lang="en-US" sz="900" dirty="0"/>
          </a:p>
        </p:txBody>
      </p:sp>
      <p:sp>
        <p:nvSpPr>
          <p:cNvPr id="37" name="s12_rb3"/>
          <p:cNvSpPr/>
          <p:nvPr/>
        </p:nvSpPr>
        <p:spPr>
          <a:xfrm>
            <a:off x="777240" y="5330952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12_rt3"/>
          <p:cNvSpPr/>
          <p:nvPr/>
        </p:nvSpPr>
        <p:spPr>
          <a:xfrm>
            <a:off x="941832" y="52852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Pi: example extension only; mark unsupported</a:t>
            </a:r>
            <a:endParaRPr lang="en-US" sz="900" dirty="0"/>
          </a:p>
        </p:txBody>
      </p:sp>
      <p:sp>
        <p:nvSpPr>
          <p:cNvPr id="39" name="s12_h_sh"/>
          <p:cNvSpPr/>
          <p:nvPr/>
        </p:nvSpPr>
        <p:spPr>
          <a:xfrm>
            <a:off x="6451092" y="1531620"/>
            <a:ext cx="528523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2_h"/>
          <p:cNvSpPr/>
          <p:nvPr/>
        </p:nvSpPr>
        <p:spPr>
          <a:xfrm>
            <a:off x="6400800" y="1481328"/>
            <a:ext cx="528523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12_hb"/>
          <p:cNvSpPr/>
          <p:nvPr/>
        </p:nvSpPr>
        <p:spPr>
          <a:xfrm>
            <a:off x="66751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FOUR IMPLEMENT IT</a:t>
            </a:r>
            <a:endParaRPr lang="en-US" sz="1050" dirty="0"/>
          </a:p>
        </p:txBody>
      </p:sp>
      <p:sp>
        <p:nvSpPr>
          <p:cNvPr id="42" name="s12_hb0"/>
          <p:cNvSpPr/>
          <p:nvPr/>
        </p:nvSpPr>
        <p:spPr>
          <a:xfrm>
            <a:off x="6675120" y="2157984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s12_hk0"/>
          <p:cNvSpPr/>
          <p:nvPr/>
        </p:nvSpPr>
        <p:spPr>
          <a:xfrm>
            <a:off x="6894576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44" name="s12_hv0"/>
          <p:cNvSpPr/>
          <p:nvPr/>
        </p:nvSpPr>
        <p:spPr>
          <a:xfrm>
            <a:off x="827532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.claude/agents/*.md — the canonical shape</a:t>
            </a:r>
            <a:endParaRPr lang="en-US" sz="900" dirty="0"/>
          </a:p>
        </p:txBody>
      </p:sp>
      <p:sp>
        <p:nvSpPr>
          <p:cNvPr id="45" name="s12_hhr0"/>
          <p:cNvSpPr/>
          <p:nvPr/>
        </p:nvSpPr>
        <p:spPr>
          <a:xfrm>
            <a:off x="6675120" y="2505456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6" name="s12_hb1"/>
          <p:cNvSpPr/>
          <p:nvPr/>
        </p:nvSpPr>
        <p:spPr>
          <a:xfrm>
            <a:off x="6675120" y="2734056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12_hk1"/>
          <p:cNvSpPr/>
          <p:nvPr/>
        </p:nvSpPr>
        <p:spPr>
          <a:xfrm>
            <a:off x="6894576" y="2514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00" dirty="0"/>
          </a:p>
        </p:txBody>
      </p:sp>
      <p:sp>
        <p:nvSpPr>
          <p:cNvPr id="48" name="s12_hv1"/>
          <p:cNvSpPr/>
          <p:nvPr/>
        </p:nvSpPr>
        <p:spPr>
          <a:xfrm>
            <a:off x="8275320" y="2514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.codex/agents/*.toml; 3 fields required</a:t>
            </a:r>
            <a:endParaRPr lang="en-US" sz="900" dirty="0"/>
          </a:p>
        </p:txBody>
      </p:sp>
      <p:sp>
        <p:nvSpPr>
          <p:cNvPr id="49" name="s12_hhr1"/>
          <p:cNvSpPr/>
          <p:nvPr/>
        </p:nvSpPr>
        <p:spPr>
          <a:xfrm>
            <a:off x="6675120" y="3081528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0" name="s12_hb2"/>
          <p:cNvSpPr/>
          <p:nvPr/>
        </p:nvSpPr>
        <p:spPr>
          <a:xfrm>
            <a:off x="6675120" y="3310128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12_hk2"/>
          <p:cNvSpPr/>
          <p:nvPr/>
        </p:nvSpPr>
        <p:spPr>
          <a:xfrm>
            <a:off x="6894576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00" dirty="0"/>
          </a:p>
        </p:txBody>
      </p:sp>
      <p:sp>
        <p:nvSpPr>
          <p:cNvPr id="52" name="s12_hv2"/>
          <p:cNvSpPr/>
          <p:nvPr/>
        </p:nvSpPr>
        <p:spPr>
          <a:xfrm>
            <a:off x="8275320" y="30906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dialect: mode + permissions (desc req)</a:t>
            </a:r>
            <a:endParaRPr lang="en-US" sz="900" dirty="0"/>
          </a:p>
        </p:txBody>
      </p:sp>
      <p:sp>
        <p:nvSpPr>
          <p:cNvPr id="53" name="s12_hhr2"/>
          <p:cNvSpPr/>
          <p:nvPr/>
        </p:nvSpPr>
        <p:spPr>
          <a:xfrm>
            <a:off x="6675120" y="3657600"/>
            <a:ext cx="47548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2_hb3"/>
          <p:cNvSpPr/>
          <p:nvPr/>
        </p:nvSpPr>
        <p:spPr>
          <a:xfrm>
            <a:off x="6675120" y="388620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12_hk3"/>
          <p:cNvSpPr/>
          <p:nvPr/>
        </p:nvSpPr>
        <p:spPr>
          <a:xfrm>
            <a:off x="6894576" y="3666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00" dirty="0"/>
          </a:p>
        </p:txBody>
      </p:sp>
      <p:sp>
        <p:nvSpPr>
          <p:cNvPr id="56" name="s12_hv3"/>
          <p:cNvSpPr/>
          <p:nvPr/>
        </p:nvSpPr>
        <p:spPr>
          <a:xfrm>
            <a:off x="8275320" y="3666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ext only; mirrors Claude shape</a:t>
            </a:r>
            <a:endParaRPr lang="en-US" sz="900" dirty="0"/>
          </a:p>
        </p:txBody>
      </p:sp>
      <p:sp>
        <p:nvSpPr>
          <p:cNvPr id="57" name="s12_st_sh"/>
          <p:cNvSpPr/>
          <p:nvPr/>
        </p:nvSpPr>
        <p:spPr>
          <a:xfrm>
            <a:off x="6451092" y="4549140"/>
            <a:ext cx="528523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12_st"/>
          <p:cNvSpPr/>
          <p:nvPr/>
        </p:nvSpPr>
        <p:spPr>
          <a:xfrm>
            <a:off x="6400800" y="4498848"/>
            <a:ext cx="5285232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12_sb"/>
          <p:cNvSpPr/>
          <p:nvPr/>
        </p:nvSpPr>
        <p:spPr>
          <a:xfrm>
            <a:off x="667512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STANCE</a:t>
            </a:r>
            <a:endParaRPr lang="en-US" sz="900" dirty="0"/>
          </a:p>
        </p:txBody>
      </p:sp>
      <p:sp>
        <p:nvSpPr>
          <p:cNvPr id="60" name="s12_stt"/>
          <p:cNvSpPr/>
          <p:nvPr/>
        </p:nvSpPr>
        <p:spPr>
          <a:xfrm>
            <a:off x="6675120" y="4882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on the claude md shape; translate to codex TOML; mark pi unsupported</a:t>
            </a:r>
            <a:endParaRPr lang="en-US" sz="1100" dirty="0"/>
          </a:p>
        </p:txBody>
      </p:sp>
      <p:sp>
        <p:nvSpPr>
          <p:cNvPr id="61" name="s12_g_sh"/>
          <p:cNvSpPr/>
          <p:nvPr/>
        </p:nvSpPr>
        <p:spPr>
          <a:xfrm>
            <a:off x="553212" y="582930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12_g"/>
          <p:cNvSpPr/>
          <p:nvPr/>
        </p:nvSpPr>
        <p:spPr>
          <a:xfrm>
            <a:off x="502920" y="5779008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3" name="s12_gt"/>
          <p:cNvSpPr/>
          <p:nvPr/>
        </p:nvSpPr>
        <p:spPr>
          <a:xfrm>
            <a:off x="777240" y="585216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OWNS — No spec, no shared fields, no versioning at all  ·  Each harness needs its own emitter transform  ·  Pi users must install the example extension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3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3_kick" descr="assets/k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3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33</a:t>
            </a:r>
            <a:endParaRPr lang="en-US" sz="950" dirty="0"/>
          </a:p>
        </p:txBody>
      </p:sp>
      <p:sp>
        <p:nvSpPr>
          <p:cNvPr id="11" name="s13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3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3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3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13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3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13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13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 spec native; Claude extras via overlay</a:t>
            </a:r>
            <a:endParaRPr lang="en-US" sz="850" dirty="0"/>
          </a:p>
        </p:txBody>
      </p:sp>
      <p:sp>
        <p:nvSpPr>
          <p:cNvPr id="19" name="s13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of SKILL.md instructions the model auto-loads when relevant</a:t>
            </a:r>
            <a:endParaRPr lang="en-US" sz="1050" dirty="0"/>
          </a:p>
        </p:txBody>
      </p:sp>
      <p:sp>
        <p:nvSpPr>
          <p:cNvPr id="20" name="s13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3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3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· ~/.claude/skills/ · enterprise · plugin</a:t>
            </a:r>
            <a:endParaRPr lang="en-US" sz="900" dirty="0"/>
          </a:p>
        </p:txBody>
      </p:sp>
      <p:sp>
        <p:nvSpPr>
          <p:cNvPr id="23" name="s13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3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3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YAML frontmatter (open Agent Skills spec)</a:t>
            </a:r>
            <a:endParaRPr lang="en-US" sz="900" dirty="0"/>
          </a:p>
        </p:txBody>
      </p:sp>
      <p:sp>
        <p:nvSpPr>
          <p:cNvPr id="26" name="s13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3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3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· /reload-skills · /skill-doctor · claude plugin init</a:t>
            </a:r>
            <a:endParaRPr lang="en-US" sz="900" dirty="0"/>
          </a:p>
        </p:txBody>
      </p:sp>
      <p:sp>
        <p:nvSpPr>
          <p:cNvPr id="29" name="s13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3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3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unversioned file drop, no update mechanism; only plugins auto-update</a:t>
            </a:r>
            <a:endParaRPr lang="en-US" sz="900" dirty="0"/>
          </a:p>
        </p:txBody>
      </p:sp>
      <p:sp>
        <p:nvSpPr>
          <p:cNvPr id="32" name="s13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3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3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copy → .claude/skills/&lt;n&gt;/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scopes: project | user | enterprise | plugin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when_to_use, argument-hint, context: fork</a:t>
            </a:r>
            <a:endParaRPr lang="en-US" sz="900" dirty="0"/>
          </a:p>
        </p:txBody>
      </p:sp>
      <p:sp>
        <p:nvSpPr>
          <p:cNvPr id="35" name="s13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3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3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3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13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3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3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3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frontmatter as skills; drop works as-is</a:t>
            </a:r>
            <a:endParaRPr lang="en-US" sz="850" dirty="0"/>
          </a:p>
        </p:txBody>
      </p:sp>
      <p:sp>
        <p:nvSpPr>
          <p:cNvPr id="43" name="s13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files that become /slash-command prompts; absorbed by skills</a:t>
            </a:r>
            <a:endParaRPr lang="en-US" sz="1050" dirty="0"/>
          </a:p>
        </p:txBody>
      </p:sp>
      <p:sp>
        <p:nvSpPr>
          <p:cNvPr id="44" name="s13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3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3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 · ~/.claude/commands/</a:t>
            </a:r>
            <a:endParaRPr lang="en-US" sz="900" dirty="0"/>
          </a:p>
        </p:txBody>
      </p:sp>
      <p:sp>
        <p:nvSpPr>
          <p:cNvPr id="47" name="s13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3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3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file + skills-style YAML frontmatter</a:t>
            </a:r>
            <a:endParaRPr lang="en-US" sz="900" dirty="0"/>
          </a:p>
        </p:txBody>
      </p:sp>
      <p:sp>
        <p:nvSpPr>
          <p:cNvPr id="50" name="s13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3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3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CLI — file drop → /name (subdirs → /db:migrate)</a:t>
            </a:r>
            <a:endParaRPr lang="en-US" sz="900" dirty="0"/>
          </a:p>
        </p:txBody>
      </p:sp>
      <p:sp>
        <p:nvSpPr>
          <p:cNvPr id="53" name="s13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3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3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legacy unversioned drop; no update path; superseded by skills</a:t>
            </a:r>
            <a:endParaRPr lang="en-US" sz="900" dirty="0"/>
          </a:p>
        </p:txBody>
      </p:sp>
      <p:sp>
        <p:nvSpPr>
          <p:cNvPr id="56" name="s13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3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3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copy → .claude/commands/&lt;n&gt;.md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prefer: emit as skill (commands merged in)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nested: commands/db/migrate.md → /db:migrate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4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4_kick" descr="assets/k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4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33</a:t>
            </a:r>
            <a:endParaRPr lang="en-US" sz="950" dirty="0"/>
          </a:p>
        </p:txBody>
      </p:sp>
      <p:sp>
        <p:nvSpPr>
          <p:cNvPr id="11" name="s14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4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4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4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14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4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14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14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shape; other harnesses must translate</a:t>
            </a:r>
            <a:endParaRPr lang="en-US" sz="850" dirty="0"/>
          </a:p>
        </p:txBody>
      </p:sp>
      <p:sp>
        <p:nvSpPr>
          <p:cNvPr id="19" name="s14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Markdown-defined helper agents with their own prompt &amp; tool scope</a:t>
            </a:r>
            <a:endParaRPr lang="en-US" sz="1050" dirty="0"/>
          </a:p>
        </p:txBody>
      </p:sp>
      <p:sp>
        <p:nvSpPr>
          <p:cNvPr id="20" name="s14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4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4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 · ~/.claude/agents/ · plugin agents/</a:t>
            </a:r>
            <a:endParaRPr lang="en-US" sz="900" dirty="0"/>
          </a:p>
        </p:txBody>
      </p:sp>
      <p:sp>
        <p:nvSpPr>
          <p:cNvPr id="23" name="s14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4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4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*.md + YAML frontmatter; body = system prompt</a:t>
            </a:r>
            <a:endParaRPr lang="en-US" sz="900" dirty="0"/>
          </a:p>
        </p:txBody>
      </p:sp>
      <p:sp>
        <p:nvSpPr>
          <p:cNvPr id="26" name="s14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4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4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drop · --agents '{...}' flag · /agents</a:t>
            </a:r>
            <a:endParaRPr lang="en-US" sz="900" dirty="0"/>
          </a:p>
        </p:txBody>
      </p:sp>
      <p:sp>
        <p:nvSpPr>
          <p:cNvPr id="29" name="s14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4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4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unversioned file drop; plugin-bundled agents update with the plugin</a:t>
            </a:r>
            <a:endParaRPr lang="en-US" sz="900" dirty="0"/>
          </a:p>
        </p:txBody>
      </p:sp>
      <p:sp>
        <p:nvSpPr>
          <p:cNvPr id="32" name="s14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4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4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copy → .claude/agents/&lt;n&gt;.md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scopes: project | user | org | plugin | --agents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frontmatter: tools, model, memory, isolation</a:t>
            </a:r>
            <a:endParaRPr lang="en-US" sz="900" dirty="0"/>
          </a:p>
        </p:txBody>
      </p:sp>
      <p:sp>
        <p:nvSpPr>
          <p:cNvPr id="35" name="s14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4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4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4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14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4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4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4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hooks JSON; only the merge scope varies</a:t>
            </a:r>
            <a:endParaRPr lang="en-US" sz="850" dirty="0"/>
          </a:p>
        </p:txBody>
      </p:sp>
      <p:sp>
        <p:nvSpPr>
          <p:cNvPr id="43" name="s14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 fired automatically on 30 lifecycle events; can block tools</a:t>
            </a:r>
            <a:endParaRPr lang="en-US" sz="1050" dirty="0"/>
          </a:p>
        </p:txBody>
      </p:sp>
      <p:sp>
        <p:nvSpPr>
          <p:cNvPr id="44" name="s14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4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4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· plugin hooks/hooks.json · frontmatter</a:t>
            </a:r>
            <a:endParaRPr lang="en-US" sz="900" dirty="0"/>
          </a:p>
        </p:txBody>
      </p:sp>
      <p:sp>
        <p:nvSpPr>
          <p:cNvPr id="47" name="s14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4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4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 JSON map: Event → matcher → handler (5 types)</a:t>
            </a:r>
            <a:endParaRPr lang="en-US" sz="900" dirty="0"/>
          </a:p>
        </p:txBody>
      </p:sp>
      <p:sp>
        <p:nvSpPr>
          <p:cNvPr id="50" name="s14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4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4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settings JSON · plugin install · /doctor</a:t>
            </a:r>
            <a:endParaRPr lang="en-US" sz="900" dirty="0"/>
          </a:p>
        </p:txBody>
      </p:sp>
      <p:sp>
        <p:nvSpPr>
          <p:cNvPr id="53" name="s14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4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4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unversioned settings edits; plugin hooks ride plugin updates</a:t>
            </a:r>
            <a:endParaRPr lang="en-US" sz="900" dirty="0"/>
          </a:p>
        </p:txBody>
      </p:sp>
      <p:sp>
        <p:nvSpPr>
          <p:cNvPr id="56" name="s14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4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4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merge → settings.hooks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plugin hooks/hooks.json (scopes merge)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identity.tier: review · install shows diff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5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5_kick" descr="assets/k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5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1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33</a:t>
            </a:r>
            <a:endParaRPr lang="en-US" sz="950" dirty="0"/>
          </a:p>
        </p:txBody>
      </p:sp>
      <p:sp>
        <p:nvSpPr>
          <p:cNvPr id="11" name="s15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5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5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5_c0_topic"/>
          <p:cNvSpPr/>
          <p:nvPr/>
        </p:nvSpPr>
        <p:spPr>
          <a:xfrm>
            <a:off x="960120" y="1609344"/>
            <a:ext cx="9578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15_c0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5_c0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15_c0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15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agent-plugins root → .claude-plugin/ dual-manifest</a:t>
            </a:r>
            <a:endParaRPr lang="en-US" sz="950" dirty="0"/>
          </a:p>
        </p:txBody>
      </p:sp>
      <p:sp>
        <p:nvSpPr>
          <p:cNvPr id="19" name="s15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of skills, agents, hooks and MCP installed from marketplaces</a:t>
            </a:r>
            <a:endParaRPr lang="en-US" sz="1200" dirty="0"/>
          </a:p>
        </p:txBody>
      </p:sp>
      <p:sp>
        <p:nvSpPr>
          <p:cNvPr id="20" name="s15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5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15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~/.claude/plugins/cache/&lt;mp&gt;/&lt;p&gt;/&lt;ver&gt;/ · .claude-plugin/</a:t>
            </a:r>
            <a:endParaRPr lang="en-US" sz="1050" dirty="0"/>
          </a:p>
        </p:txBody>
      </p:sp>
      <p:sp>
        <p:nvSpPr>
          <p:cNvPr id="23" name="s15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5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15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.claude-plugin/plugin.json + marketplace.json (7 sources)</a:t>
            </a:r>
            <a:endParaRPr lang="en-US" sz="1050" dirty="0"/>
          </a:p>
        </p:txBody>
      </p:sp>
      <p:sp>
        <p:nvSpPr>
          <p:cNvPr id="26" name="s15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5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15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install|list|validate --strict · /plugin</a:t>
            </a:r>
            <a:endParaRPr lang="en-US" sz="1050" dirty="0"/>
          </a:p>
        </p:txBody>
      </p:sp>
      <p:sp>
        <p:nvSpPr>
          <p:cNvPr id="29" name="s15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5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15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opt-in per marketplace (v2.0.70, 2025-12-15); the only auto-updater</a:t>
            </a:r>
            <a:endParaRPr lang="en-US" sz="1050" dirty="0"/>
          </a:p>
        </p:txBody>
      </p:sp>
      <p:sp>
        <p:nvSpPr>
          <p:cNvPr id="32" name="s15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5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15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.claude-plugin/plugin.json + components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marketplace add &lt;mp&gt; → install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manifest → marketplace entry → git sha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6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6_kick" descr="assets/k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6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1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33</a:t>
            </a:r>
            <a:endParaRPr lang="en-US" sz="950" dirty="0"/>
          </a:p>
        </p:txBody>
      </p:sp>
      <p:sp>
        <p:nvSpPr>
          <p:cNvPr id="11" name="s16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6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6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6_c0_topic"/>
          <p:cNvSpPr/>
          <p:nvPr/>
        </p:nvSpPr>
        <p:spPr>
          <a:xfrm>
            <a:off x="96012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16_c0_vc_sh"/>
          <p:cNvSpPr/>
          <p:nvPr/>
        </p:nvSpPr>
        <p:spPr>
          <a:xfrm>
            <a:off x="292790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6_c0_vc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16_c0_vc_t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16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mcpServers entry drops in as-is (CLI or JSON)</a:t>
            </a:r>
            <a:endParaRPr lang="en-US" sz="800" dirty="0"/>
          </a:p>
        </p:txBody>
      </p:sp>
      <p:sp>
        <p:nvSpPr>
          <p:cNvPr id="19" name="s16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 servers (stdio or http) wired in via CLI or JSON</a:t>
            </a:r>
            <a:endParaRPr lang="en-US" sz="950" dirty="0"/>
          </a:p>
        </p:txBody>
      </p:sp>
      <p:sp>
        <p:nvSpPr>
          <p:cNvPr id="20" name="s16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6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16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 (committed) · ~/.claude.json · plugin .mcp.json</a:t>
            </a:r>
            <a:endParaRPr lang="en-US" sz="850" dirty="0"/>
          </a:p>
        </p:txBody>
      </p:sp>
      <p:sp>
        <p:nvSpPr>
          <p:cNvPr id="23" name="s16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6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16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 JSON: http|sse|ws|stdio; ${VAR:-default}</a:t>
            </a:r>
            <a:endParaRPr lang="en-US" sz="850" dirty="0"/>
          </a:p>
        </p:txBody>
      </p:sp>
      <p:sp>
        <p:nvSpPr>
          <p:cNvPr id="26" name="s16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6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16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-s local|project|user · add-json · /mcp</a:t>
            </a:r>
            <a:endParaRPr lang="en-US" sz="850" dirty="0"/>
          </a:p>
        </p:txBody>
      </p:sp>
      <p:sp>
        <p:nvSpPr>
          <p:cNvPr id="29" name="s16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6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16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no update mechanism; manual re-add; entries replace, never merge</a:t>
            </a:r>
            <a:endParaRPr lang="en-US" sz="850" dirty="0"/>
          </a:p>
        </p:txBody>
      </p:sp>
      <p:sp>
        <p:nvSpPr>
          <p:cNvPr id="32" name="s16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6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16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claude mcp add &lt;n&gt; -s user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project: merge .mcp.json; needs interactive approval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managedMcpServers outranks all other scopes</a:t>
            </a:r>
            <a:endParaRPr lang="en-US" sz="800" dirty="0"/>
          </a:p>
        </p:txBody>
      </p:sp>
      <p:sp>
        <p:nvSpPr>
          <p:cNvPr id="35" name="s16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6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6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6_c1_topic"/>
          <p:cNvSpPr/>
          <p:nvPr/>
        </p:nvSpPr>
        <p:spPr>
          <a:xfrm>
            <a:off x="475488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16_c1_vc_sh"/>
          <p:cNvSpPr/>
          <p:nvPr/>
        </p:nvSpPr>
        <p:spPr>
          <a:xfrm>
            <a:off x="679838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6_c1_vc"/>
          <p:cNvSpPr/>
          <p:nvPr/>
        </p:nvSpPr>
        <p:spPr>
          <a:xfrm>
            <a:off x="677094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1" name="s16_c1_vc_t"/>
          <p:cNvSpPr/>
          <p:nvPr/>
        </p:nvSpPr>
        <p:spPr>
          <a:xfrm>
            <a:off x="677094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42" name="s16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bare .lsp.json → must wrap in a plugin</a:t>
            </a:r>
            <a:endParaRPr lang="en-US" sz="800" dirty="0"/>
          </a:p>
        </p:txBody>
      </p:sp>
      <p:sp>
        <p:nvSpPr>
          <p:cNvPr id="43" name="s16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servers bundled in plugins to add code-aware tools</a:t>
            </a:r>
            <a:endParaRPr lang="en-US" sz="950" dirty="0"/>
          </a:p>
        </p:txBody>
      </p:sp>
      <p:sp>
        <p:nvSpPr>
          <p:cNvPr id="44" name="s16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6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16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root only: .lsp.json or plugin.json lspServers</a:t>
            </a:r>
            <a:endParaRPr lang="en-US" sz="850" dirty="0"/>
          </a:p>
        </p:txBody>
      </p:sp>
      <p:sp>
        <p:nvSpPr>
          <p:cNvPr id="47" name="s16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6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16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.lsp.json name→config map; requires extensionToLanguage</a:t>
            </a:r>
            <a:endParaRPr lang="en-US" sz="850" dirty="0"/>
          </a:p>
        </p:txBody>
      </p:sp>
      <p:sp>
        <p:nvSpPr>
          <p:cNvPr id="50" name="s16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6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16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bundle in plugin; rides plugin install</a:t>
            </a:r>
            <a:endParaRPr lang="en-US" sz="850" dirty="0"/>
          </a:p>
        </p:txBody>
      </p:sp>
      <p:sp>
        <p:nvSpPr>
          <p:cNvPr id="53" name="s16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6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16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parent plugin: no own path; plugin auto-update covers it</a:t>
            </a:r>
            <a:endParaRPr lang="en-US" sz="850" dirty="0"/>
          </a:p>
        </p:txBody>
      </p:sp>
      <p:sp>
        <p:nvSpPr>
          <p:cNvPr id="56" name="s16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6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16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plugin bundle carrying root .lsp.json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entry needs extensionToLanguage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plugin.json lspServers key (merges)</a:t>
            </a:r>
            <a:endParaRPr lang="en-US" sz="800" dirty="0"/>
          </a:p>
        </p:txBody>
      </p:sp>
      <p:sp>
        <p:nvSpPr>
          <p:cNvPr id="59" name="s16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16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16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2" name="s16_c2_topic"/>
          <p:cNvSpPr/>
          <p:nvPr/>
        </p:nvSpPr>
        <p:spPr>
          <a:xfrm>
            <a:off x="854964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16_c2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16_c2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5" name="s16_c2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66" name="s16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code surface; nothing installable to drop</a:t>
            </a:r>
            <a:endParaRPr lang="en-US" sz="800" dirty="0"/>
          </a:p>
        </p:txBody>
      </p:sp>
      <p:sp>
        <p:nvSpPr>
          <p:cNvPr id="67" name="s16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 written as in-process MCP servers in Agent SDK code</a:t>
            </a:r>
            <a:endParaRPr lang="en-US" sz="950" dirty="0"/>
          </a:p>
        </p:txBody>
      </p:sp>
      <p:sp>
        <p:nvSpPr>
          <p:cNvPr id="68" name="s16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16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16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only — Agent SDK customTools; no filesystem path</a:t>
            </a:r>
            <a:endParaRPr lang="en-US" sz="850" dirty="0"/>
          </a:p>
        </p:txBody>
      </p:sp>
      <p:sp>
        <p:nvSpPr>
          <p:cNvPr id="71" name="s16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16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16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 code: in-process MCP server (customTools API)</a:t>
            </a:r>
            <a:endParaRPr lang="en-US" sz="850" dirty="0"/>
          </a:p>
        </p:txBody>
      </p:sp>
      <p:sp>
        <p:nvSpPr>
          <p:cNvPr id="74" name="s16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16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16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SDK customTools; no CLI, no file drop</a:t>
            </a:r>
            <a:endParaRPr lang="en-US" sz="850" dirty="0"/>
          </a:p>
        </p:txBody>
      </p:sp>
      <p:sp>
        <p:nvSpPr>
          <p:cNvPr id="77" name="s16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16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16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lives in host app code; there is no artifact to update</a:t>
            </a:r>
            <a:endParaRPr lang="en-US" sz="850" dirty="0"/>
          </a:p>
        </p:txBody>
      </p:sp>
      <p:sp>
        <p:nvSpPr>
          <p:cNvPr id="80" name="s16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81" name="s16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16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install.claude: none — code-only surface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compatibility.surfaces: [] (no drop path)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manifest, no version, nothing to pin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7_cube" descr="assets/cube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7_kick" descr="assets/k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7" name="s17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17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V2.1.302 — Anthropic's terminal coding agent — the richest extension surface of the four harnesses</a:t>
            </a:r>
            <a:endParaRPr lang="en-US" sz="1100" dirty="0"/>
          </a:p>
        </p:txBody>
      </p:sp>
      <p:sp>
        <p:nvSpPr>
          <p:cNvPr id="9" name="s1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33</a:t>
            </a:r>
            <a:endParaRPr lang="en-US" sz="950" dirty="0"/>
          </a:p>
        </p:txBody>
      </p:sp>
      <p:sp>
        <p:nvSpPr>
          <p:cNvPr id="11" name="s17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7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7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7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17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7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17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17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+ one settings key; no format change</a:t>
            </a:r>
            <a:endParaRPr lang="en-US" sz="850" dirty="0"/>
          </a:p>
        </p:txBody>
      </p:sp>
      <p:sp>
        <p:nvSpPr>
          <p:cNvPr id="19" name="s17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bottom-bar status script fed session JSON on stdin</a:t>
            </a:r>
            <a:endParaRPr lang="en-US" sz="1050" dirty="0"/>
          </a:p>
        </p:txBody>
      </p:sp>
      <p:sp>
        <p:nvSpPr>
          <p:cNvPr id="20" name="s17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7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7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key statusLine → any script path (all scopes)</a:t>
            </a:r>
            <a:endParaRPr lang="en-US" sz="900" dirty="0"/>
          </a:p>
        </p:txBody>
      </p:sp>
      <p:sp>
        <p:nvSpPr>
          <p:cNvPr id="23" name="s17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7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7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key statusLine → script (JSON stdin)</a:t>
            </a:r>
            <a:endParaRPr lang="en-US" sz="900" dirty="0"/>
          </a:p>
        </p:txBody>
      </p:sp>
      <p:sp>
        <p:nvSpPr>
          <p:cNvPr id="26" name="s17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7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7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/statusline wizard · edit settings key</a:t>
            </a:r>
            <a:endParaRPr lang="en-US" sz="900" dirty="0"/>
          </a:p>
        </p:txBody>
      </p:sp>
      <p:sp>
        <p:nvSpPr>
          <p:cNvPr id="29" name="s17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7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7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parent — settings points at a script; replacing script updates it</a:t>
            </a:r>
            <a:endParaRPr lang="en-US" sz="900" dirty="0"/>
          </a:p>
        </p:txBody>
      </p:sp>
      <p:sp>
        <p:nvSpPr>
          <p:cNvPr id="32" name="s17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3" name="s17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7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drop script; set settings.statusLine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JSON session state on stdin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scopes: user | project | local | managed</a:t>
            </a:r>
            <a:endParaRPr lang="en-US" sz="900" dirty="0"/>
          </a:p>
        </p:txBody>
      </p:sp>
      <p:sp>
        <p:nvSpPr>
          <p:cNvPr id="35" name="s17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7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7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17_c1_topic"/>
          <p:cNvSpPr/>
          <p:nvPr/>
        </p:nvSpPr>
        <p:spPr>
          <a:xfrm>
            <a:off x="6665976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17_c1_vc_sh"/>
          <p:cNvSpPr/>
          <p:nvPr/>
        </p:nvSpPr>
        <p:spPr>
          <a:xfrm>
            <a:off x="10744566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7_c1_vc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1" name="s17_c1_vc_t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42" name="s17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declares required perms → allow-rule overlay</a:t>
            </a:r>
            <a:endParaRPr lang="en-US" sz="850" dirty="0"/>
          </a:p>
        </p:txBody>
      </p:sp>
      <p:sp>
        <p:nvSpPr>
          <p:cNvPr id="43" name="s17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 rules and modes deciding which tool runs need approval</a:t>
            </a:r>
            <a:endParaRPr lang="en-US" sz="1050" dirty="0"/>
          </a:p>
        </p:txBody>
      </p:sp>
      <p:sp>
        <p:nvSpPr>
          <p:cNvPr id="44" name="s17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7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7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permissions · managed-settings.json</a:t>
            </a:r>
            <a:endParaRPr lang="en-US" sz="900" dirty="0"/>
          </a:p>
        </p:txBody>
      </p:sp>
      <p:sp>
        <p:nvSpPr>
          <p:cNvPr id="47" name="s17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7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7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permissions.allow/deny rules; managed security keys</a:t>
            </a:r>
            <a:endParaRPr lang="en-US" sz="900" dirty="0"/>
          </a:p>
        </p:txBody>
      </p:sp>
      <p:sp>
        <p:nvSpPr>
          <p:cNvPr id="50" name="s17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7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7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edits · claude --settings · --accept-command sha</a:t>
            </a:r>
            <a:endParaRPr lang="en-US" sz="900" dirty="0"/>
          </a:p>
        </p:txBody>
      </p:sp>
      <p:sp>
        <p:nvSpPr>
          <p:cNvPr id="53" name="s17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7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7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an artifact — settings state; no update channel; managed keys admin-only</a:t>
            </a:r>
            <a:endParaRPr lang="en-US" sz="900" dirty="0"/>
          </a:p>
        </p:txBody>
      </p:sp>
      <p:sp>
        <p:nvSpPr>
          <p:cNvPr id="56" name="s17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57" name="s17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7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compatibility.requires → permissions.allow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auto/bypass barred from project+local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managed: disableSkillShellExecution, hook keys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8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8_kick" descr="assets/k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18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1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33</a:t>
            </a:r>
            <a:endParaRPr lang="en-US" sz="950" dirty="0"/>
          </a:p>
        </p:txBody>
      </p:sp>
      <p:sp>
        <p:nvSpPr>
          <p:cNvPr id="11" name="s18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8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8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18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18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8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18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18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Spec-pure SKILL.md works; openai.yaml is Codex-only metadata</a:t>
            </a:r>
            <a:endParaRPr lang="en-US" sz="850" dirty="0"/>
          </a:p>
        </p:txBody>
      </p:sp>
      <p:sp>
        <p:nvSpPr>
          <p:cNvPr id="19" name="s18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instruction folders Codex auto-discovers and loads on demand.</a:t>
            </a:r>
            <a:endParaRPr lang="en-US" sz="1050" dirty="0"/>
          </a:p>
        </p:txBody>
      </p:sp>
      <p:sp>
        <p:nvSpPr>
          <p:cNvPr id="20" name="s18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8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8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 · ~/.agents/skills · /etc/codex/skills</a:t>
            </a:r>
            <a:endParaRPr lang="en-US" sz="900" dirty="0"/>
          </a:p>
        </p:txBody>
      </p:sp>
      <p:sp>
        <p:nvSpPr>
          <p:cNvPr id="23" name="s18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8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8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agents/openai.yaml sidecar (interface, policy)</a:t>
            </a:r>
            <a:endParaRPr lang="en-US" sz="900" dirty="0"/>
          </a:p>
        </p:txBody>
      </p:sp>
      <p:sp>
        <p:nvSpPr>
          <p:cNvPr id="26" name="s18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8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8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· $skill-installer · [[skills.config]] + restart</a:t>
            </a:r>
            <a:endParaRPr lang="en-US" sz="900" dirty="0"/>
          </a:p>
        </p:txBody>
      </p:sp>
      <p:sp>
        <p:nvSpPr>
          <p:cNvPr id="29" name="s18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8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8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$skill-installer installs once; update = re-copy dir; restart required.</a:t>
            </a:r>
            <a:endParaRPr lang="en-US" sz="900" dirty="0"/>
          </a:p>
        </p:txBody>
      </p:sp>
      <p:sp>
        <p:nvSpPr>
          <p:cNvPr id="32" name="s18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18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8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install.codex: copy → ~/.agents/skills/&lt;n&gt;/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sidecar: agents/openai.yaml (interface, policy)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opt: [[skills.config]] path=&lt;p&gt; in config.toml</a:t>
            </a:r>
            <a:endParaRPr lang="en-US" sz="900" dirty="0"/>
          </a:p>
        </p:txBody>
      </p:sp>
      <p:sp>
        <p:nvSpPr>
          <p:cNvPr id="35" name="s18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8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8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18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18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8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8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8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md drops in; deprecated + user-only → warn</a:t>
            </a:r>
            <a:endParaRPr lang="en-US" sz="850" dirty="0"/>
          </a:p>
        </p:txBody>
      </p:sp>
      <p:sp>
        <p:nvSpPr>
          <p:cNvPr id="43" name="s18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prompt templates as slash commands; deprecated for skills.</a:t>
            </a:r>
            <a:endParaRPr lang="en-US" sz="1050" dirty="0"/>
          </a:p>
        </p:txBody>
      </p:sp>
      <p:sp>
        <p:nvSpPr>
          <p:cNvPr id="44" name="s18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8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8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~/.codex/prompts/ (user-only, flat md files)</a:t>
            </a:r>
            <a:endParaRPr lang="en-US" sz="900" dirty="0"/>
          </a:p>
        </p:txBody>
      </p:sp>
      <p:sp>
        <p:nvSpPr>
          <p:cNvPr id="47" name="s18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8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8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*.md + frontmatter description, argument-hint</a:t>
            </a:r>
            <a:endParaRPr lang="en-US" sz="900" dirty="0"/>
          </a:p>
        </p:txBody>
      </p:sp>
      <p:sp>
        <p:nvSpPr>
          <p:cNvPr id="50" name="s18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8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8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/prompts:&lt;name&gt; · file drop + restart</a:t>
            </a:r>
            <a:endParaRPr lang="en-US" sz="900" dirty="0"/>
          </a:p>
        </p:txBody>
      </p:sp>
      <p:sp>
        <p:nvSpPr>
          <p:cNvPr id="53" name="s18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8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8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file edits in ~/.codex/prompts/ only; nothing auto-updates.</a:t>
            </a:r>
            <a:endParaRPr lang="en-US" sz="900" dirty="0"/>
          </a:p>
        </p:txBody>
      </p:sp>
      <p:sp>
        <p:nvSpPr>
          <p:cNvPr id="56" name="s18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18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8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install.codex: copy &lt;n&gt;.md → ~/.codex/prompts/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invoke: /prompts:&lt;n&gt; (restart; user-only)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warn: DEPRECATED — prefer skill artifact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9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19_kick" descr="assets/k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19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1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1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33</a:t>
            </a:r>
            <a:endParaRPr lang="en-US" sz="950" dirty="0"/>
          </a:p>
        </p:txBody>
      </p:sp>
      <p:sp>
        <p:nvSpPr>
          <p:cNvPr id="11" name="s19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19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19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19_c0_topic"/>
          <p:cNvSpPr/>
          <p:nvPr/>
        </p:nvSpPr>
        <p:spPr>
          <a:xfrm>
            <a:off x="960120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19_c0_vc_sh"/>
          <p:cNvSpPr/>
          <p:nvPr/>
        </p:nvSpPr>
        <p:spPr>
          <a:xfrm>
            <a:off x="4887285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19_c0_vc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19_c0_vc_t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19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Translate: agent md frontmatter → Codex TOML</a:t>
            </a:r>
            <a:endParaRPr lang="en-US" sz="850" dirty="0"/>
          </a:p>
        </p:txBody>
      </p:sp>
      <p:sp>
        <p:nvSpPr>
          <p:cNvPr id="19" name="s19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helper agents with own model settings; spawned via natural language.</a:t>
            </a:r>
            <a:endParaRPr lang="en-US" sz="1050" dirty="0"/>
          </a:p>
        </p:txBody>
      </p:sp>
      <p:sp>
        <p:nvSpPr>
          <p:cNvPr id="20" name="s19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19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19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.codex/agents/*.toml (project, trusted) · ~/.codex/agents/</a:t>
            </a:r>
            <a:endParaRPr lang="en-US" sz="900" dirty="0"/>
          </a:p>
        </p:txBody>
      </p:sp>
      <p:sp>
        <p:nvSpPr>
          <p:cNvPr id="23" name="s19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9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19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TOML; required name, description, developer_instructions</a:t>
            </a:r>
            <a:endParaRPr lang="en-US" sz="900" dirty="0"/>
          </a:p>
        </p:txBody>
      </p:sp>
      <p:sp>
        <p:nvSpPr>
          <p:cNvPr id="26" name="s19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19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19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/subagents · file drop; project layer needs trust</a:t>
            </a:r>
            <a:endParaRPr lang="en-US" sz="900" dirty="0"/>
          </a:p>
        </p:txBody>
      </p:sp>
      <p:sp>
        <p:nvSpPr>
          <p:cNvPr id="29" name="s19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9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19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TOML file edits only; nothing auto-updates agent files.</a:t>
            </a:r>
            <a:endParaRPr lang="en-US" sz="900" dirty="0"/>
          </a:p>
        </p:txBody>
      </p:sp>
      <p:sp>
        <p:nvSpPr>
          <p:cNvPr id="32" name="s19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19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19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translate: agent .md → .codex/agents/&lt;n&gt;.toml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name, description, developer_instructions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raise parent sandbox/approval (inherited)</a:t>
            </a:r>
            <a:endParaRPr lang="en-US" sz="900" dirty="0"/>
          </a:p>
        </p:txBody>
      </p:sp>
      <p:sp>
        <p:nvSpPr>
          <p:cNvPr id="35" name="s19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9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9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19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19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19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19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19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JSON as Claude Code; drop/merge, trust-gated</a:t>
            </a:r>
            <a:endParaRPr lang="en-US" sz="850" dirty="0"/>
          </a:p>
        </p:txBody>
      </p:sp>
      <p:sp>
        <p:nvSpPr>
          <p:cNvPr id="43" name="s19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handlers (command or MCP tool) fired on 12 lifecycle events.</a:t>
            </a:r>
            <a:endParaRPr lang="en-US" sz="1050" dirty="0"/>
          </a:p>
        </p:txBody>
      </p:sp>
      <p:sp>
        <p:nvSpPr>
          <p:cNvPr id="44" name="s19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19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19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~/.codex/hooks.json · .codex/hooks.json (trusted) · plugins</a:t>
            </a:r>
            <a:endParaRPr lang="en-US" sz="900" dirty="0"/>
          </a:p>
        </p:txBody>
      </p:sp>
      <p:sp>
        <p:nvSpPr>
          <p:cNvPr id="47" name="s19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19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19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hooks.json, Claude-Code shape; 12 events; TOML [hooks]</a:t>
            </a:r>
            <a:endParaRPr lang="en-US" sz="900" dirty="0"/>
          </a:p>
        </p:txBody>
      </p:sp>
      <p:sp>
        <p:nvSpPr>
          <p:cNvPr id="50" name="s19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19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19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drop; [features] hooks · project needs trust</a:t>
            </a:r>
            <a:endParaRPr lang="en-US" sz="900" dirty="0"/>
          </a:p>
        </p:txBody>
      </p:sp>
      <p:sp>
        <p:nvSpPr>
          <p:cNvPr id="53" name="s19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19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19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edits to hooks.json/[hooks]; plugin hooks await user review.</a:t>
            </a:r>
            <a:endParaRPr lang="en-US" sz="900" dirty="0"/>
          </a:p>
        </p:txBody>
      </p:sp>
      <p:sp>
        <p:nvSpPr>
          <p:cNvPr id="56" name="s19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19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19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install.codex: merge → ~/.codex/hooks.json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merge additively; CLAUDE_PLUGIN_ROOT env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gate: project layer + plugin hooks need trust/review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0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0_kick" descr="assets/k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20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2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2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33</a:t>
            </a:r>
            <a:endParaRPr lang="en-US" sz="950" dirty="0"/>
          </a:p>
        </p:txBody>
      </p:sp>
      <p:sp>
        <p:nvSpPr>
          <p:cNvPr id="11" name="s20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0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0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20_c0_topic"/>
          <p:cNvSpPr/>
          <p:nvPr/>
        </p:nvSpPr>
        <p:spPr>
          <a:xfrm>
            <a:off x="960120" y="1609344"/>
            <a:ext cx="9729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20_c0_vc_sh"/>
          <p:cNvSpPr/>
          <p:nvPr/>
        </p:nvSpPr>
        <p:spPr>
          <a:xfrm>
            <a:off x="10744566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0_c0_vc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20_c0_vc_t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20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plugin.json + .codex-plugin overlay + catalog entry</a:t>
            </a:r>
            <a:endParaRPr lang="en-US" sz="950" dirty="0"/>
          </a:p>
        </p:txBody>
      </p:sp>
      <p:sp>
        <p:nvSpPr>
          <p:cNvPr id="19" name="s20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of skills + MCP servers + hooks installable from marketplaces.</a:t>
            </a:r>
            <a:endParaRPr lang="en-US" sz="1200" dirty="0"/>
          </a:p>
        </p:txBody>
      </p:sp>
      <p:sp>
        <p:nvSpPr>
          <p:cNvPr id="20" name="s20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0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20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marketplace: .agents/plugins/ (repo) · ~/.agents/ (user)</a:t>
            </a:r>
            <a:endParaRPr lang="en-US" sz="1050" dirty="0"/>
          </a:p>
        </p:txBody>
      </p:sp>
      <p:sp>
        <p:nvSpPr>
          <p:cNvPr id="23" name="s20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0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20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 (agent-plugins 1.0.0) + .codex-plugin overlay</a:t>
            </a:r>
            <a:endParaRPr lang="en-US" sz="1050" dirty="0"/>
          </a:p>
        </p:txBody>
      </p:sp>
      <p:sp>
        <p:nvSpPr>
          <p:cNvPr id="26" name="s20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0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20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/plugins · codex plugin marketplace add|list|upgrade|remove</a:t>
            </a:r>
            <a:endParaRPr lang="en-US" sz="1050" dirty="0"/>
          </a:p>
        </p:txBody>
      </p:sp>
      <p:sp>
        <p:nvSpPr>
          <p:cNvPr id="29" name="s20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0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20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the only auto-update: codex plugin marketplace upgrade</a:t>
            </a:r>
            <a:endParaRPr lang="en-US" sz="1050" dirty="0"/>
          </a:p>
        </p:txBody>
      </p:sp>
      <p:sp>
        <p:nvSpPr>
          <p:cNvPr id="32" name="s20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20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20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plugin.json + skills/ + mcp.json + overlay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catalog: .agents/plugins/marketplace.json entry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codex plugin marketplace add &lt;src&gt;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1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1_kick" descr="assets/k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21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2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2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33</a:t>
            </a:r>
            <a:endParaRPr lang="en-US" sz="950" dirty="0"/>
          </a:p>
        </p:txBody>
      </p:sp>
      <p:sp>
        <p:nvSpPr>
          <p:cNvPr id="11" name="s21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1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1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21_c0_topic"/>
          <p:cNvSpPr/>
          <p:nvPr/>
        </p:nvSpPr>
        <p:spPr>
          <a:xfrm>
            <a:off x="96012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21_c0_vc_sh"/>
          <p:cNvSpPr/>
          <p:nvPr/>
        </p:nvSpPr>
        <p:spPr>
          <a:xfrm>
            <a:off x="300362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1_c0_vc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1_c0_vc_t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1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Translate: mcpServers JSON → [mcp_servers] TOML</a:t>
            </a:r>
            <a:endParaRPr lang="en-US" sz="800" dirty="0"/>
          </a:p>
        </p:txBody>
      </p:sp>
      <p:sp>
        <p:nvSpPr>
          <p:cNvPr id="19" name="s21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 servers (stdio/HTTP) in TOML; per-tool approval modes.</a:t>
            </a:r>
            <a:endParaRPr lang="en-US" sz="950" dirty="0"/>
          </a:p>
        </p:txBody>
      </p:sp>
      <p:sp>
        <p:nvSpPr>
          <p:cNvPr id="20" name="s21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1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21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~/.codex/config.toml · .codex/config.toml · plugin .mcp.json</a:t>
            </a:r>
            <a:endParaRPr lang="en-US" sz="850" dirty="0"/>
          </a:p>
        </p:txBody>
      </p:sp>
      <p:sp>
        <p:nvSpPr>
          <p:cNvPr id="23" name="s21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1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21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[mcp_servers.&lt;id&gt;] TOML: command/args/env or url/auth</a:t>
            </a:r>
            <a:endParaRPr lang="en-US" sz="850" dirty="0"/>
          </a:p>
        </p:txBody>
      </p:sp>
      <p:sp>
        <p:nvSpPr>
          <p:cNvPr id="26" name="s21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1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21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mcp add &lt;id&gt; -- &lt;cmd&gt;|--url · codex mcp list · /mcp</a:t>
            </a:r>
            <a:endParaRPr lang="en-US" sz="850" dirty="0"/>
          </a:p>
        </p:txBody>
      </p:sp>
      <p:sp>
        <p:nvSpPr>
          <p:cNvPr id="29" name="s21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1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21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Manual codex mcp add / TOML edits only.</a:t>
            </a:r>
            <a:endParaRPr lang="en-US" sz="850" dirty="0"/>
          </a:p>
        </p:txBody>
      </p:sp>
      <p:sp>
        <p:nvSpPr>
          <p:cNvPr id="32" name="s21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21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21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translate: mcpServers JSON → [mcp_servers.&lt;id&gt;]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codex mcp add &lt;id&gt; -- &lt;cmd&gt;|--url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per-tool: tools.&lt;t&gt;.approval_mode in TOML</a:t>
            </a:r>
            <a:endParaRPr lang="en-US" sz="800" dirty="0"/>
          </a:p>
        </p:txBody>
      </p:sp>
      <p:sp>
        <p:nvSpPr>
          <p:cNvPr id="35" name="s21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1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1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21_c1_topic"/>
          <p:cNvSpPr/>
          <p:nvPr/>
        </p:nvSpPr>
        <p:spPr>
          <a:xfrm>
            <a:off x="475488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21_c1_vc_sh"/>
          <p:cNvSpPr/>
          <p:nvPr/>
        </p:nvSpPr>
        <p:spPr>
          <a:xfrm>
            <a:off x="672266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1_c1_vc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21_c1_vc_t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21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from codex.md as of rust-v0.163.0, 2026-10</a:t>
            </a:r>
            <a:endParaRPr lang="en-US" sz="800" dirty="0"/>
          </a:p>
        </p:txBody>
      </p:sp>
      <p:sp>
        <p:nvSpPr>
          <p:cNvPr id="43" name="s21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language-server surface — LSP absent from Codex docs entirely.</a:t>
            </a:r>
            <a:endParaRPr lang="en-US" sz="950" dirty="0"/>
          </a:p>
        </p:txBody>
      </p:sp>
      <p:sp>
        <p:nvSpPr>
          <p:cNvPr id="44" name="s21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1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21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47" name="s21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1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21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s21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1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21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53" name="s21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1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21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artifact exists to update.</a:t>
            </a:r>
            <a:endParaRPr lang="en-US" sz="850" dirty="0"/>
          </a:p>
        </p:txBody>
      </p:sp>
      <p:sp>
        <p:nvSpPr>
          <p:cNvPr id="56" name="s21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21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21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compat.harnesses.codex.supported = false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surfaces: [] · via: []</a:t>
            </a:r>
            <a:endParaRPr lang="en-US" sz="800" dirty="0"/>
          </a:p>
        </p:txBody>
      </p:sp>
      <p:sp>
        <p:nvSpPr>
          <p:cNvPr id="59" name="s21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21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21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2" name="s21_c2_topic"/>
          <p:cNvSpPr/>
          <p:nvPr/>
        </p:nvSpPr>
        <p:spPr>
          <a:xfrm>
            <a:off x="854964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21_c2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21_c2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5" name="s21_c2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66" name="s21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[tools]/[tool_suggest] toggles; rust-v0.163.0, 2026-10</a:t>
            </a:r>
            <a:endParaRPr lang="en-US" sz="800" dirty="0"/>
          </a:p>
        </p:txBody>
      </p:sp>
      <p:sp>
        <p:nvSpPr>
          <p:cNvPr id="67" name="s21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custom-tool registration; only [tools]/[tool_suggest] toggles.</a:t>
            </a:r>
            <a:endParaRPr lang="en-US" sz="950" dirty="0"/>
          </a:p>
        </p:txBody>
      </p:sp>
      <p:sp>
        <p:nvSpPr>
          <p:cNvPr id="68" name="s21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21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21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1" name="s21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21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21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4" name="s21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21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21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7" name="s21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21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21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artifact exists to update.</a:t>
            </a:r>
            <a:endParaRPr lang="en-US" sz="850" dirty="0"/>
          </a:p>
        </p:txBody>
      </p:sp>
      <p:sp>
        <p:nvSpPr>
          <p:cNvPr id="80" name="s21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81" name="s21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21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compat.harnesses.codex.supported = false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surfaces: [] · via: []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2_cube" descr="assets/cube_co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2_kick" descr="assets/k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168434" cy="182880"/>
          </a:xfrm>
          <a:prstGeom prst="rect">
            <a:avLst/>
          </a:prstGeom>
        </p:spPr>
      </p:pic>
      <p:pic>
        <p:nvPicPr>
          <p:cNvPr id="7" name="s22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2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RUST-V0.163.0 — OpenAI's open-source Rust terminal coding agent; one ~/.codex config shared by CLI, desktop, IDE.</a:t>
            </a:r>
            <a:endParaRPr lang="en-US" sz="1100" dirty="0"/>
          </a:p>
        </p:txBody>
      </p:sp>
      <p:sp>
        <p:nvSpPr>
          <p:cNvPr id="9" name="s2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33</a:t>
            </a:r>
            <a:endParaRPr lang="en-US" sz="950" dirty="0"/>
          </a:p>
        </p:txBody>
      </p:sp>
      <p:sp>
        <p:nvSpPr>
          <p:cNvPr id="11" name="s22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2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2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22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22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2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" name="s22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18" name="s22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[tui] notifications; rust-v0.163.0, 2026-10</a:t>
            </a:r>
            <a:endParaRPr lang="en-US" sz="850" dirty="0"/>
          </a:p>
        </p:txBody>
      </p:sp>
      <p:sp>
        <p:nvSpPr>
          <p:cNvPr id="19" name="s22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status-line surface — closest is [tui] notification keys in config.</a:t>
            </a:r>
            <a:endParaRPr lang="en-US" sz="1050" dirty="0"/>
          </a:p>
        </p:txBody>
      </p:sp>
      <p:sp>
        <p:nvSpPr>
          <p:cNvPr id="20" name="s22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2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2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s22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2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2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s22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2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2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22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2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2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artifact exists to update.</a:t>
            </a:r>
            <a:endParaRPr lang="en-US" sz="900" dirty="0"/>
          </a:p>
        </p:txBody>
      </p:sp>
      <p:sp>
        <p:nvSpPr>
          <p:cNvPr id="32" name="s22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3" name="s22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2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compat.harnesses.codex.supported = false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surfaces: [] · via: []</a:t>
            </a:r>
            <a:endParaRPr lang="en-US" sz="900" dirty="0"/>
          </a:p>
        </p:txBody>
      </p:sp>
      <p:sp>
        <p:nvSpPr>
          <p:cNvPr id="35" name="s22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2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2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s22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22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2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2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22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.rules drop verbatim; record declares sandbox+approval needs</a:t>
            </a:r>
            <a:endParaRPr lang="en-US" sz="850" dirty="0"/>
          </a:p>
        </p:txBody>
      </p:sp>
      <p:sp>
        <p:nvSpPr>
          <p:cNvPr id="43" name="s22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 sandbox, approvals, permission profiles, Starlark cmd rules.</a:t>
            </a:r>
            <a:endParaRPr lang="en-US" sz="1050" dirty="0"/>
          </a:p>
        </p:txBody>
      </p:sp>
      <p:sp>
        <p:nvSpPr>
          <p:cNvPr id="44" name="s22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2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2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config.toml · rules/*.rules · /etc/codex/requirements.toml</a:t>
            </a:r>
            <a:endParaRPr lang="en-US" sz="900" dirty="0"/>
          </a:p>
        </p:txBody>
      </p:sp>
      <p:sp>
        <p:nvSpPr>
          <p:cNvPr id="47" name="s22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2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2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TOML sections + Starlark prefix_rule() .rules files</a:t>
            </a:r>
            <a:endParaRPr lang="en-US" sz="900" dirty="0"/>
          </a:p>
        </p:txBody>
      </p:sp>
      <p:sp>
        <p:nvSpPr>
          <p:cNvPr id="50" name="s22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2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2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execpolicy check --rules … -- &lt;cmd&gt; · codex exec --json</a:t>
            </a:r>
            <a:endParaRPr lang="en-US" sz="900" dirty="0"/>
          </a:p>
        </p:txBody>
      </p:sp>
      <p:sp>
        <p:nvSpPr>
          <p:cNvPr id="53" name="s22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2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2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Policy = static config/rule files; admins pin via requirements.toml.</a:t>
            </a:r>
            <a:endParaRPr lang="en-US" sz="900" dirty="0"/>
          </a:p>
        </p:txBody>
      </p:sp>
      <p:sp>
        <p:nvSpPr>
          <p:cNvPr id="56" name="s22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57" name="s22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2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compat.requires → sandbox_mode + network_access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rules/&lt;name&gt;.rules prefix_rule(allow|prompt)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validate: codex execpolicy check -- &lt;cmd&gt;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3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3_kick" descr="assets/k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3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33</a:t>
            </a:r>
            <a:endParaRPr lang="en-US" sz="950" dirty="0"/>
          </a:p>
        </p:txBody>
      </p:sp>
      <p:sp>
        <p:nvSpPr>
          <p:cNvPr id="11" name="s23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3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3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3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23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3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23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23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SKILL.md + metadata.opencode/* overlay</a:t>
            </a:r>
            <a:endParaRPr lang="en-US" sz="850" dirty="0"/>
          </a:p>
        </p:txBody>
      </p:sp>
      <p:sp>
        <p:nvSpPr>
          <p:cNvPr id="19" name="s23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Agent Skills: SKILL.md folders the model loads on demand</a:t>
            </a:r>
            <a:endParaRPr lang="en-US" sz="1050" dirty="0"/>
          </a:p>
        </p:txBody>
      </p:sp>
      <p:sp>
        <p:nvSpPr>
          <p:cNvPr id="20" name="s23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3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3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.opencode/skills · .agents/skills · ~/.config/opencode/skills</a:t>
            </a:r>
            <a:endParaRPr lang="en-US" sz="900" dirty="0"/>
          </a:p>
        </p:txBody>
      </p:sp>
      <p:sp>
        <p:nvSpPr>
          <p:cNvPr id="23" name="s23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3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3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+ YAML frontmatter (Anthropic-compatible)</a:t>
            </a:r>
            <a:endParaRPr lang="en-US" sz="900" dirty="0"/>
          </a:p>
        </p:txBody>
      </p:sp>
      <p:sp>
        <p:nvSpPr>
          <p:cNvPr id="26" name="s23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3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3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file drop · config skills[] paths · catalog URL</a:t>
            </a:r>
            <a:endParaRPr lang="en-US" sz="900" dirty="0"/>
          </a:p>
        </p:txBody>
      </p:sp>
      <p:sp>
        <p:nvSpPr>
          <p:cNvPr id="29" name="s23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3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3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catalog caches per version; bump = update. Most registry-ready</a:t>
            </a:r>
            <a:endParaRPr lang="en-US" sz="900" dirty="0"/>
          </a:p>
        </p:txBody>
      </p:sp>
      <p:sp>
        <p:nvSpPr>
          <p:cNvPr id="32" name="s23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3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3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→ .opencode/skills/ (beats .agents, .claude)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add catalog URL to config skills[] (v2)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metadata.opencode/slash, autoinvoke</a:t>
            </a:r>
            <a:endParaRPr lang="en-US" sz="900" dirty="0"/>
          </a:p>
        </p:txBody>
      </p:sp>
      <p:sp>
        <p:nvSpPr>
          <p:cNvPr id="35" name="s23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3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3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3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23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3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3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23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copies md verbatim (design doc §4)</a:t>
            </a:r>
            <a:endParaRPr lang="en-US" sz="850" dirty="0"/>
          </a:p>
        </p:txBody>
      </p:sp>
      <p:sp>
        <p:nvSpPr>
          <p:cNvPr id="43" name="s23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slash commands — reusable prompt templates</a:t>
            </a:r>
            <a:endParaRPr lang="en-US" sz="1050" dirty="0"/>
          </a:p>
        </p:txBody>
      </p:sp>
      <p:sp>
        <p:nvSpPr>
          <p:cNvPr id="44" name="s23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3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3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.opencode/commands/&lt;name&gt;.md · ~/.config/opencode/commands</a:t>
            </a:r>
            <a:endParaRPr lang="en-US" sz="900" dirty="0"/>
          </a:p>
        </p:txBody>
      </p:sp>
      <p:sp>
        <p:nvSpPr>
          <p:cNvPr id="47" name="s23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3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3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frontmatter: description/agent/subtask/model</a:t>
            </a:r>
            <a:endParaRPr lang="en-US" sz="900" dirty="0"/>
          </a:p>
        </p:txBody>
      </p:sp>
      <p:sp>
        <p:nvSpPr>
          <p:cNvPr id="50" name="s23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3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3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file drop; or commands[] config array (v2)</a:t>
            </a:r>
            <a:endParaRPr lang="en-US" sz="900" dirty="0"/>
          </a:p>
        </p:txBody>
      </p:sp>
      <p:sp>
        <p:nvSpPr>
          <p:cNvPr id="53" name="s23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3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3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file drop / commands[] config; replace by hand</a:t>
            </a:r>
            <a:endParaRPr lang="en-US" sz="900" dirty="0"/>
          </a:p>
        </p:txBody>
      </p:sp>
      <p:sp>
        <p:nvSpPr>
          <p:cNvPr id="56" name="s23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3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3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copy md → .opencode/commands/&lt;n&gt;.md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config commands[] {name, template}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dirs namespace: a/b.md → /a/b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4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4_kick" descr="assets/k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4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33</a:t>
            </a:r>
            <a:endParaRPr lang="en-US" sz="950" dirty="0"/>
          </a:p>
        </p:txBody>
      </p:sp>
      <p:sp>
        <p:nvSpPr>
          <p:cNvPr id="11" name="s24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4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4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4_c0_topic"/>
          <p:cNvSpPr/>
          <p:nvPr/>
        </p:nvSpPr>
        <p:spPr>
          <a:xfrm>
            <a:off x="960120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24_c0_vc_sh"/>
          <p:cNvSpPr/>
          <p:nvPr/>
        </p:nvSpPr>
        <p:spPr>
          <a:xfrm>
            <a:off x="4887285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4_c0_vc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4_c0_vc_t"/>
          <p:cNvSpPr/>
          <p:nvPr/>
        </p:nvSpPr>
        <p:spPr>
          <a:xfrm>
            <a:off x="4859853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4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agent → .md frontmatter (mode/perms)</a:t>
            </a:r>
            <a:endParaRPr lang="en-US" sz="850" dirty="0"/>
          </a:p>
        </p:txBody>
      </p:sp>
      <p:sp>
        <p:nvSpPr>
          <p:cNvPr id="19" name="s24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sub-agent definitions with own model and permissions</a:t>
            </a:r>
            <a:endParaRPr lang="en-US" sz="1050" dirty="0"/>
          </a:p>
        </p:txBody>
      </p:sp>
      <p:sp>
        <p:nvSpPr>
          <p:cNvPr id="20" name="s24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4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4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.opencode/agents/&lt;name&gt;.md · ~/.config/opencode/agents</a:t>
            </a:r>
            <a:endParaRPr lang="en-US" sz="900" dirty="0"/>
          </a:p>
        </p:txBody>
      </p:sp>
      <p:sp>
        <p:nvSpPr>
          <p:cNvPr id="23" name="s24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4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4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frontmatter: description, mode, model, permission</a:t>
            </a:r>
            <a:endParaRPr lang="en-US" sz="900" dirty="0"/>
          </a:p>
        </p:txBody>
      </p:sp>
      <p:sp>
        <p:nvSpPr>
          <p:cNvPr id="26" name="s24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4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4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agent add · list · remove</a:t>
            </a:r>
            <a:endParaRPr lang="en-US" sz="900" dirty="0"/>
          </a:p>
        </p:txBody>
      </p:sp>
      <p:sp>
        <p:nvSpPr>
          <p:cNvPr id="29" name="s24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4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4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replace the .md by hand; CLI only scaffolds</a:t>
            </a:r>
            <a:endParaRPr lang="en-US" sz="900" dirty="0"/>
          </a:p>
        </p:txBody>
      </p:sp>
      <p:sp>
        <p:nvSpPr>
          <p:cNvPr id="32" name="s24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4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4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.md: mode=subagent + permission map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.opencode/agents/&lt;n&gt;.md (id=filename)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built-ins: build plan general explore scout</a:t>
            </a:r>
            <a:endParaRPr lang="en-US" sz="900" dirty="0"/>
          </a:p>
        </p:txBody>
      </p:sp>
      <p:sp>
        <p:nvSpPr>
          <p:cNvPr id="35" name="s24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4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4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4_c1_topic"/>
          <p:cNvSpPr/>
          <p:nvPr/>
        </p:nvSpPr>
        <p:spPr>
          <a:xfrm>
            <a:off x="6665976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24_c1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4_c1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1" name="s24_c1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42" name="s24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 spec → codegen TS plugin module</a:t>
            </a:r>
            <a:endParaRPr lang="en-US" sz="850" dirty="0"/>
          </a:p>
        </p:txBody>
      </p:sp>
      <p:sp>
        <p:nvSpPr>
          <p:cNvPr id="43" name="s24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hooks file — event reactions live in TypeScript plugins</a:t>
            </a:r>
            <a:endParaRPr lang="en-US" sz="1050" dirty="0"/>
          </a:p>
        </p:txBody>
      </p:sp>
      <p:sp>
        <p:nvSpPr>
          <p:cNvPr id="44" name="s24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4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4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.opencode/plugins/*.ts · ~/.config/opencode/plugins</a:t>
            </a:r>
            <a:endParaRPr lang="en-US" sz="900" dirty="0"/>
          </a:p>
        </p:txBody>
      </p:sp>
      <p:sp>
        <p:nvSpPr>
          <p:cNvPr id="47" name="s24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4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4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plugin exporting event/tool hooks (v2)</a:t>
            </a:r>
            <a:endParaRPr lang="en-US" sz="900" dirty="0"/>
          </a:p>
        </p:txBody>
      </p:sp>
      <p:sp>
        <p:nvSpPr>
          <p:cNvPr id="50" name="s24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4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4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· list · check · update · remove</a:t>
            </a:r>
            <a:endParaRPr lang="en-US" sz="900" dirty="0"/>
          </a:p>
        </p:txBody>
      </p:sp>
      <p:sp>
        <p:nvSpPr>
          <p:cNvPr id="53" name="s24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4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4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when the codegen'd plugin ships on npm: plugin update</a:t>
            </a:r>
            <a:endParaRPr lang="en-US" sz="900" dirty="0"/>
          </a:p>
        </p:txBody>
      </p:sp>
      <p:sp>
        <p:nvSpPr>
          <p:cNvPr id="56" name="s24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4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4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 TS plugin → .opencode/plugins/agentreg-&lt;n&gt;.ts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map: tool.execute.before/after · permission.asked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v1→v2 event rewrite; plugins incompatible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5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5_kick" descr="assets/k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5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2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33</a:t>
            </a:r>
            <a:endParaRPr lang="en-US" sz="950" dirty="0"/>
          </a:p>
        </p:txBody>
      </p:sp>
      <p:sp>
        <p:nvSpPr>
          <p:cNvPr id="11" name="s25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5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5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5_c0_topic"/>
          <p:cNvSpPr/>
          <p:nvPr/>
        </p:nvSpPr>
        <p:spPr>
          <a:xfrm>
            <a:off x="960120" y="1609344"/>
            <a:ext cx="9578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25_c0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5_c0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5_c0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5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→ npm TS adapter plugin pkg</a:t>
            </a:r>
            <a:endParaRPr lang="en-US" sz="950" dirty="0"/>
          </a:p>
        </p:txBody>
      </p:sp>
      <p:sp>
        <p:nvSpPr>
          <p:cNvPr id="19" name="s25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modules that hook events and add custom tools</a:t>
            </a:r>
            <a:endParaRPr lang="en-US" sz="1200" dirty="0"/>
          </a:p>
        </p:txBody>
      </p:sp>
      <p:sp>
        <p:nvSpPr>
          <p:cNvPr id="20" name="s25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5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25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.opencode/plugins/*.ts · plugins[] config · npm/git/path</a:t>
            </a:r>
            <a:endParaRPr lang="en-US" sz="1050" dirty="0"/>
          </a:p>
        </p:txBody>
      </p:sp>
      <p:sp>
        <p:nvSpPr>
          <p:cNvPr id="23" name="s25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5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25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module, Plugin type from @opencode-ai/plugin</a:t>
            </a:r>
            <a:endParaRPr lang="en-US" sz="1050" dirty="0"/>
          </a:p>
        </p:txBody>
      </p:sp>
      <p:sp>
        <p:nvSpPr>
          <p:cNvPr id="26" name="s25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5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25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pkg@ver · list · check · update</a:t>
            </a:r>
            <a:endParaRPr lang="en-US" sz="1050" dirty="0"/>
          </a:p>
        </p:txBody>
      </p:sp>
      <p:sp>
        <p:nvSpPr>
          <p:cNvPr id="29" name="s25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5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25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opencode plugin update; npm pkg@version pins</a:t>
            </a:r>
            <a:endParaRPr lang="en-US" sz="1050" dirty="0"/>
          </a:p>
        </p:txBody>
      </p:sp>
      <p:sp>
        <p:nvSpPr>
          <p:cNvPr id="32" name="s25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5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25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npm pkg; opencode plugin add &lt;pkg&gt;@&lt;ver&gt;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npm · git pkg@github:o/r · path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official marketplace; aggregators only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6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6_kick" descr="assets/k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6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2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33</a:t>
            </a:r>
            <a:endParaRPr lang="en-US" sz="950" dirty="0"/>
          </a:p>
        </p:txBody>
      </p:sp>
      <p:sp>
        <p:nvSpPr>
          <p:cNvPr id="11" name="s26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6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6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6_c0_topic"/>
          <p:cNvSpPr/>
          <p:nvPr/>
        </p:nvSpPr>
        <p:spPr>
          <a:xfrm>
            <a:off x="96012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26_c0_vc_sh"/>
          <p:cNvSpPr/>
          <p:nvPr/>
        </p:nvSpPr>
        <p:spPr>
          <a:xfrm>
            <a:off x="300362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6_c0_vc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26_c0_vc_t"/>
          <p:cNvSpPr/>
          <p:nvPr/>
        </p:nvSpPr>
        <p:spPr>
          <a:xfrm>
            <a:off x="297618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26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→ mcp.servers JSON (v1 mcp.&lt;n&gt; shim)</a:t>
            </a:r>
            <a:endParaRPr lang="en-US" sz="800" dirty="0"/>
          </a:p>
        </p:txBody>
      </p:sp>
      <p:sp>
        <p:nvSpPr>
          <p:cNvPr id="19" name="s26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external tool servers connected via stdio or HTTP</a:t>
            </a:r>
            <a:endParaRPr lang="en-US" sz="950" dirty="0"/>
          </a:p>
        </p:txBody>
      </p:sp>
      <p:sp>
        <p:nvSpPr>
          <p:cNvPr id="20" name="s26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6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26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 mcp.servers.&lt;name&gt; (v2) · mcp.&lt;name&gt; (v1)</a:t>
            </a:r>
            <a:endParaRPr lang="en-US" sz="850" dirty="0"/>
          </a:p>
        </p:txBody>
      </p:sp>
      <p:sp>
        <p:nvSpPr>
          <p:cNvPr id="23" name="s26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6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26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entry: local command/env · remote url/headers</a:t>
            </a:r>
            <a:endParaRPr lang="en-US" sz="850" dirty="0"/>
          </a:p>
        </p:txBody>
      </p:sp>
      <p:sp>
        <p:nvSpPr>
          <p:cNvPr id="26" name="s26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6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26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mcp add &lt;n&gt; --scope project|user|system</a:t>
            </a:r>
            <a:endParaRPr lang="en-US" sz="850" dirty="0"/>
          </a:p>
        </p:txBody>
      </p:sp>
      <p:sp>
        <p:nvSpPr>
          <p:cNvPr id="29" name="s26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6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26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manual config edit or re-run opencode mcp add</a:t>
            </a:r>
            <a:endParaRPr lang="en-US" sz="850" dirty="0"/>
          </a:p>
        </p:txBody>
      </p:sp>
      <p:sp>
        <p:nvSpPr>
          <p:cNvPr id="32" name="s26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6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26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mcp add &lt;n&gt; --scope user|project [--url]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mcp.servers.&lt;n&gt; (v2) · mcp.&lt;n&gt; (v1)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url + headers + oauth ({env:KEY})</a:t>
            </a:r>
            <a:endParaRPr lang="en-US" sz="800" dirty="0"/>
          </a:p>
        </p:txBody>
      </p:sp>
      <p:sp>
        <p:nvSpPr>
          <p:cNvPr id="35" name="s26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6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6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6_c1_topic"/>
          <p:cNvSpPr/>
          <p:nvPr/>
        </p:nvSpPr>
        <p:spPr>
          <a:xfrm>
            <a:off x="475488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26_c1_vc_sh"/>
          <p:cNvSpPr/>
          <p:nvPr/>
        </p:nvSpPr>
        <p:spPr>
          <a:xfrm>
            <a:off x="672266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6_c1_vc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26_c1_vc_t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26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config-key-only; no registration schema</a:t>
            </a:r>
            <a:endParaRPr lang="en-US" sz="800" dirty="0"/>
          </a:p>
        </p:txBody>
      </p:sp>
      <p:sp>
        <p:nvSpPr>
          <p:cNvPr id="43" name="s26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Language-server support: just a config key and plugin events</a:t>
            </a:r>
            <a:endParaRPr lang="en-US" sz="950" dirty="0"/>
          </a:p>
        </p:txBody>
      </p:sp>
      <p:sp>
        <p:nvSpPr>
          <p:cNvPr id="44" name="s26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6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26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lsp key · plugin events only</a:t>
            </a:r>
            <a:endParaRPr lang="en-US" sz="850" dirty="0"/>
          </a:p>
        </p:txBody>
      </p:sp>
      <p:sp>
        <p:nvSpPr>
          <p:cNvPr id="47" name="s26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6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26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documented — lsp key shape unspecified</a:t>
            </a:r>
            <a:endParaRPr lang="en-US" sz="850" dirty="0"/>
          </a:p>
        </p:txBody>
      </p:sp>
      <p:sp>
        <p:nvSpPr>
          <p:cNvPr id="50" name="s26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6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26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no LSP CLI or registration documented</a:t>
            </a:r>
            <a:endParaRPr lang="en-US" sz="850" dirty="0"/>
          </a:p>
        </p:txBody>
      </p:sp>
      <p:sp>
        <p:nvSpPr>
          <p:cNvPr id="53" name="s26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6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26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no surface to update</a:t>
            </a:r>
            <a:endParaRPr lang="en-US" sz="850" dirty="0"/>
          </a:p>
        </p:txBody>
      </p:sp>
      <p:sp>
        <p:nvSpPr>
          <p:cNvPr id="56" name="s26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6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26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install.opencode — nothing emittable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 config key exists; schema undocumented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events: lsp.client.diagnostics · lsp.updated</a:t>
            </a:r>
            <a:endParaRPr lang="en-US" sz="800" dirty="0"/>
          </a:p>
        </p:txBody>
      </p:sp>
      <p:sp>
        <p:nvSpPr>
          <p:cNvPr id="59" name="s26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26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26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2" name="s26_c2_topic"/>
          <p:cNvSpPr/>
          <p:nvPr/>
        </p:nvSpPr>
        <p:spPr>
          <a:xfrm>
            <a:off x="854964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26_c2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26_c2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26_c2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66" name="s26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spec → codegen TS plugin tool()</a:t>
            </a:r>
            <a:endParaRPr lang="en-US" sz="800" dirty="0"/>
          </a:p>
        </p:txBody>
      </p:sp>
      <p:sp>
        <p:nvSpPr>
          <p:cNvPr id="67" name="s26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agent tools defined in TypeScript plugins via tool()</a:t>
            </a:r>
            <a:endParaRPr lang="en-US" sz="950" dirty="0"/>
          </a:p>
        </p:txBody>
      </p:sp>
      <p:sp>
        <p:nvSpPr>
          <p:cNvPr id="68" name="s26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26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26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.opencode/plugins/*.ts (tool() in plugin module)</a:t>
            </a:r>
            <a:endParaRPr lang="en-US" sz="850" dirty="0"/>
          </a:p>
        </p:txBody>
      </p:sp>
      <p:sp>
        <p:nvSpPr>
          <p:cNvPr id="71" name="s26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26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26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tool({ description, args: Zod, execute })</a:t>
            </a:r>
            <a:endParaRPr lang="en-US" sz="850" dirty="0"/>
          </a:p>
        </p:txBody>
      </p:sp>
      <p:sp>
        <p:nvSpPr>
          <p:cNvPr id="74" name="s26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26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26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· check · update</a:t>
            </a:r>
            <a:endParaRPr lang="en-US" sz="850" dirty="0"/>
          </a:p>
        </p:txBody>
      </p:sp>
      <p:sp>
        <p:nvSpPr>
          <p:cNvPr id="77" name="s26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26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26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tools update with their plugin (plugin update)</a:t>
            </a:r>
            <a:endParaRPr lang="en-US" sz="850" dirty="0"/>
          </a:p>
        </p:txBody>
      </p:sp>
      <p:sp>
        <p:nvSpPr>
          <p:cNvPr id="80" name="s26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81" name="s26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26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tool({description, args: Zod, execute})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 inside plugin pkg; override built-ins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validate: opencode plugin check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7_cube" descr="assets/cube_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7_kick" descr="assets/k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7" name="s27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27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2.0.X — Open-source terminal AI coding agent (Anomaly, TS; 2.0 rewrite runs on Node)</a:t>
            </a:r>
            <a:endParaRPr lang="en-US" sz="1100" dirty="0"/>
          </a:p>
        </p:txBody>
      </p:sp>
      <p:sp>
        <p:nvSpPr>
          <p:cNvPr id="9" name="s2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33</a:t>
            </a:r>
            <a:endParaRPr lang="en-US" sz="950" dirty="0"/>
          </a:p>
        </p:txBody>
      </p:sp>
      <p:sp>
        <p:nvSpPr>
          <p:cNvPr id="11" name="s27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7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7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s27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27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7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" name="s27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18" name="s27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opencode.md documents themes only, no statusline</a:t>
            </a:r>
            <a:endParaRPr lang="en-US" sz="850" dirty="0"/>
          </a:p>
        </p:txBody>
      </p:sp>
      <p:sp>
        <p:nvSpPr>
          <p:cNvPr id="19" name="s27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statusline surface; themes are the adjacent JSON drop</a:t>
            </a:r>
            <a:endParaRPr lang="en-US" sz="1050" dirty="0"/>
          </a:p>
        </p:txBody>
      </p:sp>
      <p:sp>
        <p:nvSpPr>
          <p:cNvPr id="20" name="s27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7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7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· themes: .opencode/themes/&lt;name&gt;.json</a:t>
            </a:r>
            <a:endParaRPr lang="en-US" sz="900" dirty="0"/>
          </a:p>
        </p:txBody>
      </p:sp>
      <p:sp>
        <p:nvSpPr>
          <p:cNvPr id="23" name="s27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7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7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theme.json only (no statusline format exists)</a:t>
            </a:r>
            <a:endParaRPr lang="en-US" sz="900" dirty="0"/>
          </a:p>
        </p:txBody>
      </p:sp>
      <p:sp>
        <p:nvSpPr>
          <p:cNvPr id="26" name="s27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7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7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/themes selects; theme file drop only</a:t>
            </a:r>
            <a:endParaRPr lang="en-US" sz="900" dirty="0"/>
          </a:p>
        </p:txBody>
      </p:sp>
      <p:sp>
        <p:nvSpPr>
          <p:cNvPr id="29" name="s27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7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7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surface. Themes update only by file drop</a:t>
            </a:r>
            <a:endParaRPr lang="en-US" sz="900" dirty="0"/>
          </a:p>
        </p:txBody>
      </p:sp>
      <p:sp>
        <p:nvSpPr>
          <p:cNvPr id="32" name="s27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33" name="s27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7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statusline surface in opencode.md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adjacent: copy json → .opencode/themes/&lt;n&gt;.json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via /themes; plugins can't register</a:t>
            </a:r>
            <a:endParaRPr lang="en-US" sz="900" dirty="0"/>
          </a:p>
        </p:txBody>
      </p:sp>
      <p:sp>
        <p:nvSpPr>
          <p:cNvPr id="35" name="s27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7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7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s27_c1_topic"/>
          <p:cNvSpPr/>
          <p:nvPr/>
        </p:nvSpPr>
        <p:spPr>
          <a:xfrm>
            <a:off x="6665976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27_c1_vc_sh"/>
          <p:cNvSpPr/>
          <p:nvPr/>
        </p:nvSpPr>
        <p:spPr>
          <a:xfrm>
            <a:off x="10744566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7_c1_vc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1" name="s27_c1_vc_t"/>
          <p:cNvSpPr/>
          <p:nvPr/>
        </p:nvSpPr>
        <p:spPr>
          <a:xfrm>
            <a:off x="10717134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42" name="s27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declares action/resource/effect statements</a:t>
            </a:r>
            <a:endParaRPr lang="en-US" sz="850" dirty="0"/>
          </a:p>
        </p:txBody>
      </p:sp>
      <p:sp>
        <p:nvSpPr>
          <p:cNvPr id="43" name="s27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rules saying which tool actions are allowed or must ask</a:t>
            </a:r>
            <a:endParaRPr lang="en-US" sz="1050" dirty="0"/>
          </a:p>
        </p:txBody>
      </p:sp>
      <p:sp>
        <p:nvSpPr>
          <p:cNvPr id="44" name="s27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7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7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 permissions[] · policies[] (v2.0.29+)</a:t>
            </a:r>
            <a:endParaRPr lang="en-US" sz="900" dirty="0"/>
          </a:p>
        </p:txBody>
      </p:sp>
      <p:sp>
        <p:nvSpPr>
          <p:cNvPr id="47" name="s27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7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7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permissions[] {action,resource,effect} + policies[]</a:t>
            </a:r>
            <a:endParaRPr lang="en-US" sz="900" dirty="0"/>
          </a:p>
        </p:txBody>
      </p:sp>
      <p:sp>
        <p:nvSpPr>
          <p:cNvPr id="50" name="s27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7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7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config only; --auto approves non-denied</a:t>
            </a:r>
            <a:endParaRPr lang="en-US" sz="900" dirty="0"/>
          </a:p>
        </p:txBody>
      </p:sp>
      <p:sp>
        <p:nvSpPr>
          <p:cNvPr id="53" name="s27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7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7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manual config edit; org .well-known can push policies</a:t>
            </a:r>
            <a:endParaRPr lang="en-US" sz="900" dirty="0"/>
          </a:p>
        </p:txBody>
      </p:sp>
      <p:sp>
        <p:nvSpPr>
          <p:cNvPr id="56" name="s27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57" name="s27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7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permissions[] {action,resource,effect}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defaults: read deny .env* · doom_loop ask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policies provider.use; global &gt; project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8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8_kick" descr="assets/k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28_title" descr="assets/t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2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33</a:t>
            </a:r>
            <a:endParaRPr lang="en-US" sz="950" dirty="0"/>
          </a:p>
        </p:txBody>
      </p:sp>
      <p:sp>
        <p:nvSpPr>
          <p:cNvPr id="11" name="s28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8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8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28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s28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8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28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28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agentskills.io spec; un-gated drop into ~/.agents/skills</a:t>
            </a:r>
            <a:endParaRPr lang="en-US" sz="850" dirty="0"/>
          </a:p>
        </p:txBody>
      </p:sp>
      <p:sp>
        <p:nvSpPr>
          <p:cNvPr id="19" name="s28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of instructions the agent discovers and reads only when needed</a:t>
            </a:r>
            <a:endParaRPr lang="en-US" sz="1050" dirty="0"/>
          </a:p>
        </p:txBody>
      </p:sp>
      <p:sp>
        <p:nvSpPr>
          <p:cNvPr id="20" name="s28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8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8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~/.pi/agent/skills · ~/.agents/skills · .pi/skills</a:t>
            </a:r>
            <a:endParaRPr lang="en-US" sz="900" dirty="0"/>
          </a:p>
        </p:txBody>
      </p:sp>
      <p:sp>
        <p:nvSpPr>
          <p:cNvPr id="23" name="s28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8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8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dir; Agent Skills spec YAML frontmatter</a:t>
            </a:r>
            <a:endParaRPr lang="en-US" sz="900" dirty="0"/>
          </a:p>
        </p:txBody>
      </p:sp>
      <p:sp>
        <p:nvSpPr>
          <p:cNvPr id="26" name="s28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8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8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/skill:&lt;name&gt; · enableSkillCommands · !glob/+path filters</a:t>
            </a:r>
            <a:endParaRPr lang="en-US" sz="900" dirty="0"/>
          </a:p>
        </p:txBody>
      </p:sp>
      <p:sp>
        <p:nvSpPr>
          <p:cNvPr id="29" name="s28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8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8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pi packages: pi update --extensions; standalone dirs manual</a:t>
            </a:r>
            <a:endParaRPr lang="en-US" sz="900" dirty="0"/>
          </a:p>
        </p:txBody>
      </p:sp>
      <p:sp>
        <p:nvSpPr>
          <p:cNvPr id="32" name="s28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28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8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pi install npm:&lt;pkg&gt;@&lt;ver&gt;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copy-dir → ~/.agents/skills/&lt;name&gt;/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lockfile: .pi/settings.json (project)</a:t>
            </a:r>
            <a:endParaRPr lang="en-US" sz="900" dirty="0"/>
          </a:p>
        </p:txBody>
      </p:sp>
      <p:sp>
        <p:nvSpPr>
          <p:cNvPr id="35" name="s28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8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8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28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39" name="s28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8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s28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42" name="s28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md+frontmatter shape; filename is the command</a:t>
            </a:r>
            <a:endParaRPr lang="en-US" sz="850" dirty="0"/>
          </a:p>
        </p:txBody>
      </p:sp>
      <p:sp>
        <p:nvSpPr>
          <p:cNvPr id="43" name="s28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prompt templates; the filename becomes the slash command</a:t>
            </a:r>
            <a:endParaRPr lang="en-US" sz="1050" dirty="0"/>
          </a:p>
        </p:txBody>
      </p:sp>
      <p:sp>
        <p:nvSpPr>
          <p:cNvPr id="44" name="s28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8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8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~/.pi/agent/prompts · .pi/prompts (trust-gated)</a:t>
            </a:r>
            <a:endParaRPr lang="en-US" sz="900" dirty="0"/>
          </a:p>
        </p:txBody>
      </p:sp>
      <p:sp>
        <p:nvSpPr>
          <p:cNvPr id="47" name="s28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8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8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+ frontmatter description/argument-hint; $1..$n args</a:t>
            </a:r>
            <a:endParaRPr lang="en-US" sz="900" dirty="0"/>
          </a:p>
        </p:txBody>
      </p:sp>
      <p:sp>
        <p:nvSpPr>
          <p:cNvPr id="50" name="s28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8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8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= command: review.md → /review · /reload</a:t>
            </a:r>
            <a:endParaRPr lang="en-US" sz="900" dirty="0"/>
          </a:p>
        </p:txBody>
      </p:sp>
      <p:sp>
        <p:nvSpPr>
          <p:cNvPr id="53" name="s28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8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8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In-package prompts update with pi update; standalone files manual</a:t>
            </a:r>
            <a:endParaRPr lang="en-US" sz="900" dirty="0"/>
          </a:p>
        </p:txBody>
      </p:sp>
      <p:sp>
        <p:nvSpPr>
          <p:cNvPr id="56" name="s28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28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8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copy &lt;name&gt;.md → ~/.pi/agent/prompts/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/&lt;filename&gt; · args $1..$n ${1:-default}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lockfile: agentreg.lock (urn→ver→sha→target)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9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29_kick" descr="assets/k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29_title" descr="assets/t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8" name="s2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2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33</a:t>
            </a:r>
            <a:endParaRPr lang="en-US" sz="950" dirty="0"/>
          </a:p>
        </p:txBody>
      </p:sp>
      <p:sp>
        <p:nvSpPr>
          <p:cNvPr id="11" name="s29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29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29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29_c0_topic"/>
          <p:cNvSpPr/>
          <p:nvPr/>
        </p:nvSpPr>
        <p:spPr>
          <a:xfrm>
            <a:off x="960120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5" name="s29_c0_vc_sh"/>
          <p:cNvSpPr/>
          <p:nvPr/>
        </p:nvSpPr>
        <p:spPr>
          <a:xfrm>
            <a:off x="4811573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29_c0_vc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" name="s29_c0_vc_t"/>
          <p:cNvSpPr/>
          <p:nvPr/>
        </p:nvSpPr>
        <p:spPr>
          <a:xfrm>
            <a:off x="4784141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18" name="s29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Example-level pattern, not core; promotion UNVERIFIED</a:t>
            </a:r>
            <a:endParaRPr lang="en-US" sz="850" dirty="0"/>
          </a:p>
        </p:txBody>
      </p:sp>
      <p:sp>
        <p:nvSpPr>
          <p:cNvPr id="19" name="s29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built-in subagents; an official example extension adds markdown agents</a:t>
            </a:r>
            <a:endParaRPr lang="en-US" sz="1050" dirty="0"/>
          </a:p>
        </p:txBody>
      </p:sp>
      <p:sp>
        <p:nvSpPr>
          <p:cNvPr id="20" name="s29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29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29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~/.pi/agent/agents · .pi/agents (via example ext)</a:t>
            </a:r>
            <a:endParaRPr lang="en-US" sz="900" dirty="0"/>
          </a:p>
        </p:txBody>
      </p:sp>
      <p:sp>
        <p:nvSpPr>
          <p:cNvPr id="23" name="s29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29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29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.md + frontmatter name/description/tools/model</a:t>
            </a:r>
            <a:endParaRPr lang="en-US" sz="900" dirty="0"/>
          </a:p>
        </p:txBody>
      </p:sp>
      <p:sp>
        <p:nvSpPr>
          <p:cNvPr id="26" name="s29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29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29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subagent example extension (symlink per README)</a:t>
            </a:r>
            <a:endParaRPr lang="en-US" sz="900" dirty="0"/>
          </a:p>
        </p:txBody>
      </p:sp>
      <p:sp>
        <p:nvSpPr>
          <p:cNvPr id="29" name="s29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29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29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via npm package pi update; core ships no subagent surface</a:t>
            </a:r>
            <a:endParaRPr lang="en-US" sz="900" dirty="0"/>
          </a:p>
        </p:txBody>
      </p:sp>
      <p:sp>
        <p:nvSpPr>
          <p:cNvPr id="32" name="s29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29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29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compatibility.pi: supported=false (example-only)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emitted: copy md + install subagent ext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review (ships extension code)</a:t>
            </a:r>
            <a:endParaRPr lang="en-US" sz="900" dirty="0"/>
          </a:p>
        </p:txBody>
      </p:sp>
      <p:sp>
        <p:nvSpPr>
          <p:cNvPr id="35" name="s29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29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29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29_c1_topic"/>
          <p:cNvSpPr/>
          <p:nvPr/>
        </p:nvSpPr>
        <p:spPr>
          <a:xfrm>
            <a:off x="6665976" y="1609344"/>
            <a:ext cx="387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300" dirty="0"/>
          </a:p>
        </p:txBody>
      </p:sp>
      <p:sp>
        <p:nvSpPr>
          <p:cNvPr id="39" name="s29_c1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29_c1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41" name="s29_c1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42" name="s29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Codegen: hook spec → TS extension calling pi.on()</a:t>
            </a:r>
            <a:endParaRPr lang="en-US" sz="850" dirty="0"/>
          </a:p>
        </p:txBody>
      </p:sp>
      <p:sp>
        <p:nvSpPr>
          <p:cNvPr id="43" name="s29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hooks files; extension code subscribes to agent lifecycle events</a:t>
            </a:r>
            <a:endParaRPr lang="en-US" sz="1050" dirty="0"/>
          </a:p>
        </p:txBody>
      </p:sp>
      <p:sp>
        <p:nvSpPr>
          <p:cNvPr id="44" name="s29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9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29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~/.pi/agent/extensions · .pi/extensions (trust-gated)</a:t>
            </a:r>
            <a:endParaRPr lang="en-US" sz="900" dirty="0"/>
          </a:p>
        </p:txBody>
      </p:sp>
      <p:sp>
        <p:nvSpPr>
          <p:cNvPr id="47" name="s29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9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29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TS/JS module: export default (pi) =&gt; pi.on(event, fn)</a:t>
            </a:r>
            <a:endParaRPr lang="en-US" sz="900" dirty="0"/>
          </a:p>
        </p:txBody>
      </p:sp>
      <p:sp>
        <p:nvSpPr>
          <p:cNvPr id="50" name="s29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9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29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npm:&lt;pkg&gt; · pi -e ./ext.ts · /reload</a:t>
            </a:r>
            <a:endParaRPr lang="en-US" sz="900" dirty="0"/>
          </a:p>
        </p:txBody>
      </p:sp>
      <p:sp>
        <p:nvSpPr>
          <p:cNvPr id="53" name="s29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9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29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packages update via pi update --extensions; loose .ts manual</a:t>
            </a:r>
            <a:endParaRPr lang="en-US" sz="900" dirty="0"/>
          </a:p>
        </p:txBody>
      </p:sp>
      <p:sp>
        <p:nvSpPr>
          <p:cNvPr id="56" name="s29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29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29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gen: ~/.pi/agent/extensions/agentreg-&lt;n&gt;.ts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events: tool_call, tool_result, turn_end...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review (runs in-process, full OS)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0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30_kick" descr="assets/k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30_title" descr="assets/t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8" name="s3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3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33</a:t>
            </a:r>
            <a:endParaRPr lang="en-US" sz="950" dirty="0"/>
          </a:p>
        </p:txBody>
      </p:sp>
      <p:sp>
        <p:nvSpPr>
          <p:cNvPr id="11" name="s30_c0_sh"/>
          <p:cNvSpPr/>
          <p:nvPr/>
        </p:nvSpPr>
        <p:spPr>
          <a:xfrm>
            <a:off x="553212" y="1531620"/>
            <a:ext cx="1118311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30_c0"/>
          <p:cNvSpPr/>
          <p:nvPr/>
        </p:nvSpPr>
        <p:spPr>
          <a:xfrm>
            <a:off x="502920" y="1481328"/>
            <a:ext cx="1118311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30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30_c0_topic"/>
          <p:cNvSpPr/>
          <p:nvPr/>
        </p:nvSpPr>
        <p:spPr>
          <a:xfrm>
            <a:off x="960120" y="1609344"/>
            <a:ext cx="9578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s30_c0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30_c0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7" name="s30_c0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8" name="s30_c0_why"/>
          <p:cNvSpPr/>
          <p:nvPr/>
        </p:nvSpPr>
        <p:spPr>
          <a:xfrm>
            <a:off x="731520" y="201168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republish as npm; npm IS Pi's registry</a:t>
            </a:r>
            <a:endParaRPr lang="en-US" sz="950" dirty="0"/>
          </a:p>
        </p:txBody>
      </p:sp>
      <p:sp>
        <p:nvSpPr>
          <p:cNvPr id="19" name="s30_c0_what"/>
          <p:cNvSpPr/>
          <p:nvPr/>
        </p:nvSpPr>
        <p:spPr>
          <a:xfrm>
            <a:off x="731520" y="2340864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Bundles ship as npm packages: extensions, skills, prompts, themes</a:t>
            </a:r>
            <a:endParaRPr lang="en-US" sz="1200" dirty="0"/>
          </a:p>
        </p:txBody>
      </p:sp>
      <p:sp>
        <p:nvSpPr>
          <p:cNvPr id="20" name="s30_c0_hr1"/>
          <p:cNvSpPr/>
          <p:nvPr/>
        </p:nvSpPr>
        <p:spPr>
          <a:xfrm>
            <a:off x="731520" y="279806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30_c0_k0"/>
          <p:cNvSpPr/>
          <p:nvPr/>
        </p:nvSpPr>
        <p:spPr>
          <a:xfrm>
            <a:off x="7315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50" dirty="0"/>
          </a:p>
        </p:txBody>
      </p:sp>
      <p:sp>
        <p:nvSpPr>
          <p:cNvPr id="22" name="s30_c0_v0"/>
          <p:cNvSpPr/>
          <p:nvPr/>
        </p:nvSpPr>
        <p:spPr>
          <a:xfrm>
            <a:off x="2084832" y="2852928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~/.pi/agent/npm · settings.json · .pi/settings.json</a:t>
            </a:r>
            <a:endParaRPr lang="en-US" sz="1050" dirty="0"/>
          </a:p>
        </p:txBody>
      </p:sp>
      <p:sp>
        <p:nvSpPr>
          <p:cNvPr id="23" name="s30_c0_hr2"/>
          <p:cNvSpPr/>
          <p:nvPr/>
        </p:nvSpPr>
        <p:spPr>
          <a:xfrm>
            <a:off x="731520" y="3328416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30_c0_k1"/>
          <p:cNvSpPr/>
          <p:nvPr/>
        </p:nvSpPr>
        <p:spPr>
          <a:xfrm>
            <a:off x="731520" y="33284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950" dirty="0"/>
          </a:p>
        </p:txBody>
      </p:sp>
      <p:sp>
        <p:nvSpPr>
          <p:cNvPr id="25" name="s30_c0_v1"/>
          <p:cNvSpPr/>
          <p:nvPr/>
        </p:nvSpPr>
        <p:spPr>
          <a:xfrm>
            <a:off x="2084832" y="3328416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+ pi-package keyword + pi key globs</a:t>
            </a:r>
            <a:endParaRPr lang="en-US" sz="1050" dirty="0"/>
          </a:p>
        </p:txBody>
      </p:sp>
      <p:sp>
        <p:nvSpPr>
          <p:cNvPr id="26" name="s30_c0_hr3"/>
          <p:cNvSpPr/>
          <p:nvPr/>
        </p:nvSpPr>
        <p:spPr>
          <a:xfrm>
            <a:off x="731520" y="3803904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30_c0_k2"/>
          <p:cNvSpPr/>
          <p:nvPr/>
        </p:nvSpPr>
        <p:spPr>
          <a:xfrm>
            <a:off x="73152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950" dirty="0"/>
          </a:p>
        </p:txBody>
      </p:sp>
      <p:sp>
        <p:nvSpPr>
          <p:cNvPr id="28" name="s30_c0_v2"/>
          <p:cNvSpPr/>
          <p:nvPr/>
        </p:nvSpPr>
        <p:spPr>
          <a:xfrm>
            <a:off x="2084832" y="3803904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npm:|git:|path · pi list · pi remove · pi update</a:t>
            </a:r>
            <a:endParaRPr lang="en-US" sz="1050" dirty="0"/>
          </a:p>
        </p:txBody>
      </p:sp>
      <p:sp>
        <p:nvSpPr>
          <p:cNvPr id="29" name="s30_c0_hr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30_c0_k3"/>
          <p:cNvSpPr/>
          <p:nvPr/>
        </p:nvSpPr>
        <p:spPr>
          <a:xfrm>
            <a:off x="731520" y="4279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950" dirty="0"/>
          </a:p>
        </p:txBody>
      </p:sp>
      <p:sp>
        <p:nvSpPr>
          <p:cNvPr id="31" name="s30_c0_v3"/>
          <p:cNvSpPr/>
          <p:nvPr/>
        </p:nvSpPr>
        <p:spPr>
          <a:xfrm>
            <a:off x="2084832" y="4279392"/>
            <a:ext cx="9372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pi update [--extensions] bumps installed packages + contents</a:t>
            </a:r>
            <a:endParaRPr lang="en-US" sz="1050" dirty="0"/>
          </a:p>
        </p:txBody>
      </p:sp>
      <p:sp>
        <p:nvSpPr>
          <p:cNvPr id="32" name="s30_c0_emp"/>
          <p:cNvSpPr/>
          <p:nvPr/>
        </p:nvSpPr>
        <p:spPr>
          <a:xfrm>
            <a:off x="704088" y="4846320"/>
            <a:ext cx="10780776" cy="1362456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30_c0_emb"/>
          <p:cNvSpPr/>
          <p:nvPr/>
        </p:nvSpPr>
        <p:spPr>
          <a:xfrm>
            <a:off x="886968" y="4956048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900" dirty="0"/>
          </a:p>
        </p:txBody>
      </p:sp>
      <p:sp>
        <p:nvSpPr>
          <p:cNvPr id="34" name="s30_c0_em"/>
          <p:cNvSpPr/>
          <p:nvPr/>
        </p:nvSpPr>
        <p:spPr>
          <a:xfrm>
            <a:off x="886968" y="5175504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pi install npm:&lt;pkg&gt;@&lt;semver&gt;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mirror: npm content-only, no lifecycle scripts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lockfile: .pi/settings.json packages[]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1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31_kick" descr="assets/k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31_title" descr="assets/tg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8" name="s3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3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33</a:t>
            </a:r>
            <a:endParaRPr lang="en-US" sz="950" dirty="0"/>
          </a:p>
        </p:txBody>
      </p:sp>
      <p:sp>
        <p:nvSpPr>
          <p:cNvPr id="11" name="s31_c0_sh"/>
          <p:cNvSpPr/>
          <p:nvPr/>
        </p:nvSpPr>
        <p:spPr>
          <a:xfrm>
            <a:off x="55321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31_c0"/>
          <p:cNvSpPr/>
          <p:nvPr/>
        </p:nvSpPr>
        <p:spPr>
          <a:xfrm>
            <a:off x="50292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31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31_c0_topic"/>
          <p:cNvSpPr/>
          <p:nvPr/>
        </p:nvSpPr>
        <p:spPr>
          <a:xfrm>
            <a:off x="96012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5" name="s31_c0_vc_sh"/>
          <p:cNvSpPr/>
          <p:nvPr/>
        </p:nvSpPr>
        <p:spPr>
          <a:xfrm>
            <a:off x="292790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31_c0_vc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7" name="s31_c0_vc_t"/>
          <p:cNvSpPr/>
          <p:nvPr/>
        </p:nvSpPr>
        <p:spPr>
          <a:xfrm>
            <a:off x="290047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900" dirty="0"/>
          </a:p>
        </p:txBody>
      </p:sp>
      <p:sp>
        <p:nvSpPr>
          <p:cNvPr id="18" name="s31_c0_why"/>
          <p:cNvSpPr/>
          <p:nvPr/>
        </p:nvSpPr>
        <p:spPr>
          <a:xfrm>
            <a:off x="73152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Claude/Cursor mcp.json entries copy as-is (official docs)</a:t>
            </a:r>
            <a:endParaRPr lang="en-US" sz="800" dirty="0"/>
          </a:p>
        </p:txBody>
      </p:sp>
      <p:sp>
        <p:nvSpPr>
          <p:cNvPr id="19" name="s31_c0_what"/>
          <p:cNvSpPr/>
          <p:nvPr/>
        </p:nvSpPr>
        <p:spPr>
          <a:xfrm>
            <a:off x="73152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 servers Pi connects to; config copies straight from Claude</a:t>
            </a:r>
            <a:endParaRPr lang="en-US" sz="950" dirty="0"/>
          </a:p>
        </p:txBody>
      </p:sp>
      <p:sp>
        <p:nvSpPr>
          <p:cNvPr id="20" name="s31_c0_hr1"/>
          <p:cNvSpPr/>
          <p:nvPr/>
        </p:nvSpPr>
        <p:spPr>
          <a:xfrm>
            <a:off x="73152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31_c0_k0"/>
          <p:cNvSpPr/>
          <p:nvPr/>
        </p:nvSpPr>
        <p:spPr>
          <a:xfrm>
            <a:off x="73152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22" name="s31_c0_v0"/>
          <p:cNvSpPr/>
          <p:nvPr/>
        </p:nvSpPr>
        <p:spPr>
          <a:xfrm>
            <a:off x="173736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~/.pi/agent/mcp.json · .pi/mcp.json (trust-gated)</a:t>
            </a:r>
            <a:endParaRPr lang="en-US" sz="850" dirty="0"/>
          </a:p>
        </p:txBody>
      </p:sp>
      <p:sp>
        <p:nvSpPr>
          <p:cNvPr id="23" name="s31_c0_hr2"/>
          <p:cNvSpPr/>
          <p:nvPr/>
        </p:nvSpPr>
        <p:spPr>
          <a:xfrm>
            <a:off x="73152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31_c0_k1"/>
          <p:cNvSpPr/>
          <p:nvPr/>
        </p:nvSpPr>
        <p:spPr>
          <a:xfrm>
            <a:off x="73152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25" name="s31_c0_v1"/>
          <p:cNvSpPr/>
          <p:nvPr/>
        </p:nvSpPr>
        <p:spPr>
          <a:xfrm>
            <a:off x="173736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 JSON; stdio cmd/args/env | http url/headers/oauth</a:t>
            </a:r>
            <a:endParaRPr lang="en-US" sz="850" dirty="0"/>
          </a:p>
        </p:txBody>
      </p:sp>
      <p:sp>
        <p:nvSpPr>
          <p:cNvPr id="26" name="s31_c0_hr3"/>
          <p:cNvSpPr/>
          <p:nvPr/>
        </p:nvSpPr>
        <p:spPr>
          <a:xfrm>
            <a:off x="73152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31_c0_k2"/>
          <p:cNvSpPr/>
          <p:nvPr/>
        </p:nvSpPr>
        <p:spPr>
          <a:xfrm>
            <a:off x="73152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28" name="s31_c0_v2"/>
          <p:cNvSpPr/>
          <p:nvPr/>
        </p:nvSpPr>
        <p:spPr>
          <a:xfrm>
            <a:off x="173736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mcp add &lt;name&gt; [--local] -- cmd · /mcp login</a:t>
            </a:r>
            <a:endParaRPr lang="en-US" sz="850" dirty="0"/>
          </a:p>
        </p:txBody>
      </p:sp>
      <p:sp>
        <p:nvSpPr>
          <p:cNvPr id="29" name="s31_c0_hr4"/>
          <p:cNvSpPr/>
          <p:nvPr/>
        </p:nvSpPr>
        <p:spPr>
          <a:xfrm>
            <a:off x="73152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31_c0_k3"/>
          <p:cNvSpPr/>
          <p:nvPr/>
        </p:nvSpPr>
        <p:spPr>
          <a:xfrm>
            <a:off x="73152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31" name="s31_c0_v3"/>
          <p:cNvSpPr/>
          <p:nvPr/>
        </p:nvSpPr>
        <p:spPr>
          <a:xfrm>
            <a:off x="173736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— pi mcp add or config edit; no server-entry update flow</a:t>
            </a:r>
            <a:endParaRPr lang="en-US" sz="850" dirty="0"/>
          </a:p>
        </p:txBody>
      </p:sp>
      <p:sp>
        <p:nvSpPr>
          <p:cNvPr id="32" name="s31_c0_emp"/>
          <p:cNvSpPr/>
          <p:nvPr/>
        </p:nvSpPr>
        <p:spPr>
          <a:xfrm>
            <a:off x="704088" y="5138928"/>
            <a:ext cx="3191256" cy="1069848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31_c0_emb"/>
          <p:cNvSpPr/>
          <p:nvPr/>
        </p:nvSpPr>
        <p:spPr>
          <a:xfrm>
            <a:off x="88696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34" name="s31_c0_em"/>
          <p:cNvSpPr/>
          <p:nvPr/>
        </p:nvSpPr>
        <p:spPr>
          <a:xfrm>
            <a:off x="88696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merge entry → ~/.pi/agent/mcp.json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alt: pi mcp add &lt;name&gt; --local -- cmd args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mcp__&lt;server&gt;__&lt;tool&gt;; SSE rejected</a:t>
            </a:r>
            <a:endParaRPr lang="en-US" sz="800" dirty="0"/>
          </a:p>
        </p:txBody>
      </p:sp>
      <p:sp>
        <p:nvSpPr>
          <p:cNvPr id="35" name="s31_c1_sh"/>
          <p:cNvSpPr/>
          <p:nvPr/>
        </p:nvSpPr>
        <p:spPr>
          <a:xfrm>
            <a:off x="434797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31_c1"/>
          <p:cNvSpPr/>
          <p:nvPr/>
        </p:nvSpPr>
        <p:spPr>
          <a:xfrm>
            <a:off x="429768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31_c1_sq"/>
          <p:cNvSpPr/>
          <p:nvPr/>
        </p:nvSpPr>
        <p:spPr>
          <a:xfrm>
            <a:off x="452628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31_c1_topic"/>
          <p:cNvSpPr/>
          <p:nvPr/>
        </p:nvSpPr>
        <p:spPr>
          <a:xfrm>
            <a:off x="4754880" y="1609344"/>
            <a:ext cx="1912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</a:t>
            </a:r>
            <a:endParaRPr lang="en-US" sz="1150" dirty="0"/>
          </a:p>
        </p:txBody>
      </p:sp>
      <p:sp>
        <p:nvSpPr>
          <p:cNvPr id="39" name="s31_c1_vc_sh"/>
          <p:cNvSpPr/>
          <p:nvPr/>
        </p:nvSpPr>
        <p:spPr>
          <a:xfrm>
            <a:off x="672266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31_c1_vc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31_c1_vc_t"/>
          <p:cNvSpPr/>
          <p:nvPr/>
        </p:nvSpPr>
        <p:spPr>
          <a:xfrm>
            <a:off x="669523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31_c1_why"/>
          <p:cNvSpPr/>
          <p:nvPr/>
        </p:nvSpPr>
        <p:spPr>
          <a:xfrm>
            <a:off x="452628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from pi.md; no native surface as of 1.3.0</a:t>
            </a:r>
            <a:endParaRPr lang="en-US" sz="800" dirty="0"/>
          </a:p>
        </p:txBody>
      </p:sp>
      <p:sp>
        <p:nvSpPr>
          <p:cNvPr id="43" name="s31_c1_what"/>
          <p:cNvSpPr/>
          <p:nvPr/>
        </p:nvSpPr>
        <p:spPr>
          <a:xfrm>
            <a:off x="452628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available — Pi has no language-server integration as of 1.3.0</a:t>
            </a:r>
            <a:endParaRPr lang="en-US" sz="950" dirty="0"/>
          </a:p>
        </p:txBody>
      </p:sp>
      <p:sp>
        <p:nvSpPr>
          <p:cNvPr id="44" name="s31_c1_hr1"/>
          <p:cNvSpPr/>
          <p:nvPr/>
        </p:nvSpPr>
        <p:spPr>
          <a:xfrm>
            <a:off x="452628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31_c1_k0"/>
          <p:cNvSpPr/>
          <p:nvPr/>
        </p:nvSpPr>
        <p:spPr>
          <a:xfrm>
            <a:off x="452628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46" name="s31_c1_v0"/>
          <p:cNvSpPr/>
          <p:nvPr/>
        </p:nvSpPr>
        <p:spPr>
          <a:xfrm>
            <a:off x="553212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850" dirty="0"/>
          </a:p>
        </p:txBody>
      </p:sp>
      <p:sp>
        <p:nvSpPr>
          <p:cNvPr id="47" name="s31_c1_hr2"/>
          <p:cNvSpPr/>
          <p:nvPr/>
        </p:nvSpPr>
        <p:spPr>
          <a:xfrm>
            <a:off x="452628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31_c1_k1"/>
          <p:cNvSpPr/>
          <p:nvPr/>
        </p:nvSpPr>
        <p:spPr>
          <a:xfrm>
            <a:off x="452628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49" name="s31_c1_v1"/>
          <p:cNvSpPr/>
          <p:nvPr/>
        </p:nvSpPr>
        <p:spPr>
          <a:xfrm>
            <a:off x="553212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850" dirty="0"/>
          </a:p>
        </p:txBody>
      </p:sp>
      <p:sp>
        <p:nvSpPr>
          <p:cNvPr id="50" name="s31_c1_hr3"/>
          <p:cNvSpPr/>
          <p:nvPr/>
        </p:nvSpPr>
        <p:spPr>
          <a:xfrm>
            <a:off x="452628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31_c1_k2"/>
          <p:cNvSpPr/>
          <p:nvPr/>
        </p:nvSpPr>
        <p:spPr>
          <a:xfrm>
            <a:off x="452628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52" name="s31_c1_v2"/>
          <p:cNvSpPr/>
          <p:nvPr/>
        </p:nvSpPr>
        <p:spPr>
          <a:xfrm>
            <a:off x="553212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850" dirty="0"/>
          </a:p>
        </p:txBody>
      </p:sp>
      <p:sp>
        <p:nvSpPr>
          <p:cNvPr id="53" name="s31_c1_hr4"/>
          <p:cNvSpPr/>
          <p:nvPr/>
        </p:nvSpPr>
        <p:spPr>
          <a:xfrm>
            <a:off x="452628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31_c1_k3"/>
          <p:cNvSpPr/>
          <p:nvPr/>
        </p:nvSpPr>
        <p:spPr>
          <a:xfrm>
            <a:off x="452628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55" name="s31_c1_v3"/>
          <p:cNvSpPr/>
          <p:nvPr/>
        </p:nvSpPr>
        <p:spPr>
          <a:xfrm>
            <a:off x="553212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nothing to update; no LSP surface exists in Pi 1.3.0</a:t>
            </a:r>
            <a:endParaRPr lang="en-US" sz="850" dirty="0"/>
          </a:p>
        </p:txBody>
      </p:sp>
      <p:sp>
        <p:nvSpPr>
          <p:cNvPr id="56" name="s31_c1_emp"/>
          <p:cNvSpPr/>
          <p:nvPr/>
        </p:nvSpPr>
        <p:spPr>
          <a:xfrm>
            <a:off x="4498848" y="5138928"/>
            <a:ext cx="3191256" cy="1069848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31_c1_emb"/>
          <p:cNvSpPr/>
          <p:nvPr/>
        </p:nvSpPr>
        <p:spPr>
          <a:xfrm>
            <a:off x="468172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58" name="s31_c1_em"/>
          <p:cNvSpPr/>
          <p:nvPr/>
        </p:nvSpPr>
        <p:spPr>
          <a:xfrm>
            <a:off x="468172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compatibility.pi: supported=false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none — emitter skips Pi</a:t>
            </a:r>
            <a:endParaRPr lang="en-US" sz="800" dirty="0"/>
          </a:p>
        </p:txBody>
      </p:sp>
      <p:sp>
        <p:nvSpPr>
          <p:cNvPr id="59" name="s31_c2_sh"/>
          <p:cNvSpPr/>
          <p:nvPr/>
        </p:nvSpPr>
        <p:spPr>
          <a:xfrm>
            <a:off x="8142732" y="1531620"/>
            <a:ext cx="3593592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31_c2"/>
          <p:cNvSpPr/>
          <p:nvPr/>
        </p:nvSpPr>
        <p:spPr>
          <a:xfrm>
            <a:off x="8092440" y="1481328"/>
            <a:ext cx="3593592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1" name="s31_c2_sq"/>
          <p:cNvSpPr/>
          <p:nvPr/>
        </p:nvSpPr>
        <p:spPr>
          <a:xfrm>
            <a:off x="832104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s31_c2_topic"/>
          <p:cNvSpPr/>
          <p:nvPr/>
        </p:nvSpPr>
        <p:spPr>
          <a:xfrm>
            <a:off x="8549640" y="1609344"/>
            <a:ext cx="1988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150" dirty="0"/>
          </a:p>
        </p:txBody>
      </p:sp>
      <p:sp>
        <p:nvSpPr>
          <p:cNvPr id="63" name="s31_c2_vc_sh"/>
          <p:cNvSpPr/>
          <p:nvPr/>
        </p:nvSpPr>
        <p:spPr>
          <a:xfrm>
            <a:off x="10593141" y="1636776"/>
            <a:ext cx="919155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31_c2_vc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31_c2_vc_t"/>
          <p:cNvSpPr/>
          <p:nvPr/>
        </p:nvSpPr>
        <p:spPr>
          <a:xfrm>
            <a:off x="10565709" y="1609344"/>
            <a:ext cx="9191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66" name="s31_c2_why"/>
          <p:cNvSpPr/>
          <p:nvPr/>
        </p:nvSpPr>
        <p:spPr>
          <a:xfrm>
            <a:off x="8321040" y="20116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spec must codegen to a TS pi.registerTool module</a:t>
            </a:r>
            <a:endParaRPr lang="en-US" sz="800" dirty="0"/>
          </a:p>
        </p:txBody>
      </p:sp>
      <p:sp>
        <p:nvSpPr>
          <p:cNvPr id="67" name="s31_c2_what"/>
          <p:cNvSpPr/>
          <p:nvPr/>
        </p:nvSpPr>
        <p:spPr>
          <a:xfrm>
            <a:off x="8321040" y="23408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Richest API: extensions register tools, commands, providers, events in TS</a:t>
            </a:r>
            <a:endParaRPr lang="en-US" sz="950" dirty="0"/>
          </a:p>
        </p:txBody>
      </p:sp>
      <p:sp>
        <p:nvSpPr>
          <p:cNvPr id="68" name="s31_c2_hr1"/>
          <p:cNvSpPr/>
          <p:nvPr/>
        </p:nvSpPr>
        <p:spPr>
          <a:xfrm>
            <a:off x="8321040" y="2798064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9" name="s31_c2_k0"/>
          <p:cNvSpPr/>
          <p:nvPr/>
        </p:nvSpPr>
        <p:spPr>
          <a:xfrm>
            <a:off x="8321040" y="28529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00" dirty="0"/>
          </a:p>
        </p:txBody>
      </p:sp>
      <p:sp>
        <p:nvSpPr>
          <p:cNvPr id="70" name="s31_c2_v0"/>
          <p:cNvSpPr/>
          <p:nvPr/>
        </p:nvSpPr>
        <p:spPr>
          <a:xfrm>
            <a:off x="9326880" y="285292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~/.pi/agent/extensions · .pi/extensions (trust-gated)</a:t>
            </a:r>
            <a:endParaRPr lang="en-US" sz="850" dirty="0"/>
          </a:p>
        </p:txBody>
      </p:sp>
      <p:sp>
        <p:nvSpPr>
          <p:cNvPr id="71" name="s31_c2_hr2"/>
          <p:cNvSpPr/>
          <p:nvPr/>
        </p:nvSpPr>
        <p:spPr>
          <a:xfrm>
            <a:off x="8321040" y="340156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31_c2_k1"/>
          <p:cNvSpPr/>
          <p:nvPr/>
        </p:nvSpPr>
        <p:spPr>
          <a:xfrm>
            <a:off x="8321040" y="34015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00" dirty="0"/>
          </a:p>
        </p:txBody>
      </p:sp>
      <p:sp>
        <p:nvSpPr>
          <p:cNvPr id="73" name="s31_c2_v1"/>
          <p:cNvSpPr/>
          <p:nvPr/>
        </p:nvSpPr>
        <p:spPr>
          <a:xfrm>
            <a:off x="9326880" y="340156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module; pi.registerTool(TypeBox schema, exposure)</a:t>
            </a:r>
            <a:endParaRPr lang="en-US" sz="850" dirty="0"/>
          </a:p>
        </p:txBody>
      </p:sp>
      <p:sp>
        <p:nvSpPr>
          <p:cNvPr id="74" name="s31_c2_hr3"/>
          <p:cNvSpPr/>
          <p:nvPr/>
        </p:nvSpPr>
        <p:spPr>
          <a:xfrm>
            <a:off x="8321040" y="395020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5" name="s31_c2_k2"/>
          <p:cNvSpPr/>
          <p:nvPr/>
        </p:nvSpPr>
        <p:spPr>
          <a:xfrm>
            <a:off x="8321040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00" dirty="0"/>
          </a:p>
        </p:txBody>
      </p:sp>
      <p:sp>
        <p:nvSpPr>
          <p:cNvPr id="76" name="s31_c2_v2"/>
          <p:cNvSpPr/>
          <p:nvPr/>
        </p:nvSpPr>
        <p:spPr>
          <a:xfrm>
            <a:off x="9326880" y="395020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npm:&lt;pkg&gt; · pi -e ./tool.ts · /reload</a:t>
            </a:r>
            <a:endParaRPr lang="en-US" sz="850" dirty="0"/>
          </a:p>
        </p:txBody>
      </p:sp>
      <p:sp>
        <p:nvSpPr>
          <p:cNvPr id="77" name="s31_c2_hr4"/>
          <p:cNvSpPr/>
          <p:nvPr/>
        </p:nvSpPr>
        <p:spPr>
          <a:xfrm>
            <a:off x="8321040" y="4498848"/>
            <a:ext cx="31363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8" name="s31_c2_k3"/>
          <p:cNvSpPr/>
          <p:nvPr/>
        </p:nvSpPr>
        <p:spPr>
          <a:xfrm>
            <a:off x="8321040" y="4498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00" dirty="0"/>
          </a:p>
        </p:txBody>
      </p:sp>
      <p:sp>
        <p:nvSpPr>
          <p:cNvPr id="79" name="s31_c2_v3"/>
          <p:cNvSpPr/>
          <p:nvPr/>
        </p:nvSpPr>
        <p:spPr>
          <a:xfrm>
            <a:off x="9326880" y="4498848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when packaged — pi update --extensions; loose .ts drops manual</a:t>
            </a:r>
            <a:endParaRPr lang="en-US" sz="850" dirty="0"/>
          </a:p>
        </p:txBody>
      </p:sp>
      <p:sp>
        <p:nvSpPr>
          <p:cNvPr id="80" name="s31_c2_emp"/>
          <p:cNvSpPr/>
          <p:nvPr/>
        </p:nvSpPr>
        <p:spPr>
          <a:xfrm>
            <a:off x="8293608" y="5138928"/>
            <a:ext cx="3191256" cy="1069848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81" name="s31_c2_emb"/>
          <p:cNvSpPr/>
          <p:nvPr/>
        </p:nvSpPr>
        <p:spPr>
          <a:xfrm>
            <a:off x="8476488" y="5248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750" dirty="0"/>
          </a:p>
        </p:txBody>
      </p:sp>
      <p:sp>
        <p:nvSpPr>
          <p:cNvPr id="82" name="s31_c2_em"/>
          <p:cNvSpPr/>
          <p:nvPr/>
        </p:nvSpPr>
        <p:spPr>
          <a:xfrm>
            <a:off x="8476488" y="5468112"/>
            <a:ext cx="2825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gen: ext with pi.registerTool(TypeBox schema)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exposure: direct|model-only|codemode|deferred</a:t>
            </a:r>
            <a:endParaRPr lang="en-US" sz="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review — code runs in-process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2_cube" descr="assets/cube_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868680"/>
            <a:ext cx="384048" cy="384048"/>
          </a:xfrm>
          <a:prstGeom prst="rect">
            <a:avLst/>
          </a:prstGeom>
        </p:spPr>
      </p:pic>
      <p:pic>
        <p:nvPicPr>
          <p:cNvPr id="6" name="s32_kick" descr="assets/k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7" name="s32_title" descr="assets/t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121102" cy="475488"/>
          </a:xfrm>
          <a:prstGeom prst="rect">
            <a:avLst/>
          </a:prstGeom>
        </p:spPr>
      </p:pic>
      <p:sp>
        <p:nvSpPr>
          <p:cNvPr id="8" name="s3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1.3.0 — Minimal terminal-first open-source coding-agent CLI by Mario Zechner (Earendil)</a:t>
            </a:r>
            <a:endParaRPr lang="en-US" sz="1100" dirty="0"/>
          </a:p>
        </p:txBody>
      </p:sp>
      <p:sp>
        <p:nvSpPr>
          <p:cNvPr id="9" name="s3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33</a:t>
            </a:r>
            <a:endParaRPr lang="en-US" sz="950" dirty="0"/>
          </a:p>
        </p:txBody>
      </p:sp>
      <p:sp>
        <p:nvSpPr>
          <p:cNvPr id="11" name="s32_c0_sh"/>
          <p:cNvSpPr/>
          <p:nvPr/>
        </p:nvSpPr>
        <p:spPr>
          <a:xfrm>
            <a:off x="553212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32_c0"/>
          <p:cNvSpPr/>
          <p:nvPr/>
        </p:nvSpPr>
        <p:spPr>
          <a:xfrm>
            <a:off x="502920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3" name="s32_c0_sq"/>
          <p:cNvSpPr/>
          <p:nvPr/>
        </p:nvSpPr>
        <p:spPr>
          <a:xfrm>
            <a:off x="731520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32_c0_topic"/>
          <p:cNvSpPr/>
          <p:nvPr/>
        </p:nvSpPr>
        <p:spPr>
          <a:xfrm>
            <a:off x="960120" y="1609344"/>
            <a:ext cx="4023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1300" dirty="0"/>
          </a:p>
        </p:txBody>
      </p:sp>
      <p:sp>
        <p:nvSpPr>
          <p:cNvPr id="15" name="s32_c0_vc_sh"/>
          <p:cNvSpPr/>
          <p:nvPr/>
        </p:nvSpPr>
        <p:spPr>
          <a:xfrm>
            <a:off x="5038710" y="1636776"/>
            <a:ext cx="767730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32_c0_vc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s32_c0_vc_t"/>
          <p:cNvSpPr/>
          <p:nvPr/>
        </p:nvSpPr>
        <p:spPr>
          <a:xfrm>
            <a:off x="5011278" y="1609344"/>
            <a:ext cx="7677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900" dirty="0"/>
          </a:p>
        </p:txBody>
      </p:sp>
      <p:sp>
        <p:nvSpPr>
          <p:cNvPr id="18" name="s32_c0_why"/>
          <p:cNvSpPr/>
          <p:nvPr/>
        </p:nvSpPr>
        <p:spPr>
          <a:xfrm>
            <a:off x="731520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schema Pi-only; core look + pi overlay fields</a:t>
            </a:r>
            <a:endParaRPr lang="en-US" sz="850" dirty="0"/>
          </a:p>
        </p:txBody>
      </p:sp>
      <p:sp>
        <p:nvSpPr>
          <p:cNvPr id="19" name="s32_c0_what"/>
          <p:cNvSpPr/>
          <p:nvPr/>
        </p:nvSpPr>
        <p:spPr>
          <a:xfrm>
            <a:off x="731520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look via JSON themes; deeper TUI widgets via extension code</a:t>
            </a:r>
            <a:endParaRPr lang="en-US" sz="1050" dirty="0"/>
          </a:p>
        </p:txBody>
      </p:sp>
      <p:sp>
        <p:nvSpPr>
          <p:cNvPr id="20" name="s32_c0_hr1"/>
          <p:cNvSpPr/>
          <p:nvPr/>
        </p:nvSpPr>
        <p:spPr>
          <a:xfrm>
            <a:off x="731520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1" name="s32_c0_k0"/>
          <p:cNvSpPr/>
          <p:nvPr/>
        </p:nvSpPr>
        <p:spPr>
          <a:xfrm>
            <a:off x="731520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2" name="s32_c0_v0"/>
          <p:cNvSpPr/>
          <p:nvPr/>
        </p:nvSpPr>
        <p:spPr>
          <a:xfrm>
            <a:off x="1883664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~/.pi/agent/themes/&lt;name&gt;.json · .pi/themes (trust-gated)</a:t>
            </a:r>
            <a:endParaRPr lang="en-US" sz="900" dirty="0"/>
          </a:p>
        </p:txBody>
      </p:sp>
      <p:sp>
        <p:nvSpPr>
          <p:cNvPr id="23" name="s32_c0_hr2"/>
          <p:cNvSpPr/>
          <p:nvPr/>
        </p:nvSpPr>
        <p:spPr>
          <a:xfrm>
            <a:off x="731520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32_c0_k1"/>
          <p:cNvSpPr/>
          <p:nvPr/>
        </p:nvSpPr>
        <p:spPr>
          <a:xfrm>
            <a:off x="731520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s32_c0_v1"/>
          <p:cNvSpPr/>
          <p:nvPr/>
        </p:nvSpPr>
        <p:spPr>
          <a:xfrm>
            <a:off x="1883664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 theme JSON; name must equal filename</a:t>
            </a:r>
            <a:endParaRPr lang="en-US" sz="900" dirty="0"/>
          </a:p>
        </p:txBody>
      </p:sp>
      <p:sp>
        <p:nvSpPr>
          <p:cNvPr id="26" name="s32_c0_hr3"/>
          <p:cNvSpPr/>
          <p:nvPr/>
        </p:nvSpPr>
        <p:spPr>
          <a:xfrm>
            <a:off x="731520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32_c0_k2"/>
          <p:cNvSpPr/>
          <p:nvPr/>
        </p:nvSpPr>
        <p:spPr>
          <a:xfrm>
            <a:off x="731520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28" name="s32_c0_v2"/>
          <p:cNvSpPr/>
          <p:nvPr/>
        </p:nvSpPr>
        <p:spPr>
          <a:xfrm>
            <a:off x="1883664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 → theme · --use-theme &lt;name&gt; · /reload</a:t>
            </a:r>
            <a:endParaRPr lang="en-US" sz="900" dirty="0"/>
          </a:p>
        </p:txBody>
      </p:sp>
      <p:sp>
        <p:nvSpPr>
          <p:cNvPr id="29" name="s32_c0_hr4"/>
          <p:cNvSpPr/>
          <p:nvPr/>
        </p:nvSpPr>
        <p:spPr>
          <a:xfrm>
            <a:off x="731520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32_c0_k3"/>
          <p:cNvSpPr/>
          <p:nvPr/>
        </p:nvSpPr>
        <p:spPr>
          <a:xfrm>
            <a:off x="731520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31" name="s32_c0_v3"/>
          <p:cNvSpPr/>
          <p:nvPr/>
        </p:nvSpPr>
        <p:spPr>
          <a:xfrm>
            <a:off x="1883664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 in a package update with pi update; manual drops stay put</a:t>
            </a:r>
            <a:endParaRPr lang="en-US" sz="900" dirty="0"/>
          </a:p>
        </p:txBody>
      </p:sp>
      <p:sp>
        <p:nvSpPr>
          <p:cNvPr id="32" name="s32_c0_emp"/>
          <p:cNvSpPr/>
          <p:nvPr/>
        </p:nvSpPr>
        <p:spPr>
          <a:xfrm>
            <a:off x="704088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33" name="s32_c0_emb"/>
          <p:cNvSpPr/>
          <p:nvPr/>
        </p:nvSpPr>
        <p:spPr>
          <a:xfrm>
            <a:off x="886968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34" name="s32_c0_em"/>
          <p:cNvSpPr/>
          <p:nvPr/>
        </p:nvSpPr>
        <p:spPr>
          <a:xfrm>
            <a:off x="886968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install.pi: copy → ~/.pi/agent/themes/&lt;n&gt;.json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 name == filename (strict schema)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TUI: ctx.ui.* needs extension (review)</a:t>
            </a:r>
            <a:endParaRPr lang="en-US" sz="900" dirty="0"/>
          </a:p>
        </p:txBody>
      </p:sp>
      <p:sp>
        <p:nvSpPr>
          <p:cNvPr id="35" name="s32_c1_sh"/>
          <p:cNvSpPr/>
          <p:nvPr/>
        </p:nvSpPr>
        <p:spPr>
          <a:xfrm>
            <a:off x="6259068" y="1531620"/>
            <a:ext cx="5477256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32_c1"/>
          <p:cNvSpPr/>
          <p:nvPr/>
        </p:nvSpPr>
        <p:spPr>
          <a:xfrm>
            <a:off x="6208776" y="1481328"/>
            <a:ext cx="5477256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32_c1_sq"/>
          <p:cNvSpPr/>
          <p:nvPr/>
        </p:nvSpPr>
        <p:spPr>
          <a:xfrm>
            <a:off x="6437376" y="167335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32_c1_topic"/>
          <p:cNvSpPr/>
          <p:nvPr/>
        </p:nvSpPr>
        <p:spPr>
          <a:xfrm>
            <a:off x="6665976" y="1609344"/>
            <a:ext cx="379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300" dirty="0"/>
          </a:p>
        </p:txBody>
      </p:sp>
      <p:sp>
        <p:nvSpPr>
          <p:cNvPr id="39" name="s32_c1_vc_sh"/>
          <p:cNvSpPr/>
          <p:nvPr/>
        </p:nvSpPr>
        <p:spPr>
          <a:xfrm>
            <a:off x="10517429" y="1636776"/>
            <a:ext cx="994867" cy="3383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32_c1_vc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41" name="s32_c1_vc_t"/>
          <p:cNvSpPr/>
          <p:nvPr/>
        </p:nvSpPr>
        <p:spPr>
          <a:xfrm>
            <a:off x="10489997" y="1609344"/>
            <a:ext cx="9948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900" dirty="0"/>
          </a:p>
        </p:txBody>
      </p:sp>
      <p:sp>
        <p:nvSpPr>
          <p:cNvPr id="42" name="s32_c1_why"/>
          <p:cNvSpPr/>
          <p:nvPr/>
        </p:nvSpPr>
        <p:spPr>
          <a:xfrm>
            <a:off x="6437376" y="201168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declarative to emit; record carries risk metadata</a:t>
            </a:r>
            <a:endParaRPr lang="en-US" sz="850" dirty="0"/>
          </a:p>
        </p:txBody>
      </p:sp>
      <p:sp>
        <p:nvSpPr>
          <p:cNvPr id="43" name="s32_c1_what"/>
          <p:cNvSpPr/>
          <p:nvPr/>
        </p:nvSpPr>
        <p:spPr>
          <a:xfrm>
            <a:off x="6437376" y="2340864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permission system or sandbox; a project trust gate decides what loads</a:t>
            </a:r>
            <a:endParaRPr lang="en-US" sz="1050" dirty="0"/>
          </a:p>
        </p:txBody>
      </p:sp>
      <p:sp>
        <p:nvSpPr>
          <p:cNvPr id="44" name="s32_c1_hr1"/>
          <p:cNvSpPr/>
          <p:nvPr/>
        </p:nvSpPr>
        <p:spPr>
          <a:xfrm>
            <a:off x="6437376" y="2798064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32_c1_k0"/>
          <p:cNvSpPr/>
          <p:nvPr/>
        </p:nvSpPr>
        <p:spPr>
          <a:xfrm>
            <a:off x="6437376" y="285292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46" name="s32_c1_v0"/>
          <p:cNvSpPr/>
          <p:nvPr/>
        </p:nvSpPr>
        <p:spPr>
          <a:xfrm>
            <a:off x="7589520" y="28529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.pi/* trust-gated · defaultProjectTrust ask|always|never</a:t>
            </a:r>
            <a:endParaRPr lang="en-US" sz="900" dirty="0"/>
          </a:p>
        </p:txBody>
      </p:sp>
      <p:sp>
        <p:nvSpPr>
          <p:cNvPr id="47" name="s32_c1_hr2"/>
          <p:cNvSpPr/>
          <p:nvPr/>
        </p:nvSpPr>
        <p:spPr>
          <a:xfrm>
            <a:off x="6437376" y="3273552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32_c1_k1"/>
          <p:cNvSpPr/>
          <p:nvPr/>
        </p:nvSpPr>
        <p:spPr>
          <a:xfrm>
            <a:off x="6437376" y="327355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850" dirty="0"/>
          </a:p>
        </p:txBody>
      </p:sp>
      <p:sp>
        <p:nvSpPr>
          <p:cNvPr id="49" name="s32_c1_v1"/>
          <p:cNvSpPr/>
          <p:nvPr/>
        </p:nvSpPr>
        <p:spPr>
          <a:xfrm>
            <a:off x="7589520" y="327355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settings trust + exposure flags only</a:t>
            </a:r>
            <a:endParaRPr lang="en-US" sz="900" dirty="0"/>
          </a:p>
        </p:txBody>
      </p:sp>
      <p:sp>
        <p:nvSpPr>
          <p:cNvPr id="50" name="s32_c1_hr3"/>
          <p:cNvSpPr/>
          <p:nvPr/>
        </p:nvSpPr>
        <p:spPr>
          <a:xfrm>
            <a:off x="6437376" y="3694176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32_c1_k2"/>
          <p:cNvSpPr/>
          <p:nvPr/>
        </p:nvSpPr>
        <p:spPr>
          <a:xfrm>
            <a:off x="6437376" y="36941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50" dirty="0"/>
          </a:p>
        </p:txBody>
      </p:sp>
      <p:sp>
        <p:nvSpPr>
          <p:cNvPr id="52" name="s32_c1_v2"/>
          <p:cNvSpPr/>
          <p:nvPr/>
        </p:nvSpPr>
        <p:spPr>
          <a:xfrm>
            <a:off x="7589520" y="369417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config · /settings · codemode QuickJS sandbox</a:t>
            </a:r>
            <a:endParaRPr lang="en-US" sz="900" dirty="0"/>
          </a:p>
        </p:txBody>
      </p:sp>
      <p:sp>
        <p:nvSpPr>
          <p:cNvPr id="53" name="s32_c1_hr4"/>
          <p:cNvSpPr/>
          <p:nvPr/>
        </p:nvSpPr>
        <p:spPr>
          <a:xfrm>
            <a:off x="6437376" y="4114800"/>
            <a:ext cx="502005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32_c1_k3"/>
          <p:cNvSpPr/>
          <p:nvPr/>
        </p:nvSpPr>
        <p:spPr>
          <a:xfrm>
            <a:off x="6437376" y="41148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</a:t>
            </a:r>
            <a:endParaRPr lang="en-US" sz="850" dirty="0"/>
          </a:p>
        </p:txBody>
      </p:sp>
      <p:sp>
        <p:nvSpPr>
          <p:cNvPr id="55" name="s32_c1_v3"/>
          <p:cNvSpPr/>
          <p:nvPr/>
        </p:nvSpPr>
        <p:spPr>
          <a:xfrm>
            <a:off x="7589520" y="411480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artifact to update — trust is a per-project prompt, not a file</a:t>
            </a:r>
            <a:endParaRPr lang="en-US" sz="900" dirty="0"/>
          </a:p>
        </p:txBody>
      </p:sp>
      <p:sp>
        <p:nvSpPr>
          <p:cNvPr id="56" name="s32_c1_emp"/>
          <p:cNvSpPr/>
          <p:nvPr/>
        </p:nvSpPr>
        <p:spPr>
          <a:xfrm>
            <a:off x="6409944" y="4626864"/>
            <a:ext cx="5074920" cy="1581912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57" name="s32_c1_emb"/>
          <p:cNvSpPr/>
          <p:nvPr/>
        </p:nvSpPr>
        <p:spPr>
          <a:xfrm>
            <a:off x="6592824" y="4736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EMISSION</a:t>
            </a:r>
            <a:endParaRPr lang="en-US" sz="800" dirty="0"/>
          </a:p>
        </p:txBody>
      </p:sp>
      <p:sp>
        <p:nvSpPr>
          <p:cNvPr id="58" name="s32_c1_em"/>
          <p:cNvSpPr/>
          <p:nvPr/>
        </p:nvSpPr>
        <p:spPr>
          <a:xfrm>
            <a:off x="6592824" y="4956048"/>
            <a:ext cx="4709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compatibility.pi: no policy surface (YOLO)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emit: trust.tier + capabilities[] at install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codemode: sandbox for model-written JS only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25_vx1_v1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25_vx1_v2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25_vx1_v3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25_vx2_v1"/>
          <p:cNvSpPr/>
          <p:nvPr/>
        </p:nvSpPr>
        <p:spPr>
          <a:xfrm>
            <a:off x="548640" y="598932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25_vx2_v2"/>
          <p:cNvSpPr/>
          <p:nvPr/>
        </p:nvSpPr>
        <p:spPr>
          <a:xfrm>
            <a:off x="722376" y="598932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25_vx2_v3"/>
          <p:cNvSpPr/>
          <p:nvPr/>
        </p:nvSpPr>
        <p:spPr>
          <a:xfrm>
            <a:off x="548640" y="616305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25_kick" descr="assets/k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10" name="s25_title" descr="assets/t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10528663" cy="475488"/>
          </a:xfrm>
          <a:prstGeom prst="rect">
            <a:avLst/>
          </a:prstGeom>
        </p:spPr>
      </p:pic>
      <p:sp>
        <p:nvSpPr>
          <p:cNvPr id="11" name="s25_spec"/>
          <p:cNvSpPr/>
          <p:nvPr/>
        </p:nvSpPr>
        <p:spPr>
          <a:xfrm>
            <a:off x="502920" y="12161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is buildable because every harness answers the same six questions — we wrote them down</a:t>
            </a:r>
            <a:endParaRPr lang="en-US" sz="1100" dirty="0"/>
          </a:p>
        </p:txBody>
      </p:sp>
      <p:sp>
        <p:nvSpPr>
          <p:cNvPr id="12" name="s25_tk0_sq"/>
          <p:cNvSpPr/>
          <p:nvPr/>
        </p:nvSpPr>
        <p:spPr>
          <a:xfrm>
            <a:off x="502920" y="2203704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13" name="s25_tk0_h"/>
          <p:cNvSpPr/>
          <p:nvPr/>
        </p:nvSpPr>
        <p:spPr>
          <a:xfrm>
            <a:off x="868680" y="21488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 update. Artifacts don't.</a:t>
            </a:r>
            <a:endParaRPr lang="en-US" sz="1550" dirty="0"/>
          </a:p>
        </p:txBody>
      </p:sp>
      <p:sp>
        <p:nvSpPr>
          <p:cNvPr id="14" name="s25_tk0_d"/>
          <p:cNvSpPr/>
          <p:nvPr/>
        </p:nvSpPr>
        <p:spPr>
          <a:xfrm>
            <a:off x="868680" y="24780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mcp, agents and hooks are file-drops in all four harnesses — agentreg.lock is the missing updater</a:t>
            </a:r>
            <a:endParaRPr lang="en-US" sz="1050" dirty="0"/>
          </a:p>
        </p:txBody>
      </p:sp>
      <p:sp>
        <p:nvSpPr>
          <p:cNvPr id="15" name="s25_tk1_sq"/>
          <p:cNvSpPr/>
          <p:nvPr/>
        </p:nvSpPr>
        <p:spPr>
          <a:xfrm>
            <a:off x="502920" y="3255264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25_tk1_h"/>
          <p:cNvSpPr/>
          <p:nvPr/>
        </p:nvSpPr>
        <p:spPr>
          <a:xfrm>
            <a:off x="868680" y="32004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 overlays, not forks</a:t>
            </a:r>
            <a:endParaRPr lang="en-US" sz="1550" dirty="0"/>
          </a:p>
        </p:txBody>
      </p:sp>
      <p:sp>
        <p:nvSpPr>
          <p:cNvPr id="17" name="s25_tk1_d"/>
          <p:cNvSpPr/>
          <p:nvPr/>
        </p:nvSpPr>
        <p:spPr>
          <a:xfrm>
            <a:off x="868680" y="3529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spec-pure core plus per-harness overlay fields; only pi takes claude's mcp json copy-as-is</a:t>
            </a:r>
            <a:endParaRPr lang="en-US" sz="1050" dirty="0"/>
          </a:p>
        </p:txBody>
      </p:sp>
      <p:sp>
        <p:nvSpPr>
          <p:cNvPr id="18" name="s25_tk2_sq"/>
          <p:cNvSpPr/>
          <p:nvPr/>
        </p:nvSpPr>
        <p:spPr>
          <a:xfrm>
            <a:off x="502920" y="430682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25_tk2_h"/>
          <p:cNvSpPr/>
          <p:nvPr/>
        </p:nvSpPr>
        <p:spPr>
          <a:xfrm>
            <a:off x="868680" y="4251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 is an answer</a:t>
            </a:r>
            <a:endParaRPr lang="en-US" sz="1550" dirty="0"/>
          </a:p>
        </p:txBody>
      </p:sp>
      <p:sp>
        <p:nvSpPr>
          <p:cNvPr id="20" name="s25_tk2_d"/>
          <p:cNvSpPr/>
          <p:nvPr/>
        </p:nvSpPr>
        <p:spPr>
          <a:xfrm>
            <a:off x="868680" y="45811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lsp, statusline and custom tools exist in two of four harnesses — the record says unsupported, never broken</a:t>
            </a:r>
            <a:endParaRPr lang="en-US" sz="1050" dirty="0"/>
          </a:p>
        </p:txBody>
      </p:sp>
      <p:pic>
        <p:nvPicPr>
          <p:cNvPr id="21" name="machine" descr="assets/mach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468880"/>
            <a:ext cx="1111195" cy="1965960"/>
          </a:xfrm>
          <a:prstGeom prst="rect">
            <a:avLst/>
          </a:prstGeom>
        </p:spPr>
      </p:pic>
      <p:pic>
        <p:nvPicPr>
          <p:cNvPr id="22" name="machineCup" descr="assets/c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977640"/>
            <a:ext cx="365760" cy="274320"/>
          </a:xfrm>
          <a:prstGeom prst="rect">
            <a:avLst/>
          </a:prstGeom>
        </p:spPr>
      </p:pic>
      <p:pic>
        <p:nvPicPr>
          <p:cNvPr id="23" name="runner" descr="assets/runn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611880"/>
            <a:ext cx="701040" cy="1051560"/>
          </a:xfrm>
          <a:prstGeom prst="rect">
            <a:avLst/>
          </a:prstGeom>
        </p:spPr>
      </p:pic>
      <p:pic>
        <p:nvPicPr>
          <p:cNvPr id="24" name="s25_cube0" descr="assets/cube_clau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715000"/>
            <a:ext cx="347472" cy="347472"/>
          </a:xfrm>
          <a:prstGeom prst="rect">
            <a:avLst/>
          </a:prstGeom>
        </p:spPr>
      </p:pic>
      <p:pic>
        <p:nvPicPr>
          <p:cNvPr id="25" name="s25_cube1" descr="assets/cube_code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5715000"/>
            <a:ext cx="347472" cy="347472"/>
          </a:xfrm>
          <a:prstGeom prst="rect">
            <a:avLst/>
          </a:prstGeom>
        </p:spPr>
      </p:pic>
      <p:pic>
        <p:nvPicPr>
          <p:cNvPr id="26" name="s25_cube2" descr="assets/cube_open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0" y="5715000"/>
            <a:ext cx="347472" cy="347472"/>
          </a:xfrm>
          <a:prstGeom prst="rect">
            <a:avLst/>
          </a:prstGeom>
        </p:spPr>
      </p:pic>
      <p:pic>
        <p:nvPicPr>
          <p:cNvPr id="27" name="s25_cube3" descr="assets/cube_p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4280" y="5715000"/>
            <a:ext cx="347472" cy="347472"/>
          </a:xfrm>
          <a:prstGeom prst="rect">
            <a:avLst/>
          </a:prstGeom>
        </p:spPr>
      </p:pic>
      <p:sp>
        <p:nvSpPr>
          <p:cNvPr id="28" name="s25_src"/>
          <p:cNvSpPr/>
          <p:nvPr/>
        </p:nvSpPr>
        <p:spPr>
          <a:xfrm>
            <a:off x="502920" y="6355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agents-unified-registry corpus · every fact verified 2026-10-16 · deck: nano-super-slides-v5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next: agentreg v0 — skills + mcp × 4 harnesses, then the adapters this deck maps.</a:t>
            </a:r>
            <a:endParaRPr lang="en-US" sz="900" dirty="0"/>
          </a:p>
        </p:txBody>
      </p:sp>
      <p:sp>
        <p:nvSpPr>
          <p:cNvPr id="29" name="s2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Our Own Registry — nano-super v5</dc:title>
  <dc:subject>PptxGenJS Presentation</dc:subject>
  <dc:creator>aryan-rajoria</dc:creator>
  <cp:lastModifiedBy>aryan-rajoria</cp:lastModifiedBy>
  <cp:revision>1</cp:revision>
  <dcterms:created xsi:type="dcterms:W3CDTF">2026-10-20T20:43:00Z</dcterms:created>
  <dcterms:modified xsi:type="dcterms:W3CDTF">2026-10-20T20:43:00Z</dcterms:modified>
</cp:coreProperties>
</file>