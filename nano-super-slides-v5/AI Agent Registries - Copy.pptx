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2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903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PCM agent-registry research: mapping, not storage — the registry points, GitHub keeps the files. Four standards sections (skills, plugins, MCP, AGENTS.md), matrix, reserved space. 27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TL;DR (starter text, verbatim): plugins cover most already, except exec policy; the agent-plugins spec is decent but claude code does not follow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PCM responsibilities (starter bullets verbatim). Mapping only — GitHub (alt Qgenie) stores. Traditional registries host packages + installers + lockfiles; AI registries keep only metadata + URL/SHA.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 vs the market, compressed from the registry-by-registry research. The gap: nobody stores harness capability as data. PCM: metadata-only + the capability matrix as data + org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API path from the starter, as a diagram: User -&gt; pcm-service -&gt; CMS -&gt; TaxonomyDB. Deliberately not the pixel theme — plain native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implementation: the AgentSkill entity, 8 fields — Name (skill name), Description, GithubURL, CommitSHA, RepositoryPath, Owner, Status,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questions — deliberately left empty, the user's placeholder from the starter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— SKILLS. The three slides that follow: specification, claude + codex, opencode +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Skills spec (commonality only): SKILL.md directory format, progressive disclosure, the 6-field table, rules + gaps the registry must own, stewardship + adoption. Source: agentskills.io, verified 2026-10-16.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differences, pair 1: claude code adds front matter fields (hooks, description lengths); codex adds an agents/openai.yaml sidecar.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differences, pair 2: opencode gates extensions behind metadata.opencode and ignores license; pi decouples skill name from folder name. Common core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Same-name skill collisions — how each harness resolves them, and how pcm solves it upstream. Source: corpus claude-code.md / codex.md / opencode.md / pi.md, verified 2026-10-16/21.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— PLUGINS. specification · claude + codex · opencode +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Plugins spec (commonality only): plugin.json layout, the closed field set, unknown-field rule, TSC stewardship, scope floor, adoption. Source: agent-plugins.org, verified 2026-10-16, maintainers re-checked 2026-10-28.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Plugins differences, pair 1: claude code ships its own plugin.json format; codex follows the spec plus extensions.com.openai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Plugins differences, pair 2: opencode plugins are npm TS packages; pi packages are npm packages with the pi-package keyword. Common core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— MCP SERVERS. specification · claude + codex · opencode +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spec (commonality only): protocol + mcp.json transports, the official registry (metadata only, ~9,652 servers), AAIF stewardship, the server.json record. Source: modelcontextprotocol.io + registry, verified 2026-10-16.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differences, pair 1: claude code takes the JSON as-is; codex wants TOML.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differences, pair 2: opencode has its own JSON schema (v1/v2 dialects); pi takes the JSON verbatim. Common core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— AGENTS.MD. specification · claude + codex · opencode +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AGENTS.MD spec (commonality only): plain Markdown README-for-agents, no schema/frontmatter; OpenAI contributed it to AAIF Dec 2025; 60k+ repos, ~24 agents; the .agents/ folder is still an unratified proposal. Source: agents.md, verified 2026-10-16.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AGENTS.md differences, pair 1: claude code prefers CLAUDE.md; codex supports it natively with a global file and a 32 KiB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AGENTS.md differences, pair 2: opencode makes AGENTS.md primary with CLAUDE.md fallback; pi reads it from the working folder and every parent. Common core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picture: 10 surfaces, 3 with a standard (skills, plugins, MCP), 7 with none. The 7 get their reserved space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seven surfaces with no standard — each row is surface + today's state, each dashed box is reserved space. When a standard lands, it gets its own SPEC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cheat sheet (user moved it to slide 4 on 2026-10-20). Verdict chips per surface per harness, plus the auto-update dot (green = the harness can update this artifact type itself). Derived at build time from the four content files. Every row opens a four-slide section on slides 5-44: banner (registry minimum), standards (spec state), then the harnesses as claude+codex and opencode+pi card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Retitled 2026-10-29: Things Not Included in this presentation (was: Things we missed). Rows filled by the user; heading bitmap swapped in place via patch_s29_title.py.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_vx1_v1"/>
          <p:cNvSpPr/>
          <p:nvPr/>
        </p:nvSpPr>
        <p:spPr>
          <a:xfrm>
            <a:off x="11137392" y="38404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4" name="s1_vx1_v2"/>
          <p:cNvSpPr/>
          <p:nvPr/>
        </p:nvSpPr>
        <p:spPr>
          <a:xfrm>
            <a:off x="11311128" y="384048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1_vx1_v3"/>
          <p:cNvSpPr/>
          <p:nvPr/>
        </p:nvSpPr>
        <p:spPr>
          <a:xfrm>
            <a:off x="11137392" y="55778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1_vx2_v1"/>
          <p:cNvSpPr/>
          <p:nvPr/>
        </p:nvSpPr>
        <p:spPr>
          <a:xfrm>
            <a:off x="548640" y="59436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1_vx2_v2"/>
          <p:cNvSpPr/>
          <p:nvPr/>
        </p:nvSpPr>
        <p:spPr>
          <a:xfrm>
            <a:off x="722376" y="5943600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8" name="s1_vx2_v3"/>
          <p:cNvSpPr/>
          <p:nvPr/>
        </p:nvSpPr>
        <p:spPr>
          <a:xfrm>
            <a:off x="548640" y="611733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9" name="s1_kick" descr="assets/a2_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2795451" cy="182880"/>
          </a:xfrm>
          <a:prstGeom prst="rect">
            <a:avLst/>
          </a:prstGeom>
        </p:spPr>
      </p:pic>
      <p:pic>
        <p:nvPicPr>
          <p:cNvPr id="10" name="s1_title1" descr="assets/a2_c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5880"/>
            <a:ext cx="4052098" cy="603504"/>
          </a:xfrm>
          <a:prstGeom prst="rect">
            <a:avLst/>
          </a:prstGeom>
        </p:spPr>
      </p:pic>
      <p:pic>
        <p:nvPicPr>
          <p:cNvPr id="11" name="s1_title2" descr="assets/a2_c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057400"/>
            <a:ext cx="5086677" cy="603504"/>
          </a:xfrm>
          <a:prstGeom prst="rect">
            <a:avLst/>
          </a:prstGeom>
        </p:spPr>
      </p:pic>
      <p:sp>
        <p:nvSpPr>
          <p:cNvPr id="12" name="s1_sub"/>
          <p:cNvSpPr/>
          <p:nvPr/>
        </p:nvSpPr>
        <p:spPr>
          <a:xfrm>
            <a:off x="502920" y="3063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7CB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TEAM</a:t>
            </a:r>
            <a:endParaRPr lang="en-US" sz="1500" dirty="0"/>
          </a:p>
        </p:txBody>
      </p:sp>
      <p:sp>
        <p:nvSpPr>
          <p:cNvPr id="13" name="s1_tag"/>
          <p:cNvSpPr/>
          <p:nvPr/>
        </p:nvSpPr>
        <p:spPr>
          <a:xfrm>
            <a:off x="502920" y="34930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mapping, not storage — the registry points, GitHub keeps the files</a:t>
            </a:r>
            <a:endParaRPr lang="en-US" sz="1500" dirty="0"/>
          </a:p>
        </p:txBody>
      </p:sp>
      <p:pic>
        <p:nvPicPr>
          <p:cNvPr id="14" name="s1_runner" descr="assets/ru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2011680"/>
            <a:ext cx="1767840" cy="2651760"/>
          </a:xfrm>
          <a:prstGeom prst="rect">
            <a:avLst/>
          </a:prstGeom>
        </p:spPr>
      </p:pic>
      <p:pic>
        <p:nvPicPr>
          <p:cNvPr id="15" name="s1_cube0" descr="assets/cube_clau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4892040"/>
            <a:ext cx="384048" cy="384048"/>
          </a:xfrm>
          <a:prstGeom prst="rect">
            <a:avLst/>
          </a:prstGeom>
        </p:spPr>
      </p:pic>
      <p:pic>
        <p:nvPicPr>
          <p:cNvPr id="16" name="s1_cube1" descr="assets/cube_code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800" y="4892040"/>
            <a:ext cx="384048" cy="384048"/>
          </a:xfrm>
          <a:prstGeom prst="rect">
            <a:avLst/>
          </a:prstGeom>
        </p:spPr>
      </p:pic>
      <p:pic>
        <p:nvPicPr>
          <p:cNvPr id="17" name="s1_cube2" descr="assets/cube_open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7040" y="4892040"/>
            <a:ext cx="384048" cy="384048"/>
          </a:xfrm>
          <a:prstGeom prst="rect">
            <a:avLst/>
          </a:prstGeom>
        </p:spPr>
      </p:pic>
      <p:pic>
        <p:nvPicPr>
          <p:cNvPr id="18" name="s1_cube3" descr="assets/cube_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4280" y="4892040"/>
            <a:ext cx="384048" cy="384048"/>
          </a:xfrm>
          <a:prstGeom prst="rect">
            <a:avLst/>
          </a:prstGeom>
        </p:spPr>
      </p:pic>
      <p:sp>
        <p:nvSpPr>
          <p:cNvPr id="19" name="s1_foot"/>
          <p:cNvSpPr/>
          <p:nvPr/>
        </p:nvSpPr>
        <p:spPr>
          <a:xfrm>
            <a:off x="9966960" y="6355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_kick" descr="assets/a2_k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4362994" cy="182880"/>
          </a:xfrm>
          <a:prstGeom prst="rect">
            <a:avLst/>
          </a:prstGeom>
        </p:spPr>
      </p:pic>
      <p:pic>
        <p:nvPicPr>
          <p:cNvPr id="6" name="s2_title" descr="assets/a2_t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1969879" cy="475488"/>
          </a:xfrm>
          <a:prstGeom prst="rect">
            <a:avLst/>
          </a:prstGeom>
        </p:spPr>
      </p:pic>
      <p:sp>
        <p:nvSpPr>
          <p:cNvPr id="7" name="s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27</a:t>
            </a:r>
            <a:endParaRPr lang="en-US" sz="950" dirty="0"/>
          </a:p>
        </p:txBody>
      </p:sp>
      <p:sp>
        <p:nvSpPr>
          <p:cNvPr id="9" name="s2_r0_sh"/>
          <p:cNvSpPr/>
          <p:nvPr/>
        </p:nvSpPr>
        <p:spPr>
          <a:xfrm>
            <a:off x="553212" y="1833372"/>
            <a:ext cx="11183112" cy="1234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2_r0"/>
          <p:cNvSpPr/>
          <p:nvPr/>
        </p:nvSpPr>
        <p:spPr>
          <a:xfrm>
            <a:off x="502920" y="1783080"/>
            <a:ext cx="11183112" cy="12344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1" name="s2_n0"/>
          <p:cNvSpPr/>
          <p:nvPr/>
        </p:nvSpPr>
        <p:spPr>
          <a:xfrm>
            <a:off x="86868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s2_v0"/>
          <p:cNvSpPr/>
          <p:nvPr/>
        </p:nvSpPr>
        <p:spPr>
          <a:xfrm>
            <a:off x="1965960" y="2039112"/>
            <a:ext cx="0" cy="722376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3" name="s2_t0"/>
          <p:cNvSpPr/>
          <p:nvPr/>
        </p:nvSpPr>
        <p:spPr>
          <a:xfrm>
            <a:off x="2286000" y="178308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support most features already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1B1D22"/>
                </a:solidFill>
                <a:latin typeface="Segoe UI" pitchFamily="34" charset="0"/>
                <a:cs typeface="Segoe UI" pitchFamily="34" charset="-120"/>
              </a:rPr>
              <a:t>	Except exec policy</a:t>
            </a:r>
          </a:p>
        </p:txBody>
      </p:sp>
      <p:sp>
        <p:nvSpPr>
          <p:cNvPr id="14" name="s2_r1_sh"/>
          <p:cNvSpPr/>
          <p:nvPr/>
        </p:nvSpPr>
        <p:spPr>
          <a:xfrm>
            <a:off x="553212" y="3296412"/>
            <a:ext cx="11183112" cy="1234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s2_r1"/>
          <p:cNvSpPr/>
          <p:nvPr/>
        </p:nvSpPr>
        <p:spPr>
          <a:xfrm>
            <a:off x="502920" y="3246120"/>
            <a:ext cx="11183112" cy="12344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2_n1"/>
          <p:cNvSpPr/>
          <p:nvPr/>
        </p:nvSpPr>
        <p:spPr>
          <a:xfrm>
            <a:off x="868680" y="324612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2_v1"/>
          <p:cNvSpPr/>
          <p:nvPr/>
        </p:nvSpPr>
        <p:spPr>
          <a:xfrm>
            <a:off x="1965960" y="3502152"/>
            <a:ext cx="0" cy="722376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2_t1"/>
          <p:cNvSpPr/>
          <p:nvPr/>
        </p:nvSpPr>
        <p:spPr>
          <a:xfrm>
            <a:off x="2286000" y="324612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fields we need: harnesses-supported (list), install-location, capabilities-used, </a:t>
            </a:r>
            <a:r>
              <a:rPr lang="en-US" dirty="0" err="1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-connection-type, plugins-supported-extension (list) </a:t>
            </a:r>
            <a:endParaRPr lang="en-US" dirty="0"/>
          </a:p>
        </p:txBody>
      </p:sp>
      <p:sp>
        <p:nvSpPr>
          <p:cNvPr id="19" name="s2_r2_sh"/>
          <p:cNvSpPr/>
          <p:nvPr/>
        </p:nvSpPr>
        <p:spPr>
          <a:xfrm>
            <a:off x="553212" y="4759452"/>
            <a:ext cx="11183112" cy="1234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2_r2"/>
          <p:cNvSpPr/>
          <p:nvPr/>
        </p:nvSpPr>
        <p:spPr>
          <a:xfrm>
            <a:off x="502920" y="4709160"/>
            <a:ext cx="11183112" cy="12344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1" name="s2_n2"/>
          <p:cNvSpPr/>
          <p:nvPr/>
        </p:nvSpPr>
        <p:spPr>
          <a:xfrm>
            <a:off x="868680" y="470916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2_v2"/>
          <p:cNvSpPr/>
          <p:nvPr/>
        </p:nvSpPr>
        <p:spPr>
          <a:xfrm>
            <a:off x="1965960" y="4965192"/>
            <a:ext cx="0" cy="722376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3" name="s2_t2"/>
          <p:cNvSpPr/>
          <p:nvPr/>
        </p:nvSpPr>
        <p:spPr>
          <a:xfrm>
            <a:off x="2286000" y="470916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harness adds additional features to even the spec, none follows it completely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3_kick" descr="assets/a2_k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6" name="s3_title" descr="assets/a2_t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8083296" cy="475488"/>
          </a:xfrm>
          <a:prstGeom prst="rect">
            <a:avLst/>
          </a:prstGeom>
        </p:spPr>
      </p:pic>
      <p:sp>
        <p:nvSpPr>
          <p:cNvPr id="7" name="s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27</a:t>
            </a:r>
            <a:endParaRPr lang="en-US" sz="950" dirty="0"/>
          </a:p>
        </p:txBody>
      </p:sp>
      <p:sp>
        <p:nvSpPr>
          <p:cNvPr id="9" name="s3_lead_sh"/>
          <p:cNvSpPr/>
          <p:nvPr/>
        </p:nvSpPr>
        <p:spPr>
          <a:xfrm>
            <a:off x="553212" y="1531620"/>
            <a:ext cx="4572000" cy="44805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3_lead"/>
          <p:cNvSpPr/>
          <p:nvPr/>
        </p:nvSpPr>
        <p:spPr>
          <a:xfrm>
            <a:off x="502920" y="1481328"/>
            <a:ext cx="4572000" cy="44805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1" name="s3_lb0"/>
          <p:cNvSpPr/>
          <p:nvPr/>
        </p:nvSpPr>
        <p:spPr>
          <a:xfrm>
            <a:off x="822960" y="1993392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2" name="s3_lt0"/>
          <p:cNvSpPr/>
          <p:nvPr/>
        </p:nvSpPr>
        <p:spPr>
          <a:xfrm>
            <a:off x="1097280" y="190195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mapping no storing</a:t>
            </a:r>
            <a:endParaRPr lang="en-US" sz="2400" dirty="0"/>
          </a:p>
        </p:txBody>
      </p:sp>
      <p:sp>
        <p:nvSpPr>
          <p:cNvPr id="13" name="s3_lh0"/>
          <p:cNvSpPr/>
          <p:nvPr/>
        </p:nvSpPr>
        <p:spPr>
          <a:xfrm>
            <a:off x="822960" y="3072384"/>
            <a:ext cx="3931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4" name="s3_lb1"/>
          <p:cNvSpPr/>
          <p:nvPr/>
        </p:nvSpPr>
        <p:spPr>
          <a:xfrm>
            <a:off x="822960" y="3319272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5" name="s3_lt1"/>
          <p:cNvSpPr/>
          <p:nvPr/>
        </p:nvSpPr>
        <p:spPr>
          <a:xfrm>
            <a:off x="1097280" y="322783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in Github and alternatively Qgenie</a:t>
            </a:r>
            <a:endParaRPr lang="en-US" sz="2400" dirty="0"/>
          </a:p>
        </p:txBody>
      </p:sp>
      <p:sp>
        <p:nvSpPr>
          <p:cNvPr id="16" name="s3_lh1"/>
          <p:cNvSpPr/>
          <p:nvPr/>
        </p:nvSpPr>
        <p:spPr>
          <a:xfrm>
            <a:off x="822960" y="4398264"/>
            <a:ext cx="39319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7" name="s3_lb2"/>
          <p:cNvSpPr/>
          <p:nvPr/>
        </p:nvSpPr>
        <p:spPr>
          <a:xfrm>
            <a:off x="822960" y="4645152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s3_lt2"/>
          <p:cNvSpPr/>
          <p:nvPr/>
        </p:nvSpPr>
        <p:spPr>
          <a:xfrm>
            <a:off x="1097280" y="455371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registries</a:t>
            </a:r>
            <a:endParaRPr lang="en-US" sz="2400" dirty="0"/>
          </a:p>
        </p:txBody>
      </p:sp>
      <p:sp>
        <p:nvSpPr>
          <p:cNvPr id="19" name="s3_trad_sh"/>
          <p:cNvSpPr/>
          <p:nvPr/>
        </p:nvSpPr>
        <p:spPr>
          <a:xfrm>
            <a:off x="5353812" y="1531620"/>
            <a:ext cx="6382512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3_trad"/>
          <p:cNvSpPr/>
          <p:nvPr/>
        </p:nvSpPr>
        <p:spPr>
          <a:xfrm>
            <a:off x="5303520" y="1481328"/>
            <a:ext cx="6382512" cy="214884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1" name="s3_trad_b"/>
          <p:cNvSpPr/>
          <p:nvPr/>
        </p:nvSpPr>
        <p:spPr>
          <a:xfrm>
            <a:off x="5577840" y="16642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TRADITIONALLY</a:t>
            </a:r>
            <a:endParaRPr lang="en-US" sz="1000" dirty="0"/>
          </a:p>
        </p:txBody>
      </p:sp>
      <p:sp>
        <p:nvSpPr>
          <p:cNvPr id="22" name="s3_trad_t"/>
          <p:cNvSpPr/>
          <p:nvPr/>
        </p:nvSpPr>
        <p:spPr>
          <a:xfrm>
            <a:off x="5577840" y="2048256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the packages, have installation scripts and some kind of lockfile (version control)</a:t>
            </a:r>
            <a:endParaRPr lang="en-US" dirty="0"/>
          </a:p>
        </p:txBody>
      </p:sp>
      <p:sp>
        <p:nvSpPr>
          <p:cNvPr id="23" name="s3_air_sh"/>
          <p:cNvSpPr/>
          <p:nvPr/>
        </p:nvSpPr>
        <p:spPr>
          <a:xfrm>
            <a:off x="5353812" y="3863340"/>
            <a:ext cx="6382512" cy="21488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s3_air"/>
          <p:cNvSpPr/>
          <p:nvPr/>
        </p:nvSpPr>
        <p:spPr>
          <a:xfrm>
            <a:off x="5303520" y="3813048"/>
            <a:ext cx="6382512" cy="214884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5" name="s3_air_b"/>
          <p:cNvSpPr/>
          <p:nvPr/>
        </p:nvSpPr>
        <p:spPr>
          <a:xfrm>
            <a:off x="5577840" y="39959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REGISTRIES</a:t>
            </a:r>
            <a:endParaRPr lang="en-US" sz="1000" dirty="0"/>
          </a:p>
        </p:txBody>
      </p:sp>
      <p:sp>
        <p:nvSpPr>
          <p:cNvPr id="26" name="s3_air_t"/>
          <p:cNvSpPr/>
          <p:nvPr/>
        </p:nvSpPr>
        <p:spPr>
          <a:xfrm>
            <a:off x="5577840" y="4379976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support multiple harness or Do not support different types of Assets. Do not store code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4_kick" descr="assets/a2_k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2481943" cy="182880"/>
          </a:xfrm>
          <a:prstGeom prst="rect">
            <a:avLst/>
          </a:prstGeom>
        </p:spPr>
      </p:pic>
      <p:pic>
        <p:nvPicPr>
          <p:cNvPr id="6" name="s4_title" descr="assets/a2_t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6453051" cy="475488"/>
          </a:xfrm>
          <a:prstGeom prst="rect">
            <a:avLst/>
          </a:prstGeom>
        </p:spPr>
      </p:pic>
      <p:sp>
        <p:nvSpPr>
          <p:cNvPr id="7" name="s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27</a:t>
            </a:r>
            <a:endParaRPr lang="en-US" sz="950" dirty="0"/>
          </a:p>
        </p:txBody>
      </p:sp>
      <p:sp>
        <p:nvSpPr>
          <p:cNvPr id="9" name="s4_mkt_sh"/>
          <p:cNvSpPr/>
          <p:nvPr/>
        </p:nvSpPr>
        <p:spPr>
          <a:xfrm>
            <a:off x="553212" y="1531620"/>
            <a:ext cx="11183112" cy="240487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4_mkt"/>
          <p:cNvSpPr/>
          <p:nvPr/>
        </p:nvSpPr>
        <p:spPr>
          <a:xfrm>
            <a:off x="502920" y="1481328"/>
            <a:ext cx="11183112" cy="240487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1" name="s4_b0"/>
          <p:cNvSpPr/>
          <p:nvPr/>
        </p:nvSpPr>
        <p:spPr>
          <a:xfrm>
            <a:off x="777240" y="1856232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s4_k0"/>
          <p:cNvSpPr/>
          <p:nvPr/>
        </p:nvSpPr>
        <p:spPr>
          <a:xfrm>
            <a:off x="1005840" y="1737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Registry</a:t>
            </a:r>
            <a:endParaRPr lang="en-US" sz="1400" dirty="0"/>
          </a:p>
        </p:txBody>
      </p:sp>
      <p:sp>
        <p:nvSpPr>
          <p:cNvPr id="13" name="s4_v0"/>
          <p:cNvSpPr/>
          <p:nvPr/>
        </p:nvSpPr>
        <p:spPr>
          <a:xfrm>
            <a:off x="3611880" y="173736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only, points at npm/OCI; any MCP client</a:t>
            </a:r>
            <a:endParaRPr lang="en-US" dirty="0"/>
          </a:p>
        </p:txBody>
      </p:sp>
      <p:sp>
        <p:nvSpPr>
          <p:cNvPr id="14" name="s4_h0"/>
          <p:cNvSpPr/>
          <p:nvPr/>
        </p:nvSpPr>
        <p:spPr>
          <a:xfrm>
            <a:off x="777240" y="2240280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s4_b1"/>
          <p:cNvSpPr/>
          <p:nvPr/>
        </p:nvSpPr>
        <p:spPr>
          <a:xfrm>
            <a:off x="777240" y="2359152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4_k1"/>
          <p:cNvSpPr/>
          <p:nvPr/>
        </p:nvSpPr>
        <p:spPr>
          <a:xfrm>
            <a:off x="100584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skills.sh (Vercel CLI)</a:t>
            </a:r>
            <a:endParaRPr lang="en-US" sz="1400" dirty="0"/>
          </a:p>
        </p:txBody>
      </p:sp>
      <p:sp>
        <p:nvSpPr>
          <p:cNvPr id="17" name="s4_v1"/>
          <p:cNvSpPr/>
          <p:nvPr/>
        </p:nvSpPr>
        <p:spPr>
          <a:xfrm>
            <a:off x="3611880" y="22402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record, ~80 agents; harness knowledge lives in the CLI code</a:t>
            </a:r>
            <a:endParaRPr lang="en-US" dirty="0"/>
          </a:p>
        </p:txBody>
      </p:sp>
      <p:sp>
        <p:nvSpPr>
          <p:cNvPr id="18" name="s4_h1"/>
          <p:cNvSpPr/>
          <p:nvPr/>
        </p:nvSpPr>
        <p:spPr>
          <a:xfrm>
            <a:off x="777240" y="2743200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4_b2"/>
          <p:cNvSpPr/>
          <p:nvPr/>
        </p:nvSpPr>
        <p:spPr>
          <a:xfrm>
            <a:off x="777240" y="2862072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4_k2"/>
          <p:cNvSpPr/>
          <p:nvPr/>
        </p:nvSpPr>
        <p:spPr>
          <a:xfrm>
            <a:off x="1005840" y="2743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· Codex · Cursor</a:t>
            </a:r>
            <a:endParaRPr lang="en-US" sz="1400" dirty="0"/>
          </a:p>
        </p:txBody>
      </p:sp>
      <p:sp>
        <p:nvSpPr>
          <p:cNvPr id="21" name="s4_v2"/>
          <p:cNvSpPr/>
          <p:nvPr/>
        </p:nvSpPr>
        <p:spPr>
          <a:xfrm>
            <a:off x="3611880" y="274320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vendor-native marketplaces, one harness each</a:t>
            </a:r>
            <a:endParaRPr lang="en-US" dirty="0"/>
          </a:p>
        </p:txBody>
      </p:sp>
      <p:sp>
        <p:nvSpPr>
          <p:cNvPr id="22" name="s4_h2"/>
          <p:cNvSpPr/>
          <p:nvPr/>
        </p:nvSpPr>
        <p:spPr>
          <a:xfrm>
            <a:off x="777240" y="3246120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3" name="s4_b3"/>
          <p:cNvSpPr/>
          <p:nvPr/>
        </p:nvSpPr>
        <p:spPr>
          <a:xfrm>
            <a:off x="777240" y="3364992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s4_k3"/>
          <p:cNvSpPr/>
          <p:nvPr/>
        </p:nvSpPr>
        <p:spPr>
          <a:xfrm>
            <a:off x="1005840" y="3246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Agent Registry</a:t>
            </a:r>
            <a:endParaRPr lang="en-US" sz="1400" dirty="0"/>
          </a:p>
        </p:txBody>
      </p:sp>
      <p:sp>
        <p:nvSpPr>
          <p:cNvPr id="25" name="s4_v3"/>
          <p:cNvSpPr/>
          <p:nvPr/>
        </p:nvSpPr>
        <p:spPr>
          <a:xfrm>
            <a:off x="3611880" y="324612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org-wide records, endpoints + auth (closest to ours)</a:t>
            </a:r>
            <a:endParaRPr lang="en-US" dirty="0"/>
          </a:p>
        </p:txBody>
      </p:sp>
      <p:sp>
        <p:nvSpPr>
          <p:cNvPr id="26" name="s4_gap_sh"/>
          <p:cNvSpPr/>
          <p:nvPr/>
        </p:nvSpPr>
        <p:spPr>
          <a:xfrm>
            <a:off x="553212" y="4576572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4_gap"/>
          <p:cNvSpPr/>
          <p:nvPr/>
        </p:nvSpPr>
        <p:spPr>
          <a:xfrm>
            <a:off x="502920" y="4526280"/>
            <a:ext cx="11183112" cy="65836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s4_gap_sq"/>
          <p:cNvSpPr/>
          <p:nvPr/>
        </p:nvSpPr>
        <p:spPr>
          <a:xfrm>
            <a:off x="777240" y="4791456"/>
            <a:ext cx="118872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s4_gap_t"/>
          <p:cNvSpPr/>
          <p:nvPr/>
        </p:nvSpPr>
        <p:spPr>
          <a:xfrm>
            <a:off x="1042416" y="452628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r>
              <a:rPr lang="en-US" sz="12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nobody stores harness capability as data; installers hard-code it, and it goes stale</a:t>
            </a:r>
            <a:endParaRPr lang="en-US" sz="1250" dirty="0"/>
          </a:p>
        </p:txBody>
      </p:sp>
      <p:sp>
        <p:nvSpPr>
          <p:cNvPr id="30" name="s4_pcm_sh"/>
          <p:cNvSpPr/>
          <p:nvPr/>
        </p:nvSpPr>
        <p:spPr>
          <a:xfrm>
            <a:off x="553212" y="5417820"/>
            <a:ext cx="11183112" cy="6583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4_pcm"/>
          <p:cNvSpPr/>
          <p:nvPr/>
        </p:nvSpPr>
        <p:spPr>
          <a:xfrm>
            <a:off x="502920" y="5367528"/>
            <a:ext cx="11183112" cy="658368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4_pcm_sq"/>
          <p:cNvSpPr/>
          <p:nvPr/>
        </p:nvSpPr>
        <p:spPr>
          <a:xfrm>
            <a:off x="777240" y="5632704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3" name="s4_pcm_t"/>
          <p:cNvSpPr/>
          <p:nvPr/>
        </p:nvSpPr>
        <p:spPr>
          <a:xfrm>
            <a:off x="1042416" y="53675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— metadata-only like MCP, plus the capability matrix AS DATA, plus org mapping</a:t>
            </a:r>
            <a:endParaRPr lang="en-US" sz="1250" dirty="0"/>
          </a:p>
        </p:txBody>
      </p:sp>
      <p:sp>
        <p:nvSpPr>
          <p:cNvPr id="34" name="s4_src"/>
          <p:cNvSpPr/>
          <p:nvPr/>
        </p:nvSpPr>
        <p:spPr>
          <a:xfrm>
            <a:off x="502920" y="647395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registry-by-registry research — live schemas &amp; docs, 2026-10-28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5_kick"/>
          <p:cNvSpPr/>
          <p:nvPr/>
        </p:nvSpPr>
        <p:spPr>
          <a:xfrm>
            <a:off x="50292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· ARCHITECTURE</a:t>
            </a:r>
            <a:endParaRPr lang="en-US" sz="1100" dirty="0"/>
          </a:p>
        </p:txBody>
      </p:sp>
      <p:sp>
        <p:nvSpPr>
          <p:cNvPr id="4" name="s5_title"/>
          <p:cNvSpPr/>
          <p:nvPr/>
        </p:nvSpPr>
        <p:spPr>
          <a:xfrm>
            <a:off x="50292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Agent Registry API Path</a:t>
            </a:r>
            <a:endParaRPr lang="en-US" sz="2800" dirty="0"/>
          </a:p>
        </p:txBody>
      </p:sp>
      <p:sp>
        <p:nvSpPr>
          <p:cNvPr id="5" name="s5_hr"/>
          <p:cNvSpPr/>
          <p:nvPr/>
        </p:nvSpPr>
        <p:spPr>
          <a:xfrm>
            <a:off x="502920" y="1517904"/>
            <a:ext cx="1118311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6" name="s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27</a:t>
            </a:r>
            <a:endParaRPr lang="en-US" sz="950" dirty="0"/>
          </a:p>
        </p:txBody>
      </p:sp>
      <p:sp>
        <p:nvSpPr>
          <p:cNvPr id="7" name="s5_n0_sh"/>
          <p:cNvSpPr/>
          <p:nvPr/>
        </p:nvSpPr>
        <p:spPr>
          <a:xfrm>
            <a:off x="909828" y="2976372"/>
            <a:ext cx="2103120" cy="10515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s5_n0"/>
          <p:cNvSpPr/>
          <p:nvPr/>
        </p:nvSpPr>
        <p:spPr>
          <a:xfrm>
            <a:off x="859536" y="2926080"/>
            <a:ext cx="2103120" cy="10515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9" name="s5_nt0"/>
          <p:cNvSpPr/>
          <p:nvPr/>
        </p:nvSpPr>
        <p:spPr>
          <a:xfrm>
            <a:off x="859536" y="2926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D22"/>
                </a:solidFill>
                <a:latin typeface="Consolas" panose="020B0609020204030204" pitchFamily="49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0" name="s5_a0_shaft"/>
          <p:cNvSpPr/>
          <p:nvPr/>
        </p:nvSpPr>
        <p:spPr>
          <a:xfrm>
            <a:off x="3072384" y="3431286"/>
            <a:ext cx="374904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5_a0_h1"/>
          <p:cNvSpPr/>
          <p:nvPr/>
        </p:nvSpPr>
        <p:spPr>
          <a:xfrm>
            <a:off x="3447288" y="334670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5_a0_h2"/>
          <p:cNvSpPr/>
          <p:nvPr/>
        </p:nvSpPr>
        <p:spPr>
          <a:xfrm>
            <a:off x="3447288" y="34655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" name="s5_a0_tip"/>
          <p:cNvSpPr/>
          <p:nvPr/>
        </p:nvSpPr>
        <p:spPr>
          <a:xfrm>
            <a:off x="3538728" y="340614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s5_n1_sh"/>
          <p:cNvSpPr/>
          <p:nvPr/>
        </p:nvSpPr>
        <p:spPr>
          <a:xfrm>
            <a:off x="3698748" y="2976372"/>
            <a:ext cx="2103120" cy="10515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s5_n1"/>
          <p:cNvSpPr/>
          <p:nvPr/>
        </p:nvSpPr>
        <p:spPr>
          <a:xfrm>
            <a:off x="3648456" y="2926080"/>
            <a:ext cx="2103120" cy="10515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6" name="s5_nt1"/>
          <p:cNvSpPr/>
          <p:nvPr/>
        </p:nvSpPr>
        <p:spPr>
          <a:xfrm>
            <a:off x="3648456" y="2926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pcm-service</a:t>
            </a:r>
            <a:endParaRPr lang="en-US" sz="2400" dirty="0"/>
          </a:p>
        </p:txBody>
      </p:sp>
      <p:sp>
        <p:nvSpPr>
          <p:cNvPr id="17" name="s5_a1_shaft"/>
          <p:cNvSpPr/>
          <p:nvPr/>
        </p:nvSpPr>
        <p:spPr>
          <a:xfrm>
            <a:off x="5861304" y="3431286"/>
            <a:ext cx="374904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s5_a1_h1"/>
          <p:cNvSpPr/>
          <p:nvPr/>
        </p:nvSpPr>
        <p:spPr>
          <a:xfrm>
            <a:off x="6236208" y="334670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s5_a1_h2"/>
          <p:cNvSpPr/>
          <p:nvPr/>
        </p:nvSpPr>
        <p:spPr>
          <a:xfrm>
            <a:off x="6236208" y="34655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5_a1_tip"/>
          <p:cNvSpPr/>
          <p:nvPr/>
        </p:nvSpPr>
        <p:spPr>
          <a:xfrm>
            <a:off x="6327648" y="340614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5_n2_sh"/>
          <p:cNvSpPr/>
          <p:nvPr/>
        </p:nvSpPr>
        <p:spPr>
          <a:xfrm>
            <a:off x="6487668" y="2976372"/>
            <a:ext cx="2103120" cy="10515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s5_n2"/>
          <p:cNvSpPr/>
          <p:nvPr/>
        </p:nvSpPr>
        <p:spPr>
          <a:xfrm>
            <a:off x="6437376" y="2926080"/>
            <a:ext cx="2103120" cy="10515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3" name="s5_nt2"/>
          <p:cNvSpPr/>
          <p:nvPr/>
        </p:nvSpPr>
        <p:spPr>
          <a:xfrm>
            <a:off x="6437376" y="2926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D22"/>
                </a:solidFill>
                <a:latin typeface="Consolas" panose="020B0609020204030204" pitchFamily="49" charset="0"/>
                <a:ea typeface="Segoe UI" pitchFamily="34" charset="-122"/>
                <a:cs typeface="Segoe UI" pitchFamily="34" charset="-120"/>
              </a:rPr>
              <a:t>CMS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4" name="s5_a2_shaft"/>
          <p:cNvSpPr/>
          <p:nvPr/>
        </p:nvSpPr>
        <p:spPr>
          <a:xfrm>
            <a:off x="8650224" y="3431286"/>
            <a:ext cx="374904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5_a2_h1"/>
          <p:cNvSpPr/>
          <p:nvPr/>
        </p:nvSpPr>
        <p:spPr>
          <a:xfrm>
            <a:off x="9025128" y="334670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6" name="s5_a2_h2"/>
          <p:cNvSpPr/>
          <p:nvPr/>
        </p:nvSpPr>
        <p:spPr>
          <a:xfrm>
            <a:off x="9025128" y="34655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5_a2_tip"/>
          <p:cNvSpPr/>
          <p:nvPr/>
        </p:nvSpPr>
        <p:spPr>
          <a:xfrm>
            <a:off x="9116568" y="340614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5_n3_sh"/>
          <p:cNvSpPr/>
          <p:nvPr/>
        </p:nvSpPr>
        <p:spPr>
          <a:xfrm>
            <a:off x="9276588" y="2976372"/>
            <a:ext cx="2103120" cy="10515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s5_n3"/>
          <p:cNvSpPr/>
          <p:nvPr/>
        </p:nvSpPr>
        <p:spPr>
          <a:xfrm>
            <a:off x="9226296" y="2926080"/>
            <a:ext cx="2103120" cy="10515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0" name="s5_nt3"/>
          <p:cNvSpPr/>
          <p:nvPr/>
        </p:nvSpPr>
        <p:spPr>
          <a:xfrm>
            <a:off x="9226296" y="2926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TaxonomyDB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6_kick" descr="assets/a2_k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6" name="s6_title" descr="assets/a2_t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8898418" cy="475488"/>
          </a:xfrm>
          <a:prstGeom prst="rect">
            <a:avLst/>
          </a:prstGeom>
        </p:spPr>
      </p:pic>
      <p:sp>
        <p:nvSpPr>
          <p:cNvPr id="7" name="s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27</a:t>
            </a:r>
            <a:endParaRPr lang="en-US" sz="950" dirty="0"/>
          </a:p>
        </p:txBody>
      </p:sp>
      <p:sp>
        <p:nvSpPr>
          <p:cNvPr id="9" name="s6_schema_sh"/>
          <p:cNvSpPr/>
          <p:nvPr/>
        </p:nvSpPr>
        <p:spPr>
          <a:xfrm>
            <a:off x="2720340" y="1531620"/>
            <a:ext cx="6858000" cy="47548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6_schema"/>
          <p:cNvSpPr/>
          <p:nvPr/>
        </p:nvSpPr>
        <p:spPr>
          <a:xfrm>
            <a:off x="2670048" y="1481328"/>
            <a:ext cx="6858000" cy="47548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1" name="s6_ent"/>
          <p:cNvSpPr/>
          <p:nvPr/>
        </p:nvSpPr>
        <p:spPr>
          <a:xfrm>
            <a:off x="3035808" y="17373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AgentSkill</a:t>
            </a:r>
            <a:endParaRPr lang="en-US" sz="1800" dirty="0"/>
          </a:p>
        </p:txBody>
      </p:sp>
      <p:sp>
        <p:nvSpPr>
          <p:cNvPr id="12" name="s6_hr0"/>
          <p:cNvSpPr/>
          <p:nvPr/>
        </p:nvSpPr>
        <p:spPr>
          <a:xfrm>
            <a:off x="3035808" y="2212848"/>
            <a:ext cx="61264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3" name="s6_i0"/>
          <p:cNvSpPr/>
          <p:nvPr/>
        </p:nvSpPr>
        <p:spPr>
          <a:xfrm>
            <a:off x="3035808" y="239572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s6_f0"/>
          <p:cNvSpPr/>
          <p:nvPr/>
        </p:nvSpPr>
        <p:spPr>
          <a:xfrm>
            <a:off x="3611880" y="23957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(skill name)</a:t>
            </a:r>
            <a:endParaRPr lang="en-US" dirty="0"/>
          </a:p>
        </p:txBody>
      </p:sp>
      <p:sp>
        <p:nvSpPr>
          <p:cNvPr id="15" name="s6_h0"/>
          <p:cNvSpPr/>
          <p:nvPr/>
        </p:nvSpPr>
        <p:spPr>
          <a:xfrm>
            <a:off x="3035808" y="2871216"/>
            <a:ext cx="61264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6_i1"/>
          <p:cNvSpPr/>
          <p:nvPr/>
        </p:nvSpPr>
        <p:spPr>
          <a:xfrm>
            <a:off x="3035808" y="287121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6_f1"/>
          <p:cNvSpPr/>
          <p:nvPr/>
        </p:nvSpPr>
        <p:spPr>
          <a:xfrm>
            <a:off x="3611880" y="287121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dirty="0"/>
          </a:p>
        </p:txBody>
      </p:sp>
      <p:sp>
        <p:nvSpPr>
          <p:cNvPr id="18" name="s6_h1"/>
          <p:cNvSpPr/>
          <p:nvPr/>
        </p:nvSpPr>
        <p:spPr>
          <a:xfrm>
            <a:off x="3035808" y="3346704"/>
            <a:ext cx="61264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6_i2"/>
          <p:cNvSpPr/>
          <p:nvPr/>
        </p:nvSpPr>
        <p:spPr>
          <a:xfrm>
            <a:off x="3035808" y="334670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s6_f2"/>
          <p:cNvSpPr/>
          <p:nvPr/>
        </p:nvSpPr>
        <p:spPr>
          <a:xfrm>
            <a:off x="3611880" y="334670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GithubURL</a:t>
            </a:r>
            <a:endParaRPr lang="en-US" dirty="0"/>
          </a:p>
        </p:txBody>
      </p:sp>
      <p:sp>
        <p:nvSpPr>
          <p:cNvPr id="21" name="s6_h2"/>
          <p:cNvSpPr/>
          <p:nvPr/>
        </p:nvSpPr>
        <p:spPr>
          <a:xfrm>
            <a:off x="3035808" y="3822192"/>
            <a:ext cx="61264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6_i3"/>
          <p:cNvSpPr/>
          <p:nvPr/>
        </p:nvSpPr>
        <p:spPr>
          <a:xfrm>
            <a:off x="3035808" y="38221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s6_f3"/>
          <p:cNvSpPr/>
          <p:nvPr/>
        </p:nvSpPr>
        <p:spPr>
          <a:xfrm>
            <a:off x="3611880" y="382219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CommitSHA</a:t>
            </a:r>
            <a:endParaRPr lang="en-US" dirty="0"/>
          </a:p>
        </p:txBody>
      </p:sp>
      <p:sp>
        <p:nvSpPr>
          <p:cNvPr id="24" name="s6_h3"/>
          <p:cNvSpPr/>
          <p:nvPr/>
        </p:nvSpPr>
        <p:spPr>
          <a:xfrm>
            <a:off x="3035808" y="4297680"/>
            <a:ext cx="61264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6_i4"/>
          <p:cNvSpPr/>
          <p:nvPr/>
        </p:nvSpPr>
        <p:spPr>
          <a:xfrm>
            <a:off x="3035808" y="42976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s6_f4"/>
          <p:cNvSpPr/>
          <p:nvPr/>
        </p:nvSpPr>
        <p:spPr>
          <a:xfrm>
            <a:off x="3611880" y="42976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RepositoryPath</a:t>
            </a:r>
            <a:endParaRPr lang="en-US" dirty="0"/>
          </a:p>
        </p:txBody>
      </p:sp>
      <p:sp>
        <p:nvSpPr>
          <p:cNvPr id="27" name="s6_h4"/>
          <p:cNvSpPr/>
          <p:nvPr/>
        </p:nvSpPr>
        <p:spPr>
          <a:xfrm>
            <a:off x="3035808" y="4773168"/>
            <a:ext cx="61264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6_i5"/>
          <p:cNvSpPr/>
          <p:nvPr/>
        </p:nvSpPr>
        <p:spPr>
          <a:xfrm>
            <a:off x="3035808" y="47731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s6_f5"/>
          <p:cNvSpPr/>
          <p:nvPr/>
        </p:nvSpPr>
        <p:spPr>
          <a:xfrm>
            <a:off x="3611880" y="477316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dirty="0"/>
          </a:p>
        </p:txBody>
      </p:sp>
      <p:sp>
        <p:nvSpPr>
          <p:cNvPr id="30" name="s6_h5"/>
          <p:cNvSpPr/>
          <p:nvPr/>
        </p:nvSpPr>
        <p:spPr>
          <a:xfrm>
            <a:off x="3035808" y="5248656"/>
            <a:ext cx="61264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1" name="s6_i6"/>
          <p:cNvSpPr/>
          <p:nvPr/>
        </p:nvSpPr>
        <p:spPr>
          <a:xfrm>
            <a:off x="3035808" y="524865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s6_f6"/>
          <p:cNvSpPr/>
          <p:nvPr/>
        </p:nvSpPr>
        <p:spPr>
          <a:xfrm>
            <a:off x="3611880" y="524865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dirty="0"/>
          </a:p>
        </p:txBody>
      </p:sp>
      <p:sp>
        <p:nvSpPr>
          <p:cNvPr id="33" name="s6_h6"/>
          <p:cNvSpPr/>
          <p:nvPr/>
        </p:nvSpPr>
        <p:spPr>
          <a:xfrm>
            <a:off x="3035808" y="5724144"/>
            <a:ext cx="61264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4" name="s6_i7"/>
          <p:cNvSpPr/>
          <p:nvPr/>
        </p:nvSpPr>
        <p:spPr>
          <a:xfrm>
            <a:off x="3035808" y="572414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s6_f7"/>
          <p:cNvSpPr/>
          <p:nvPr/>
        </p:nvSpPr>
        <p:spPr>
          <a:xfrm>
            <a:off x="3611880" y="572414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7_kick" descr="assets/a2_k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3108960" cy="182880"/>
          </a:xfrm>
          <a:prstGeom prst="rect">
            <a:avLst/>
          </a:prstGeom>
        </p:spPr>
      </p:pic>
      <p:pic>
        <p:nvPicPr>
          <p:cNvPr id="6" name="s7_title" descr="assets/a2_t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9713541" cy="475488"/>
          </a:xfrm>
          <a:prstGeom prst="rect">
            <a:avLst/>
          </a:prstGeom>
        </p:spPr>
      </p:pic>
      <p:sp>
        <p:nvSpPr>
          <p:cNvPr id="7" name="s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8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8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8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8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27</a:t>
            </a:r>
            <a:endParaRPr lang="en-US" sz="950" dirty="0"/>
          </a:p>
        </p:txBody>
      </p:sp>
      <p:pic>
        <p:nvPicPr>
          <p:cNvPr id="7" name="s8_word" descr="assets/a2_her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4800600" cy="960120"/>
          </a:xfrm>
          <a:prstGeom prst="rect">
            <a:avLst/>
          </a:prstGeom>
        </p:spPr>
      </p:pic>
      <p:sp>
        <p:nvSpPr>
          <p:cNvPr id="8" name="s8_d0"/>
          <p:cNvSpPr/>
          <p:nvPr/>
        </p:nvSpPr>
        <p:spPr>
          <a:xfrm>
            <a:off x="502920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9" name="s8_d1"/>
          <p:cNvSpPr/>
          <p:nvPr/>
        </p:nvSpPr>
        <p:spPr>
          <a:xfrm>
            <a:off x="658368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8_d2"/>
          <p:cNvSpPr/>
          <p:nvPr/>
        </p:nvSpPr>
        <p:spPr>
          <a:xfrm>
            <a:off x="813816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8_d3"/>
          <p:cNvSpPr/>
          <p:nvPr/>
        </p:nvSpPr>
        <p:spPr>
          <a:xfrm>
            <a:off x="969264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2" name="s8_d4"/>
          <p:cNvSpPr/>
          <p:nvPr/>
        </p:nvSpPr>
        <p:spPr>
          <a:xfrm>
            <a:off x="1124712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s8_d5"/>
          <p:cNvSpPr/>
          <p:nvPr/>
        </p:nvSpPr>
        <p:spPr>
          <a:xfrm>
            <a:off x="1280160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8_d6"/>
          <p:cNvSpPr/>
          <p:nvPr/>
        </p:nvSpPr>
        <p:spPr>
          <a:xfrm>
            <a:off x="1435608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5" name="s8_d7"/>
          <p:cNvSpPr/>
          <p:nvPr/>
        </p:nvSpPr>
        <p:spPr>
          <a:xfrm>
            <a:off x="1591056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8_d8"/>
          <p:cNvSpPr/>
          <p:nvPr/>
        </p:nvSpPr>
        <p:spPr>
          <a:xfrm>
            <a:off x="1746504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8_d9"/>
          <p:cNvSpPr/>
          <p:nvPr/>
        </p:nvSpPr>
        <p:spPr>
          <a:xfrm>
            <a:off x="1901952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s8_d10"/>
          <p:cNvSpPr/>
          <p:nvPr/>
        </p:nvSpPr>
        <p:spPr>
          <a:xfrm>
            <a:off x="2057400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8_d11"/>
          <p:cNvSpPr/>
          <p:nvPr/>
        </p:nvSpPr>
        <p:spPr>
          <a:xfrm>
            <a:off x="2212848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8_b0"/>
          <p:cNvSpPr/>
          <p:nvPr/>
        </p:nvSpPr>
        <p:spPr>
          <a:xfrm>
            <a:off x="502920" y="3858768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1" name="s8_bt0"/>
          <p:cNvSpPr/>
          <p:nvPr/>
        </p:nvSpPr>
        <p:spPr>
          <a:xfrm>
            <a:off x="795528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1) specification</a:t>
            </a:r>
            <a:endParaRPr lang="en-US" sz="1300" dirty="0"/>
          </a:p>
        </p:txBody>
      </p:sp>
      <p:sp>
        <p:nvSpPr>
          <p:cNvPr id="22" name="s8_b1"/>
          <p:cNvSpPr/>
          <p:nvPr/>
        </p:nvSpPr>
        <p:spPr>
          <a:xfrm>
            <a:off x="502920" y="4297680"/>
            <a:ext cx="118872" cy="1188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8_bt1"/>
          <p:cNvSpPr/>
          <p:nvPr/>
        </p:nvSpPr>
        <p:spPr>
          <a:xfrm>
            <a:off x="795528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2) claude + codex</a:t>
            </a:r>
            <a:endParaRPr lang="en-US" sz="1300" dirty="0"/>
          </a:p>
        </p:txBody>
      </p:sp>
      <p:sp>
        <p:nvSpPr>
          <p:cNvPr id="24" name="s8_b2"/>
          <p:cNvSpPr/>
          <p:nvPr/>
        </p:nvSpPr>
        <p:spPr>
          <a:xfrm>
            <a:off x="502920" y="4736592"/>
            <a:ext cx="118872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8_bt2"/>
          <p:cNvSpPr/>
          <p:nvPr/>
        </p:nvSpPr>
        <p:spPr>
          <a:xfrm>
            <a:off x="795528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3) opencode + pi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9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9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9_kick" descr="assets/a2_k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5146766" cy="182880"/>
          </a:xfrm>
          <a:prstGeom prst="rect">
            <a:avLst/>
          </a:prstGeom>
        </p:spPr>
      </p:pic>
      <p:pic>
        <p:nvPicPr>
          <p:cNvPr id="6" name="s9_title" descr="assets/a2_t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4822807" cy="475488"/>
          </a:xfrm>
          <a:prstGeom prst="rect">
            <a:avLst/>
          </a:prstGeom>
        </p:spPr>
      </p:pic>
      <p:sp>
        <p:nvSpPr>
          <p:cNvPr id="7" name="s9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spec itself defines — commonality only</a:t>
            </a:r>
            <a:endParaRPr lang="en-US" sz="1100" dirty="0"/>
          </a:p>
        </p:txBody>
      </p:sp>
      <p:sp>
        <p:nvSpPr>
          <p:cNvPr id="8" name="s9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27</a:t>
            </a:r>
            <a:endParaRPr lang="en-US" sz="950" dirty="0"/>
          </a:p>
        </p:txBody>
      </p:sp>
      <p:sp>
        <p:nvSpPr>
          <p:cNvPr id="9" name="s9_plate_sh"/>
          <p:cNvSpPr/>
          <p:nvPr/>
        </p:nvSpPr>
        <p:spPr>
          <a:xfrm>
            <a:off x="8828532" y="342900"/>
            <a:ext cx="2212848" cy="98755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9_plate"/>
          <p:cNvSpPr/>
          <p:nvPr/>
        </p:nvSpPr>
        <p:spPr>
          <a:xfrm>
            <a:off x="8778240" y="292608"/>
            <a:ext cx="2212848" cy="98755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1" name="s9_plate_img" descr="assets/a2_sp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530352"/>
            <a:ext cx="1682496" cy="512064"/>
          </a:xfrm>
          <a:prstGeom prst="rect">
            <a:avLst/>
          </a:prstGeom>
        </p:spPr>
      </p:pic>
      <p:sp>
        <p:nvSpPr>
          <p:cNvPr id="13" name="s9_f_sh"/>
          <p:cNvSpPr/>
          <p:nvPr/>
        </p:nvSpPr>
        <p:spPr>
          <a:xfrm>
            <a:off x="553212" y="1531620"/>
            <a:ext cx="5669280" cy="4224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s9_f"/>
          <p:cNvSpPr/>
          <p:nvPr/>
        </p:nvSpPr>
        <p:spPr>
          <a:xfrm>
            <a:off x="502920" y="1481328"/>
            <a:ext cx="5669280" cy="422452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5" name="s9_fb"/>
          <p:cNvSpPr/>
          <p:nvPr/>
        </p:nvSpPr>
        <p:spPr>
          <a:xfrm>
            <a:off x="777240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 TABLE</a:t>
            </a:r>
            <a:endParaRPr lang="en-US" sz="1000" dirty="0"/>
          </a:p>
        </p:txBody>
      </p:sp>
      <p:sp>
        <p:nvSpPr>
          <p:cNvPr id="16" name="s9_fk0"/>
          <p:cNvSpPr/>
          <p:nvPr/>
        </p:nvSpPr>
        <p:spPr>
          <a:xfrm>
            <a:off x="777240" y="19933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7" name="s9_fr0"/>
          <p:cNvSpPr/>
          <p:nvPr/>
        </p:nvSpPr>
        <p:spPr>
          <a:xfrm>
            <a:off x="2194560" y="19933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900" dirty="0"/>
          </a:p>
        </p:txBody>
      </p:sp>
      <p:sp>
        <p:nvSpPr>
          <p:cNvPr id="18" name="s9_fv0"/>
          <p:cNvSpPr/>
          <p:nvPr/>
        </p:nvSpPr>
        <p:spPr>
          <a:xfrm>
            <a:off x="2633472" y="19933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1–64 chars [a-z0-9-]; must match parent dir name</a:t>
            </a:r>
            <a:endParaRPr lang="en-US" sz="1000" dirty="0"/>
          </a:p>
        </p:txBody>
      </p:sp>
      <p:sp>
        <p:nvSpPr>
          <p:cNvPr id="19" name="s9_fh0"/>
          <p:cNvSpPr/>
          <p:nvPr/>
        </p:nvSpPr>
        <p:spPr>
          <a:xfrm>
            <a:off x="777240" y="256032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0" name="s9_fk1"/>
          <p:cNvSpPr/>
          <p:nvPr/>
        </p:nvSpPr>
        <p:spPr>
          <a:xfrm>
            <a:off x="777240" y="25603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1" name="s9_fr1"/>
          <p:cNvSpPr/>
          <p:nvPr/>
        </p:nvSpPr>
        <p:spPr>
          <a:xfrm>
            <a:off x="2194560" y="25603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900" dirty="0"/>
          </a:p>
        </p:txBody>
      </p:sp>
      <p:sp>
        <p:nvSpPr>
          <p:cNvPr id="22" name="s9_fv1"/>
          <p:cNvSpPr/>
          <p:nvPr/>
        </p:nvSpPr>
        <p:spPr>
          <a:xfrm>
            <a:off x="2633472" y="2560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1–1024 chars; what it does, when to start; keywords</a:t>
            </a:r>
            <a:endParaRPr lang="en-US" sz="1000" dirty="0"/>
          </a:p>
        </p:txBody>
      </p:sp>
      <p:sp>
        <p:nvSpPr>
          <p:cNvPr id="23" name="s9_fh1"/>
          <p:cNvSpPr/>
          <p:nvPr/>
        </p:nvSpPr>
        <p:spPr>
          <a:xfrm>
            <a:off x="777240" y="312724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9_fk2"/>
          <p:cNvSpPr/>
          <p:nvPr/>
        </p:nvSpPr>
        <p:spPr>
          <a:xfrm>
            <a:off x="777240" y="31272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1200" dirty="0"/>
          </a:p>
        </p:txBody>
      </p:sp>
      <p:sp>
        <p:nvSpPr>
          <p:cNvPr id="25" name="s9_fr2"/>
          <p:cNvSpPr/>
          <p:nvPr/>
        </p:nvSpPr>
        <p:spPr>
          <a:xfrm>
            <a:off x="2194560" y="31272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</a:t>
            </a:r>
            <a:endParaRPr lang="en-US" sz="900" dirty="0"/>
          </a:p>
        </p:txBody>
      </p:sp>
      <p:sp>
        <p:nvSpPr>
          <p:cNvPr id="26" name="s9_fv2"/>
          <p:cNvSpPr/>
          <p:nvPr/>
        </p:nvSpPr>
        <p:spPr>
          <a:xfrm>
            <a:off x="2633472" y="31272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 name or pointer to bundled file</a:t>
            </a:r>
            <a:endParaRPr lang="en-US" sz="1000" dirty="0"/>
          </a:p>
        </p:txBody>
      </p:sp>
      <p:sp>
        <p:nvSpPr>
          <p:cNvPr id="27" name="s9_fh2"/>
          <p:cNvSpPr/>
          <p:nvPr/>
        </p:nvSpPr>
        <p:spPr>
          <a:xfrm>
            <a:off x="777240" y="369417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9_fk3"/>
          <p:cNvSpPr/>
          <p:nvPr/>
        </p:nvSpPr>
        <p:spPr>
          <a:xfrm>
            <a:off x="777240" y="369417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</a:t>
            </a:r>
            <a:endParaRPr lang="en-US" sz="1200" dirty="0"/>
          </a:p>
        </p:txBody>
      </p:sp>
      <p:sp>
        <p:nvSpPr>
          <p:cNvPr id="29" name="s9_fr3"/>
          <p:cNvSpPr/>
          <p:nvPr/>
        </p:nvSpPr>
        <p:spPr>
          <a:xfrm>
            <a:off x="2194560" y="369417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</a:t>
            </a:r>
            <a:endParaRPr lang="en-US" sz="900" dirty="0"/>
          </a:p>
        </p:txBody>
      </p:sp>
      <p:sp>
        <p:nvSpPr>
          <p:cNvPr id="30" name="s9_fv3"/>
          <p:cNvSpPr/>
          <p:nvPr/>
        </p:nvSpPr>
        <p:spPr>
          <a:xfrm>
            <a:off x="2633472" y="36941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1–500 chars; environment requirements</a:t>
            </a:r>
            <a:endParaRPr lang="en-US" sz="1000" dirty="0"/>
          </a:p>
        </p:txBody>
      </p:sp>
      <p:sp>
        <p:nvSpPr>
          <p:cNvPr id="31" name="s9_fh3"/>
          <p:cNvSpPr/>
          <p:nvPr/>
        </p:nvSpPr>
        <p:spPr>
          <a:xfrm>
            <a:off x="777240" y="426110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2" name="s9_fk4"/>
          <p:cNvSpPr/>
          <p:nvPr/>
        </p:nvSpPr>
        <p:spPr>
          <a:xfrm>
            <a:off x="777240" y="42611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1200" dirty="0"/>
          </a:p>
        </p:txBody>
      </p:sp>
      <p:sp>
        <p:nvSpPr>
          <p:cNvPr id="33" name="s9_fr4"/>
          <p:cNvSpPr/>
          <p:nvPr/>
        </p:nvSpPr>
        <p:spPr>
          <a:xfrm>
            <a:off x="2194560" y="42611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</a:t>
            </a:r>
            <a:endParaRPr lang="en-US" sz="900" dirty="0"/>
          </a:p>
        </p:txBody>
      </p:sp>
      <p:sp>
        <p:nvSpPr>
          <p:cNvPr id="34" name="s9_fv4"/>
          <p:cNvSpPr/>
          <p:nvPr/>
        </p:nvSpPr>
        <p:spPr>
          <a:xfrm>
            <a:off x="2633472" y="42611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string→string map — the only sanctioned extension channel</a:t>
            </a:r>
            <a:endParaRPr lang="en-US" sz="1000" dirty="0"/>
          </a:p>
        </p:txBody>
      </p:sp>
      <p:sp>
        <p:nvSpPr>
          <p:cNvPr id="35" name="s9_fh4"/>
          <p:cNvSpPr/>
          <p:nvPr/>
        </p:nvSpPr>
        <p:spPr>
          <a:xfrm>
            <a:off x="777240" y="4828032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6" name="s9_fk5"/>
          <p:cNvSpPr/>
          <p:nvPr/>
        </p:nvSpPr>
        <p:spPr>
          <a:xfrm>
            <a:off x="777240" y="48280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</a:t>
            </a:r>
            <a:endParaRPr lang="en-US" sz="1200" dirty="0"/>
          </a:p>
        </p:txBody>
      </p:sp>
      <p:sp>
        <p:nvSpPr>
          <p:cNvPr id="37" name="s9_fr5"/>
          <p:cNvSpPr/>
          <p:nvPr/>
        </p:nvSpPr>
        <p:spPr>
          <a:xfrm>
            <a:off x="2194560" y="482803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</a:t>
            </a:r>
            <a:endParaRPr lang="en-US" sz="900" dirty="0"/>
          </a:p>
        </p:txBody>
      </p:sp>
      <p:sp>
        <p:nvSpPr>
          <p:cNvPr id="38" name="s9_fv5"/>
          <p:cNvSpPr/>
          <p:nvPr/>
        </p:nvSpPr>
        <p:spPr>
          <a:xfrm>
            <a:off x="2633472" y="48280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experimental; support varies by client</a:t>
            </a:r>
            <a:endParaRPr lang="en-US" sz="1000" dirty="0"/>
          </a:p>
        </p:txBody>
      </p:sp>
      <p:sp>
        <p:nvSpPr>
          <p:cNvPr id="39" name="s9_legend"/>
          <p:cNvSpPr/>
          <p:nvPr/>
        </p:nvSpPr>
        <p:spPr>
          <a:xfrm>
            <a:off x="777240" y="544982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REQUIRED   ·   opt = OPTIONAL</a:t>
            </a:r>
            <a:endParaRPr lang="en-US" sz="800" dirty="0"/>
          </a:p>
        </p:txBody>
      </p:sp>
      <p:sp>
        <p:nvSpPr>
          <p:cNvPr id="40" name="s9_fmt_sh"/>
          <p:cNvSpPr/>
          <p:nvPr/>
        </p:nvSpPr>
        <p:spPr>
          <a:xfrm>
            <a:off x="6451092" y="1531620"/>
            <a:ext cx="5285232" cy="1517904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s9_fmt"/>
          <p:cNvSpPr/>
          <p:nvPr/>
        </p:nvSpPr>
        <p:spPr>
          <a:xfrm>
            <a:off x="6400800" y="1481328"/>
            <a:ext cx="5285232" cy="1517904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2" name="s9_fmt_b"/>
          <p:cNvSpPr/>
          <p:nvPr/>
        </p:nvSpPr>
        <p:spPr>
          <a:xfrm>
            <a:off x="667512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1000" dirty="0"/>
          </a:p>
        </p:txBody>
      </p:sp>
      <p:sp>
        <p:nvSpPr>
          <p:cNvPr id="43" name="s9_f0_sq"/>
          <p:cNvSpPr/>
          <p:nvPr/>
        </p:nvSpPr>
        <p:spPr>
          <a:xfrm>
            <a:off x="6675120" y="1956816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4" name="s9_f0_t"/>
          <p:cNvSpPr/>
          <p:nvPr/>
        </p:nvSpPr>
        <p:spPr>
          <a:xfrm>
            <a:off x="6912864" y="190195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skill = directory with SKILL.md (YAML frontmatter + Markdown body) + optional scripts/, references/</a:t>
            </a:r>
            <a:endParaRPr lang="en-US" sz="1050" dirty="0"/>
          </a:p>
        </p:txBody>
      </p:sp>
      <p:sp>
        <p:nvSpPr>
          <p:cNvPr id="45" name="s9_f1_sq"/>
          <p:cNvSpPr/>
          <p:nvPr/>
        </p:nvSpPr>
        <p:spPr>
          <a:xfrm>
            <a:off x="6675120" y="2395728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6" name="s9_f1_t"/>
          <p:cNvSpPr/>
          <p:nvPr/>
        </p:nvSpPr>
        <p:spPr>
          <a:xfrm>
            <a:off x="6912864" y="234086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 disclosure: metadata ~100 tokens at startup → body on activation → files on demand</a:t>
            </a:r>
            <a:endParaRPr lang="en-US" sz="1050" dirty="0"/>
          </a:p>
        </p:txBody>
      </p:sp>
      <p:sp>
        <p:nvSpPr>
          <p:cNvPr id="47" name="s9_rg_sh"/>
          <p:cNvSpPr/>
          <p:nvPr/>
        </p:nvSpPr>
        <p:spPr>
          <a:xfrm>
            <a:off x="6451092" y="3204972"/>
            <a:ext cx="5285232" cy="255117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9_rg"/>
          <p:cNvSpPr/>
          <p:nvPr/>
        </p:nvSpPr>
        <p:spPr>
          <a:xfrm>
            <a:off x="6400800" y="3154680"/>
            <a:ext cx="5285232" cy="2551176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9" name="s9_rg_b"/>
          <p:cNvSpPr/>
          <p:nvPr/>
        </p:nvSpPr>
        <p:spPr>
          <a:xfrm>
            <a:off x="6675120" y="33009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+ GAPS</a:t>
            </a:r>
            <a:endParaRPr lang="en-US" sz="1000" dirty="0"/>
          </a:p>
        </p:txBody>
      </p:sp>
      <p:sp>
        <p:nvSpPr>
          <p:cNvPr id="50" name="s9_r0_sq"/>
          <p:cNvSpPr/>
          <p:nvPr/>
        </p:nvSpPr>
        <p:spPr>
          <a:xfrm>
            <a:off x="6675120" y="3666744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9_r0_t"/>
          <p:cNvSpPr/>
          <p:nvPr/>
        </p:nvSpPr>
        <p:spPr>
          <a:xfrm>
            <a:off x="6912864" y="36118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fields beyond name+description optional; body is unrestricted Markdown</a:t>
            </a:r>
            <a:endParaRPr lang="en-US" sz="1100" dirty="0"/>
          </a:p>
        </p:txBody>
      </p:sp>
      <p:sp>
        <p:nvSpPr>
          <p:cNvPr id="52" name="s9_r1_sq"/>
          <p:cNvSpPr/>
          <p:nvPr/>
        </p:nvSpPr>
        <p:spPr>
          <a:xfrm>
            <a:off x="6675120" y="4169664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3" name="s9_r1_t"/>
          <p:cNvSpPr/>
          <p:nvPr/>
        </p:nvSpPr>
        <p:spPr>
          <a:xfrm>
            <a:off x="6912864" y="41148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the registry must own: no version field (registry owns semver + seals) · no dependencies, signing, or discovery in the spec</a:t>
            </a:r>
            <a:endParaRPr lang="en-US" sz="1100" dirty="0"/>
          </a:p>
        </p:txBody>
      </p:sp>
      <p:sp>
        <p:nvSpPr>
          <p:cNvPr id="54" name="s9_sa_sh"/>
          <p:cNvSpPr/>
          <p:nvPr/>
        </p:nvSpPr>
        <p:spPr>
          <a:xfrm>
            <a:off x="553212" y="5856732"/>
            <a:ext cx="11183112" cy="5669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s9_sa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6" name="s9_sa_t"/>
          <p:cNvSpPr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STEWARDSHIP + ADOPTION — </a:t>
            </a: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Born at Anthropic Oct 2025, opened as a standard Dec 2025 — informal stewardship (GitHub + Discord), unversioned living spec, zero tags</a:t>
            </a:r>
            <a:r>
              <a:rPr lang="en-US" sz="9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46 clients listed on agentskills.io</a:t>
            </a:r>
            <a:endParaRPr lang="en-US" sz="900" dirty="0"/>
          </a:p>
        </p:txBody>
      </p:sp>
      <p:sp>
        <p:nvSpPr>
          <p:cNvPr id="57" name="s9_src"/>
          <p:cNvSpPr/>
          <p:nvPr/>
        </p:nvSpPr>
        <p:spPr>
          <a:xfrm>
            <a:off x="502920" y="647395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agentskills.io — verified 2026-10-16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0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0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0_kick" descr="assets/a2_k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5773783" cy="182880"/>
          </a:xfrm>
          <a:prstGeom prst="rect">
            <a:avLst/>
          </a:prstGeom>
        </p:spPr>
      </p:pic>
      <p:pic>
        <p:nvPicPr>
          <p:cNvPr id="6" name="s10_title" descr="assets/a2_t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2377440" cy="475488"/>
          </a:xfrm>
          <a:prstGeom prst="rect">
            <a:avLst/>
          </a:prstGeom>
        </p:spPr>
      </p:pic>
      <p:sp>
        <p:nvSpPr>
          <p:cNvPr id="7" name="s10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in claude code + codex</a:t>
            </a:r>
            <a:endParaRPr lang="en-US" sz="1100" dirty="0"/>
          </a:p>
        </p:txBody>
      </p:sp>
      <p:sp>
        <p:nvSpPr>
          <p:cNvPr id="8" name="s10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27</a:t>
            </a:r>
            <a:endParaRPr lang="en-US" sz="950" dirty="0"/>
          </a:p>
        </p:txBody>
      </p:sp>
      <p:sp>
        <p:nvSpPr>
          <p:cNvPr id="10" name="s10_c0_sh"/>
          <p:cNvSpPr/>
          <p:nvPr/>
        </p:nvSpPr>
        <p:spPr>
          <a:xfrm>
            <a:off x="553212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0_c0"/>
          <p:cNvSpPr/>
          <p:nvPr/>
        </p:nvSpPr>
        <p:spPr>
          <a:xfrm>
            <a:off x="502920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0_c0_sq"/>
          <p:cNvSpPr/>
          <p:nvPr/>
        </p:nvSpPr>
        <p:spPr>
          <a:xfrm>
            <a:off x="758952" y="18288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10_c0_nm"/>
          <p:cNvSpPr/>
          <p:nvPr/>
        </p:nvSpPr>
        <p:spPr>
          <a:xfrm>
            <a:off x="1033272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4" name="s10_c0_pn"/>
          <p:cNvSpPr/>
          <p:nvPr/>
        </p:nvSpPr>
        <p:spPr>
          <a:xfrm>
            <a:off x="731520" y="2267712"/>
            <a:ext cx="5020056" cy="3191256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15" name="s10_c0_wl"/>
          <p:cNvSpPr/>
          <p:nvPr/>
        </p:nvSpPr>
        <p:spPr>
          <a:xfrm>
            <a:off x="932688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16" name="s10_c0_wt"/>
          <p:cNvSpPr/>
          <p:nvPr/>
        </p:nvSpPr>
        <p:spPr>
          <a:xfrm>
            <a:off x="932688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accepts additional front matter fields like hooks, and description lengths</a:t>
            </a:r>
            <a:endParaRPr lang="en-US" sz="2000" dirty="0"/>
          </a:p>
        </p:txBody>
      </p:sp>
      <p:sp>
        <p:nvSpPr>
          <p:cNvPr id="17" name="s10_c0_hr"/>
          <p:cNvSpPr/>
          <p:nvPr/>
        </p:nvSpPr>
        <p:spPr>
          <a:xfrm>
            <a:off x="932688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10_c0_gl"/>
          <p:cNvSpPr/>
          <p:nvPr/>
        </p:nvSpPr>
        <p:spPr>
          <a:xfrm>
            <a:off x="932688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19" name="s10_c0_wh"/>
          <p:cNvSpPr/>
          <p:nvPr/>
        </p:nvSpPr>
        <p:spPr>
          <a:xfrm>
            <a:off x="932688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 · ~/.claude/skills/</a:t>
            </a:r>
            <a:endParaRPr lang="en-US" sz="1150" dirty="0"/>
          </a:p>
        </p:txBody>
      </p:sp>
      <p:sp>
        <p:nvSpPr>
          <p:cNvPr id="20" name="s10_c1_sh"/>
          <p:cNvSpPr/>
          <p:nvPr/>
        </p:nvSpPr>
        <p:spPr>
          <a:xfrm>
            <a:off x="6259068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10_c1"/>
          <p:cNvSpPr/>
          <p:nvPr/>
        </p:nvSpPr>
        <p:spPr>
          <a:xfrm>
            <a:off x="6208776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10_c1_sq"/>
          <p:cNvSpPr/>
          <p:nvPr/>
        </p:nvSpPr>
        <p:spPr>
          <a:xfrm>
            <a:off x="6464808" y="1828800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10_c1_nm"/>
          <p:cNvSpPr/>
          <p:nvPr/>
        </p:nvSpPr>
        <p:spPr>
          <a:xfrm>
            <a:off x="6739128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500" dirty="0"/>
          </a:p>
        </p:txBody>
      </p:sp>
      <p:sp>
        <p:nvSpPr>
          <p:cNvPr id="24" name="s10_c1_pn"/>
          <p:cNvSpPr/>
          <p:nvPr/>
        </p:nvSpPr>
        <p:spPr>
          <a:xfrm>
            <a:off x="6437376" y="2267712"/>
            <a:ext cx="5020056" cy="3191256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25" name="s10_c1_wl"/>
          <p:cNvSpPr/>
          <p:nvPr/>
        </p:nvSpPr>
        <p:spPr>
          <a:xfrm>
            <a:off x="6638544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26" name="s10_c1_wt"/>
          <p:cNvSpPr/>
          <p:nvPr/>
        </p:nvSpPr>
        <p:spPr>
          <a:xfrm>
            <a:off x="6638544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reads the same SKILL.md and adds an agents/openai.yaml sidecar file per skill</a:t>
            </a:r>
            <a:endParaRPr lang="en-US" sz="2000" dirty="0"/>
          </a:p>
        </p:txBody>
      </p:sp>
      <p:sp>
        <p:nvSpPr>
          <p:cNvPr id="27" name="s10_c1_hr"/>
          <p:cNvSpPr/>
          <p:nvPr/>
        </p:nvSpPr>
        <p:spPr>
          <a:xfrm>
            <a:off x="6638544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0_c1_gl"/>
          <p:cNvSpPr/>
          <p:nvPr/>
        </p:nvSpPr>
        <p:spPr>
          <a:xfrm>
            <a:off x="6638544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9" name="s10_c1_wh"/>
          <p:cNvSpPr/>
          <p:nvPr/>
        </p:nvSpPr>
        <p:spPr>
          <a:xfrm>
            <a:off x="6638544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1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1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1_kick" descr="assets/a2_k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5617029" cy="182880"/>
          </a:xfrm>
          <a:prstGeom prst="rect">
            <a:avLst/>
          </a:prstGeom>
        </p:spPr>
      </p:pic>
      <p:pic>
        <p:nvPicPr>
          <p:cNvPr id="6" name="s11_title" descr="assets/a2_t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2377440" cy="475488"/>
          </a:xfrm>
          <a:prstGeom prst="rect">
            <a:avLst/>
          </a:prstGeom>
        </p:spPr>
      </p:pic>
      <p:sp>
        <p:nvSpPr>
          <p:cNvPr id="7" name="s11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in opencode + pi</a:t>
            </a:r>
            <a:endParaRPr lang="en-US" sz="1100" dirty="0"/>
          </a:p>
        </p:txBody>
      </p:sp>
      <p:sp>
        <p:nvSpPr>
          <p:cNvPr id="8" name="s11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27</a:t>
            </a:r>
            <a:endParaRPr lang="en-US" sz="950" dirty="0"/>
          </a:p>
        </p:txBody>
      </p:sp>
      <p:sp>
        <p:nvSpPr>
          <p:cNvPr id="10" name="s11_c0_sh"/>
          <p:cNvSpPr/>
          <p:nvPr/>
        </p:nvSpPr>
        <p:spPr>
          <a:xfrm>
            <a:off x="553212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1_c0"/>
          <p:cNvSpPr/>
          <p:nvPr/>
        </p:nvSpPr>
        <p:spPr>
          <a:xfrm>
            <a:off x="502920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1_c0_sq"/>
          <p:cNvSpPr/>
          <p:nvPr/>
        </p:nvSpPr>
        <p:spPr>
          <a:xfrm>
            <a:off x="758952" y="1828800"/>
            <a:ext cx="146304" cy="14630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3" name="s11_c0_nm"/>
          <p:cNvSpPr/>
          <p:nvPr/>
        </p:nvSpPr>
        <p:spPr>
          <a:xfrm>
            <a:off x="1033272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500" dirty="0"/>
          </a:p>
        </p:txBody>
      </p:sp>
      <p:sp>
        <p:nvSpPr>
          <p:cNvPr id="14" name="s11_c0_pn"/>
          <p:cNvSpPr/>
          <p:nvPr/>
        </p:nvSpPr>
        <p:spPr>
          <a:xfrm>
            <a:off x="731520" y="2267712"/>
            <a:ext cx="5020056" cy="3191256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15" name="s11_c0_wl"/>
          <p:cNvSpPr/>
          <p:nvPr/>
        </p:nvSpPr>
        <p:spPr>
          <a:xfrm>
            <a:off x="932688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16" name="s11_c0_wt"/>
          <p:cNvSpPr/>
          <p:nvPr/>
        </p:nvSpPr>
        <p:spPr>
          <a:xfrm>
            <a:off x="932688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only allows extensions through metadata.opencode keys and ignores the license field</a:t>
            </a:r>
            <a:endParaRPr lang="en-US" sz="2400" dirty="0"/>
          </a:p>
        </p:txBody>
      </p:sp>
      <p:sp>
        <p:nvSpPr>
          <p:cNvPr id="17" name="s11_c0_hr"/>
          <p:cNvSpPr/>
          <p:nvPr/>
        </p:nvSpPr>
        <p:spPr>
          <a:xfrm>
            <a:off x="932688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11_c0_gl"/>
          <p:cNvSpPr/>
          <p:nvPr/>
        </p:nvSpPr>
        <p:spPr>
          <a:xfrm>
            <a:off x="932688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19" name="s11_c0_wh"/>
          <p:cNvSpPr/>
          <p:nvPr/>
        </p:nvSpPr>
        <p:spPr>
          <a:xfrm>
            <a:off x="932688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</a:t>
            </a:r>
            <a:endParaRPr lang="en-US" sz="1150" dirty="0"/>
          </a:p>
        </p:txBody>
      </p:sp>
      <p:sp>
        <p:nvSpPr>
          <p:cNvPr id="20" name="s11_c1_sh"/>
          <p:cNvSpPr/>
          <p:nvPr/>
        </p:nvSpPr>
        <p:spPr>
          <a:xfrm>
            <a:off x="6259068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11_c1"/>
          <p:cNvSpPr/>
          <p:nvPr/>
        </p:nvSpPr>
        <p:spPr>
          <a:xfrm>
            <a:off x="6208776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11_c1_sq"/>
          <p:cNvSpPr/>
          <p:nvPr/>
        </p:nvSpPr>
        <p:spPr>
          <a:xfrm>
            <a:off x="6464808" y="1828800"/>
            <a:ext cx="146304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11_c1_nm"/>
          <p:cNvSpPr/>
          <p:nvPr/>
        </p:nvSpPr>
        <p:spPr>
          <a:xfrm>
            <a:off x="6739128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500" dirty="0"/>
          </a:p>
        </p:txBody>
      </p:sp>
      <p:sp>
        <p:nvSpPr>
          <p:cNvPr id="24" name="s11_c1_pn"/>
          <p:cNvSpPr/>
          <p:nvPr/>
        </p:nvSpPr>
        <p:spPr>
          <a:xfrm>
            <a:off x="6437376" y="2267712"/>
            <a:ext cx="5020056" cy="3191256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25" name="s11_c1_wl"/>
          <p:cNvSpPr/>
          <p:nvPr/>
        </p:nvSpPr>
        <p:spPr>
          <a:xfrm>
            <a:off x="6638544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26" name="s11_c1_wt"/>
          <p:cNvSpPr/>
          <p:nvPr/>
        </p:nvSpPr>
        <p:spPr>
          <a:xfrm>
            <a:off x="6638544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reads the spec fields, but the skill name does not have to match the folder name</a:t>
            </a:r>
            <a:endParaRPr lang="en-US" sz="2400" dirty="0"/>
          </a:p>
        </p:txBody>
      </p:sp>
      <p:sp>
        <p:nvSpPr>
          <p:cNvPr id="27" name="s11_c1_hr"/>
          <p:cNvSpPr/>
          <p:nvPr/>
        </p:nvSpPr>
        <p:spPr>
          <a:xfrm>
            <a:off x="6638544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1_c1_gl"/>
          <p:cNvSpPr/>
          <p:nvPr/>
        </p:nvSpPr>
        <p:spPr>
          <a:xfrm>
            <a:off x="6638544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9" name="s11_c1_wh"/>
          <p:cNvSpPr/>
          <p:nvPr/>
        </p:nvSpPr>
        <p:spPr>
          <a:xfrm>
            <a:off x="6638544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</a:t>
            </a:r>
            <a:endParaRPr lang="en-US" sz="1150" dirty="0"/>
          </a:p>
        </p:txBody>
      </p:sp>
      <p:sp>
        <p:nvSpPr>
          <p:cNvPr id="30" name="s11_core_sh"/>
          <p:cNvSpPr/>
          <p:nvPr/>
        </p:nvSpPr>
        <p:spPr>
          <a:xfrm>
            <a:off x="553212" y="5993892"/>
            <a:ext cx="11183112" cy="502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11_core"/>
          <p:cNvSpPr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11_core_sq"/>
          <p:cNvSpPr/>
          <p:nvPr/>
        </p:nvSpPr>
        <p:spPr>
          <a:xfrm>
            <a:off x="777240" y="6140196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3" name="s11_core_lab"/>
          <p:cNvSpPr/>
          <p:nvPr/>
        </p:nvSpPr>
        <p:spPr>
          <a:xfrm>
            <a:off x="1024128" y="5943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CORE</a:t>
            </a:r>
            <a:endParaRPr lang="en-US" sz="900" dirty="0"/>
          </a:p>
        </p:txBody>
      </p:sp>
      <p:sp>
        <p:nvSpPr>
          <p:cNvPr id="34" name="s11_core_t"/>
          <p:cNvSpPr/>
          <p:nvPr/>
        </p:nvSpPr>
        <p:spPr>
          <a:xfrm>
            <a:off x="2514600" y="594360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spec-pure SKILL.md (name + description) drops into all four — everything above is optional overlay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2_kick" descr="assets/a2_k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2952206" cy="182880"/>
          </a:xfrm>
          <a:prstGeom prst="rect">
            <a:avLst/>
          </a:prstGeom>
        </p:spPr>
      </p:pic>
      <p:pic>
        <p:nvPicPr>
          <p:cNvPr id="6" name="s12_title" descr="assets/a2_t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6453051" cy="475488"/>
          </a:xfrm>
          <a:prstGeom prst="rect">
            <a:avLst/>
          </a:prstGeom>
        </p:spPr>
      </p:pic>
      <p:sp>
        <p:nvSpPr>
          <p:cNvPr id="7" name="s1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each agent picks a winner</a:t>
            </a:r>
            <a:endParaRPr lang="en-US" sz="1100" dirty="0"/>
          </a:p>
        </p:txBody>
      </p:sp>
      <p:sp>
        <p:nvSpPr>
          <p:cNvPr id="8" name="s1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27</a:t>
            </a:r>
            <a:endParaRPr lang="en-US" sz="950" dirty="0"/>
          </a:p>
        </p:txBody>
      </p:sp>
      <p:sp>
        <p:nvSpPr>
          <p:cNvPr id="10" name="s12_rows_sh"/>
          <p:cNvSpPr/>
          <p:nvPr/>
        </p:nvSpPr>
        <p:spPr>
          <a:xfrm>
            <a:off x="553212" y="1531620"/>
            <a:ext cx="11183112" cy="39776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2_rows"/>
          <p:cNvSpPr/>
          <p:nvPr/>
        </p:nvSpPr>
        <p:spPr>
          <a:xfrm>
            <a:off x="502920" y="1481328"/>
            <a:ext cx="11183112" cy="39776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2_b0"/>
          <p:cNvSpPr/>
          <p:nvPr/>
        </p:nvSpPr>
        <p:spPr>
          <a:xfrm>
            <a:off x="777240" y="1929384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12_k0"/>
          <p:cNvSpPr/>
          <p:nvPr/>
        </p:nvSpPr>
        <p:spPr>
          <a:xfrm>
            <a:off x="1042416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4" name="s12_v0"/>
          <p:cNvSpPr/>
          <p:nvPr/>
        </p:nvSpPr>
        <p:spPr>
          <a:xfrm>
            <a:off x="2697480" y="178308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scope decides — enterprise beats personal beats project beats nested; plugin skills live under the plugin's own namespace, so they never collide</a:t>
            </a:r>
            <a:endParaRPr lang="en-US" sz="1600" dirty="0"/>
          </a:p>
        </p:txBody>
      </p:sp>
      <p:sp>
        <p:nvSpPr>
          <p:cNvPr id="15" name="s12_h0"/>
          <p:cNvSpPr/>
          <p:nvPr/>
        </p:nvSpPr>
        <p:spPr>
          <a:xfrm>
            <a:off x="777240" y="2633472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" name="s12_b1"/>
          <p:cNvSpPr/>
          <p:nvPr/>
        </p:nvSpPr>
        <p:spPr>
          <a:xfrm>
            <a:off x="777240" y="2825496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s12_k1"/>
          <p:cNvSpPr/>
          <p:nvPr/>
        </p:nvSpPr>
        <p:spPr>
          <a:xfrm>
            <a:off x="1042416" y="26791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100" dirty="0"/>
          </a:p>
        </p:txBody>
      </p:sp>
      <p:sp>
        <p:nvSpPr>
          <p:cNvPr id="18" name="s12_v1"/>
          <p:cNvSpPr/>
          <p:nvPr/>
        </p:nvSpPr>
        <p:spPr>
          <a:xfrm>
            <a:off x="2697480" y="2679192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same-name skills are not merged — both stay listed; you disable one by path in config.toml</a:t>
            </a:r>
            <a:endParaRPr lang="en-US" sz="1600" dirty="0"/>
          </a:p>
        </p:txBody>
      </p:sp>
      <p:sp>
        <p:nvSpPr>
          <p:cNvPr id="19" name="s12_h1"/>
          <p:cNvSpPr/>
          <p:nvPr/>
        </p:nvSpPr>
        <p:spPr>
          <a:xfrm>
            <a:off x="777240" y="3529584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0" name="s12_b2"/>
          <p:cNvSpPr/>
          <p:nvPr/>
        </p:nvSpPr>
        <p:spPr>
          <a:xfrm>
            <a:off x="777240" y="372160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1" name="s12_k2"/>
          <p:cNvSpPr/>
          <p:nvPr/>
        </p:nvSpPr>
        <p:spPr>
          <a:xfrm>
            <a:off x="1042416" y="357530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100" dirty="0"/>
          </a:p>
        </p:txBody>
      </p:sp>
      <p:sp>
        <p:nvSpPr>
          <p:cNvPr id="22" name="s12_v2"/>
          <p:cNvSpPr/>
          <p:nvPr/>
        </p:nvSpPr>
        <p:spPr>
          <a:xfrm>
            <a:off x="2697480" y="3575304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skill closest to your working folder wins; at the same distance .claude beats .agents beats .opencode</a:t>
            </a:r>
            <a:endParaRPr lang="en-US" sz="1600" dirty="0"/>
          </a:p>
        </p:txBody>
      </p:sp>
      <p:sp>
        <p:nvSpPr>
          <p:cNvPr id="23" name="s12_h2"/>
          <p:cNvSpPr/>
          <p:nvPr/>
        </p:nvSpPr>
        <p:spPr>
          <a:xfrm>
            <a:off x="777240" y="4425696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12_b3"/>
          <p:cNvSpPr/>
          <p:nvPr/>
        </p:nvSpPr>
        <p:spPr>
          <a:xfrm>
            <a:off x="777240" y="4617720"/>
            <a:ext cx="128016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12_k3"/>
          <p:cNvSpPr/>
          <p:nvPr/>
        </p:nvSpPr>
        <p:spPr>
          <a:xfrm>
            <a:off x="1042416" y="447141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100" dirty="0"/>
          </a:p>
        </p:txBody>
      </p:sp>
      <p:sp>
        <p:nvSpPr>
          <p:cNvPr id="26" name="s12_v3"/>
          <p:cNvSpPr/>
          <p:nvPr/>
        </p:nvSpPr>
        <p:spPr>
          <a:xfrm>
            <a:off x="2697480" y="4471416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skill found wins and pi prints a warning; project (.pi) beats user (~/.pi/agent)</a:t>
            </a:r>
            <a:endParaRPr lang="en-US" sz="1600" dirty="0"/>
          </a:p>
        </p:txBody>
      </p:sp>
      <p:sp>
        <p:nvSpPr>
          <p:cNvPr id="27" name="s12_core_sh"/>
          <p:cNvSpPr/>
          <p:nvPr/>
        </p:nvSpPr>
        <p:spPr>
          <a:xfrm>
            <a:off x="553212" y="5993892"/>
            <a:ext cx="11183112" cy="502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12_core"/>
          <p:cNvSpPr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9" name="s12_core_sq"/>
          <p:cNvSpPr/>
          <p:nvPr/>
        </p:nvSpPr>
        <p:spPr>
          <a:xfrm>
            <a:off x="777240" y="6140196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0" name="s12_core_t"/>
          <p:cNvSpPr/>
          <p:nvPr/>
        </p:nvSpPr>
        <p:spPr>
          <a:xfrm>
            <a:off x="1024128" y="5943600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solves this upstream — one canonical record per skill name, so collisions never reach the harness</a:t>
            </a:r>
            <a:endParaRPr lang="en-US" sz="1100" dirty="0"/>
          </a:p>
        </p:txBody>
      </p:sp>
      <p:sp>
        <p:nvSpPr>
          <p:cNvPr id="31" name="s12_src"/>
          <p:cNvSpPr/>
          <p:nvPr/>
        </p:nvSpPr>
        <p:spPr>
          <a:xfrm>
            <a:off x="502920" y="647395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corpus — claude-code.md, codex.md, opencode.md, pi.md — verified 2026-10-16/21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1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27</a:t>
            </a:r>
            <a:endParaRPr lang="en-US" sz="950" dirty="0"/>
          </a:p>
        </p:txBody>
      </p:sp>
      <p:pic>
        <p:nvPicPr>
          <p:cNvPr id="7" name="s13_word" descr="assets/a2_her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5623560" cy="960120"/>
          </a:xfrm>
          <a:prstGeom prst="rect">
            <a:avLst/>
          </a:prstGeom>
        </p:spPr>
      </p:pic>
      <p:sp>
        <p:nvSpPr>
          <p:cNvPr id="8" name="s13_d0"/>
          <p:cNvSpPr/>
          <p:nvPr/>
        </p:nvSpPr>
        <p:spPr>
          <a:xfrm>
            <a:off x="502920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9" name="s13_d1"/>
          <p:cNvSpPr/>
          <p:nvPr/>
        </p:nvSpPr>
        <p:spPr>
          <a:xfrm>
            <a:off x="658368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13_d2"/>
          <p:cNvSpPr/>
          <p:nvPr/>
        </p:nvSpPr>
        <p:spPr>
          <a:xfrm>
            <a:off x="813816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13_d3"/>
          <p:cNvSpPr/>
          <p:nvPr/>
        </p:nvSpPr>
        <p:spPr>
          <a:xfrm>
            <a:off x="969264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2" name="s13_d4"/>
          <p:cNvSpPr/>
          <p:nvPr/>
        </p:nvSpPr>
        <p:spPr>
          <a:xfrm>
            <a:off x="1124712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s13_d5"/>
          <p:cNvSpPr/>
          <p:nvPr/>
        </p:nvSpPr>
        <p:spPr>
          <a:xfrm>
            <a:off x="1280160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3_d6"/>
          <p:cNvSpPr/>
          <p:nvPr/>
        </p:nvSpPr>
        <p:spPr>
          <a:xfrm>
            <a:off x="1435608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5" name="s13_d7"/>
          <p:cNvSpPr/>
          <p:nvPr/>
        </p:nvSpPr>
        <p:spPr>
          <a:xfrm>
            <a:off x="1591056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13_d8"/>
          <p:cNvSpPr/>
          <p:nvPr/>
        </p:nvSpPr>
        <p:spPr>
          <a:xfrm>
            <a:off x="1746504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13_d9"/>
          <p:cNvSpPr/>
          <p:nvPr/>
        </p:nvSpPr>
        <p:spPr>
          <a:xfrm>
            <a:off x="1901952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s13_d10"/>
          <p:cNvSpPr/>
          <p:nvPr/>
        </p:nvSpPr>
        <p:spPr>
          <a:xfrm>
            <a:off x="2057400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13_d11"/>
          <p:cNvSpPr/>
          <p:nvPr/>
        </p:nvSpPr>
        <p:spPr>
          <a:xfrm>
            <a:off x="2212848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13_b0"/>
          <p:cNvSpPr/>
          <p:nvPr/>
        </p:nvSpPr>
        <p:spPr>
          <a:xfrm>
            <a:off x="502920" y="3858768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1" name="s13_bt0"/>
          <p:cNvSpPr/>
          <p:nvPr/>
        </p:nvSpPr>
        <p:spPr>
          <a:xfrm>
            <a:off x="795528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1) specification</a:t>
            </a:r>
            <a:endParaRPr lang="en-US" sz="1300" dirty="0"/>
          </a:p>
        </p:txBody>
      </p:sp>
      <p:sp>
        <p:nvSpPr>
          <p:cNvPr id="22" name="s13_b1"/>
          <p:cNvSpPr/>
          <p:nvPr/>
        </p:nvSpPr>
        <p:spPr>
          <a:xfrm>
            <a:off x="502920" y="4297680"/>
            <a:ext cx="118872" cy="1188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13_bt1"/>
          <p:cNvSpPr/>
          <p:nvPr/>
        </p:nvSpPr>
        <p:spPr>
          <a:xfrm>
            <a:off x="795528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2) claude + codex</a:t>
            </a:r>
            <a:endParaRPr lang="en-US" sz="1300" dirty="0"/>
          </a:p>
        </p:txBody>
      </p:sp>
      <p:sp>
        <p:nvSpPr>
          <p:cNvPr id="24" name="s13_b2"/>
          <p:cNvSpPr/>
          <p:nvPr/>
        </p:nvSpPr>
        <p:spPr>
          <a:xfrm>
            <a:off x="502920" y="4736592"/>
            <a:ext cx="118872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13_bt2"/>
          <p:cNvSpPr/>
          <p:nvPr/>
        </p:nvSpPr>
        <p:spPr>
          <a:xfrm>
            <a:off x="795528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3) opencode + pi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4_kick" descr="assets/a2_k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5303520" cy="182880"/>
          </a:xfrm>
          <a:prstGeom prst="rect">
            <a:avLst/>
          </a:prstGeom>
        </p:spPr>
      </p:pic>
      <p:pic>
        <p:nvPicPr>
          <p:cNvPr id="6" name="s14_title" descr="assets/a2_t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5230368" cy="475488"/>
          </a:xfrm>
          <a:prstGeom prst="rect">
            <a:avLst/>
          </a:prstGeom>
        </p:spPr>
      </p:pic>
      <p:sp>
        <p:nvSpPr>
          <p:cNvPr id="7" name="s14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spec itself defines — commonality only</a:t>
            </a:r>
            <a:endParaRPr lang="en-US" sz="1100" dirty="0"/>
          </a:p>
        </p:txBody>
      </p:sp>
      <p:sp>
        <p:nvSpPr>
          <p:cNvPr id="8" name="s1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27</a:t>
            </a:r>
            <a:endParaRPr lang="en-US" sz="950" dirty="0"/>
          </a:p>
        </p:txBody>
      </p:sp>
      <p:sp>
        <p:nvSpPr>
          <p:cNvPr id="9" name="s14_plate_sh"/>
          <p:cNvSpPr/>
          <p:nvPr/>
        </p:nvSpPr>
        <p:spPr>
          <a:xfrm>
            <a:off x="8828532" y="342900"/>
            <a:ext cx="2212848" cy="98755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14_plate"/>
          <p:cNvSpPr/>
          <p:nvPr/>
        </p:nvSpPr>
        <p:spPr>
          <a:xfrm>
            <a:off x="8778240" y="292608"/>
            <a:ext cx="2212848" cy="98755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1" name="s14_plate_img" descr="assets/a2_sp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530352"/>
            <a:ext cx="1682496" cy="512064"/>
          </a:xfrm>
          <a:prstGeom prst="rect">
            <a:avLst/>
          </a:prstGeom>
        </p:spPr>
      </p:pic>
      <p:sp>
        <p:nvSpPr>
          <p:cNvPr id="13" name="s14_f_sh"/>
          <p:cNvSpPr/>
          <p:nvPr/>
        </p:nvSpPr>
        <p:spPr>
          <a:xfrm>
            <a:off x="553212" y="1531620"/>
            <a:ext cx="5806440" cy="44805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s14_f"/>
          <p:cNvSpPr/>
          <p:nvPr/>
        </p:nvSpPr>
        <p:spPr>
          <a:xfrm>
            <a:off x="502920" y="1481328"/>
            <a:ext cx="5806440" cy="44805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5" name="s14_fb"/>
          <p:cNvSpPr/>
          <p:nvPr/>
        </p:nvSpPr>
        <p:spPr>
          <a:xfrm>
            <a:off x="777240" y="1627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 SET (CLOSED)</a:t>
            </a:r>
            <a:endParaRPr lang="en-US" sz="1000" dirty="0"/>
          </a:p>
        </p:txBody>
      </p:sp>
      <p:sp>
        <p:nvSpPr>
          <p:cNvPr id="16" name="s14_fr"/>
          <p:cNvSpPr/>
          <p:nvPr/>
        </p:nvSpPr>
        <p:spPr>
          <a:xfrm>
            <a:off x="4206240" y="1627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REQUIRED</a:t>
            </a:r>
            <a:endParaRPr lang="en-US" sz="800" dirty="0"/>
          </a:p>
        </p:txBody>
      </p:sp>
      <p:sp>
        <p:nvSpPr>
          <p:cNvPr id="17" name="s14_fk0"/>
          <p:cNvSpPr/>
          <p:nvPr/>
        </p:nvSpPr>
        <p:spPr>
          <a:xfrm>
            <a:off x="777240" y="1920240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$schema</a:t>
            </a:r>
            <a:r>
              <a:rPr lang="en-US" sz="10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</a:t>
            </a:r>
            <a:endParaRPr lang="en-US" sz="1050" dirty="0"/>
          </a:p>
        </p:txBody>
      </p:sp>
      <p:sp>
        <p:nvSpPr>
          <p:cNvPr id="18" name="s14_fv0"/>
          <p:cNvSpPr/>
          <p:nvPr/>
        </p:nvSpPr>
        <p:spPr>
          <a:xfrm>
            <a:off x="2697480" y="1920240"/>
            <a:ext cx="34290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 URL</a:t>
            </a:r>
            <a:endParaRPr lang="en-US" sz="1050" dirty="0"/>
          </a:p>
        </p:txBody>
      </p:sp>
      <p:sp>
        <p:nvSpPr>
          <p:cNvPr id="19" name="s14_fh0"/>
          <p:cNvSpPr/>
          <p:nvPr/>
        </p:nvSpPr>
        <p:spPr>
          <a:xfrm>
            <a:off x="777240" y="2226564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0" name="s14_fk1"/>
          <p:cNvSpPr/>
          <p:nvPr/>
        </p:nvSpPr>
        <p:spPr>
          <a:xfrm>
            <a:off x="777240" y="2226564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</a:t>
            </a:r>
            <a:endParaRPr lang="en-US" sz="1050" dirty="0"/>
          </a:p>
        </p:txBody>
      </p:sp>
      <p:sp>
        <p:nvSpPr>
          <p:cNvPr id="21" name="s14_fv1"/>
          <p:cNvSpPr/>
          <p:nvPr/>
        </p:nvSpPr>
        <p:spPr>
          <a:xfrm>
            <a:off x="2697480" y="2226564"/>
            <a:ext cx="34290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1–64 chars a-z0-9-., no --/..</a:t>
            </a:r>
            <a:endParaRPr lang="en-US" sz="1050" dirty="0"/>
          </a:p>
        </p:txBody>
      </p:sp>
      <p:sp>
        <p:nvSpPr>
          <p:cNvPr id="22" name="s14_fh1"/>
          <p:cNvSpPr/>
          <p:nvPr/>
        </p:nvSpPr>
        <p:spPr>
          <a:xfrm>
            <a:off x="777240" y="2532888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3" name="s14_fk2"/>
          <p:cNvSpPr/>
          <p:nvPr/>
        </p:nvSpPr>
        <p:spPr>
          <a:xfrm>
            <a:off x="777240" y="2532888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050" dirty="0"/>
          </a:p>
        </p:txBody>
      </p:sp>
      <p:sp>
        <p:nvSpPr>
          <p:cNvPr id="24" name="s14_fv2"/>
          <p:cNvSpPr/>
          <p:nvPr/>
        </p:nvSpPr>
        <p:spPr>
          <a:xfrm>
            <a:off x="2697480" y="2532888"/>
            <a:ext cx="34290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type-checked only — semver recommended, NOT enforced</a:t>
            </a:r>
            <a:endParaRPr lang="en-US" sz="1050" dirty="0"/>
          </a:p>
        </p:txBody>
      </p:sp>
      <p:sp>
        <p:nvSpPr>
          <p:cNvPr id="25" name="s14_fh2"/>
          <p:cNvSpPr/>
          <p:nvPr/>
        </p:nvSpPr>
        <p:spPr>
          <a:xfrm>
            <a:off x="777240" y="2839212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6" name="s14_fk3"/>
          <p:cNvSpPr/>
          <p:nvPr/>
        </p:nvSpPr>
        <p:spPr>
          <a:xfrm>
            <a:off x="777240" y="2839212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27" name="s14_fh3"/>
          <p:cNvSpPr/>
          <p:nvPr/>
        </p:nvSpPr>
        <p:spPr>
          <a:xfrm>
            <a:off x="777240" y="3145536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4_fk4"/>
          <p:cNvSpPr/>
          <p:nvPr/>
        </p:nvSpPr>
        <p:spPr>
          <a:xfrm>
            <a:off x="777240" y="3145536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author{name,email,url}</a:t>
            </a:r>
            <a:endParaRPr lang="en-US" sz="1050" dirty="0"/>
          </a:p>
        </p:txBody>
      </p:sp>
      <p:sp>
        <p:nvSpPr>
          <p:cNvPr id="29" name="s14_fh4"/>
          <p:cNvSpPr/>
          <p:nvPr/>
        </p:nvSpPr>
        <p:spPr>
          <a:xfrm>
            <a:off x="777240" y="3451860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s14_fk5"/>
          <p:cNvSpPr/>
          <p:nvPr/>
        </p:nvSpPr>
        <p:spPr>
          <a:xfrm>
            <a:off x="777240" y="3451860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homepage</a:t>
            </a:r>
            <a:endParaRPr lang="en-US" sz="1050" dirty="0"/>
          </a:p>
        </p:txBody>
      </p:sp>
      <p:sp>
        <p:nvSpPr>
          <p:cNvPr id="31" name="s14_fh5"/>
          <p:cNvSpPr/>
          <p:nvPr/>
        </p:nvSpPr>
        <p:spPr>
          <a:xfrm>
            <a:off x="777240" y="3758184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2" name="s14_fk6"/>
          <p:cNvSpPr/>
          <p:nvPr/>
        </p:nvSpPr>
        <p:spPr>
          <a:xfrm>
            <a:off x="777240" y="3758184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33" name="s14_fh6"/>
          <p:cNvSpPr/>
          <p:nvPr/>
        </p:nvSpPr>
        <p:spPr>
          <a:xfrm>
            <a:off x="777240" y="4064508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4" name="s14_fk7"/>
          <p:cNvSpPr/>
          <p:nvPr/>
        </p:nvSpPr>
        <p:spPr>
          <a:xfrm>
            <a:off x="777240" y="4064508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1050" dirty="0"/>
          </a:p>
        </p:txBody>
      </p:sp>
      <p:sp>
        <p:nvSpPr>
          <p:cNvPr id="35" name="s14_fh7"/>
          <p:cNvSpPr/>
          <p:nvPr/>
        </p:nvSpPr>
        <p:spPr>
          <a:xfrm>
            <a:off x="777240" y="4370832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6" name="s14_fk8"/>
          <p:cNvSpPr/>
          <p:nvPr/>
        </p:nvSpPr>
        <p:spPr>
          <a:xfrm>
            <a:off x="777240" y="4370832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keywords[]</a:t>
            </a:r>
            <a:endParaRPr lang="en-US" sz="1050" dirty="0"/>
          </a:p>
        </p:txBody>
      </p:sp>
      <p:sp>
        <p:nvSpPr>
          <p:cNvPr id="37" name="s14_fh8"/>
          <p:cNvSpPr/>
          <p:nvPr/>
        </p:nvSpPr>
        <p:spPr>
          <a:xfrm>
            <a:off x="777240" y="4677156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8" name="s14_fk9"/>
          <p:cNvSpPr/>
          <p:nvPr/>
        </p:nvSpPr>
        <p:spPr>
          <a:xfrm>
            <a:off x="777240" y="4677156"/>
            <a:ext cx="18288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</a:t>
            </a:r>
            <a:endParaRPr lang="en-US" sz="1050" dirty="0"/>
          </a:p>
        </p:txBody>
      </p:sp>
      <p:sp>
        <p:nvSpPr>
          <p:cNvPr id="39" name="s14_fv9"/>
          <p:cNvSpPr/>
          <p:nvPr/>
        </p:nvSpPr>
        <p:spPr>
          <a:xfrm>
            <a:off x="2697480" y="4677156"/>
            <a:ext cx="34290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of reverse-DNS namespaces</a:t>
            </a:r>
            <a:endParaRPr lang="en-US" sz="1050" dirty="0"/>
          </a:p>
        </p:txBody>
      </p:sp>
      <p:sp>
        <p:nvSpPr>
          <p:cNvPr id="40" name="s14_fhx"/>
          <p:cNvSpPr/>
          <p:nvPr/>
        </p:nvSpPr>
        <p:spPr>
          <a:xfrm>
            <a:off x="777240" y="4983480"/>
            <a:ext cx="53492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1" name="s14_unk"/>
          <p:cNvSpPr/>
          <p:nvPr/>
        </p:nvSpPr>
        <p:spPr>
          <a:xfrm>
            <a:off x="777240" y="5349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 top-level fields: report + ignore — MUST NOT assign semantics</a:t>
            </a:r>
            <a:endParaRPr lang="en-US" sz="850" dirty="0"/>
          </a:p>
        </p:txBody>
      </p:sp>
      <p:sp>
        <p:nvSpPr>
          <p:cNvPr id="42" name="s14_fmt_sh"/>
          <p:cNvSpPr/>
          <p:nvPr/>
        </p:nvSpPr>
        <p:spPr>
          <a:xfrm>
            <a:off x="6588252" y="1531620"/>
            <a:ext cx="5148072" cy="15727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s14_fmt"/>
          <p:cNvSpPr/>
          <p:nvPr/>
        </p:nvSpPr>
        <p:spPr>
          <a:xfrm>
            <a:off x="6537960" y="1481328"/>
            <a:ext cx="5148072" cy="157276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4" name="s14_fmt_b"/>
          <p:cNvSpPr/>
          <p:nvPr/>
        </p:nvSpPr>
        <p:spPr>
          <a:xfrm>
            <a:off x="6812280" y="16276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· LAYOUT, NORMATIVE</a:t>
            </a:r>
            <a:endParaRPr lang="en-US" sz="950" dirty="0"/>
          </a:p>
        </p:txBody>
      </p:sp>
      <p:sp>
        <p:nvSpPr>
          <p:cNvPr id="45" name="s14_fmt_lead"/>
          <p:cNvSpPr/>
          <p:nvPr/>
        </p:nvSpPr>
        <p:spPr>
          <a:xfrm>
            <a:off x="6812280" y="18836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plugin = folder with</a:t>
            </a:r>
            <a:endParaRPr lang="en-US" sz="1100" dirty="0"/>
          </a:p>
        </p:txBody>
      </p:sp>
      <p:sp>
        <p:nvSpPr>
          <p:cNvPr id="46" name="s14_fmt_t"/>
          <p:cNvSpPr/>
          <p:nvPr/>
        </p:nvSpPr>
        <p:spPr>
          <a:xfrm>
            <a:off x="6812280" y="212140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plugin.json              (REQUIRED at root)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skills/&lt;name&gt;/SKILL.md   (immediate child dirs only)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mcp.json                 {$schema, mcpServers}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&lt;reverse-dns&gt;/           client extension dirs</a:t>
            </a:r>
            <a:endParaRPr lang="en-US" sz="1050" dirty="0"/>
          </a:p>
        </p:txBody>
      </p:sp>
      <p:sp>
        <p:nvSpPr>
          <p:cNvPr id="47" name="s14_rg_sh"/>
          <p:cNvSpPr/>
          <p:nvPr/>
        </p:nvSpPr>
        <p:spPr>
          <a:xfrm>
            <a:off x="6588252" y="3268980"/>
            <a:ext cx="5148072" cy="2743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14_rg"/>
          <p:cNvSpPr/>
          <p:nvPr/>
        </p:nvSpPr>
        <p:spPr>
          <a:xfrm>
            <a:off x="6537960" y="3218688"/>
            <a:ext cx="5148072" cy="2743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9" name="s14_rg_b"/>
          <p:cNvSpPr/>
          <p:nvPr/>
        </p:nvSpPr>
        <p:spPr>
          <a:xfrm>
            <a:off x="6812280" y="3364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+ SCOPE</a:t>
            </a:r>
            <a:endParaRPr lang="en-US" sz="1000" dirty="0"/>
          </a:p>
        </p:txBody>
      </p:sp>
      <p:sp>
        <p:nvSpPr>
          <p:cNvPr id="50" name="s14_rb0"/>
          <p:cNvSpPr/>
          <p:nvPr/>
        </p:nvSpPr>
        <p:spPr>
          <a:xfrm>
            <a:off x="6812280" y="3694176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s14_rt0"/>
          <p:cNvSpPr/>
          <p:nvPr/>
        </p:nvSpPr>
        <p:spPr>
          <a:xfrm>
            <a:off x="6976872" y="365760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v1.0.0 published Aug 6 2026 (still 1.0.0 today)</a:t>
            </a:r>
            <a:endParaRPr lang="en-US" sz="900" dirty="0"/>
          </a:p>
        </p:txBody>
      </p:sp>
      <p:sp>
        <p:nvSpPr>
          <p:cNvPr id="52" name="s14_rb1"/>
          <p:cNvSpPr/>
          <p:nvPr/>
        </p:nvSpPr>
        <p:spPr>
          <a:xfrm>
            <a:off x="6812280" y="402336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3" name="s14_rt1"/>
          <p:cNvSpPr/>
          <p:nvPr/>
        </p:nvSpPr>
        <p:spPr>
          <a:xfrm>
            <a:off x="6976872" y="398678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TSC: 5 Core Maintainers — Amazon, Cursor, Microsoft, OpenAI, Vercel (Lead: Jonathan Hefner) · Anthropic absent · Google announced joining Aug 6 — never seated</a:t>
            </a:r>
            <a:endParaRPr lang="en-US" sz="900" dirty="0"/>
          </a:p>
        </p:txBody>
      </p:sp>
      <p:sp>
        <p:nvSpPr>
          <p:cNvPr id="54" name="s14_rb2"/>
          <p:cNvSpPr/>
          <p:nvPr/>
        </p:nvSpPr>
        <p:spPr>
          <a:xfrm>
            <a:off x="6812280" y="466344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5" name="s14_rt2"/>
          <p:cNvSpPr/>
          <p:nvPr/>
        </p:nvSpPr>
        <p:spPr>
          <a:xfrm>
            <a:off x="6976872" y="462686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floor: distribution, permissions, marketplaces deliberately excluded · component types = skills + MCP ONLY — commands, hooks, agents, rules, LSP explicitly excluded</a:t>
            </a:r>
            <a:endParaRPr lang="en-US" sz="900" dirty="0"/>
          </a:p>
        </p:txBody>
      </p:sp>
      <p:sp>
        <p:nvSpPr>
          <p:cNvPr id="56" name="s14_rb3"/>
          <p:cNvSpPr/>
          <p:nvPr/>
        </p:nvSpPr>
        <p:spPr>
          <a:xfrm>
            <a:off x="6812280" y="5303520"/>
            <a:ext cx="82296" cy="8229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7" name="s14_rt3"/>
          <p:cNvSpPr/>
          <p:nvPr/>
        </p:nvSpPr>
        <p:spPr>
          <a:xfrm>
            <a:off x="6976872" y="526694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Adoption: 9 compatible clients listed</a:t>
            </a:r>
            <a:endParaRPr lang="en-US" sz="900" dirty="0"/>
          </a:p>
        </p:txBody>
      </p:sp>
      <p:sp>
        <p:nvSpPr>
          <p:cNvPr id="58" name="s14_src"/>
          <p:cNvSpPr/>
          <p:nvPr/>
        </p:nvSpPr>
        <p:spPr>
          <a:xfrm>
            <a:off x="502920" y="647395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agent-plugins.org — verified 2026-10-16 · MAINTAINERS re-checked 2026-10-28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5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5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5_kick" descr="assets/a2_k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5930537" cy="182880"/>
          </a:xfrm>
          <a:prstGeom prst="rect">
            <a:avLst/>
          </a:prstGeom>
        </p:spPr>
      </p:pic>
      <p:pic>
        <p:nvPicPr>
          <p:cNvPr id="6" name="s15_title" descr="assets/a2_t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2785001" cy="475488"/>
          </a:xfrm>
          <a:prstGeom prst="rect">
            <a:avLst/>
          </a:prstGeom>
        </p:spPr>
      </p:pic>
      <p:sp>
        <p:nvSpPr>
          <p:cNvPr id="7" name="s15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in claude code + codex</a:t>
            </a:r>
            <a:endParaRPr lang="en-US" sz="1100" dirty="0"/>
          </a:p>
        </p:txBody>
      </p:sp>
      <p:sp>
        <p:nvSpPr>
          <p:cNvPr id="8" name="s1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27</a:t>
            </a:r>
            <a:endParaRPr lang="en-US" sz="950" dirty="0"/>
          </a:p>
        </p:txBody>
      </p:sp>
      <p:sp>
        <p:nvSpPr>
          <p:cNvPr id="10" name="s15_c0_sh"/>
          <p:cNvSpPr/>
          <p:nvPr/>
        </p:nvSpPr>
        <p:spPr>
          <a:xfrm>
            <a:off x="553212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5_c0"/>
          <p:cNvSpPr/>
          <p:nvPr/>
        </p:nvSpPr>
        <p:spPr>
          <a:xfrm>
            <a:off x="502920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5_c0_sq"/>
          <p:cNvSpPr/>
          <p:nvPr/>
        </p:nvSpPr>
        <p:spPr>
          <a:xfrm>
            <a:off x="758952" y="18288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15_c0_nm"/>
          <p:cNvSpPr/>
          <p:nvPr/>
        </p:nvSpPr>
        <p:spPr>
          <a:xfrm>
            <a:off x="1033272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4" name="s15_c0_pn"/>
          <p:cNvSpPr/>
          <p:nvPr/>
        </p:nvSpPr>
        <p:spPr>
          <a:xfrm>
            <a:off x="731520" y="2267712"/>
            <a:ext cx="5020056" cy="3191256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15" name="s15_c0_wl"/>
          <p:cNvSpPr/>
          <p:nvPr/>
        </p:nvSpPr>
        <p:spPr>
          <a:xfrm>
            <a:off x="932688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16" name="s15_c0_wt"/>
          <p:cNvSpPr/>
          <p:nvPr/>
        </p:nvSpPr>
        <p:spPr>
          <a:xfrm>
            <a:off x="932688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does not follow the spec — it has its own plugin.json format with extra options like dependencies and user config</a:t>
            </a:r>
            <a:endParaRPr lang="en-US" dirty="0"/>
          </a:p>
        </p:txBody>
      </p:sp>
      <p:sp>
        <p:nvSpPr>
          <p:cNvPr id="17" name="s15_c0_hr"/>
          <p:cNvSpPr/>
          <p:nvPr/>
        </p:nvSpPr>
        <p:spPr>
          <a:xfrm>
            <a:off x="932688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15_c0_gl"/>
          <p:cNvSpPr/>
          <p:nvPr/>
        </p:nvSpPr>
        <p:spPr>
          <a:xfrm>
            <a:off x="932688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19" name="s15_c0_wh"/>
          <p:cNvSpPr/>
          <p:nvPr/>
        </p:nvSpPr>
        <p:spPr>
          <a:xfrm>
            <a:off x="932688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.claude-plugin/ · ~/.claude/plugins/</a:t>
            </a:r>
            <a:endParaRPr lang="en-US" sz="1150" dirty="0"/>
          </a:p>
        </p:txBody>
      </p:sp>
      <p:sp>
        <p:nvSpPr>
          <p:cNvPr id="20" name="s15_c1_sh"/>
          <p:cNvSpPr/>
          <p:nvPr/>
        </p:nvSpPr>
        <p:spPr>
          <a:xfrm>
            <a:off x="6259068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15_c1"/>
          <p:cNvSpPr/>
          <p:nvPr/>
        </p:nvSpPr>
        <p:spPr>
          <a:xfrm>
            <a:off x="6208776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15_c1_sq"/>
          <p:cNvSpPr/>
          <p:nvPr/>
        </p:nvSpPr>
        <p:spPr>
          <a:xfrm>
            <a:off x="6464808" y="1828800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15_c1_nm"/>
          <p:cNvSpPr/>
          <p:nvPr/>
        </p:nvSpPr>
        <p:spPr>
          <a:xfrm>
            <a:off x="6739128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500" dirty="0"/>
          </a:p>
        </p:txBody>
      </p:sp>
      <p:sp>
        <p:nvSpPr>
          <p:cNvPr id="24" name="s15_c1_pn"/>
          <p:cNvSpPr/>
          <p:nvPr/>
        </p:nvSpPr>
        <p:spPr>
          <a:xfrm>
            <a:off x="6437376" y="2267712"/>
            <a:ext cx="5020056" cy="3191256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25" name="s15_c1_wl"/>
          <p:cNvSpPr/>
          <p:nvPr/>
        </p:nvSpPr>
        <p:spPr>
          <a:xfrm>
            <a:off x="6638544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26" name="s15_c1_wt"/>
          <p:cNvSpPr/>
          <p:nvPr/>
        </p:nvSpPr>
        <p:spPr>
          <a:xfrm>
            <a:off x="6638544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follows the spec and adds its own settings under extensions.com.openai (display info, hooks, onboarding)</a:t>
            </a:r>
            <a:endParaRPr lang="en-US" dirty="0"/>
          </a:p>
        </p:txBody>
      </p:sp>
      <p:sp>
        <p:nvSpPr>
          <p:cNvPr id="27" name="s15_c1_hr"/>
          <p:cNvSpPr/>
          <p:nvPr/>
        </p:nvSpPr>
        <p:spPr>
          <a:xfrm>
            <a:off x="6638544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5_c1_gl"/>
          <p:cNvSpPr/>
          <p:nvPr/>
        </p:nvSpPr>
        <p:spPr>
          <a:xfrm>
            <a:off x="6638544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9" name="s15_c1_wh"/>
          <p:cNvSpPr/>
          <p:nvPr/>
        </p:nvSpPr>
        <p:spPr>
          <a:xfrm>
            <a:off x="6638544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~/.codex/plugins/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6_kick" descr="assets/a2_k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5773783" cy="182880"/>
          </a:xfrm>
          <a:prstGeom prst="rect">
            <a:avLst/>
          </a:prstGeom>
        </p:spPr>
      </p:pic>
      <p:pic>
        <p:nvPicPr>
          <p:cNvPr id="6" name="s16_title" descr="assets/a2_t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2785001" cy="475488"/>
          </a:xfrm>
          <a:prstGeom prst="rect">
            <a:avLst/>
          </a:prstGeom>
        </p:spPr>
      </p:pic>
      <p:sp>
        <p:nvSpPr>
          <p:cNvPr id="7" name="s16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in opencode + pi</a:t>
            </a:r>
            <a:endParaRPr lang="en-US" sz="1100" dirty="0"/>
          </a:p>
        </p:txBody>
      </p:sp>
      <p:sp>
        <p:nvSpPr>
          <p:cNvPr id="8" name="s1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27</a:t>
            </a:r>
            <a:endParaRPr lang="en-US" sz="950" dirty="0"/>
          </a:p>
        </p:txBody>
      </p:sp>
      <p:sp>
        <p:nvSpPr>
          <p:cNvPr id="10" name="s16_c0_sh"/>
          <p:cNvSpPr/>
          <p:nvPr/>
        </p:nvSpPr>
        <p:spPr>
          <a:xfrm>
            <a:off x="553212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6_c0"/>
          <p:cNvSpPr/>
          <p:nvPr/>
        </p:nvSpPr>
        <p:spPr>
          <a:xfrm>
            <a:off x="502920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6_c0_sq"/>
          <p:cNvSpPr/>
          <p:nvPr/>
        </p:nvSpPr>
        <p:spPr>
          <a:xfrm>
            <a:off x="758952" y="1828800"/>
            <a:ext cx="146304" cy="14630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3" name="s16_c0_nm"/>
          <p:cNvSpPr/>
          <p:nvPr/>
        </p:nvSpPr>
        <p:spPr>
          <a:xfrm>
            <a:off x="1033272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500" dirty="0"/>
          </a:p>
        </p:txBody>
      </p:sp>
      <p:sp>
        <p:nvSpPr>
          <p:cNvPr id="14" name="s16_c0_pn"/>
          <p:cNvSpPr/>
          <p:nvPr/>
        </p:nvSpPr>
        <p:spPr>
          <a:xfrm>
            <a:off x="731520" y="2267712"/>
            <a:ext cx="5020056" cy="3191256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15" name="s16_c0_wl"/>
          <p:cNvSpPr/>
          <p:nvPr/>
        </p:nvSpPr>
        <p:spPr>
          <a:xfrm>
            <a:off x="932688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16" name="s16_c0_wt"/>
          <p:cNvSpPr/>
          <p:nvPr/>
        </p:nvSpPr>
        <p:spPr>
          <a:xfrm>
            <a:off x="932688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plugins are npm TypeScript packages, not agent plugins bundles</a:t>
            </a:r>
            <a:endParaRPr lang="en-US" dirty="0"/>
          </a:p>
        </p:txBody>
      </p:sp>
      <p:sp>
        <p:nvSpPr>
          <p:cNvPr id="17" name="s16_c0_hr"/>
          <p:cNvSpPr/>
          <p:nvPr/>
        </p:nvSpPr>
        <p:spPr>
          <a:xfrm>
            <a:off x="932688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16_c0_gl"/>
          <p:cNvSpPr/>
          <p:nvPr/>
        </p:nvSpPr>
        <p:spPr>
          <a:xfrm>
            <a:off x="932688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19" name="s16_c0_wh"/>
          <p:cNvSpPr/>
          <p:nvPr/>
        </p:nvSpPr>
        <p:spPr>
          <a:xfrm>
            <a:off x="932688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plugin add pkg</a:t>
            </a:r>
            <a:endParaRPr lang="en-US" sz="1150" dirty="0"/>
          </a:p>
        </p:txBody>
      </p:sp>
      <p:sp>
        <p:nvSpPr>
          <p:cNvPr id="20" name="s16_c1_sh"/>
          <p:cNvSpPr/>
          <p:nvPr/>
        </p:nvSpPr>
        <p:spPr>
          <a:xfrm>
            <a:off x="6259068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16_c1"/>
          <p:cNvSpPr/>
          <p:nvPr/>
        </p:nvSpPr>
        <p:spPr>
          <a:xfrm>
            <a:off x="6208776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16_c1_sq"/>
          <p:cNvSpPr/>
          <p:nvPr/>
        </p:nvSpPr>
        <p:spPr>
          <a:xfrm>
            <a:off x="6464808" y="1828800"/>
            <a:ext cx="146304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16_c1_nm"/>
          <p:cNvSpPr/>
          <p:nvPr/>
        </p:nvSpPr>
        <p:spPr>
          <a:xfrm>
            <a:off x="6739128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500" dirty="0"/>
          </a:p>
        </p:txBody>
      </p:sp>
      <p:sp>
        <p:nvSpPr>
          <p:cNvPr id="24" name="s16_c1_pn"/>
          <p:cNvSpPr/>
          <p:nvPr/>
        </p:nvSpPr>
        <p:spPr>
          <a:xfrm>
            <a:off x="6437376" y="2267712"/>
            <a:ext cx="5020056" cy="3191256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25" name="s16_c1_wl"/>
          <p:cNvSpPr/>
          <p:nvPr/>
        </p:nvSpPr>
        <p:spPr>
          <a:xfrm>
            <a:off x="6638544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26" name="s16_c1_wt"/>
          <p:cNvSpPr/>
          <p:nvPr/>
        </p:nvSpPr>
        <p:spPr>
          <a:xfrm>
            <a:off x="6638544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packages are plain npm packages marked with the pi-package keyword</a:t>
            </a:r>
            <a:endParaRPr lang="en-US" dirty="0"/>
          </a:p>
        </p:txBody>
      </p:sp>
      <p:sp>
        <p:nvSpPr>
          <p:cNvPr id="27" name="s16_c1_hr"/>
          <p:cNvSpPr/>
          <p:nvPr/>
        </p:nvSpPr>
        <p:spPr>
          <a:xfrm>
            <a:off x="6638544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6_c1_gl"/>
          <p:cNvSpPr/>
          <p:nvPr/>
        </p:nvSpPr>
        <p:spPr>
          <a:xfrm>
            <a:off x="6638544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9" name="s16_c1_wh"/>
          <p:cNvSpPr/>
          <p:nvPr/>
        </p:nvSpPr>
        <p:spPr>
          <a:xfrm>
            <a:off x="6638544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install npm:…</a:t>
            </a:r>
            <a:endParaRPr lang="en-US" sz="1150" dirty="0"/>
          </a:p>
        </p:txBody>
      </p:sp>
      <p:sp>
        <p:nvSpPr>
          <p:cNvPr id="30" name="s16_core_sh"/>
          <p:cNvSpPr/>
          <p:nvPr/>
        </p:nvSpPr>
        <p:spPr>
          <a:xfrm>
            <a:off x="553212" y="5993892"/>
            <a:ext cx="11183112" cy="502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16_core"/>
          <p:cNvSpPr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16_core_sq"/>
          <p:cNvSpPr/>
          <p:nvPr/>
        </p:nvSpPr>
        <p:spPr>
          <a:xfrm>
            <a:off x="777240" y="6140196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3" name="s16_core_lab"/>
          <p:cNvSpPr/>
          <p:nvPr/>
        </p:nvSpPr>
        <p:spPr>
          <a:xfrm>
            <a:off x="1024128" y="5943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CORE</a:t>
            </a:r>
            <a:endParaRPr lang="en-US" sz="900" dirty="0"/>
          </a:p>
        </p:txBody>
      </p:sp>
      <p:sp>
        <p:nvSpPr>
          <p:cNvPr id="34" name="s16_core_t"/>
          <p:cNvSpPr/>
          <p:nvPr/>
        </p:nvSpPr>
        <p:spPr>
          <a:xfrm>
            <a:off x="2514600" y="594360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plugin envelope only works on codex — but the skills inside reach all four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1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27</a:t>
            </a:r>
            <a:endParaRPr lang="en-US" sz="950" dirty="0"/>
          </a:p>
        </p:txBody>
      </p:sp>
      <p:pic>
        <p:nvPicPr>
          <p:cNvPr id="7" name="s17_word" descr="assets/a2_hero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8915400" cy="960120"/>
          </a:xfrm>
          <a:prstGeom prst="rect">
            <a:avLst/>
          </a:prstGeom>
        </p:spPr>
      </p:pic>
      <p:sp>
        <p:nvSpPr>
          <p:cNvPr id="8" name="s17_d0"/>
          <p:cNvSpPr/>
          <p:nvPr/>
        </p:nvSpPr>
        <p:spPr>
          <a:xfrm>
            <a:off x="502920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9" name="s17_d1"/>
          <p:cNvSpPr/>
          <p:nvPr/>
        </p:nvSpPr>
        <p:spPr>
          <a:xfrm>
            <a:off x="658368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17_d2"/>
          <p:cNvSpPr/>
          <p:nvPr/>
        </p:nvSpPr>
        <p:spPr>
          <a:xfrm>
            <a:off x="813816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17_d3"/>
          <p:cNvSpPr/>
          <p:nvPr/>
        </p:nvSpPr>
        <p:spPr>
          <a:xfrm>
            <a:off x="969264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2" name="s17_d4"/>
          <p:cNvSpPr/>
          <p:nvPr/>
        </p:nvSpPr>
        <p:spPr>
          <a:xfrm>
            <a:off x="1124712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s17_d5"/>
          <p:cNvSpPr/>
          <p:nvPr/>
        </p:nvSpPr>
        <p:spPr>
          <a:xfrm>
            <a:off x="1280160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17_d6"/>
          <p:cNvSpPr/>
          <p:nvPr/>
        </p:nvSpPr>
        <p:spPr>
          <a:xfrm>
            <a:off x="1435608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5" name="s17_d7"/>
          <p:cNvSpPr/>
          <p:nvPr/>
        </p:nvSpPr>
        <p:spPr>
          <a:xfrm>
            <a:off x="1591056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17_d8"/>
          <p:cNvSpPr/>
          <p:nvPr/>
        </p:nvSpPr>
        <p:spPr>
          <a:xfrm>
            <a:off x="1746504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17_d9"/>
          <p:cNvSpPr/>
          <p:nvPr/>
        </p:nvSpPr>
        <p:spPr>
          <a:xfrm>
            <a:off x="1901952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s17_d10"/>
          <p:cNvSpPr/>
          <p:nvPr/>
        </p:nvSpPr>
        <p:spPr>
          <a:xfrm>
            <a:off x="2057400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17_d11"/>
          <p:cNvSpPr/>
          <p:nvPr/>
        </p:nvSpPr>
        <p:spPr>
          <a:xfrm>
            <a:off x="2212848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17_b0"/>
          <p:cNvSpPr/>
          <p:nvPr/>
        </p:nvSpPr>
        <p:spPr>
          <a:xfrm>
            <a:off x="502920" y="3858768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1" name="s17_bt0"/>
          <p:cNvSpPr/>
          <p:nvPr/>
        </p:nvSpPr>
        <p:spPr>
          <a:xfrm>
            <a:off x="795528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1) specification</a:t>
            </a:r>
            <a:endParaRPr lang="en-US" sz="1300" dirty="0"/>
          </a:p>
        </p:txBody>
      </p:sp>
      <p:sp>
        <p:nvSpPr>
          <p:cNvPr id="22" name="s17_b1"/>
          <p:cNvSpPr/>
          <p:nvPr/>
        </p:nvSpPr>
        <p:spPr>
          <a:xfrm>
            <a:off x="502920" y="4297680"/>
            <a:ext cx="118872" cy="1188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17_bt1"/>
          <p:cNvSpPr/>
          <p:nvPr/>
        </p:nvSpPr>
        <p:spPr>
          <a:xfrm>
            <a:off x="795528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2) claude + codex</a:t>
            </a:r>
            <a:endParaRPr lang="en-US" sz="1300" dirty="0"/>
          </a:p>
        </p:txBody>
      </p:sp>
      <p:sp>
        <p:nvSpPr>
          <p:cNvPr id="24" name="s17_b2"/>
          <p:cNvSpPr/>
          <p:nvPr/>
        </p:nvSpPr>
        <p:spPr>
          <a:xfrm>
            <a:off x="502920" y="4736592"/>
            <a:ext cx="118872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17_bt2"/>
          <p:cNvSpPr/>
          <p:nvPr/>
        </p:nvSpPr>
        <p:spPr>
          <a:xfrm>
            <a:off x="795528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3) opencode + pi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8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8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8_kick" descr="assets/a2_k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3735977" cy="182880"/>
          </a:xfrm>
          <a:prstGeom prst="rect">
            <a:avLst/>
          </a:prstGeom>
        </p:spPr>
      </p:pic>
      <p:pic>
        <p:nvPicPr>
          <p:cNvPr id="6" name="s18_title" descr="assets/a2_t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1154757" cy="475488"/>
          </a:xfrm>
          <a:prstGeom prst="rect">
            <a:avLst/>
          </a:prstGeom>
        </p:spPr>
      </p:pic>
      <p:sp>
        <p:nvSpPr>
          <p:cNvPr id="7" name="s18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spec itself defines — commonality only</a:t>
            </a:r>
            <a:endParaRPr lang="en-US" sz="1100" dirty="0"/>
          </a:p>
        </p:txBody>
      </p:sp>
      <p:sp>
        <p:nvSpPr>
          <p:cNvPr id="8" name="s18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27</a:t>
            </a:r>
            <a:endParaRPr lang="en-US" sz="950" dirty="0"/>
          </a:p>
        </p:txBody>
      </p:sp>
      <p:sp>
        <p:nvSpPr>
          <p:cNvPr id="9" name="s18_plate_sh"/>
          <p:cNvSpPr/>
          <p:nvPr/>
        </p:nvSpPr>
        <p:spPr>
          <a:xfrm>
            <a:off x="8828532" y="342900"/>
            <a:ext cx="2212848" cy="98755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18_plate"/>
          <p:cNvSpPr/>
          <p:nvPr/>
        </p:nvSpPr>
        <p:spPr>
          <a:xfrm>
            <a:off x="8778240" y="292608"/>
            <a:ext cx="2212848" cy="98755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1" name="s18_plate_img" descr="assets/a2_sp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530352"/>
            <a:ext cx="1682496" cy="512064"/>
          </a:xfrm>
          <a:prstGeom prst="rect">
            <a:avLst/>
          </a:prstGeom>
        </p:spPr>
      </p:pic>
      <p:sp>
        <p:nvSpPr>
          <p:cNvPr id="13" name="s18_reg_sh"/>
          <p:cNvSpPr/>
          <p:nvPr/>
        </p:nvSpPr>
        <p:spPr>
          <a:xfrm>
            <a:off x="553212" y="1531620"/>
            <a:ext cx="5669280" cy="4224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s18_reg"/>
          <p:cNvSpPr/>
          <p:nvPr/>
        </p:nvSpPr>
        <p:spPr>
          <a:xfrm>
            <a:off x="502920" y="1481328"/>
            <a:ext cx="5669280" cy="422452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5" name="s18_rb"/>
          <p:cNvSpPr/>
          <p:nvPr/>
        </p:nvSpPr>
        <p:spPr>
          <a:xfrm>
            <a:off x="777240" y="1645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MCP REGISTRY = METADATA ONLY</a:t>
            </a:r>
            <a:endParaRPr lang="en-US" sz="950" dirty="0"/>
          </a:p>
        </p:txBody>
      </p:sp>
      <p:sp>
        <p:nvSpPr>
          <p:cNvPr id="16" name="s18_kb0"/>
          <p:cNvSpPr/>
          <p:nvPr/>
        </p:nvSpPr>
        <p:spPr>
          <a:xfrm>
            <a:off x="777240" y="2212848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s18_kv0"/>
          <p:cNvSpPr/>
          <p:nvPr/>
        </p:nvSpPr>
        <p:spPr>
          <a:xfrm>
            <a:off x="1005840" y="19933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 point at git/npm/PyPI/Docker, no code hosting</a:t>
            </a:r>
            <a:endParaRPr lang="en-US" sz="1200" dirty="0"/>
          </a:p>
        </p:txBody>
      </p:sp>
      <p:sp>
        <p:nvSpPr>
          <p:cNvPr id="18" name="s18_kh0"/>
          <p:cNvSpPr/>
          <p:nvPr/>
        </p:nvSpPr>
        <p:spPr>
          <a:xfrm>
            <a:off x="777240" y="2651760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18_kb1"/>
          <p:cNvSpPr/>
          <p:nvPr/>
        </p:nvSpPr>
        <p:spPr>
          <a:xfrm>
            <a:off x="777240" y="2871216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18_kv1"/>
          <p:cNvSpPr/>
          <p:nvPr/>
        </p:nvSpPr>
        <p:spPr>
          <a:xfrm>
            <a:off x="1005840" y="26517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reverse-DNS identities</a:t>
            </a:r>
            <a:endParaRPr lang="en-US" sz="1200" dirty="0"/>
          </a:p>
        </p:txBody>
      </p:sp>
      <p:sp>
        <p:nvSpPr>
          <p:cNvPr id="21" name="s18_kh1"/>
          <p:cNvSpPr/>
          <p:nvPr/>
        </p:nvSpPr>
        <p:spPr>
          <a:xfrm>
            <a:off x="777240" y="3310128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2" name="s18_kb2"/>
          <p:cNvSpPr/>
          <p:nvPr/>
        </p:nvSpPr>
        <p:spPr>
          <a:xfrm>
            <a:off x="777240" y="3529584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18_kv2"/>
          <p:cNvSpPr/>
          <p:nvPr/>
        </p:nvSpPr>
        <p:spPr>
          <a:xfrm>
            <a:off x="1005840" y="3310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DNS/GitHub namespace verification</a:t>
            </a:r>
            <a:endParaRPr lang="en-US" sz="1200" dirty="0"/>
          </a:p>
        </p:txBody>
      </p:sp>
      <p:sp>
        <p:nvSpPr>
          <p:cNvPr id="24" name="s18_kh2"/>
          <p:cNvSpPr/>
          <p:nvPr/>
        </p:nvSpPr>
        <p:spPr>
          <a:xfrm>
            <a:off x="777240" y="3968496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18_kb3"/>
          <p:cNvSpPr/>
          <p:nvPr/>
        </p:nvSpPr>
        <p:spPr>
          <a:xfrm>
            <a:off x="777240" y="4187952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s18_kv3"/>
          <p:cNvSpPr/>
          <p:nvPr/>
        </p:nvSpPr>
        <p:spPr>
          <a:xfrm>
            <a:off x="1005840" y="39684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OpenAPI federation for aggregators</a:t>
            </a:r>
            <a:endParaRPr lang="en-US" sz="1200" dirty="0"/>
          </a:p>
        </p:txBody>
      </p:sp>
      <p:sp>
        <p:nvSpPr>
          <p:cNvPr id="27" name="s18_kh3"/>
          <p:cNvSpPr/>
          <p:nvPr/>
        </p:nvSpPr>
        <p:spPr>
          <a:xfrm>
            <a:off x="777240" y="4626864"/>
            <a:ext cx="51206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8_kb4"/>
          <p:cNvSpPr/>
          <p:nvPr/>
        </p:nvSpPr>
        <p:spPr>
          <a:xfrm>
            <a:off x="777240" y="484632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9" name="s18_kv4"/>
          <p:cNvSpPr/>
          <p:nvPr/>
        </p:nvSpPr>
        <p:spPr>
          <a:xfrm>
            <a:off x="1005840" y="46268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~9,652 servers</a:t>
            </a:r>
            <a:endParaRPr lang="en-US" sz="1200" dirty="0"/>
          </a:p>
        </p:txBody>
      </p:sp>
      <p:sp>
        <p:nvSpPr>
          <p:cNvPr id="30" name="s18_fmt_sh"/>
          <p:cNvSpPr/>
          <p:nvPr/>
        </p:nvSpPr>
        <p:spPr>
          <a:xfrm>
            <a:off x="6451092" y="1531620"/>
            <a:ext cx="5285232" cy="122529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18_fmt"/>
          <p:cNvSpPr/>
          <p:nvPr/>
        </p:nvSpPr>
        <p:spPr>
          <a:xfrm>
            <a:off x="6400800" y="1481328"/>
            <a:ext cx="5285232" cy="1225296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18_fb"/>
          <p:cNvSpPr/>
          <p:nvPr/>
        </p:nvSpPr>
        <p:spPr>
          <a:xfrm>
            <a:off x="667512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1000" dirty="0"/>
          </a:p>
        </p:txBody>
      </p:sp>
      <p:sp>
        <p:nvSpPr>
          <p:cNvPr id="33" name="s18_f0_sq"/>
          <p:cNvSpPr/>
          <p:nvPr/>
        </p:nvSpPr>
        <p:spPr>
          <a:xfrm>
            <a:off x="6675120" y="1975104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4" name="s18_f0_t"/>
          <p:cNvSpPr/>
          <p:nvPr/>
        </p:nvSpPr>
        <p:spPr>
          <a:xfrm>
            <a:off x="6912864" y="19202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+ mcp.json server config — transports: stdio · Streamable HTTP (legacy HTTP+SSE)</a:t>
            </a:r>
            <a:endParaRPr lang="en-US" sz="1200" dirty="0"/>
          </a:p>
        </p:txBody>
      </p:sp>
      <p:sp>
        <p:nvSpPr>
          <p:cNvPr id="35" name="s18_sr_sh"/>
          <p:cNvSpPr/>
          <p:nvPr/>
        </p:nvSpPr>
        <p:spPr>
          <a:xfrm>
            <a:off x="6451092" y="2903220"/>
            <a:ext cx="5285232" cy="28529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18_sr"/>
          <p:cNvSpPr/>
          <p:nvPr/>
        </p:nvSpPr>
        <p:spPr>
          <a:xfrm>
            <a:off x="6400800" y="2852928"/>
            <a:ext cx="5285232" cy="285292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18_sb"/>
          <p:cNvSpPr/>
          <p:nvPr/>
        </p:nvSpPr>
        <p:spPr>
          <a:xfrm>
            <a:off x="6675120" y="29992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STEWARDSHIP + RULES</a:t>
            </a:r>
            <a:endParaRPr lang="en-US" sz="1000" dirty="0"/>
          </a:p>
        </p:txBody>
      </p:sp>
      <p:sp>
        <p:nvSpPr>
          <p:cNvPr id="38" name="s18_s0_sq"/>
          <p:cNvSpPr/>
          <p:nvPr/>
        </p:nvSpPr>
        <p:spPr>
          <a:xfrm>
            <a:off x="6675120" y="3364992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9" name="s18_s0_t"/>
          <p:cNvSpPr/>
          <p:nvPr/>
        </p:nvSpPr>
        <p:spPr>
          <a:xfrm>
            <a:off x="6912864" y="331012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Donated by Anthropic to the Linux Foundation AAIF, Dec 2025</a:t>
            </a:r>
            <a:endParaRPr lang="en-US" sz="1200" dirty="0"/>
          </a:p>
        </p:txBody>
      </p:sp>
      <p:sp>
        <p:nvSpPr>
          <p:cNvPr id="40" name="s18_shr"/>
          <p:cNvSpPr/>
          <p:nvPr/>
        </p:nvSpPr>
        <p:spPr>
          <a:xfrm>
            <a:off x="6675120" y="3767328"/>
            <a:ext cx="47091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1" name="s18_rl"/>
          <p:cNvSpPr/>
          <p:nvPr/>
        </p:nvSpPr>
        <p:spPr>
          <a:xfrm>
            <a:off x="6675120" y="391363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record (server.json):</a:t>
            </a:r>
            <a:endParaRPr lang="en-US" sz="950" dirty="0"/>
          </a:p>
        </p:txBody>
      </p:sp>
      <p:sp>
        <p:nvSpPr>
          <p:cNvPr id="42" name="s18_rec"/>
          <p:cNvSpPr/>
          <p:nvPr/>
        </p:nvSpPr>
        <p:spPr>
          <a:xfrm>
            <a:off x="6675120" y="418795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(rDNS), title, description, version,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websiteUrl, repository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packages[] (npm/NuGet/OCI/PyPI + transport + env vars)</a:t>
            </a:r>
            <a:endParaRPr lang="en-US" sz="11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_meta extension namespace</a:t>
            </a:r>
            <a:endParaRPr lang="en-US" sz="1100" dirty="0"/>
          </a:p>
        </p:txBody>
      </p:sp>
      <p:sp>
        <p:nvSpPr>
          <p:cNvPr id="43" name="s18_src"/>
          <p:cNvSpPr/>
          <p:nvPr/>
        </p:nvSpPr>
        <p:spPr>
          <a:xfrm>
            <a:off x="502920" y="647395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modelcontextprotocol.io · registry.modelcontextprotocol.io — verified 2026-10-16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19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19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19_kick" descr="assets/a2_k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6557554" cy="182880"/>
          </a:xfrm>
          <a:prstGeom prst="rect">
            <a:avLst/>
          </a:prstGeom>
        </p:spPr>
      </p:pic>
      <p:pic>
        <p:nvPicPr>
          <p:cNvPr id="6" name="s19_title" descr="assets/a2_t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4415246" cy="475488"/>
          </a:xfrm>
          <a:prstGeom prst="rect">
            <a:avLst/>
          </a:prstGeom>
        </p:spPr>
      </p:pic>
      <p:sp>
        <p:nvSpPr>
          <p:cNvPr id="7" name="s19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 in claude code + codex</a:t>
            </a:r>
            <a:endParaRPr lang="en-US" sz="1100" dirty="0"/>
          </a:p>
        </p:txBody>
      </p:sp>
      <p:sp>
        <p:nvSpPr>
          <p:cNvPr id="8" name="s19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27</a:t>
            </a:r>
            <a:endParaRPr lang="en-US" sz="950" dirty="0"/>
          </a:p>
        </p:txBody>
      </p:sp>
      <p:sp>
        <p:nvSpPr>
          <p:cNvPr id="10" name="s19_c0_sh"/>
          <p:cNvSpPr/>
          <p:nvPr/>
        </p:nvSpPr>
        <p:spPr>
          <a:xfrm>
            <a:off x="553212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19_c0"/>
          <p:cNvSpPr/>
          <p:nvPr/>
        </p:nvSpPr>
        <p:spPr>
          <a:xfrm>
            <a:off x="502920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19_c0_sq"/>
          <p:cNvSpPr/>
          <p:nvPr/>
        </p:nvSpPr>
        <p:spPr>
          <a:xfrm>
            <a:off x="758952" y="18288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19_c0_nm"/>
          <p:cNvSpPr/>
          <p:nvPr/>
        </p:nvSpPr>
        <p:spPr>
          <a:xfrm>
            <a:off x="1033272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4" name="s19_c0_pn"/>
          <p:cNvSpPr/>
          <p:nvPr/>
        </p:nvSpPr>
        <p:spPr>
          <a:xfrm>
            <a:off x="731520" y="2267712"/>
            <a:ext cx="5020056" cy="3191256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15" name="s19_c0_wl"/>
          <p:cNvSpPr/>
          <p:nvPr/>
        </p:nvSpPr>
        <p:spPr>
          <a:xfrm>
            <a:off x="932688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16" name="s19_c0_wt"/>
          <p:cNvSpPr/>
          <p:nvPr/>
        </p:nvSpPr>
        <p:spPr>
          <a:xfrm>
            <a:off x="932688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takes the mcpServers JSON as-is, at project or user scope</a:t>
            </a:r>
            <a:endParaRPr lang="en-US" dirty="0"/>
          </a:p>
        </p:txBody>
      </p:sp>
      <p:sp>
        <p:nvSpPr>
          <p:cNvPr id="17" name="s19_c0_hr"/>
          <p:cNvSpPr/>
          <p:nvPr/>
        </p:nvSpPr>
        <p:spPr>
          <a:xfrm>
            <a:off x="932688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19_c0_gl"/>
          <p:cNvSpPr/>
          <p:nvPr/>
        </p:nvSpPr>
        <p:spPr>
          <a:xfrm>
            <a:off x="932688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19" name="s19_c0_wh"/>
          <p:cNvSpPr/>
          <p:nvPr/>
        </p:nvSpPr>
        <p:spPr>
          <a:xfrm>
            <a:off x="932688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</a:t>
            </a:r>
            <a:endParaRPr lang="en-US" sz="1150" dirty="0"/>
          </a:p>
        </p:txBody>
      </p:sp>
      <p:sp>
        <p:nvSpPr>
          <p:cNvPr id="20" name="s19_c1_sh"/>
          <p:cNvSpPr/>
          <p:nvPr/>
        </p:nvSpPr>
        <p:spPr>
          <a:xfrm>
            <a:off x="6259068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19_c1"/>
          <p:cNvSpPr/>
          <p:nvPr/>
        </p:nvSpPr>
        <p:spPr>
          <a:xfrm>
            <a:off x="6208776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19_c1_sq"/>
          <p:cNvSpPr/>
          <p:nvPr/>
        </p:nvSpPr>
        <p:spPr>
          <a:xfrm>
            <a:off x="6464808" y="1828800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19_c1_nm"/>
          <p:cNvSpPr/>
          <p:nvPr/>
        </p:nvSpPr>
        <p:spPr>
          <a:xfrm>
            <a:off x="6739128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500" dirty="0"/>
          </a:p>
        </p:txBody>
      </p:sp>
      <p:sp>
        <p:nvSpPr>
          <p:cNvPr id="24" name="s19_c1_pn"/>
          <p:cNvSpPr/>
          <p:nvPr/>
        </p:nvSpPr>
        <p:spPr>
          <a:xfrm>
            <a:off x="6437376" y="2267712"/>
            <a:ext cx="5020056" cy="3191256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25" name="s19_c1_wl"/>
          <p:cNvSpPr/>
          <p:nvPr/>
        </p:nvSpPr>
        <p:spPr>
          <a:xfrm>
            <a:off x="6638544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26" name="s19_c1_wt"/>
          <p:cNvSpPr/>
          <p:nvPr/>
        </p:nvSpPr>
        <p:spPr>
          <a:xfrm>
            <a:off x="6638544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wants TOML instead of JSON — same servers, different config format</a:t>
            </a:r>
            <a:endParaRPr lang="en-US" dirty="0"/>
          </a:p>
        </p:txBody>
      </p:sp>
      <p:sp>
        <p:nvSpPr>
          <p:cNvPr id="27" name="s19_c1_hr"/>
          <p:cNvSpPr/>
          <p:nvPr/>
        </p:nvSpPr>
        <p:spPr>
          <a:xfrm>
            <a:off x="6638544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19_c1_gl"/>
          <p:cNvSpPr/>
          <p:nvPr/>
        </p:nvSpPr>
        <p:spPr>
          <a:xfrm>
            <a:off x="6638544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9" name="s19_c1_wh"/>
          <p:cNvSpPr/>
          <p:nvPr/>
        </p:nvSpPr>
        <p:spPr>
          <a:xfrm>
            <a:off x="6638544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~/.codex/config.toml · [mcp_servers.&lt;id&gt;]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0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0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0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0_kick" descr="assets/a2_k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6400800" cy="182880"/>
          </a:xfrm>
          <a:prstGeom prst="rect">
            <a:avLst/>
          </a:prstGeom>
        </p:spPr>
      </p:pic>
      <p:pic>
        <p:nvPicPr>
          <p:cNvPr id="6" name="s20_title" descr="assets/a2_t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4415246" cy="475488"/>
          </a:xfrm>
          <a:prstGeom prst="rect">
            <a:avLst/>
          </a:prstGeom>
        </p:spPr>
      </p:pic>
      <p:sp>
        <p:nvSpPr>
          <p:cNvPr id="7" name="s20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 in opencode + pi</a:t>
            </a:r>
            <a:endParaRPr lang="en-US" sz="1100" dirty="0"/>
          </a:p>
        </p:txBody>
      </p:sp>
      <p:sp>
        <p:nvSpPr>
          <p:cNvPr id="8" name="s20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27</a:t>
            </a:r>
            <a:endParaRPr lang="en-US" sz="950" dirty="0"/>
          </a:p>
        </p:txBody>
      </p:sp>
      <p:sp>
        <p:nvSpPr>
          <p:cNvPr id="10" name="s20_c0_sh"/>
          <p:cNvSpPr/>
          <p:nvPr/>
        </p:nvSpPr>
        <p:spPr>
          <a:xfrm>
            <a:off x="553212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20_c0"/>
          <p:cNvSpPr/>
          <p:nvPr/>
        </p:nvSpPr>
        <p:spPr>
          <a:xfrm>
            <a:off x="502920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20_c0_sq"/>
          <p:cNvSpPr/>
          <p:nvPr/>
        </p:nvSpPr>
        <p:spPr>
          <a:xfrm>
            <a:off x="758952" y="1828800"/>
            <a:ext cx="146304" cy="14630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3" name="s20_c0_nm"/>
          <p:cNvSpPr/>
          <p:nvPr/>
        </p:nvSpPr>
        <p:spPr>
          <a:xfrm>
            <a:off x="1033272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500" dirty="0"/>
          </a:p>
        </p:txBody>
      </p:sp>
      <p:sp>
        <p:nvSpPr>
          <p:cNvPr id="14" name="s20_c0_pn"/>
          <p:cNvSpPr/>
          <p:nvPr/>
        </p:nvSpPr>
        <p:spPr>
          <a:xfrm>
            <a:off x="731520" y="2267712"/>
            <a:ext cx="5020056" cy="3191256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15" name="s20_c0_wl"/>
          <p:cNvSpPr/>
          <p:nvPr/>
        </p:nvSpPr>
        <p:spPr>
          <a:xfrm>
            <a:off x="932688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16" name="s20_c0_wt"/>
          <p:cNvSpPr/>
          <p:nvPr/>
        </p:nvSpPr>
        <p:spPr>
          <a:xfrm>
            <a:off x="932688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uses its own JSON schema (two dialects, v1 and v2)</a:t>
            </a:r>
            <a:endParaRPr lang="en-US" sz="1150" dirty="0"/>
          </a:p>
        </p:txBody>
      </p:sp>
      <p:sp>
        <p:nvSpPr>
          <p:cNvPr id="17" name="s20_c0_hr"/>
          <p:cNvSpPr/>
          <p:nvPr/>
        </p:nvSpPr>
        <p:spPr>
          <a:xfrm>
            <a:off x="932688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20_c0_gl"/>
          <p:cNvSpPr/>
          <p:nvPr/>
        </p:nvSpPr>
        <p:spPr>
          <a:xfrm>
            <a:off x="932688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19" name="s20_c0_wh"/>
          <p:cNvSpPr/>
          <p:nvPr/>
        </p:nvSpPr>
        <p:spPr>
          <a:xfrm>
            <a:off x="932688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opencode.json</a:t>
            </a:r>
            <a:endParaRPr lang="en-US" sz="1150" dirty="0"/>
          </a:p>
        </p:txBody>
      </p:sp>
      <p:sp>
        <p:nvSpPr>
          <p:cNvPr id="20" name="s20_c1_sh"/>
          <p:cNvSpPr/>
          <p:nvPr/>
        </p:nvSpPr>
        <p:spPr>
          <a:xfrm>
            <a:off x="6259068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20_c1"/>
          <p:cNvSpPr/>
          <p:nvPr/>
        </p:nvSpPr>
        <p:spPr>
          <a:xfrm>
            <a:off x="6208776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20_c1_sq"/>
          <p:cNvSpPr/>
          <p:nvPr/>
        </p:nvSpPr>
        <p:spPr>
          <a:xfrm>
            <a:off x="6464808" y="1828800"/>
            <a:ext cx="146304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20_c1_nm"/>
          <p:cNvSpPr/>
          <p:nvPr/>
        </p:nvSpPr>
        <p:spPr>
          <a:xfrm>
            <a:off x="6739128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500" dirty="0"/>
          </a:p>
        </p:txBody>
      </p:sp>
      <p:sp>
        <p:nvSpPr>
          <p:cNvPr id="24" name="s20_c1_pn"/>
          <p:cNvSpPr/>
          <p:nvPr/>
        </p:nvSpPr>
        <p:spPr>
          <a:xfrm>
            <a:off x="6437376" y="2267712"/>
            <a:ext cx="5020056" cy="3191256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25" name="s20_c1_wl"/>
          <p:cNvSpPr/>
          <p:nvPr/>
        </p:nvSpPr>
        <p:spPr>
          <a:xfrm>
            <a:off x="6638544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26" name="s20_c1_wt"/>
          <p:cNvSpPr/>
          <p:nvPr/>
        </p:nvSpPr>
        <p:spPr>
          <a:xfrm>
            <a:off x="6638544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takes the mcpServers JSON verbatim — no changes</a:t>
            </a:r>
            <a:endParaRPr lang="en-US" sz="1150" dirty="0"/>
          </a:p>
        </p:txBody>
      </p:sp>
      <p:sp>
        <p:nvSpPr>
          <p:cNvPr id="27" name="s20_c1_hr"/>
          <p:cNvSpPr/>
          <p:nvPr/>
        </p:nvSpPr>
        <p:spPr>
          <a:xfrm>
            <a:off x="6638544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20_c1_gl"/>
          <p:cNvSpPr/>
          <p:nvPr/>
        </p:nvSpPr>
        <p:spPr>
          <a:xfrm>
            <a:off x="6638544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9" name="s20_c1_wh"/>
          <p:cNvSpPr/>
          <p:nvPr/>
        </p:nvSpPr>
        <p:spPr>
          <a:xfrm>
            <a:off x="6638544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.pi/settings.json</a:t>
            </a:r>
            <a:endParaRPr lang="en-US" sz="1150" dirty="0"/>
          </a:p>
        </p:txBody>
      </p:sp>
      <p:sp>
        <p:nvSpPr>
          <p:cNvPr id="30" name="s20_core_sh"/>
          <p:cNvSpPr/>
          <p:nvPr/>
        </p:nvSpPr>
        <p:spPr>
          <a:xfrm>
            <a:off x="553212" y="5993892"/>
            <a:ext cx="11183112" cy="502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20_core"/>
          <p:cNvSpPr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20_core_sq"/>
          <p:cNvSpPr/>
          <p:nvPr/>
        </p:nvSpPr>
        <p:spPr>
          <a:xfrm>
            <a:off x="777240" y="6140196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3" name="s20_core_lab"/>
          <p:cNvSpPr/>
          <p:nvPr/>
        </p:nvSpPr>
        <p:spPr>
          <a:xfrm>
            <a:off x="1024128" y="5943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CORE</a:t>
            </a:r>
            <a:endParaRPr lang="en-US" sz="900" dirty="0"/>
          </a:p>
        </p:txBody>
      </p:sp>
      <p:sp>
        <p:nvSpPr>
          <p:cNvPr id="34" name="s20_core_t"/>
          <p:cNvSpPr/>
          <p:nvPr/>
        </p:nvSpPr>
        <p:spPr>
          <a:xfrm>
            <a:off x="2514600" y="594360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four connect the same servers, only the config format differs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1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1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1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21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27</a:t>
            </a:r>
            <a:endParaRPr lang="en-US" sz="950" dirty="0"/>
          </a:p>
        </p:txBody>
      </p:sp>
      <p:pic>
        <p:nvPicPr>
          <p:cNvPr id="7" name="s21_word" descr="assets/a2_hero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7269480" cy="960120"/>
          </a:xfrm>
          <a:prstGeom prst="rect">
            <a:avLst/>
          </a:prstGeom>
        </p:spPr>
      </p:pic>
      <p:sp>
        <p:nvSpPr>
          <p:cNvPr id="8" name="s21_d0"/>
          <p:cNvSpPr/>
          <p:nvPr/>
        </p:nvSpPr>
        <p:spPr>
          <a:xfrm>
            <a:off x="502920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9" name="s21_d1"/>
          <p:cNvSpPr/>
          <p:nvPr/>
        </p:nvSpPr>
        <p:spPr>
          <a:xfrm>
            <a:off x="658368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21_d2"/>
          <p:cNvSpPr/>
          <p:nvPr/>
        </p:nvSpPr>
        <p:spPr>
          <a:xfrm>
            <a:off x="813816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21_d3"/>
          <p:cNvSpPr/>
          <p:nvPr/>
        </p:nvSpPr>
        <p:spPr>
          <a:xfrm>
            <a:off x="969264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2" name="s21_d4"/>
          <p:cNvSpPr/>
          <p:nvPr/>
        </p:nvSpPr>
        <p:spPr>
          <a:xfrm>
            <a:off x="1124712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s21_d5"/>
          <p:cNvSpPr/>
          <p:nvPr/>
        </p:nvSpPr>
        <p:spPr>
          <a:xfrm>
            <a:off x="1280160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21_d6"/>
          <p:cNvSpPr/>
          <p:nvPr/>
        </p:nvSpPr>
        <p:spPr>
          <a:xfrm>
            <a:off x="1435608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5" name="s21_d7"/>
          <p:cNvSpPr/>
          <p:nvPr/>
        </p:nvSpPr>
        <p:spPr>
          <a:xfrm>
            <a:off x="1591056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21_d8"/>
          <p:cNvSpPr/>
          <p:nvPr/>
        </p:nvSpPr>
        <p:spPr>
          <a:xfrm>
            <a:off x="1746504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21_d9"/>
          <p:cNvSpPr/>
          <p:nvPr/>
        </p:nvSpPr>
        <p:spPr>
          <a:xfrm>
            <a:off x="1901952" y="320040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s21_d10"/>
          <p:cNvSpPr/>
          <p:nvPr/>
        </p:nvSpPr>
        <p:spPr>
          <a:xfrm>
            <a:off x="2057400" y="320040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21_d11"/>
          <p:cNvSpPr/>
          <p:nvPr/>
        </p:nvSpPr>
        <p:spPr>
          <a:xfrm>
            <a:off x="2212848" y="3200400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21_b0"/>
          <p:cNvSpPr/>
          <p:nvPr/>
        </p:nvSpPr>
        <p:spPr>
          <a:xfrm>
            <a:off x="502920" y="3858768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1" name="s21_bt0"/>
          <p:cNvSpPr/>
          <p:nvPr/>
        </p:nvSpPr>
        <p:spPr>
          <a:xfrm>
            <a:off x="795528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1) specification</a:t>
            </a:r>
            <a:endParaRPr lang="en-US" sz="1300" dirty="0"/>
          </a:p>
        </p:txBody>
      </p:sp>
      <p:sp>
        <p:nvSpPr>
          <p:cNvPr id="22" name="s21_b1"/>
          <p:cNvSpPr/>
          <p:nvPr/>
        </p:nvSpPr>
        <p:spPr>
          <a:xfrm>
            <a:off x="502920" y="4297680"/>
            <a:ext cx="118872" cy="1188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21_bt1"/>
          <p:cNvSpPr/>
          <p:nvPr/>
        </p:nvSpPr>
        <p:spPr>
          <a:xfrm>
            <a:off x="795528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2) claude + codex</a:t>
            </a:r>
            <a:endParaRPr lang="en-US" sz="1300" dirty="0"/>
          </a:p>
        </p:txBody>
      </p:sp>
      <p:sp>
        <p:nvSpPr>
          <p:cNvPr id="24" name="s21_b2"/>
          <p:cNvSpPr/>
          <p:nvPr/>
        </p:nvSpPr>
        <p:spPr>
          <a:xfrm>
            <a:off x="502920" y="4736592"/>
            <a:ext cx="118872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21_bt2"/>
          <p:cNvSpPr/>
          <p:nvPr/>
        </p:nvSpPr>
        <p:spPr>
          <a:xfrm>
            <a:off x="795528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3) opencode + pi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2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2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2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2_kick" descr="assets/a2_k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4676503" cy="182880"/>
          </a:xfrm>
          <a:prstGeom prst="rect">
            <a:avLst/>
          </a:prstGeom>
        </p:spPr>
      </p:pic>
      <p:pic>
        <p:nvPicPr>
          <p:cNvPr id="6" name="s22_title" descr="assets/a2_t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3600123" cy="475488"/>
          </a:xfrm>
          <a:prstGeom prst="rect">
            <a:avLst/>
          </a:prstGeom>
        </p:spPr>
      </p:pic>
      <p:sp>
        <p:nvSpPr>
          <p:cNvPr id="7" name="s22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spec itself defines — commonality only</a:t>
            </a:r>
            <a:endParaRPr lang="en-US" sz="1100" dirty="0"/>
          </a:p>
        </p:txBody>
      </p:sp>
      <p:sp>
        <p:nvSpPr>
          <p:cNvPr id="8" name="s22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27</a:t>
            </a:r>
            <a:endParaRPr lang="en-US" sz="950" dirty="0"/>
          </a:p>
        </p:txBody>
      </p:sp>
      <p:sp>
        <p:nvSpPr>
          <p:cNvPr id="9" name="s22_plate_sh"/>
          <p:cNvSpPr/>
          <p:nvPr/>
        </p:nvSpPr>
        <p:spPr>
          <a:xfrm>
            <a:off x="8828532" y="342900"/>
            <a:ext cx="2212848" cy="98755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22_plate"/>
          <p:cNvSpPr/>
          <p:nvPr/>
        </p:nvSpPr>
        <p:spPr>
          <a:xfrm>
            <a:off x="8778240" y="292608"/>
            <a:ext cx="2212848" cy="98755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1" name="s22_plate_img" descr="assets/a2_sp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530352"/>
            <a:ext cx="1682496" cy="512064"/>
          </a:xfrm>
          <a:prstGeom prst="rect">
            <a:avLst/>
          </a:prstGeom>
        </p:spPr>
      </p:pic>
      <p:sp>
        <p:nvSpPr>
          <p:cNvPr id="13" name="s22_fmt_sh"/>
          <p:cNvSpPr/>
          <p:nvPr/>
        </p:nvSpPr>
        <p:spPr>
          <a:xfrm>
            <a:off x="553212" y="1531620"/>
            <a:ext cx="5669280" cy="2377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s22_fmt"/>
          <p:cNvSpPr/>
          <p:nvPr/>
        </p:nvSpPr>
        <p:spPr>
          <a:xfrm>
            <a:off x="502920" y="1481328"/>
            <a:ext cx="5669280" cy="23774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5" name="s22_fb"/>
          <p:cNvSpPr/>
          <p:nvPr/>
        </p:nvSpPr>
        <p:spPr>
          <a:xfrm>
            <a:off x="777240" y="1645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1000" dirty="0"/>
          </a:p>
        </p:txBody>
      </p:sp>
      <p:sp>
        <p:nvSpPr>
          <p:cNvPr id="16" name="s22_f0_sq"/>
          <p:cNvSpPr/>
          <p:nvPr/>
        </p:nvSpPr>
        <p:spPr>
          <a:xfrm>
            <a:off x="777240" y="2029968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7" name="s22_f0_t"/>
          <p:cNvSpPr/>
          <p:nvPr/>
        </p:nvSpPr>
        <p:spPr>
          <a:xfrm>
            <a:off x="1014984" y="197510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 Markdown "README for agents" at repo root — nested allowed, nearest file to the edited file wins, explicit prompts override</a:t>
            </a:r>
            <a:endParaRPr lang="en-US" sz="1050" dirty="0"/>
          </a:p>
        </p:txBody>
      </p:sp>
      <p:sp>
        <p:nvSpPr>
          <p:cNvPr id="18" name="s22_f1_sq"/>
          <p:cNvSpPr/>
          <p:nvPr/>
        </p:nvSpPr>
        <p:spPr>
          <a:xfrm>
            <a:off x="777240" y="292608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9" name="s22_f1_t"/>
          <p:cNvSpPr/>
          <p:nvPr/>
        </p:nvSpPr>
        <p:spPr>
          <a:xfrm>
            <a:off x="1014984" y="287121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schema, no frontmatter, no required fields ("just standard Markdown")</a:t>
            </a:r>
            <a:endParaRPr lang="en-US" sz="1050" dirty="0"/>
          </a:p>
        </p:txBody>
      </p:sp>
      <p:sp>
        <p:nvSpPr>
          <p:cNvPr id="20" name="s22_rel_sh"/>
          <p:cNvSpPr/>
          <p:nvPr/>
        </p:nvSpPr>
        <p:spPr>
          <a:xfrm>
            <a:off x="553212" y="4046220"/>
            <a:ext cx="5669280" cy="17099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22_rel"/>
          <p:cNvSpPr/>
          <p:nvPr/>
        </p:nvSpPr>
        <p:spPr>
          <a:xfrm>
            <a:off x="502920" y="3995928"/>
            <a:ext cx="5669280" cy="1709928"/>
          </a:xfrm>
          <a:prstGeom prst="rect">
            <a:avLst/>
          </a:prstGeom>
          <a:solidFill>
            <a:srgbClr val="FBEED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22_rb"/>
          <p:cNvSpPr/>
          <p:nvPr/>
        </p:nvSpPr>
        <p:spPr>
          <a:xfrm>
            <a:off x="777240" y="4160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RELATED</a:t>
            </a:r>
            <a:endParaRPr lang="en-US" sz="1000" dirty="0"/>
          </a:p>
        </p:txBody>
      </p:sp>
      <p:sp>
        <p:nvSpPr>
          <p:cNvPr id="23" name="s22_r0_sq"/>
          <p:cNvSpPr/>
          <p:nvPr/>
        </p:nvSpPr>
        <p:spPr>
          <a:xfrm>
            <a:off x="777240" y="4535424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22_r0_t"/>
          <p:cNvSpPr/>
          <p:nvPr/>
        </p:nvSpPr>
        <p:spPr>
          <a:xfrm>
            <a:off x="1014984" y="448056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.agents/ folder = proposal only (issue #71 open since Sep 2025) — not ratified; Claude Code declined it (#66352 not_planned)</a:t>
            </a:r>
            <a:endParaRPr lang="en-US" sz="950" dirty="0"/>
          </a:p>
        </p:txBody>
      </p:sp>
      <p:sp>
        <p:nvSpPr>
          <p:cNvPr id="25" name="s22_sa_sh"/>
          <p:cNvSpPr/>
          <p:nvPr/>
        </p:nvSpPr>
        <p:spPr>
          <a:xfrm>
            <a:off x="6451092" y="1531620"/>
            <a:ext cx="5285232" cy="4224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6" name="s22_sa"/>
          <p:cNvSpPr/>
          <p:nvPr/>
        </p:nvSpPr>
        <p:spPr>
          <a:xfrm>
            <a:off x="6400800" y="1481328"/>
            <a:ext cx="5285232" cy="422452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7" name="s22_sb"/>
          <p:cNvSpPr/>
          <p:nvPr/>
        </p:nvSpPr>
        <p:spPr>
          <a:xfrm>
            <a:off x="6675120" y="1645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STEWARDSHIP + ADOPTION</a:t>
            </a:r>
            <a:endParaRPr lang="en-US" sz="1000" dirty="0"/>
          </a:p>
        </p:txBody>
      </p:sp>
      <p:sp>
        <p:nvSpPr>
          <p:cNvPr id="28" name="s22_s0_sq"/>
          <p:cNvSpPr/>
          <p:nvPr/>
        </p:nvSpPr>
        <p:spPr>
          <a:xfrm>
            <a:off x="6675120" y="2066544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9" name="s22_s0_t"/>
          <p:cNvSpPr/>
          <p:nvPr/>
        </p:nvSpPr>
        <p:spPr>
          <a:xfrm>
            <a:off x="6912864" y="20116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Emerged from Codex, Amp, Jules, Cursor, Factory · contributed by OpenAI to AAIF (Linux Foundation) Dec 2025 — the only standard of the four with a foundation home</a:t>
            </a:r>
            <a:endParaRPr lang="en-US" sz="1000" dirty="0"/>
          </a:p>
        </p:txBody>
      </p:sp>
      <p:sp>
        <p:nvSpPr>
          <p:cNvPr id="30" name="s22_shr"/>
          <p:cNvSpPr/>
          <p:nvPr/>
        </p:nvSpPr>
        <p:spPr>
          <a:xfrm>
            <a:off x="6675120" y="3246120"/>
            <a:ext cx="47091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1" name="s22_big"/>
          <p:cNvSpPr/>
          <p:nvPr/>
        </p:nvSpPr>
        <p:spPr>
          <a:xfrm>
            <a:off x="6675120" y="3520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60k+ repos · ~24 agents listed</a:t>
            </a:r>
            <a:endParaRPr lang="en-US" sz="1600" dirty="0"/>
          </a:p>
        </p:txBody>
      </p:sp>
      <p:sp>
        <p:nvSpPr>
          <p:cNvPr id="32" name="s22_src"/>
          <p:cNvSpPr/>
          <p:nvPr/>
        </p:nvSpPr>
        <p:spPr>
          <a:xfrm>
            <a:off x="502920" y="647395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— verified 2026-10-16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3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3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3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3_kick" descr="assets/a2_k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6244046" cy="182880"/>
          </a:xfrm>
          <a:prstGeom prst="rect">
            <a:avLst/>
          </a:prstGeom>
        </p:spPr>
      </p:pic>
      <p:pic>
        <p:nvPicPr>
          <p:cNvPr id="6" name="s23_title" descr="assets/a2_t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3600123" cy="475488"/>
          </a:xfrm>
          <a:prstGeom prst="rect">
            <a:avLst/>
          </a:prstGeom>
        </p:spPr>
      </p:pic>
      <p:sp>
        <p:nvSpPr>
          <p:cNvPr id="7" name="s23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agents.md in claude code + codex</a:t>
            </a:r>
            <a:endParaRPr lang="en-US" sz="1100" dirty="0"/>
          </a:p>
        </p:txBody>
      </p:sp>
      <p:sp>
        <p:nvSpPr>
          <p:cNvPr id="8" name="s23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27</a:t>
            </a:r>
            <a:endParaRPr lang="en-US" sz="950" dirty="0"/>
          </a:p>
        </p:txBody>
      </p:sp>
      <p:sp>
        <p:nvSpPr>
          <p:cNvPr id="10" name="s23_c0_sh"/>
          <p:cNvSpPr/>
          <p:nvPr/>
        </p:nvSpPr>
        <p:spPr>
          <a:xfrm>
            <a:off x="553212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23_c0"/>
          <p:cNvSpPr/>
          <p:nvPr/>
        </p:nvSpPr>
        <p:spPr>
          <a:xfrm>
            <a:off x="502920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23_c0_sq"/>
          <p:cNvSpPr/>
          <p:nvPr/>
        </p:nvSpPr>
        <p:spPr>
          <a:xfrm>
            <a:off x="758952" y="18288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23_c0_nm"/>
          <p:cNvSpPr/>
          <p:nvPr/>
        </p:nvSpPr>
        <p:spPr>
          <a:xfrm>
            <a:off x="1033272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4" name="s23_c0_pn"/>
          <p:cNvSpPr/>
          <p:nvPr/>
        </p:nvSpPr>
        <p:spPr>
          <a:xfrm>
            <a:off x="731520" y="2267712"/>
            <a:ext cx="5020056" cy="3191256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15" name="s23_c0_wl"/>
          <p:cNvSpPr/>
          <p:nvPr/>
        </p:nvSpPr>
        <p:spPr>
          <a:xfrm>
            <a:off x="932688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16" name="s23_c0_wt"/>
          <p:cNvSpPr/>
          <p:nvPr/>
        </p:nvSpPr>
        <p:spPr>
          <a:xfrm>
            <a:off x="932688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only reads AGENTS.md when there is no CLAUDE.md — a CLAUDE.md always wins</a:t>
            </a:r>
            <a:endParaRPr lang="en-US" sz="1150" dirty="0"/>
          </a:p>
        </p:txBody>
      </p:sp>
      <p:sp>
        <p:nvSpPr>
          <p:cNvPr id="17" name="s23_c0_hr"/>
          <p:cNvSpPr/>
          <p:nvPr/>
        </p:nvSpPr>
        <p:spPr>
          <a:xfrm>
            <a:off x="932688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23_c0_gl"/>
          <p:cNvSpPr/>
          <p:nvPr/>
        </p:nvSpPr>
        <p:spPr>
          <a:xfrm>
            <a:off x="932688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19" name="s23_c0_wh"/>
          <p:cNvSpPr/>
          <p:nvPr/>
        </p:nvSpPr>
        <p:spPr>
          <a:xfrm>
            <a:off x="932688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at repo root</a:t>
            </a:r>
            <a:endParaRPr lang="en-US" sz="1150" dirty="0"/>
          </a:p>
        </p:txBody>
      </p:sp>
      <p:sp>
        <p:nvSpPr>
          <p:cNvPr id="20" name="s23_c1_sh"/>
          <p:cNvSpPr/>
          <p:nvPr/>
        </p:nvSpPr>
        <p:spPr>
          <a:xfrm>
            <a:off x="6259068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23_c1"/>
          <p:cNvSpPr/>
          <p:nvPr/>
        </p:nvSpPr>
        <p:spPr>
          <a:xfrm>
            <a:off x="6208776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23_c1_sq"/>
          <p:cNvSpPr/>
          <p:nvPr/>
        </p:nvSpPr>
        <p:spPr>
          <a:xfrm>
            <a:off x="6464808" y="1828800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23_c1_nm"/>
          <p:cNvSpPr/>
          <p:nvPr/>
        </p:nvSpPr>
        <p:spPr>
          <a:xfrm>
            <a:off x="6739128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500" dirty="0"/>
          </a:p>
        </p:txBody>
      </p:sp>
      <p:sp>
        <p:nvSpPr>
          <p:cNvPr id="24" name="s23_c1_pn"/>
          <p:cNvSpPr/>
          <p:nvPr/>
        </p:nvSpPr>
        <p:spPr>
          <a:xfrm>
            <a:off x="6437376" y="2267712"/>
            <a:ext cx="5020056" cy="3191256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25" name="s23_c1_wl"/>
          <p:cNvSpPr/>
          <p:nvPr/>
        </p:nvSpPr>
        <p:spPr>
          <a:xfrm>
            <a:off x="6638544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26" name="s23_c1_wt"/>
          <p:cNvSpPr/>
          <p:nvPr/>
        </p:nvSpPr>
        <p:spPr>
          <a:xfrm>
            <a:off x="6638544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supports it natively, also reads a global one in ~/.codex, and caps it at 32 KiB</a:t>
            </a:r>
            <a:endParaRPr lang="en-US" sz="1150" dirty="0"/>
          </a:p>
        </p:txBody>
      </p:sp>
      <p:sp>
        <p:nvSpPr>
          <p:cNvPr id="27" name="s23_c1_hr"/>
          <p:cNvSpPr/>
          <p:nvPr/>
        </p:nvSpPr>
        <p:spPr>
          <a:xfrm>
            <a:off x="6638544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23_c1_gl"/>
          <p:cNvSpPr/>
          <p:nvPr/>
        </p:nvSpPr>
        <p:spPr>
          <a:xfrm>
            <a:off x="6638544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9" name="s23_c1_wh"/>
          <p:cNvSpPr/>
          <p:nvPr/>
        </p:nvSpPr>
        <p:spPr>
          <a:xfrm>
            <a:off x="6638544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· ~/.codex/AGENTS.md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4_kick" descr="assets/a2_k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6087291" cy="182880"/>
          </a:xfrm>
          <a:prstGeom prst="rect">
            <a:avLst/>
          </a:prstGeom>
        </p:spPr>
      </p:pic>
      <p:pic>
        <p:nvPicPr>
          <p:cNvPr id="6" name="s24_title" descr="assets/a2_t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3600123" cy="475488"/>
          </a:xfrm>
          <a:prstGeom prst="rect">
            <a:avLst/>
          </a:prstGeom>
        </p:spPr>
      </p:pic>
      <p:sp>
        <p:nvSpPr>
          <p:cNvPr id="7" name="s24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agents.md in opencode + pi</a:t>
            </a:r>
            <a:endParaRPr lang="en-US" sz="1100" dirty="0"/>
          </a:p>
        </p:txBody>
      </p:sp>
      <p:sp>
        <p:nvSpPr>
          <p:cNvPr id="8" name="s2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27</a:t>
            </a:r>
            <a:endParaRPr lang="en-US" sz="950" dirty="0"/>
          </a:p>
        </p:txBody>
      </p:sp>
      <p:sp>
        <p:nvSpPr>
          <p:cNvPr id="10" name="s24_c0_sh"/>
          <p:cNvSpPr/>
          <p:nvPr/>
        </p:nvSpPr>
        <p:spPr>
          <a:xfrm>
            <a:off x="553212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24_c0"/>
          <p:cNvSpPr/>
          <p:nvPr/>
        </p:nvSpPr>
        <p:spPr>
          <a:xfrm>
            <a:off x="502920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24_c0_sq"/>
          <p:cNvSpPr/>
          <p:nvPr/>
        </p:nvSpPr>
        <p:spPr>
          <a:xfrm>
            <a:off x="758952" y="1828800"/>
            <a:ext cx="146304" cy="14630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3" name="s24_c0_nm"/>
          <p:cNvSpPr/>
          <p:nvPr/>
        </p:nvSpPr>
        <p:spPr>
          <a:xfrm>
            <a:off x="1033272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500" dirty="0"/>
          </a:p>
        </p:txBody>
      </p:sp>
      <p:sp>
        <p:nvSpPr>
          <p:cNvPr id="14" name="s24_c0_pn"/>
          <p:cNvSpPr/>
          <p:nvPr/>
        </p:nvSpPr>
        <p:spPr>
          <a:xfrm>
            <a:off x="731520" y="2267712"/>
            <a:ext cx="5020056" cy="3191256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15" name="s24_c0_wl"/>
          <p:cNvSpPr/>
          <p:nvPr/>
        </p:nvSpPr>
        <p:spPr>
          <a:xfrm>
            <a:off x="932688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16" name="s24_c0_wt"/>
          <p:cNvSpPr/>
          <p:nvPr/>
        </p:nvSpPr>
        <p:spPr>
          <a:xfrm>
            <a:off x="932688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supports it natively — AGENTS.md is its primary rules file, CLAUDE.md is the fallback</a:t>
            </a:r>
            <a:endParaRPr lang="en-US" sz="1150" dirty="0"/>
          </a:p>
        </p:txBody>
      </p:sp>
      <p:sp>
        <p:nvSpPr>
          <p:cNvPr id="17" name="s24_c0_hr"/>
          <p:cNvSpPr/>
          <p:nvPr/>
        </p:nvSpPr>
        <p:spPr>
          <a:xfrm>
            <a:off x="932688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24_c0_gl"/>
          <p:cNvSpPr/>
          <p:nvPr/>
        </p:nvSpPr>
        <p:spPr>
          <a:xfrm>
            <a:off x="932688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19" name="s24_c0_wh"/>
          <p:cNvSpPr/>
          <p:nvPr/>
        </p:nvSpPr>
        <p:spPr>
          <a:xfrm>
            <a:off x="932688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(root + nested)</a:t>
            </a:r>
            <a:endParaRPr lang="en-US" sz="1150" dirty="0"/>
          </a:p>
        </p:txBody>
      </p:sp>
      <p:sp>
        <p:nvSpPr>
          <p:cNvPr id="20" name="s24_c1_sh"/>
          <p:cNvSpPr/>
          <p:nvPr/>
        </p:nvSpPr>
        <p:spPr>
          <a:xfrm>
            <a:off x="6259068" y="1604772"/>
            <a:ext cx="5477256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24_c1"/>
          <p:cNvSpPr/>
          <p:nvPr/>
        </p:nvSpPr>
        <p:spPr>
          <a:xfrm>
            <a:off x="6208776" y="1554480"/>
            <a:ext cx="5477256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24_c1_sq"/>
          <p:cNvSpPr/>
          <p:nvPr/>
        </p:nvSpPr>
        <p:spPr>
          <a:xfrm>
            <a:off x="6464808" y="1828800"/>
            <a:ext cx="146304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24_c1_nm"/>
          <p:cNvSpPr/>
          <p:nvPr/>
        </p:nvSpPr>
        <p:spPr>
          <a:xfrm>
            <a:off x="6739128" y="1755648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500" dirty="0"/>
          </a:p>
        </p:txBody>
      </p:sp>
      <p:sp>
        <p:nvSpPr>
          <p:cNvPr id="24" name="s24_c1_pn"/>
          <p:cNvSpPr/>
          <p:nvPr/>
        </p:nvSpPr>
        <p:spPr>
          <a:xfrm>
            <a:off x="6437376" y="2267712"/>
            <a:ext cx="5020056" cy="3191256"/>
          </a:xfrm>
          <a:prstGeom prst="rect">
            <a:avLst/>
          </a:prstGeom>
          <a:solidFill>
            <a:srgbClr val="EFE9FB"/>
          </a:solidFill>
          <a:ln/>
        </p:spPr>
      </p:sp>
      <p:sp>
        <p:nvSpPr>
          <p:cNvPr id="25" name="s24_c1_wl"/>
          <p:cNvSpPr/>
          <p:nvPr/>
        </p:nvSpPr>
        <p:spPr>
          <a:xfrm>
            <a:off x="6638544" y="24140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</a:t>
            </a:r>
            <a:endParaRPr lang="en-US" sz="850" dirty="0"/>
          </a:p>
        </p:txBody>
      </p:sp>
      <p:sp>
        <p:nvSpPr>
          <p:cNvPr id="26" name="s24_c1_wt"/>
          <p:cNvSpPr/>
          <p:nvPr/>
        </p:nvSpPr>
        <p:spPr>
          <a:xfrm>
            <a:off x="6638544" y="270662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supports it natively — reads AGENTS.md from the working folder and every parent folder</a:t>
            </a:r>
            <a:endParaRPr lang="en-US" sz="1150" dirty="0"/>
          </a:p>
        </p:txBody>
      </p:sp>
      <p:sp>
        <p:nvSpPr>
          <p:cNvPr id="27" name="s24_c1_hr"/>
          <p:cNvSpPr/>
          <p:nvPr/>
        </p:nvSpPr>
        <p:spPr>
          <a:xfrm>
            <a:off x="6638544" y="4279392"/>
            <a:ext cx="461772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24_c1_gl"/>
          <p:cNvSpPr/>
          <p:nvPr/>
        </p:nvSpPr>
        <p:spPr>
          <a:xfrm>
            <a:off x="6638544" y="4443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850" dirty="0"/>
          </a:p>
        </p:txBody>
      </p:sp>
      <p:sp>
        <p:nvSpPr>
          <p:cNvPr id="29" name="s24_c1_wh"/>
          <p:cNvSpPr/>
          <p:nvPr/>
        </p:nvSpPr>
        <p:spPr>
          <a:xfrm>
            <a:off x="6638544" y="47183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/ CLAUDE.md</a:t>
            </a:r>
            <a:endParaRPr lang="en-US" sz="1150" dirty="0"/>
          </a:p>
        </p:txBody>
      </p:sp>
      <p:sp>
        <p:nvSpPr>
          <p:cNvPr id="30" name="s24_core_sh"/>
          <p:cNvSpPr/>
          <p:nvPr/>
        </p:nvSpPr>
        <p:spPr>
          <a:xfrm>
            <a:off x="553212" y="5993892"/>
            <a:ext cx="11183112" cy="502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24_core"/>
          <p:cNvSpPr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2" name="s24_core_sq"/>
          <p:cNvSpPr/>
          <p:nvPr/>
        </p:nvSpPr>
        <p:spPr>
          <a:xfrm>
            <a:off x="777240" y="6140196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3" name="s24_core_lab"/>
          <p:cNvSpPr/>
          <p:nvPr/>
        </p:nvSpPr>
        <p:spPr>
          <a:xfrm>
            <a:off x="1024128" y="5943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CORE</a:t>
            </a:r>
            <a:endParaRPr lang="en-US" sz="900" dirty="0"/>
          </a:p>
        </p:txBody>
      </p:sp>
      <p:sp>
        <p:nvSpPr>
          <p:cNvPr id="34" name="s24_core_t"/>
          <p:cNvSpPr/>
          <p:nvPr/>
        </p:nvSpPr>
        <p:spPr>
          <a:xfrm>
            <a:off x="2514600" y="594360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as the instruction file for all four — emit a CLAUDE.md pointer for claude code users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5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5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5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5_kick" descr="assets/a2_k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2325189" cy="182880"/>
          </a:xfrm>
          <a:prstGeom prst="rect">
            <a:avLst/>
          </a:prstGeom>
        </p:spPr>
      </p:pic>
      <p:pic>
        <p:nvPicPr>
          <p:cNvPr id="6" name="s25_title" descr="assets/a2_t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8368"/>
            <a:ext cx="8083296" cy="475488"/>
          </a:xfrm>
          <a:prstGeom prst="rect">
            <a:avLst/>
          </a:prstGeom>
        </p:spPr>
      </p:pic>
      <p:sp>
        <p:nvSpPr>
          <p:cNvPr id="7" name="s25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27</a:t>
            </a:r>
            <a:endParaRPr lang="en-US" sz="950" dirty="0"/>
          </a:p>
        </p:txBody>
      </p:sp>
      <p:sp>
        <p:nvSpPr>
          <p:cNvPr id="8" name="s25_plate_sh"/>
          <p:cNvSpPr/>
          <p:nvPr/>
        </p:nvSpPr>
        <p:spPr>
          <a:xfrm>
            <a:off x="8828532" y="342900"/>
            <a:ext cx="2212848" cy="98755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s25_plate"/>
          <p:cNvSpPr/>
          <p:nvPr/>
        </p:nvSpPr>
        <p:spPr>
          <a:xfrm>
            <a:off x="8778240" y="292608"/>
            <a:ext cx="2212848" cy="98755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0" name="s25_plate_img" descr="assets/a2_sp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530352"/>
            <a:ext cx="1682496" cy="512064"/>
          </a:xfrm>
          <a:prstGeom prst="rect">
            <a:avLst/>
          </a:prstGeom>
        </p:spPr>
      </p:pic>
      <p:sp>
        <p:nvSpPr>
          <p:cNvPr id="12" name="s25_mx_sh"/>
          <p:cNvSpPr/>
          <p:nvPr/>
        </p:nvSpPr>
        <p:spPr>
          <a:xfrm>
            <a:off x="553212" y="1531620"/>
            <a:ext cx="8641080" cy="473659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" name="s25_mx"/>
          <p:cNvSpPr/>
          <p:nvPr/>
        </p:nvSpPr>
        <p:spPr>
          <a:xfrm>
            <a:off x="502920" y="1481328"/>
            <a:ext cx="8641080" cy="4736592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4" name="s25_ch0"/>
          <p:cNvSpPr/>
          <p:nvPr/>
        </p:nvSpPr>
        <p:spPr>
          <a:xfrm>
            <a:off x="777240" y="1645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800" dirty="0"/>
          </a:p>
        </p:txBody>
      </p:sp>
      <p:sp>
        <p:nvSpPr>
          <p:cNvPr id="15" name="s25_ch1"/>
          <p:cNvSpPr/>
          <p:nvPr/>
        </p:nvSpPr>
        <p:spPr>
          <a:xfrm>
            <a:off x="2971800" y="1645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</a:t>
            </a:r>
            <a:endParaRPr lang="en-US" sz="800" dirty="0"/>
          </a:p>
        </p:txBody>
      </p:sp>
      <p:sp>
        <p:nvSpPr>
          <p:cNvPr id="16" name="s25_ch2"/>
          <p:cNvSpPr/>
          <p:nvPr/>
        </p:nvSpPr>
        <p:spPr>
          <a:xfrm>
            <a:off x="6720840" y="16459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</a:t>
            </a:r>
            <a:endParaRPr lang="en-US" sz="800" dirty="0"/>
          </a:p>
        </p:txBody>
      </p:sp>
      <p:sp>
        <p:nvSpPr>
          <p:cNvPr id="17" name="s25_h0"/>
          <p:cNvSpPr/>
          <p:nvPr/>
        </p:nvSpPr>
        <p:spPr>
          <a:xfrm>
            <a:off x="777240" y="1901952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25_s0"/>
          <p:cNvSpPr/>
          <p:nvPr/>
        </p:nvSpPr>
        <p:spPr>
          <a:xfrm>
            <a:off x="777240" y="19568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950" dirty="0"/>
          </a:p>
        </p:txBody>
      </p:sp>
      <p:sp>
        <p:nvSpPr>
          <p:cNvPr id="19" name="s25_d0"/>
          <p:cNvSpPr/>
          <p:nvPr/>
        </p:nvSpPr>
        <p:spPr>
          <a:xfrm>
            <a:off x="2971800" y="2112264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0" name="s25_st0"/>
          <p:cNvSpPr/>
          <p:nvPr/>
        </p:nvSpPr>
        <p:spPr>
          <a:xfrm>
            <a:off x="3182112" y="195681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Skills</a:t>
            </a:r>
            <a:endParaRPr lang="en-US" sz="1050" dirty="0"/>
          </a:p>
        </p:txBody>
      </p:sp>
      <p:sp>
        <p:nvSpPr>
          <p:cNvPr id="21" name="s25_n0"/>
          <p:cNvSpPr/>
          <p:nvPr/>
        </p:nvSpPr>
        <p:spPr>
          <a:xfrm>
            <a:off x="6720840" y="195681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harnesses</a:t>
            </a:r>
            <a:endParaRPr lang="en-US" sz="950" dirty="0"/>
          </a:p>
        </p:txBody>
      </p:sp>
      <p:sp>
        <p:nvSpPr>
          <p:cNvPr id="22" name="s25_h1"/>
          <p:cNvSpPr/>
          <p:nvPr/>
        </p:nvSpPr>
        <p:spPr>
          <a:xfrm>
            <a:off x="777240" y="2322576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3" name="s25_s1"/>
          <p:cNvSpPr/>
          <p:nvPr/>
        </p:nvSpPr>
        <p:spPr>
          <a:xfrm>
            <a:off x="777240" y="23774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950" dirty="0"/>
          </a:p>
        </p:txBody>
      </p:sp>
      <p:sp>
        <p:nvSpPr>
          <p:cNvPr id="24" name="s25_d1"/>
          <p:cNvSpPr/>
          <p:nvPr/>
        </p:nvSpPr>
        <p:spPr>
          <a:xfrm>
            <a:off x="2971800" y="2532888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5" name="s25_st1"/>
          <p:cNvSpPr/>
          <p:nvPr/>
        </p:nvSpPr>
        <p:spPr>
          <a:xfrm>
            <a:off x="3182112" y="23774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Plugins</a:t>
            </a:r>
            <a:endParaRPr lang="en-US" sz="1050" dirty="0"/>
          </a:p>
        </p:txBody>
      </p:sp>
      <p:sp>
        <p:nvSpPr>
          <p:cNvPr id="26" name="s25_n1"/>
          <p:cNvSpPr/>
          <p:nvPr/>
        </p:nvSpPr>
        <p:spPr>
          <a:xfrm>
            <a:off x="6720840" y="237744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only follows specs</a:t>
            </a:r>
            <a:endParaRPr lang="en-US" sz="950" dirty="0"/>
          </a:p>
        </p:txBody>
      </p:sp>
      <p:sp>
        <p:nvSpPr>
          <p:cNvPr id="27" name="s25_h2"/>
          <p:cNvSpPr/>
          <p:nvPr/>
        </p:nvSpPr>
        <p:spPr>
          <a:xfrm>
            <a:off x="777240" y="2743200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25_s2"/>
          <p:cNvSpPr/>
          <p:nvPr/>
        </p:nvSpPr>
        <p:spPr>
          <a:xfrm>
            <a:off x="777240" y="27980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servers</a:t>
            </a:r>
            <a:endParaRPr lang="en-US" sz="950" dirty="0"/>
          </a:p>
        </p:txBody>
      </p:sp>
      <p:sp>
        <p:nvSpPr>
          <p:cNvPr id="29" name="s25_d2"/>
          <p:cNvSpPr/>
          <p:nvPr/>
        </p:nvSpPr>
        <p:spPr>
          <a:xfrm>
            <a:off x="2971800" y="2953512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0" name="s25_st2"/>
          <p:cNvSpPr/>
          <p:nvPr/>
        </p:nvSpPr>
        <p:spPr>
          <a:xfrm>
            <a:off x="3182112" y="279806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+ official Registry</a:t>
            </a:r>
            <a:endParaRPr lang="en-US" sz="1050" dirty="0"/>
          </a:p>
        </p:txBody>
      </p:sp>
      <p:sp>
        <p:nvSpPr>
          <p:cNvPr id="31" name="s25_n2"/>
          <p:cNvSpPr/>
          <p:nvPr/>
        </p:nvSpPr>
        <p:spPr>
          <a:xfrm>
            <a:off x="6720840" y="279806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4, format varies</a:t>
            </a:r>
            <a:endParaRPr lang="en-US" sz="950" dirty="0"/>
          </a:p>
        </p:txBody>
      </p:sp>
      <p:sp>
        <p:nvSpPr>
          <p:cNvPr id="32" name="s25_h3"/>
          <p:cNvSpPr/>
          <p:nvPr/>
        </p:nvSpPr>
        <p:spPr>
          <a:xfrm>
            <a:off x="777240" y="3163824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3" name="s25_s3"/>
          <p:cNvSpPr/>
          <p:nvPr/>
        </p:nvSpPr>
        <p:spPr>
          <a:xfrm>
            <a:off x="777240" y="32186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slash commands</a:t>
            </a:r>
            <a:endParaRPr lang="en-US" sz="950" dirty="0"/>
          </a:p>
        </p:txBody>
      </p:sp>
      <p:sp>
        <p:nvSpPr>
          <p:cNvPr id="34" name="s25_st3"/>
          <p:cNvSpPr/>
          <p:nvPr/>
        </p:nvSpPr>
        <p:spPr>
          <a:xfrm>
            <a:off x="3182112" y="321868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 standard</a:t>
            </a:r>
            <a:endParaRPr lang="en-US" sz="1050" dirty="0"/>
          </a:p>
        </p:txBody>
      </p:sp>
      <p:sp>
        <p:nvSpPr>
          <p:cNvPr id="35" name="s25_h4"/>
          <p:cNvSpPr/>
          <p:nvPr/>
        </p:nvSpPr>
        <p:spPr>
          <a:xfrm>
            <a:off x="777240" y="3584448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6" name="s25_s4"/>
          <p:cNvSpPr/>
          <p:nvPr/>
        </p:nvSpPr>
        <p:spPr>
          <a:xfrm>
            <a:off x="777240" y="36393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</a:t>
            </a:r>
            <a:endParaRPr lang="en-US" sz="950" dirty="0"/>
          </a:p>
        </p:txBody>
      </p:sp>
      <p:sp>
        <p:nvSpPr>
          <p:cNvPr id="37" name="s25_st4"/>
          <p:cNvSpPr/>
          <p:nvPr/>
        </p:nvSpPr>
        <p:spPr>
          <a:xfrm>
            <a:off x="3182112" y="363931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 standard</a:t>
            </a:r>
            <a:endParaRPr lang="en-US" sz="1050" dirty="0"/>
          </a:p>
        </p:txBody>
      </p:sp>
      <p:sp>
        <p:nvSpPr>
          <p:cNvPr id="38" name="s25_h5"/>
          <p:cNvSpPr/>
          <p:nvPr/>
        </p:nvSpPr>
        <p:spPr>
          <a:xfrm>
            <a:off x="777240" y="4005072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9" name="s25_s5"/>
          <p:cNvSpPr/>
          <p:nvPr/>
        </p:nvSpPr>
        <p:spPr>
          <a:xfrm>
            <a:off x="777240" y="40599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950" dirty="0"/>
          </a:p>
        </p:txBody>
      </p:sp>
      <p:sp>
        <p:nvSpPr>
          <p:cNvPr id="40" name="s25_st5"/>
          <p:cNvSpPr/>
          <p:nvPr/>
        </p:nvSpPr>
        <p:spPr>
          <a:xfrm>
            <a:off x="3182112" y="40599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 standard</a:t>
            </a:r>
            <a:endParaRPr lang="en-US" sz="1050" dirty="0"/>
          </a:p>
        </p:txBody>
      </p:sp>
      <p:sp>
        <p:nvSpPr>
          <p:cNvPr id="41" name="s25_h6"/>
          <p:cNvSpPr/>
          <p:nvPr/>
        </p:nvSpPr>
        <p:spPr>
          <a:xfrm>
            <a:off x="777240" y="4425696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2" name="s25_s6"/>
          <p:cNvSpPr/>
          <p:nvPr/>
        </p:nvSpPr>
        <p:spPr>
          <a:xfrm>
            <a:off x="777240" y="44805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LSP servers</a:t>
            </a:r>
            <a:endParaRPr lang="en-US" sz="950" dirty="0"/>
          </a:p>
        </p:txBody>
      </p:sp>
      <p:sp>
        <p:nvSpPr>
          <p:cNvPr id="43" name="s25_st6"/>
          <p:cNvSpPr/>
          <p:nvPr/>
        </p:nvSpPr>
        <p:spPr>
          <a:xfrm>
            <a:off x="3182112" y="448056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 standard</a:t>
            </a:r>
            <a:endParaRPr lang="en-US" sz="1050" dirty="0"/>
          </a:p>
        </p:txBody>
      </p:sp>
      <p:sp>
        <p:nvSpPr>
          <p:cNvPr id="44" name="s25_h7"/>
          <p:cNvSpPr/>
          <p:nvPr/>
        </p:nvSpPr>
        <p:spPr>
          <a:xfrm>
            <a:off x="777240" y="4846320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5" name="s25_s7"/>
          <p:cNvSpPr/>
          <p:nvPr/>
        </p:nvSpPr>
        <p:spPr>
          <a:xfrm>
            <a:off x="777240" y="4901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tools</a:t>
            </a:r>
            <a:endParaRPr lang="en-US" sz="950" dirty="0"/>
          </a:p>
        </p:txBody>
      </p:sp>
      <p:sp>
        <p:nvSpPr>
          <p:cNvPr id="46" name="s25_st7"/>
          <p:cNvSpPr/>
          <p:nvPr/>
        </p:nvSpPr>
        <p:spPr>
          <a:xfrm>
            <a:off x="3182112" y="49011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 standard</a:t>
            </a:r>
            <a:endParaRPr lang="en-US" sz="1050" dirty="0"/>
          </a:p>
        </p:txBody>
      </p:sp>
      <p:sp>
        <p:nvSpPr>
          <p:cNvPr id="47" name="s25_h8"/>
          <p:cNvSpPr/>
          <p:nvPr/>
        </p:nvSpPr>
        <p:spPr>
          <a:xfrm>
            <a:off x="777240" y="5266944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48" name="s25_s8"/>
          <p:cNvSpPr/>
          <p:nvPr/>
        </p:nvSpPr>
        <p:spPr>
          <a:xfrm>
            <a:off x="777240" y="53218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line</a:t>
            </a:r>
            <a:endParaRPr lang="en-US" sz="950" dirty="0"/>
          </a:p>
        </p:txBody>
      </p:sp>
      <p:sp>
        <p:nvSpPr>
          <p:cNvPr id="49" name="s25_st8"/>
          <p:cNvSpPr/>
          <p:nvPr/>
        </p:nvSpPr>
        <p:spPr>
          <a:xfrm>
            <a:off x="3182112" y="53218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 standard</a:t>
            </a:r>
            <a:endParaRPr lang="en-US" sz="1050" dirty="0"/>
          </a:p>
        </p:txBody>
      </p:sp>
      <p:sp>
        <p:nvSpPr>
          <p:cNvPr id="50" name="s25_h9"/>
          <p:cNvSpPr/>
          <p:nvPr/>
        </p:nvSpPr>
        <p:spPr>
          <a:xfrm>
            <a:off x="777240" y="5687568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1" name="s25_s9"/>
          <p:cNvSpPr/>
          <p:nvPr/>
        </p:nvSpPr>
        <p:spPr>
          <a:xfrm>
            <a:off x="777240" y="57424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policy</a:t>
            </a:r>
            <a:endParaRPr lang="en-US" sz="950" dirty="0"/>
          </a:p>
        </p:txBody>
      </p:sp>
      <p:sp>
        <p:nvSpPr>
          <p:cNvPr id="52" name="s25_st9"/>
          <p:cNvSpPr/>
          <p:nvPr/>
        </p:nvSpPr>
        <p:spPr>
          <a:xfrm>
            <a:off x="3182112" y="574243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 standard</a:t>
            </a:r>
            <a:endParaRPr lang="en-US" sz="1050" dirty="0"/>
          </a:p>
        </p:txBody>
      </p:sp>
      <p:sp>
        <p:nvSpPr>
          <p:cNvPr id="53" name="s25_h10"/>
          <p:cNvSpPr/>
          <p:nvPr/>
        </p:nvSpPr>
        <p:spPr>
          <a:xfrm>
            <a:off x="777240" y="6108192"/>
            <a:ext cx="809244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25_stat1_sh"/>
          <p:cNvSpPr/>
          <p:nvPr/>
        </p:nvSpPr>
        <p:spPr>
          <a:xfrm>
            <a:off x="9468612" y="1531620"/>
            <a:ext cx="2267712" cy="2249424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s25_stat1"/>
          <p:cNvSpPr/>
          <p:nvPr/>
        </p:nvSpPr>
        <p:spPr>
          <a:xfrm>
            <a:off x="9418320" y="1481328"/>
            <a:ext cx="2267712" cy="2249424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6" name="s25_st1"/>
          <p:cNvSpPr/>
          <p:nvPr/>
        </p:nvSpPr>
        <p:spPr>
          <a:xfrm>
            <a:off x="9418320" y="18288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10</a:t>
            </a:r>
            <a:endParaRPr lang="en-US" sz="3000" dirty="0"/>
          </a:p>
        </p:txBody>
      </p:sp>
      <p:sp>
        <p:nvSpPr>
          <p:cNvPr id="57" name="s25_st1l"/>
          <p:cNvSpPr/>
          <p:nvPr/>
        </p:nvSpPr>
        <p:spPr>
          <a:xfrm>
            <a:off x="9418320" y="26974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kern="0" spc="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SURFACES WITH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kern="0" spc="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STANDARD</a:t>
            </a:r>
            <a:endParaRPr lang="en-US" sz="850" dirty="0"/>
          </a:p>
        </p:txBody>
      </p:sp>
      <p:sp>
        <p:nvSpPr>
          <p:cNvPr id="58" name="s25_stat2_sh"/>
          <p:cNvSpPr/>
          <p:nvPr/>
        </p:nvSpPr>
        <p:spPr>
          <a:xfrm>
            <a:off x="9468612" y="4018788"/>
            <a:ext cx="2267712" cy="2249424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s25_stat2"/>
          <p:cNvSpPr/>
          <p:nvPr/>
        </p:nvSpPr>
        <p:spPr>
          <a:xfrm>
            <a:off x="9418320" y="3968496"/>
            <a:ext cx="2267712" cy="2249424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0" name="s25_st2"/>
          <p:cNvSpPr/>
          <p:nvPr/>
        </p:nvSpPr>
        <p:spPr>
          <a:xfrm>
            <a:off x="9418320" y="4315968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000" dirty="0"/>
          </a:p>
        </p:txBody>
      </p:sp>
      <p:sp>
        <p:nvSpPr>
          <p:cNvPr id="61" name="s25_st2l"/>
          <p:cNvSpPr/>
          <p:nvPr/>
        </p:nvSpPr>
        <p:spPr>
          <a:xfrm>
            <a:off x="9418320" y="518464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kern="0" spc="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SURFACES WITH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kern="0" spc="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STANDARD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6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6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6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6_kick" descr="assets/a2_k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2325189" cy="182880"/>
          </a:xfrm>
          <a:prstGeom prst="rect">
            <a:avLst/>
          </a:prstGeom>
        </p:spPr>
      </p:pic>
      <p:sp>
        <p:nvSpPr>
          <p:cNvPr id="7" name="s26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27</a:t>
            </a:r>
            <a:endParaRPr lang="en-US" sz="950" dirty="0"/>
          </a:p>
        </p:txBody>
      </p:sp>
      <p:sp>
        <p:nvSpPr>
          <p:cNvPr id="8" name="s26_plate_sh"/>
          <p:cNvSpPr/>
          <p:nvPr/>
        </p:nvSpPr>
        <p:spPr>
          <a:xfrm>
            <a:off x="553212" y="763524"/>
            <a:ext cx="5394960" cy="9601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s26_plate"/>
          <p:cNvSpPr/>
          <p:nvPr/>
        </p:nvSpPr>
        <p:spPr>
          <a:xfrm>
            <a:off x="502920" y="713232"/>
            <a:ext cx="5394960" cy="960120"/>
          </a:xfrm>
          <a:prstGeom prst="rect">
            <a:avLst/>
          </a:prstGeom>
          <a:solidFill>
            <a:srgbClr val="FBE5E5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0" name="s26_plate_img" descr="assets/a2_no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928116"/>
            <a:ext cx="4924697" cy="530352"/>
          </a:xfrm>
          <a:prstGeom prst="rect">
            <a:avLst/>
          </a:prstGeom>
        </p:spPr>
      </p:pic>
      <p:sp>
        <p:nvSpPr>
          <p:cNvPr id="11" name="s26_k0"/>
          <p:cNvSpPr/>
          <p:nvPr/>
        </p:nvSpPr>
        <p:spPr>
          <a:xfrm>
            <a:off x="777240" y="19933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Slash commands</a:t>
            </a:r>
            <a:endParaRPr lang="en-US" sz="1100" dirty="0"/>
          </a:p>
        </p:txBody>
      </p:sp>
      <p:sp>
        <p:nvSpPr>
          <p:cNvPr id="12" name="s26_v0"/>
          <p:cNvSpPr/>
          <p:nvPr/>
        </p:nvSpPr>
        <p:spPr>
          <a:xfrm>
            <a:off x="3108960" y="1993392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per harness; Claude legacy, Codex deprecated</a:t>
            </a:r>
            <a:endParaRPr lang="en-US" sz="1050" dirty="0"/>
          </a:p>
        </p:txBody>
      </p:sp>
      <p:sp>
        <p:nvSpPr>
          <p:cNvPr id="13" name="s26_box0"/>
          <p:cNvSpPr/>
          <p:nvPr/>
        </p:nvSpPr>
        <p:spPr>
          <a:xfrm>
            <a:off x="9464040" y="2048256"/>
            <a:ext cx="1965960" cy="402336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14" name="s26_bt0"/>
          <p:cNvSpPr/>
          <p:nvPr/>
        </p:nvSpPr>
        <p:spPr>
          <a:xfrm>
            <a:off x="9464040" y="204825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</a:t>
            </a:r>
            <a:endParaRPr lang="en-US" sz="900" dirty="0"/>
          </a:p>
        </p:txBody>
      </p:sp>
      <p:sp>
        <p:nvSpPr>
          <p:cNvPr id="15" name="s26_dh0"/>
          <p:cNvSpPr/>
          <p:nvPr/>
        </p:nvSpPr>
        <p:spPr>
          <a:xfrm>
            <a:off x="777240" y="2542032"/>
            <a:ext cx="1065276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16" name="s26_k1"/>
          <p:cNvSpPr/>
          <p:nvPr/>
        </p:nvSpPr>
        <p:spPr>
          <a:xfrm>
            <a:off x="777240" y="25420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</a:t>
            </a:r>
            <a:endParaRPr lang="en-US" sz="1100" dirty="0"/>
          </a:p>
        </p:txBody>
      </p:sp>
      <p:sp>
        <p:nvSpPr>
          <p:cNvPr id="17" name="s26_v1"/>
          <p:cNvSpPr/>
          <p:nvPr/>
        </p:nvSpPr>
        <p:spPr>
          <a:xfrm>
            <a:off x="3108960" y="2542032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.md template (not a spec); Codex TOML</a:t>
            </a:r>
            <a:endParaRPr lang="en-US" sz="1050" dirty="0"/>
          </a:p>
        </p:txBody>
      </p:sp>
      <p:sp>
        <p:nvSpPr>
          <p:cNvPr id="18" name="s26_box1"/>
          <p:cNvSpPr/>
          <p:nvPr/>
        </p:nvSpPr>
        <p:spPr>
          <a:xfrm>
            <a:off x="9464040" y="2596896"/>
            <a:ext cx="1965960" cy="402336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19" name="s26_bt1"/>
          <p:cNvSpPr/>
          <p:nvPr/>
        </p:nvSpPr>
        <p:spPr>
          <a:xfrm>
            <a:off x="9464040" y="259689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</a:t>
            </a:r>
            <a:endParaRPr lang="en-US" sz="900" dirty="0"/>
          </a:p>
        </p:txBody>
      </p:sp>
      <p:sp>
        <p:nvSpPr>
          <p:cNvPr id="20" name="s26_dh1"/>
          <p:cNvSpPr/>
          <p:nvPr/>
        </p:nvSpPr>
        <p:spPr>
          <a:xfrm>
            <a:off x="777240" y="3090672"/>
            <a:ext cx="1065276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21" name="s26_k2"/>
          <p:cNvSpPr/>
          <p:nvPr/>
        </p:nvSpPr>
        <p:spPr>
          <a:xfrm>
            <a:off x="777240" y="30906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100" dirty="0"/>
          </a:p>
        </p:txBody>
      </p:sp>
      <p:sp>
        <p:nvSpPr>
          <p:cNvPr id="22" name="s26_v2"/>
          <p:cNvSpPr/>
          <p:nvPr/>
        </p:nvSpPr>
        <p:spPr>
          <a:xfrm>
            <a:off x="3108960" y="3090672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on Claude/Codex; TypeScript on OpenCode/Pi</a:t>
            </a:r>
            <a:endParaRPr lang="en-US" sz="1050" dirty="0"/>
          </a:p>
        </p:txBody>
      </p:sp>
      <p:sp>
        <p:nvSpPr>
          <p:cNvPr id="23" name="s26_box2"/>
          <p:cNvSpPr/>
          <p:nvPr/>
        </p:nvSpPr>
        <p:spPr>
          <a:xfrm>
            <a:off x="9464040" y="3145536"/>
            <a:ext cx="1965960" cy="402336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24" name="s26_bt2"/>
          <p:cNvSpPr/>
          <p:nvPr/>
        </p:nvSpPr>
        <p:spPr>
          <a:xfrm>
            <a:off x="9464040" y="314553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</a:t>
            </a:r>
            <a:endParaRPr lang="en-US" sz="900" dirty="0"/>
          </a:p>
        </p:txBody>
      </p:sp>
      <p:sp>
        <p:nvSpPr>
          <p:cNvPr id="25" name="s26_dh2"/>
          <p:cNvSpPr/>
          <p:nvPr/>
        </p:nvSpPr>
        <p:spPr>
          <a:xfrm>
            <a:off x="777240" y="3639312"/>
            <a:ext cx="1065276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26" name="s26_k3"/>
          <p:cNvSpPr/>
          <p:nvPr/>
        </p:nvSpPr>
        <p:spPr>
          <a:xfrm>
            <a:off x="777240" y="36393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LSP servers</a:t>
            </a:r>
            <a:endParaRPr lang="en-US" sz="1100" dirty="0"/>
          </a:p>
        </p:txBody>
      </p:sp>
      <p:sp>
        <p:nvSpPr>
          <p:cNvPr id="27" name="s26_v3"/>
          <p:cNvSpPr/>
          <p:nvPr/>
        </p:nvSpPr>
        <p:spPr>
          <a:xfrm>
            <a:off x="3108960" y="3639312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only</a:t>
            </a:r>
            <a:endParaRPr lang="en-US" sz="1050" dirty="0"/>
          </a:p>
        </p:txBody>
      </p:sp>
      <p:sp>
        <p:nvSpPr>
          <p:cNvPr id="28" name="s26_box3"/>
          <p:cNvSpPr/>
          <p:nvPr/>
        </p:nvSpPr>
        <p:spPr>
          <a:xfrm>
            <a:off x="9464040" y="3694176"/>
            <a:ext cx="1965960" cy="402336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29" name="s26_bt3"/>
          <p:cNvSpPr/>
          <p:nvPr/>
        </p:nvSpPr>
        <p:spPr>
          <a:xfrm>
            <a:off x="9464040" y="36941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</a:t>
            </a:r>
            <a:endParaRPr lang="en-US" sz="900" dirty="0"/>
          </a:p>
        </p:txBody>
      </p:sp>
      <p:sp>
        <p:nvSpPr>
          <p:cNvPr id="30" name="s26_dh3"/>
          <p:cNvSpPr/>
          <p:nvPr/>
        </p:nvSpPr>
        <p:spPr>
          <a:xfrm>
            <a:off x="777240" y="4187952"/>
            <a:ext cx="1065276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31" name="s26_k4"/>
          <p:cNvSpPr/>
          <p:nvPr/>
        </p:nvSpPr>
        <p:spPr>
          <a:xfrm>
            <a:off x="777240" y="4187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tools</a:t>
            </a:r>
            <a:endParaRPr lang="en-US" sz="1100" dirty="0"/>
          </a:p>
        </p:txBody>
      </p:sp>
      <p:sp>
        <p:nvSpPr>
          <p:cNvPr id="32" name="s26_v4"/>
          <p:cNvSpPr/>
          <p:nvPr/>
        </p:nvSpPr>
        <p:spPr>
          <a:xfrm>
            <a:off x="3108960" y="4187952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per-SDK TypeScript, no shared schema</a:t>
            </a:r>
            <a:endParaRPr lang="en-US" sz="1050" dirty="0"/>
          </a:p>
        </p:txBody>
      </p:sp>
      <p:sp>
        <p:nvSpPr>
          <p:cNvPr id="33" name="s26_box4"/>
          <p:cNvSpPr/>
          <p:nvPr/>
        </p:nvSpPr>
        <p:spPr>
          <a:xfrm>
            <a:off x="9464040" y="4242816"/>
            <a:ext cx="1965960" cy="402336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34" name="s26_bt4"/>
          <p:cNvSpPr/>
          <p:nvPr/>
        </p:nvSpPr>
        <p:spPr>
          <a:xfrm>
            <a:off x="9464040" y="424281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</a:t>
            </a:r>
            <a:endParaRPr lang="en-US" sz="900" dirty="0"/>
          </a:p>
        </p:txBody>
      </p:sp>
      <p:sp>
        <p:nvSpPr>
          <p:cNvPr id="35" name="s26_dh4"/>
          <p:cNvSpPr/>
          <p:nvPr/>
        </p:nvSpPr>
        <p:spPr>
          <a:xfrm>
            <a:off x="777240" y="4736592"/>
            <a:ext cx="1065276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36" name="s26_k5"/>
          <p:cNvSpPr/>
          <p:nvPr/>
        </p:nvSpPr>
        <p:spPr>
          <a:xfrm>
            <a:off x="777240" y="47365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line</a:t>
            </a:r>
            <a:endParaRPr lang="en-US" sz="1100" dirty="0"/>
          </a:p>
        </p:txBody>
      </p:sp>
      <p:sp>
        <p:nvSpPr>
          <p:cNvPr id="37" name="s26_v5"/>
          <p:cNvSpPr/>
          <p:nvPr/>
        </p:nvSpPr>
        <p:spPr>
          <a:xfrm>
            <a:off x="3108960" y="4736592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script; Pi theme JSON</a:t>
            </a:r>
            <a:endParaRPr lang="en-US" sz="1050" dirty="0"/>
          </a:p>
        </p:txBody>
      </p:sp>
      <p:sp>
        <p:nvSpPr>
          <p:cNvPr id="38" name="s26_box5"/>
          <p:cNvSpPr/>
          <p:nvPr/>
        </p:nvSpPr>
        <p:spPr>
          <a:xfrm>
            <a:off x="9464040" y="4791456"/>
            <a:ext cx="1965960" cy="402336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39" name="s26_bt5"/>
          <p:cNvSpPr/>
          <p:nvPr/>
        </p:nvSpPr>
        <p:spPr>
          <a:xfrm>
            <a:off x="9464040" y="479145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</a:t>
            </a:r>
            <a:endParaRPr lang="en-US" sz="900" dirty="0"/>
          </a:p>
        </p:txBody>
      </p:sp>
      <p:sp>
        <p:nvSpPr>
          <p:cNvPr id="40" name="s26_dh5"/>
          <p:cNvSpPr/>
          <p:nvPr/>
        </p:nvSpPr>
        <p:spPr>
          <a:xfrm>
            <a:off x="777240" y="5285232"/>
            <a:ext cx="1065276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41" name="s26_k6"/>
          <p:cNvSpPr/>
          <p:nvPr/>
        </p:nvSpPr>
        <p:spPr>
          <a:xfrm>
            <a:off x="777240" y="52852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policy</a:t>
            </a:r>
            <a:endParaRPr lang="en-US" sz="1100" dirty="0"/>
          </a:p>
        </p:txBody>
      </p:sp>
      <p:sp>
        <p:nvSpPr>
          <p:cNvPr id="42" name="s26_v6"/>
          <p:cNvSpPr/>
          <p:nvPr/>
        </p:nvSpPr>
        <p:spPr>
          <a:xfrm>
            <a:off x="3108960" y="5285232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.rules / allow-rules / permissions[] dialects</a:t>
            </a:r>
            <a:endParaRPr lang="en-US" sz="1050" dirty="0"/>
          </a:p>
        </p:txBody>
      </p:sp>
      <p:sp>
        <p:nvSpPr>
          <p:cNvPr id="43" name="s26_box6"/>
          <p:cNvSpPr/>
          <p:nvPr/>
        </p:nvSpPr>
        <p:spPr>
          <a:xfrm>
            <a:off x="9464040" y="5340096"/>
            <a:ext cx="1965960" cy="402336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44" name="s26_bt6"/>
          <p:cNvSpPr/>
          <p:nvPr/>
        </p:nvSpPr>
        <p:spPr>
          <a:xfrm>
            <a:off x="9464040" y="534009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</a:t>
            </a:r>
            <a:endParaRPr lang="en-US" sz="900" dirty="0"/>
          </a:p>
        </p:txBody>
      </p:sp>
      <p:sp>
        <p:nvSpPr>
          <p:cNvPr id="45" name="s26_core_sh"/>
          <p:cNvSpPr/>
          <p:nvPr/>
        </p:nvSpPr>
        <p:spPr>
          <a:xfrm>
            <a:off x="553212" y="5993892"/>
            <a:ext cx="11183112" cy="502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26_core"/>
          <p:cNvSpPr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solidFill>
            <a:srgbClr val="FBEED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7" name="s26_core_sq"/>
          <p:cNvSpPr/>
          <p:nvPr/>
        </p:nvSpPr>
        <p:spPr>
          <a:xfrm>
            <a:off x="777240" y="6140196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s26_core_t"/>
          <p:cNvSpPr/>
          <p:nvPr/>
        </p:nvSpPr>
        <p:spPr>
          <a:xfrm>
            <a:off x="1024128" y="5943600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reserved — when a standard lands, it gets its own SPEC slide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Support for each harness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minimum-verdict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87975" y="1316736"/>
            <a:ext cx="960120" cy="256032"/>
          </a:xfrm>
          <a:prstGeom prst="roundRect">
            <a:avLst>
              <a:gd name="adj" fmla="val 16071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357823" y="1316736"/>
            <a:ext cx="960120" cy="256032"/>
          </a:xfrm>
          <a:prstGeom prst="roundRect">
            <a:avLst>
              <a:gd name="adj" fmla="val 16071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427671" y="1316736"/>
            <a:ext cx="1325880" cy="256032"/>
          </a:xfrm>
          <a:prstGeom prst="roundRect">
            <a:avLst>
              <a:gd name="adj" fmla="val 16071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863279" y="1316736"/>
            <a:ext cx="1188720" cy="256032"/>
          </a:xfrm>
          <a:prstGeom prst="roundRect">
            <a:avLst>
              <a:gd name="adj" fmla="val 16071"/>
            </a:avLst>
          </a:prstGeom>
          <a:solidFill>
            <a:srgbClr val="FBEEDD"/>
          </a:solidFill>
          <a:ln>
            <a:solidFill>
              <a:srgbClr val="FBEED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161727" y="1316736"/>
            <a:ext cx="1417320" cy="256032"/>
          </a:xfrm>
          <a:prstGeom prst="roundRect">
            <a:avLst>
              <a:gd name="adj" fmla="val 16071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 = copy with caveats (merge / subset / tune)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68296" y="168706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2532888" y="1645920"/>
            <a:ext cx="2069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0420" y="1687068"/>
            <a:ext cx="91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4895012" y="1645920"/>
            <a:ext cx="2069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92544" y="1687068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257136" y="1645920"/>
            <a:ext cx="2069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454667" y="1687068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619259" y="1645920"/>
            <a:ext cx="2069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" y="1993392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67712" y="199339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200710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spec-pure SKILL.md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29836" y="199339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3844" y="200710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.agents/skills drop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91960" y="199339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5968" y="200710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skill dirs + catalog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354083" y="199339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091" y="200710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un-gated drop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208" y="2391156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67712" y="2391156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240487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— prefer skill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29836" y="2391156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3844" y="240487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deprecated, user-only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91960" y="2391156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5968" y="240487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+ frontmatter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354083" y="2391156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091" y="240487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filename = /cmd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1208" y="2788920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67712" y="2788920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31720" y="280263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md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29836" y="2788920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3844" y="280263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→ TOML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1960" y="2788920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5968" y="280263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dialect + mode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354083" y="2788920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091" y="280263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ext only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1208" y="3186684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67712" y="3186684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31720" y="320040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into settings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29836" y="3186684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3844" y="320040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12-event subset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91960" y="3186684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5968" y="320040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codegen TS plugin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354083" y="3186684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18091" y="320040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codegen TS ext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21208" y="3584448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67712" y="358444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31720" y="359816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.claude-plugin + repo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29836" y="3584448"/>
            <a:ext cx="2279828" cy="352044"/>
          </a:xfrm>
          <a:prstGeom prst="rect">
            <a:avLst/>
          </a:prstGeom>
          <a:solidFill>
            <a:srgbClr val="FBEEDD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93844" y="359816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+ overlay + catalog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991960" y="358444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55968" y="359816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TS package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354083" y="358444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18091" y="359816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pi-package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21208" y="3982212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267712" y="398221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31720" y="399592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mcpServers JSON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29836" y="3982212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93844" y="399592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→ TOML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991960" y="3982212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55968" y="399592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dialect v1/v2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9354083" y="398221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18091" y="399592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entry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21208" y="4379976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 servers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267712" y="4379976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331720" y="439369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 in plugin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629836" y="4379976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93844" y="439369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from docs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991960" y="4379976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55968" y="439369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undocumented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354083" y="4379976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418091" y="439369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as of 1.3.0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21208" y="4777740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267712" y="4777740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31720" y="479145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code only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629836" y="4777740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93844" y="479145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toggles only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991960" y="4777740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55968" y="479145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ctx.tool.transform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9354083" y="4777740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418091" y="479145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registerTool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21208" y="5175504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2267712" y="5175504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331720" y="518922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+ statusLine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629836" y="5175504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93844" y="518922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[tui] keys only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6991960" y="5175504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055968" y="518922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themes adjacent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9354083" y="5175504"/>
            <a:ext cx="2279828" cy="352044"/>
          </a:xfrm>
          <a:prstGeom prst="rect">
            <a:avLst/>
          </a:prstGeom>
          <a:solidFill>
            <a:srgbClr val="FBEEDD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418091" y="518922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 JSON, name=file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21208" y="5573268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267712" y="557326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31720" y="558698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 allow-rules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629836" y="5573268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93844" y="558698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.rules verbatim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6991960" y="557326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055968" y="558698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permissions[] stmts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354083" y="5573268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418091" y="558698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only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02920" y="6044184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matrix as data: harness_surface_capability — 40 rows. NO SURFACE is emitted data (supported = false), never a silent skip.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4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4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s4_title" descr="assets/t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s4_spec"/>
          <p:cNvSpPr/>
          <p:nvPr/>
        </p:nvSpPr>
        <p:spPr>
          <a:xfrm>
            <a:off x="502920" y="12161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surfaces × four harnesses at a glance — every row opens a four-slide section next: banner · standards · claude+codex · opencode+pi</a:t>
            </a:r>
            <a:endParaRPr lang="en-US" sz="1100" dirty="0"/>
          </a:p>
        </p:txBody>
      </p:sp>
      <p:sp>
        <p:nvSpPr>
          <p:cNvPr id="8" name="s4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45</a:t>
            </a:r>
            <a:endParaRPr lang="en-US" sz="950" dirty="0"/>
          </a:p>
        </p:txBody>
      </p:sp>
      <p:sp>
        <p:nvSpPr>
          <p:cNvPr id="10" name="s04_mx_sh"/>
          <p:cNvSpPr/>
          <p:nvPr/>
        </p:nvSpPr>
        <p:spPr>
          <a:xfrm>
            <a:off x="553212" y="1531620"/>
            <a:ext cx="11183112" cy="4224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04_mx"/>
          <p:cNvSpPr/>
          <p:nvPr/>
        </p:nvSpPr>
        <p:spPr>
          <a:xfrm>
            <a:off x="502920" y="1481328"/>
            <a:ext cx="11183112" cy="422452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s04_ch0"/>
          <p:cNvSpPr/>
          <p:nvPr/>
        </p:nvSpPr>
        <p:spPr>
          <a:xfrm>
            <a:off x="777240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850" dirty="0"/>
          </a:p>
        </p:txBody>
      </p:sp>
      <p:sp>
        <p:nvSpPr>
          <p:cNvPr id="13" name="s04_ch1"/>
          <p:cNvSpPr/>
          <p:nvPr/>
        </p:nvSpPr>
        <p:spPr>
          <a:xfrm>
            <a:off x="2212848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4" name="s04_ch2"/>
          <p:cNvSpPr/>
          <p:nvPr/>
        </p:nvSpPr>
        <p:spPr>
          <a:xfrm>
            <a:off x="4517136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900" dirty="0"/>
          </a:p>
        </p:txBody>
      </p:sp>
      <p:sp>
        <p:nvSpPr>
          <p:cNvPr id="15" name="s04_ch3"/>
          <p:cNvSpPr/>
          <p:nvPr/>
        </p:nvSpPr>
        <p:spPr>
          <a:xfrm>
            <a:off x="6821424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900" dirty="0"/>
          </a:p>
        </p:txBody>
      </p:sp>
      <p:sp>
        <p:nvSpPr>
          <p:cNvPr id="16" name="s04_ch4"/>
          <p:cNvSpPr/>
          <p:nvPr/>
        </p:nvSpPr>
        <p:spPr>
          <a:xfrm>
            <a:off x="9125712" y="16459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900" dirty="0"/>
          </a:p>
        </p:txBody>
      </p:sp>
      <p:sp>
        <p:nvSpPr>
          <p:cNvPr id="17" name="s04_hr0"/>
          <p:cNvSpPr/>
          <p:nvPr/>
        </p:nvSpPr>
        <p:spPr>
          <a:xfrm>
            <a:off x="777240" y="1956816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" name="s04_r0_lab"/>
          <p:cNvSpPr/>
          <p:nvPr/>
        </p:nvSpPr>
        <p:spPr>
          <a:xfrm>
            <a:off x="777240" y="1956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850" dirty="0"/>
          </a:p>
        </p:txBody>
      </p:sp>
      <p:sp>
        <p:nvSpPr>
          <p:cNvPr id="19" name="s04_r0c0_sh"/>
          <p:cNvSpPr/>
          <p:nvPr/>
        </p:nvSpPr>
        <p:spPr>
          <a:xfrm>
            <a:off x="2957718" y="204825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04_r0c0"/>
          <p:cNvSpPr/>
          <p:nvPr/>
        </p:nvSpPr>
        <p:spPr>
          <a:xfrm>
            <a:off x="2930286" y="202082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1" name="s04_r0c0_t"/>
          <p:cNvSpPr/>
          <p:nvPr/>
        </p:nvSpPr>
        <p:spPr>
          <a:xfrm>
            <a:off x="2930286" y="202082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22" name="s04_r0d0"/>
          <p:cNvSpPr/>
          <p:nvPr/>
        </p:nvSpPr>
        <p:spPr>
          <a:xfrm>
            <a:off x="3781410" y="210769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23" name="s04_r0c1_sh"/>
          <p:cNvSpPr/>
          <p:nvPr/>
        </p:nvSpPr>
        <p:spPr>
          <a:xfrm>
            <a:off x="5262006" y="204825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s04_r0c1"/>
          <p:cNvSpPr/>
          <p:nvPr/>
        </p:nvSpPr>
        <p:spPr>
          <a:xfrm>
            <a:off x="5234574" y="202082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5" name="s04_r0c1_t"/>
          <p:cNvSpPr/>
          <p:nvPr/>
        </p:nvSpPr>
        <p:spPr>
          <a:xfrm>
            <a:off x="5234574" y="202082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26" name="s04_r0d1"/>
          <p:cNvSpPr/>
          <p:nvPr/>
        </p:nvSpPr>
        <p:spPr>
          <a:xfrm>
            <a:off x="6085698" y="210769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27" name="s04_r0c2_sh"/>
          <p:cNvSpPr/>
          <p:nvPr/>
        </p:nvSpPr>
        <p:spPr>
          <a:xfrm>
            <a:off x="7566294" y="204825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04_r0c2"/>
          <p:cNvSpPr/>
          <p:nvPr/>
        </p:nvSpPr>
        <p:spPr>
          <a:xfrm>
            <a:off x="7538862" y="202082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9" name="s04_r0c2_t"/>
          <p:cNvSpPr/>
          <p:nvPr/>
        </p:nvSpPr>
        <p:spPr>
          <a:xfrm>
            <a:off x="7538862" y="202082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30" name="s04_r0d2"/>
          <p:cNvSpPr/>
          <p:nvPr/>
        </p:nvSpPr>
        <p:spPr>
          <a:xfrm>
            <a:off x="8389986" y="2107692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s04_r0c3_sh"/>
          <p:cNvSpPr/>
          <p:nvPr/>
        </p:nvSpPr>
        <p:spPr>
          <a:xfrm>
            <a:off x="9782251" y="204825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04_r0c3"/>
          <p:cNvSpPr/>
          <p:nvPr/>
        </p:nvSpPr>
        <p:spPr>
          <a:xfrm>
            <a:off x="9754819" y="2020824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3" name="s04_r0c3_t"/>
          <p:cNvSpPr/>
          <p:nvPr/>
        </p:nvSpPr>
        <p:spPr>
          <a:xfrm>
            <a:off x="9754819" y="202082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34" name="s04_r0d3"/>
          <p:cNvSpPr/>
          <p:nvPr/>
        </p:nvSpPr>
        <p:spPr>
          <a:xfrm>
            <a:off x="10782605" y="210769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35" name="s04_hr1"/>
          <p:cNvSpPr/>
          <p:nvPr/>
        </p:nvSpPr>
        <p:spPr>
          <a:xfrm>
            <a:off x="777240" y="2324405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6" name="s04_r1_lab"/>
          <p:cNvSpPr/>
          <p:nvPr/>
        </p:nvSpPr>
        <p:spPr>
          <a:xfrm>
            <a:off x="777240" y="2324405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850" dirty="0"/>
          </a:p>
        </p:txBody>
      </p:sp>
      <p:sp>
        <p:nvSpPr>
          <p:cNvPr id="37" name="s04_r1c0_sh"/>
          <p:cNvSpPr/>
          <p:nvPr/>
        </p:nvSpPr>
        <p:spPr>
          <a:xfrm>
            <a:off x="2869387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s04_r1c0"/>
          <p:cNvSpPr/>
          <p:nvPr/>
        </p:nvSpPr>
        <p:spPr>
          <a:xfrm>
            <a:off x="2841955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9" name="s04_r1c0_t"/>
          <p:cNvSpPr/>
          <p:nvPr/>
        </p:nvSpPr>
        <p:spPr>
          <a:xfrm>
            <a:off x="2841955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40" name="s04_r1d0"/>
          <p:cNvSpPr/>
          <p:nvPr/>
        </p:nvSpPr>
        <p:spPr>
          <a:xfrm>
            <a:off x="3869741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41" name="s04_r1c1_sh"/>
          <p:cNvSpPr/>
          <p:nvPr/>
        </p:nvSpPr>
        <p:spPr>
          <a:xfrm>
            <a:off x="5173675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04_r1c1"/>
          <p:cNvSpPr/>
          <p:nvPr/>
        </p:nvSpPr>
        <p:spPr>
          <a:xfrm>
            <a:off x="5146243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3" name="s04_r1c1_t"/>
          <p:cNvSpPr/>
          <p:nvPr/>
        </p:nvSpPr>
        <p:spPr>
          <a:xfrm>
            <a:off x="5146243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44" name="s04_r1d1"/>
          <p:cNvSpPr/>
          <p:nvPr/>
        </p:nvSpPr>
        <p:spPr>
          <a:xfrm>
            <a:off x="6174029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45" name="s04_r1c2_sh"/>
          <p:cNvSpPr/>
          <p:nvPr/>
        </p:nvSpPr>
        <p:spPr>
          <a:xfrm>
            <a:off x="7477963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04_r1c2"/>
          <p:cNvSpPr/>
          <p:nvPr/>
        </p:nvSpPr>
        <p:spPr>
          <a:xfrm>
            <a:off x="7450531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7" name="s04_r1c2_t"/>
          <p:cNvSpPr/>
          <p:nvPr/>
        </p:nvSpPr>
        <p:spPr>
          <a:xfrm>
            <a:off x="7450531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48" name="s04_r1d2"/>
          <p:cNvSpPr/>
          <p:nvPr/>
        </p:nvSpPr>
        <p:spPr>
          <a:xfrm>
            <a:off x="8478317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49" name="s04_r1c3_sh"/>
          <p:cNvSpPr/>
          <p:nvPr/>
        </p:nvSpPr>
        <p:spPr>
          <a:xfrm>
            <a:off x="9782251" y="241584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s04_r1c3"/>
          <p:cNvSpPr/>
          <p:nvPr/>
        </p:nvSpPr>
        <p:spPr>
          <a:xfrm>
            <a:off x="9754819" y="238841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51" name="s04_r1c3_t"/>
          <p:cNvSpPr/>
          <p:nvPr/>
        </p:nvSpPr>
        <p:spPr>
          <a:xfrm>
            <a:off x="9754819" y="238841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52" name="s04_r1d3"/>
          <p:cNvSpPr/>
          <p:nvPr/>
        </p:nvSpPr>
        <p:spPr>
          <a:xfrm>
            <a:off x="10782605" y="247528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53" name="s04_hr2"/>
          <p:cNvSpPr/>
          <p:nvPr/>
        </p:nvSpPr>
        <p:spPr>
          <a:xfrm>
            <a:off x="777240" y="2691994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54" name="s04_r2_lab"/>
          <p:cNvSpPr/>
          <p:nvPr/>
        </p:nvSpPr>
        <p:spPr>
          <a:xfrm>
            <a:off x="777240" y="269199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</a:t>
            </a:r>
            <a:endParaRPr lang="en-US" sz="850" dirty="0"/>
          </a:p>
        </p:txBody>
      </p:sp>
      <p:sp>
        <p:nvSpPr>
          <p:cNvPr id="55" name="s04_r2c0_sh"/>
          <p:cNvSpPr/>
          <p:nvPr/>
        </p:nvSpPr>
        <p:spPr>
          <a:xfrm>
            <a:off x="2869387" y="2783434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04_r2c0"/>
          <p:cNvSpPr/>
          <p:nvPr/>
        </p:nvSpPr>
        <p:spPr>
          <a:xfrm>
            <a:off x="2841955" y="2756002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57" name="s04_r2c0_t"/>
          <p:cNvSpPr/>
          <p:nvPr/>
        </p:nvSpPr>
        <p:spPr>
          <a:xfrm>
            <a:off x="2841955" y="2756002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58" name="s04_r2d0"/>
          <p:cNvSpPr/>
          <p:nvPr/>
        </p:nvSpPr>
        <p:spPr>
          <a:xfrm>
            <a:off x="3869741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59" name="s04_r2c1_sh"/>
          <p:cNvSpPr/>
          <p:nvPr/>
        </p:nvSpPr>
        <p:spPr>
          <a:xfrm>
            <a:off x="5203119" y="2783434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04_r2c1"/>
          <p:cNvSpPr/>
          <p:nvPr/>
        </p:nvSpPr>
        <p:spPr>
          <a:xfrm>
            <a:off x="5175687" y="2756002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1" name="s04_r2c1_t"/>
          <p:cNvSpPr/>
          <p:nvPr/>
        </p:nvSpPr>
        <p:spPr>
          <a:xfrm>
            <a:off x="5175687" y="2756002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62" name="s04_r2d1"/>
          <p:cNvSpPr/>
          <p:nvPr/>
        </p:nvSpPr>
        <p:spPr>
          <a:xfrm>
            <a:off x="6144585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63" name="s04_r2c2_sh"/>
          <p:cNvSpPr/>
          <p:nvPr/>
        </p:nvSpPr>
        <p:spPr>
          <a:xfrm>
            <a:off x="7507407" y="2783434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04_r2c2"/>
          <p:cNvSpPr/>
          <p:nvPr/>
        </p:nvSpPr>
        <p:spPr>
          <a:xfrm>
            <a:off x="7479975" y="2756002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65" name="s04_r2c2_t"/>
          <p:cNvSpPr/>
          <p:nvPr/>
        </p:nvSpPr>
        <p:spPr>
          <a:xfrm>
            <a:off x="7479975" y="2756002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66" name="s04_r2d2"/>
          <p:cNvSpPr/>
          <p:nvPr/>
        </p:nvSpPr>
        <p:spPr>
          <a:xfrm>
            <a:off x="8448873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67" name="s04_r2c3_sh"/>
          <p:cNvSpPr/>
          <p:nvPr/>
        </p:nvSpPr>
        <p:spPr>
          <a:xfrm>
            <a:off x="9782251" y="2783434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s04_r2c3"/>
          <p:cNvSpPr/>
          <p:nvPr/>
        </p:nvSpPr>
        <p:spPr>
          <a:xfrm>
            <a:off x="9754819" y="2756002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69" name="s04_r2c3_t"/>
          <p:cNvSpPr/>
          <p:nvPr/>
        </p:nvSpPr>
        <p:spPr>
          <a:xfrm>
            <a:off x="9754819" y="2756002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70" name="s04_r2d3"/>
          <p:cNvSpPr/>
          <p:nvPr/>
        </p:nvSpPr>
        <p:spPr>
          <a:xfrm>
            <a:off x="10782605" y="2842870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71" name="s04_hr3"/>
          <p:cNvSpPr/>
          <p:nvPr/>
        </p:nvSpPr>
        <p:spPr>
          <a:xfrm>
            <a:off x="777240" y="3059582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72" name="s04_r3_lab"/>
          <p:cNvSpPr/>
          <p:nvPr/>
        </p:nvSpPr>
        <p:spPr>
          <a:xfrm>
            <a:off x="777240" y="305958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850" dirty="0"/>
          </a:p>
        </p:txBody>
      </p:sp>
      <p:sp>
        <p:nvSpPr>
          <p:cNvPr id="73" name="s04_r3c0_sh"/>
          <p:cNvSpPr/>
          <p:nvPr/>
        </p:nvSpPr>
        <p:spPr>
          <a:xfrm>
            <a:off x="2869387" y="3151022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s04_r3c0"/>
          <p:cNvSpPr/>
          <p:nvPr/>
        </p:nvSpPr>
        <p:spPr>
          <a:xfrm>
            <a:off x="2841955" y="3123590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75" name="s04_r3c0_t"/>
          <p:cNvSpPr/>
          <p:nvPr/>
        </p:nvSpPr>
        <p:spPr>
          <a:xfrm>
            <a:off x="2841955" y="3123590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76" name="s04_r3d0"/>
          <p:cNvSpPr/>
          <p:nvPr/>
        </p:nvSpPr>
        <p:spPr>
          <a:xfrm>
            <a:off x="3869741" y="3210458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77" name="s04_r3c1_sh"/>
          <p:cNvSpPr/>
          <p:nvPr/>
        </p:nvSpPr>
        <p:spPr>
          <a:xfrm>
            <a:off x="5173675" y="3151022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8" name="s04_r3c1"/>
          <p:cNvSpPr/>
          <p:nvPr/>
        </p:nvSpPr>
        <p:spPr>
          <a:xfrm>
            <a:off x="5146243" y="3123590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79" name="s04_r3c1_t"/>
          <p:cNvSpPr/>
          <p:nvPr/>
        </p:nvSpPr>
        <p:spPr>
          <a:xfrm>
            <a:off x="5146243" y="3123590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80" name="s04_r3d1"/>
          <p:cNvSpPr/>
          <p:nvPr/>
        </p:nvSpPr>
        <p:spPr>
          <a:xfrm>
            <a:off x="6174029" y="3210458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81" name="s04_r3c2_sh"/>
          <p:cNvSpPr/>
          <p:nvPr/>
        </p:nvSpPr>
        <p:spPr>
          <a:xfrm>
            <a:off x="7507407" y="3151022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s04_r3c2"/>
          <p:cNvSpPr/>
          <p:nvPr/>
        </p:nvSpPr>
        <p:spPr>
          <a:xfrm>
            <a:off x="7479975" y="3123590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83" name="s04_r3c2_t"/>
          <p:cNvSpPr/>
          <p:nvPr/>
        </p:nvSpPr>
        <p:spPr>
          <a:xfrm>
            <a:off x="7479975" y="3123590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84" name="s04_r3d2"/>
          <p:cNvSpPr/>
          <p:nvPr/>
        </p:nvSpPr>
        <p:spPr>
          <a:xfrm>
            <a:off x="8448873" y="3210458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5" name="s04_r3c3_sh"/>
          <p:cNvSpPr/>
          <p:nvPr/>
        </p:nvSpPr>
        <p:spPr>
          <a:xfrm>
            <a:off x="9811695" y="3151022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6" name="s04_r3c3"/>
          <p:cNvSpPr/>
          <p:nvPr/>
        </p:nvSpPr>
        <p:spPr>
          <a:xfrm>
            <a:off x="9784263" y="3123590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87" name="s04_r3c3_t"/>
          <p:cNvSpPr/>
          <p:nvPr/>
        </p:nvSpPr>
        <p:spPr>
          <a:xfrm>
            <a:off x="9784263" y="3123590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88" name="s04_r3d3"/>
          <p:cNvSpPr/>
          <p:nvPr/>
        </p:nvSpPr>
        <p:spPr>
          <a:xfrm>
            <a:off x="10753161" y="3210458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89" name="s04_hr4"/>
          <p:cNvSpPr/>
          <p:nvPr/>
        </p:nvSpPr>
        <p:spPr>
          <a:xfrm>
            <a:off x="777240" y="3427171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90" name="s04_r4_lab"/>
          <p:cNvSpPr/>
          <p:nvPr/>
        </p:nvSpPr>
        <p:spPr>
          <a:xfrm>
            <a:off x="777240" y="3427171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850" dirty="0"/>
          </a:p>
        </p:txBody>
      </p:sp>
      <p:sp>
        <p:nvSpPr>
          <p:cNvPr id="91" name="s04_r4c0_sh"/>
          <p:cNvSpPr/>
          <p:nvPr/>
        </p:nvSpPr>
        <p:spPr>
          <a:xfrm>
            <a:off x="2898831" y="3518611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2" name="s04_r4c0"/>
          <p:cNvSpPr/>
          <p:nvPr/>
        </p:nvSpPr>
        <p:spPr>
          <a:xfrm>
            <a:off x="2871399" y="3491179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93" name="s04_r4c0_t"/>
          <p:cNvSpPr/>
          <p:nvPr/>
        </p:nvSpPr>
        <p:spPr>
          <a:xfrm>
            <a:off x="2871399" y="3491179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94" name="s04_r4d0"/>
          <p:cNvSpPr/>
          <p:nvPr/>
        </p:nvSpPr>
        <p:spPr>
          <a:xfrm>
            <a:off x="3840297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5" name="s04_r4c1_sh"/>
          <p:cNvSpPr/>
          <p:nvPr/>
        </p:nvSpPr>
        <p:spPr>
          <a:xfrm>
            <a:off x="5262006" y="3518611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6" name="s04_r4c1"/>
          <p:cNvSpPr/>
          <p:nvPr/>
        </p:nvSpPr>
        <p:spPr>
          <a:xfrm>
            <a:off x="5234574" y="3491179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97" name="s04_r4c1_t"/>
          <p:cNvSpPr/>
          <p:nvPr/>
        </p:nvSpPr>
        <p:spPr>
          <a:xfrm>
            <a:off x="5234574" y="3491179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98" name="s04_r4d1"/>
          <p:cNvSpPr/>
          <p:nvPr/>
        </p:nvSpPr>
        <p:spPr>
          <a:xfrm>
            <a:off x="6085698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9" name="s04_r4c2_sh"/>
          <p:cNvSpPr/>
          <p:nvPr/>
        </p:nvSpPr>
        <p:spPr>
          <a:xfrm>
            <a:off x="7507407" y="3518611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0" name="s04_r4c2"/>
          <p:cNvSpPr/>
          <p:nvPr/>
        </p:nvSpPr>
        <p:spPr>
          <a:xfrm>
            <a:off x="7479975" y="3491179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01" name="s04_r4c2_t"/>
          <p:cNvSpPr/>
          <p:nvPr/>
        </p:nvSpPr>
        <p:spPr>
          <a:xfrm>
            <a:off x="7479975" y="3491179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02" name="s04_r4d2"/>
          <p:cNvSpPr/>
          <p:nvPr/>
        </p:nvSpPr>
        <p:spPr>
          <a:xfrm>
            <a:off x="8448873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3" name="s04_r4c3_sh"/>
          <p:cNvSpPr/>
          <p:nvPr/>
        </p:nvSpPr>
        <p:spPr>
          <a:xfrm>
            <a:off x="9811695" y="3518611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4" name="s04_r4c3"/>
          <p:cNvSpPr/>
          <p:nvPr/>
        </p:nvSpPr>
        <p:spPr>
          <a:xfrm>
            <a:off x="9784263" y="3491179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05" name="s04_r4c3_t"/>
          <p:cNvSpPr/>
          <p:nvPr/>
        </p:nvSpPr>
        <p:spPr>
          <a:xfrm>
            <a:off x="9784263" y="3491179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06" name="s04_r4d3"/>
          <p:cNvSpPr/>
          <p:nvPr/>
        </p:nvSpPr>
        <p:spPr>
          <a:xfrm>
            <a:off x="10753161" y="3578047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7" name="s04_hr5"/>
          <p:cNvSpPr/>
          <p:nvPr/>
        </p:nvSpPr>
        <p:spPr>
          <a:xfrm>
            <a:off x="777240" y="3794760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08" name="s04_r5_lab"/>
          <p:cNvSpPr/>
          <p:nvPr/>
        </p:nvSpPr>
        <p:spPr>
          <a:xfrm>
            <a:off x="77724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850" dirty="0"/>
          </a:p>
        </p:txBody>
      </p:sp>
      <p:sp>
        <p:nvSpPr>
          <p:cNvPr id="109" name="s04_r5c0_sh"/>
          <p:cNvSpPr/>
          <p:nvPr/>
        </p:nvSpPr>
        <p:spPr>
          <a:xfrm>
            <a:off x="2869387" y="3886200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0" name="s04_r5c0"/>
          <p:cNvSpPr/>
          <p:nvPr/>
        </p:nvSpPr>
        <p:spPr>
          <a:xfrm>
            <a:off x="2841955" y="3858768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11" name="s04_r5c0_t"/>
          <p:cNvSpPr/>
          <p:nvPr/>
        </p:nvSpPr>
        <p:spPr>
          <a:xfrm>
            <a:off x="2841955" y="3858768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12" name="s04_r5d0"/>
          <p:cNvSpPr/>
          <p:nvPr/>
        </p:nvSpPr>
        <p:spPr>
          <a:xfrm>
            <a:off x="3869741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13" name="s04_r5c1_sh"/>
          <p:cNvSpPr/>
          <p:nvPr/>
        </p:nvSpPr>
        <p:spPr>
          <a:xfrm>
            <a:off x="5203119" y="3886200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4" name="s04_r5c1"/>
          <p:cNvSpPr/>
          <p:nvPr/>
        </p:nvSpPr>
        <p:spPr>
          <a:xfrm>
            <a:off x="5175687" y="3858768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15" name="s04_r5c1_t"/>
          <p:cNvSpPr/>
          <p:nvPr/>
        </p:nvSpPr>
        <p:spPr>
          <a:xfrm>
            <a:off x="5175687" y="3858768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16" name="s04_r5d1"/>
          <p:cNvSpPr/>
          <p:nvPr/>
        </p:nvSpPr>
        <p:spPr>
          <a:xfrm>
            <a:off x="6144585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17" name="s04_r5c2_sh"/>
          <p:cNvSpPr/>
          <p:nvPr/>
        </p:nvSpPr>
        <p:spPr>
          <a:xfrm>
            <a:off x="7507407" y="3886200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8" name="s04_r5c2"/>
          <p:cNvSpPr/>
          <p:nvPr/>
        </p:nvSpPr>
        <p:spPr>
          <a:xfrm>
            <a:off x="7479975" y="3858768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19" name="s04_r5c2_t"/>
          <p:cNvSpPr/>
          <p:nvPr/>
        </p:nvSpPr>
        <p:spPr>
          <a:xfrm>
            <a:off x="7479975" y="3858768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20" name="s04_r5d2"/>
          <p:cNvSpPr/>
          <p:nvPr/>
        </p:nvSpPr>
        <p:spPr>
          <a:xfrm>
            <a:off x="8448873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21" name="s04_r5c3_sh"/>
          <p:cNvSpPr/>
          <p:nvPr/>
        </p:nvSpPr>
        <p:spPr>
          <a:xfrm>
            <a:off x="9782251" y="3886200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2" name="s04_r5c3"/>
          <p:cNvSpPr/>
          <p:nvPr/>
        </p:nvSpPr>
        <p:spPr>
          <a:xfrm>
            <a:off x="9754819" y="3858768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23" name="s04_r5c3_t"/>
          <p:cNvSpPr/>
          <p:nvPr/>
        </p:nvSpPr>
        <p:spPr>
          <a:xfrm>
            <a:off x="9754819" y="3858768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24" name="s04_r5d3"/>
          <p:cNvSpPr/>
          <p:nvPr/>
        </p:nvSpPr>
        <p:spPr>
          <a:xfrm>
            <a:off x="10782605" y="3945636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25" name="s04_hr6"/>
          <p:cNvSpPr/>
          <p:nvPr/>
        </p:nvSpPr>
        <p:spPr>
          <a:xfrm>
            <a:off x="777240" y="4162349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26" name="s04_r6_lab"/>
          <p:cNvSpPr/>
          <p:nvPr/>
        </p:nvSpPr>
        <p:spPr>
          <a:xfrm>
            <a:off x="777240" y="416234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LSP</a:t>
            </a:r>
            <a:endParaRPr lang="en-US" sz="850" dirty="0"/>
          </a:p>
        </p:txBody>
      </p:sp>
      <p:sp>
        <p:nvSpPr>
          <p:cNvPr id="127" name="s04_r6c0_sh"/>
          <p:cNvSpPr/>
          <p:nvPr/>
        </p:nvSpPr>
        <p:spPr>
          <a:xfrm>
            <a:off x="2898831" y="4253789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8" name="s04_r6c0"/>
          <p:cNvSpPr/>
          <p:nvPr/>
        </p:nvSpPr>
        <p:spPr>
          <a:xfrm>
            <a:off x="2871399" y="4226357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29" name="s04_r6c0_t"/>
          <p:cNvSpPr/>
          <p:nvPr/>
        </p:nvSpPr>
        <p:spPr>
          <a:xfrm>
            <a:off x="2871399" y="4226357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30" name="s04_r6d0"/>
          <p:cNvSpPr/>
          <p:nvPr/>
        </p:nvSpPr>
        <p:spPr>
          <a:xfrm>
            <a:off x="3840297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31" name="s04_r6c1_sh"/>
          <p:cNvSpPr/>
          <p:nvPr/>
        </p:nvSpPr>
        <p:spPr>
          <a:xfrm>
            <a:off x="5173675" y="4253789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2" name="s04_r6c1"/>
          <p:cNvSpPr/>
          <p:nvPr/>
        </p:nvSpPr>
        <p:spPr>
          <a:xfrm>
            <a:off x="5146243" y="4226357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33" name="s04_r6c1_t"/>
          <p:cNvSpPr/>
          <p:nvPr/>
        </p:nvSpPr>
        <p:spPr>
          <a:xfrm>
            <a:off x="5146243" y="4226357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34" name="s04_r6d1"/>
          <p:cNvSpPr/>
          <p:nvPr/>
        </p:nvSpPr>
        <p:spPr>
          <a:xfrm>
            <a:off x="6174029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35" name="s04_r6c2_sh"/>
          <p:cNvSpPr/>
          <p:nvPr/>
        </p:nvSpPr>
        <p:spPr>
          <a:xfrm>
            <a:off x="7477963" y="4253789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6" name="s04_r6c2"/>
          <p:cNvSpPr/>
          <p:nvPr/>
        </p:nvSpPr>
        <p:spPr>
          <a:xfrm>
            <a:off x="7450531" y="4226357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37" name="s04_r6c2_t"/>
          <p:cNvSpPr/>
          <p:nvPr/>
        </p:nvSpPr>
        <p:spPr>
          <a:xfrm>
            <a:off x="7450531" y="4226357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38" name="s04_r6d2"/>
          <p:cNvSpPr/>
          <p:nvPr/>
        </p:nvSpPr>
        <p:spPr>
          <a:xfrm>
            <a:off x="8478317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39" name="s04_r6c3_sh"/>
          <p:cNvSpPr/>
          <p:nvPr/>
        </p:nvSpPr>
        <p:spPr>
          <a:xfrm>
            <a:off x="9782251" y="4253789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0" name="s04_r6c3"/>
          <p:cNvSpPr/>
          <p:nvPr/>
        </p:nvSpPr>
        <p:spPr>
          <a:xfrm>
            <a:off x="9754819" y="4226357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41" name="s04_r6c3_t"/>
          <p:cNvSpPr/>
          <p:nvPr/>
        </p:nvSpPr>
        <p:spPr>
          <a:xfrm>
            <a:off x="9754819" y="4226357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42" name="s04_r6d3"/>
          <p:cNvSpPr/>
          <p:nvPr/>
        </p:nvSpPr>
        <p:spPr>
          <a:xfrm>
            <a:off x="10782605" y="4313225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43" name="s04_hr7"/>
          <p:cNvSpPr/>
          <p:nvPr/>
        </p:nvSpPr>
        <p:spPr>
          <a:xfrm>
            <a:off x="777240" y="4529938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44" name="s04_r7_lab"/>
          <p:cNvSpPr/>
          <p:nvPr/>
        </p:nvSpPr>
        <p:spPr>
          <a:xfrm>
            <a:off x="777240" y="452993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TOOLS</a:t>
            </a:r>
            <a:endParaRPr lang="en-US" sz="850" dirty="0"/>
          </a:p>
        </p:txBody>
      </p:sp>
      <p:sp>
        <p:nvSpPr>
          <p:cNvPr id="145" name="s04_r7c0_sh"/>
          <p:cNvSpPr/>
          <p:nvPr/>
        </p:nvSpPr>
        <p:spPr>
          <a:xfrm>
            <a:off x="2869387" y="4621378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6" name="s04_r7c0"/>
          <p:cNvSpPr/>
          <p:nvPr/>
        </p:nvSpPr>
        <p:spPr>
          <a:xfrm>
            <a:off x="2841955" y="4593946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47" name="s04_r7c0_t"/>
          <p:cNvSpPr/>
          <p:nvPr/>
        </p:nvSpPr>
        <p:spPr>
          <a:xfrm>
            <a:off x="2841955" y="4593946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48" name="s04_r7d0"/>
          <p:cNvSpPr/>
          <p:nvPr/>
        </p:nvSpPr>
        <p:spPr>
          <a:xfrm>
            <a:off x="3869741" y="4680814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49" name="s04_r7c1_sh"/>
          <p:cNvSpPr/>
          <p:nvPr/>
        </p:nvSpPr>
        <p:spPr>
          <a:xfrm>
            <a:off x="5173675" y="4621378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0" name="s04_r7c1"/>
          <p:cNvSpPr/>
          <p:nvPr/>
        </p:nvSpPr>
        <p:spPr>
          <a:xfrm>
            <a:off x="5146243" y="4593946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51" name="s04_r7c1_t"/>
          <p:cNvSpPr/>
          <p:nvPr/>
        </p:nvSpPr>
        <p:spPr>
          <a:xfrm>
            <a:off x="5146243" y="4593946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52" name="s04_r7d1"/>
          <p:cNvSpPr/>
          <p:nvPr/>
        </p:nvSpPr>
        <p:spPr>
          <a:xfrm>
            <a:off x="6174029" y="4680814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53" name="s04_r7c2_sh"/>
          <p:cNvSpPr/>
          <p:nvPr/>
        </p:nvSpPr>
        <p:spPr>
          <a:xfrm>
            <a:off x="7507407" y="4621378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4" name="s04_r7c2"/>
          <p:cNvSpPr/>
          <p:nvPr/>
        </p:nvSpPr>
        <p:spPr>
          <a:xfrm>
            <a:off x="7479975" y="4593946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55" name="s04_r7c2_t"/>
          <p:cNvSpPr/>
          <p:nvPr/>
        </p:nvSpPr>
        <p:spPr>
          <a:xfrm>
            <a:off x="7479975" y="4593946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56" name="s04_r7d2"/>
          <p:cNvSpPr/>
          <p:nvPr/>
        </p:nvSpPr>
        <p:spPr>
          <a:xfrm>
            <a:off x="8448873" y="4680814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7" name="s04_r7c3_sh"/>
          <p:cNvSpPr/>
          <p:nvPr/>
        </p:nvSpPr>
        <p:spPr>
          <a:xfrm>
            <a:off x="9811695" y="4621378"/>
            <a:ext cx="767730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8" name="s04_r7c3"/>
          <p:cNvSpPr/>
          <p:nvPr/>
        </p:nvSpPr>
        <p:spPr>
          <a:xfrm>
            <a:off x="9784263" y="4593946"/>
            <a:ext cx="767730" cy="287528"/>
          </a:xfrm>
          <a:prstGeom prst="rect">
            <a:avLst/>
          </a:prstGeom>
          <a:solidFill>
            <a:srgbClr val="E7EEFD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59" name="s04_r7c3_t"/>
          <p:cNvSpPr/>
          <p:nvPr/>
        </p:nvSpPr>
        <p:spPr>
          <a:xfrm>
            <a:off x="9784263" y="4593946"/>
            <a:ext cx="767730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160" name="s04_r7d3"/>
          <p:cNvSpPr/>
          <p:nvPr/>
        </p:nvSpPr>
        <p:spPr>
          <a:xfrm>
            <a:off x="10753161" y="4680814"/>
            <a:ext cx="68580" cy="685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1" name="s04_hr8"/>
          <p:cNvSpPr/>
          <p:nvPr/>
        </p:nvSpPr>
        <p:spPr>
          <a:xfrm>
            <a:off x="777240" y="4897526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62" name="s04_r8_lab"/>
          <p:cNvSpPr/>
          <p:nvPr/>
        </p:nvSpPr>
        <p:spPr>
          <a:xfrm>
            <a:off x="777240" y="489752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LINE</a:t>
            </a:r>
            <a:endParaRPr lang="en-US" sz="850" dirty="0"/>
          </a:p>
        </p:txBody>
      </p:sp>
      <p:sp>
        <p:nvSpPr>
          <p:cNvPr id="163" name="s04_r8c0_sh"/>
          <p:cNvSpPr/>
          <p:nvPr/>
        </p:nvSpPr>
        <p:spPr>
          <a:xfrm>
            <a:off x="2869387" y="498896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4" name="s04_r8c0"/>
          <p:cNvSpPr/>
          <p:nvPr/>
        </p:nvSpPr>
        <p:spPr>
          <a:xfrm>
            <a:off x="2841955" y="4961534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65" name="s04_r8c0_t"/>
          <p:cNvSpPr/>
          <p:nvPr/>
        </p:nvSpPr>
        <p:spPr>
          <a:xfrm>
            <a:off x="2841955" y="496153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66" name="s04_r8d0"/>
          <p:cNvSpPr/>
          <p:nvPr/>
        </p:nvSpPr>
        <p:spPr>
          <a:xfrm>
            <a:off x="3869741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67" name="s04_r8c1_sh"/>
          <p:cNvSpPr/>
          <p:nvPr/>
        </p:nvSpPr>
        <p:spPr>
          <a:xfrm>
            <a:off x="5173675" y="498896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8" name="s04_r8c1"/>
          <p:cNvSpPr/>
          <p:nvPr/>
        </p:nvSpPr>
        <p:spPr>
          <a:xfrm>
            <a:off x="5146243" y="4961534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69" name="s04_r8c1_t"/>
          <p:cNvSpPr/>
          <p:nvPr/>
        </p:nvSpPr>
        <p:spPr>
          <a:xfrm>
            <a:off x="5146243" y="496153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70" name="s04_r8d1"/>
          <p:cNvSpPr/>
          <p:nvPr/>
        </p:nvSpPr>
        <p:spPr>
          <a:xfrm>
            <a:off x="6174029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71" name="s04_r8c2_sh"/>
          <p:cNvSpPr/>
          <p:nvPr/>
        </p:nvSpPr>
        <p:spPr>
          <a:xfrm>
            <a:off x="7477963" y="4988966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2" name="s04_r8c2"/>
          <p:cNvSpPr/>
          <p:nvPr/>
        </p:nvSpPr>
        <p:spPr>
          <a:xfrm>
            <a:off x="7450531" y="4961534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73" name="s04_r8c2_t"/>
          <p:cNvSpPr/>
          <p:nvPr/>
        </p:nvSpPr>
        <p:spPr>
          <a:xfrm>
            <a:off x="7450531" y="4961534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74" name="s04_r8d2"/>
          <p:cNvSpPr/>
          <p:nvPr/>
        </p:nvSpPr>
        <p:spPr>
          <a:xfrm>
            <a:off x="8478317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75" name="s04_r8c3_sh"/>
          <p:cNvSpPr/>
          <p:nvPr/>
        </p:nvSpPr>
        <p:spPr>
          <a:xfrm>
            <a:off x="9870582" y="4988966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6" name="s04_r8c3"/>
          <p:cNvSpPr/>
          <p:nvPr/>
        </p:nvSpPr>
        <p:spPr>
          <a:xfrm>
            <a:off x="9843150" y="4961534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7" name="s04_r8c3_t"/>
          <p:cNvSpPr/>
          <p:nvPr/>
        </p:nvSpPr>
        <p:spPr>
          <a:xfrm>
            <a:off x="9843150" y="4961534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78" name="s04_r8d3"/>
          <p:cNvSpPr/>
          <p:nvPr/>
        </p:nvSpPr>
        <p:spPr>
          <a:xfrm>
            <a:off x="10694274" y="5048402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79" name="s04_hr9"/>
          <p:cNvSpPr/>
          <p:nvPr/>
        </p:nvSpPr>
        <p:spPr>
          <a:xfrm>
            <a:off x="777240" y="5265115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80" name="s04_r9_lab"/>
          <p:cNvSpPr/>
          <p:nvPr/>
        </p:nvSpPr>
        <p:spPr>
          <a:xfrm>
            <a:off x="777240" y="5265115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POLICY</a:t>
            </a:r>
            <a:endParaRPr lang="en-US" sz="850" dirty="0"/>
          </a:p>
        </p:txBody>
      </p:sp>
      <p:sp>
        <p:nvSpPr>
          <p:cNvPr id="181" name="s04_r9c0_sh"/>
          <p:cNvSpPr/>
          <p:nvPr/>
        </p:nvSpPr>
        <p:spPr>
          <a:xfrm>
            <a:off x="2957718" y="5356555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2" name="s04_r9c0"/>
          <p:cNvSpPr/>
          <p:nvPr/>
        </p:nvSpPr>
        <p:spPr>
          <a:xfrm>
            <a:off x="2930286" y="5329123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83" name="s04_r9c0_t"/>
          <p:cNvSpPr/>
          <p:nvPr/>
        </p:nvSpPr>
        <p:spPr>
          <a:xfrm>
            <a:off x="2930286" y="5329123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84" name="s04_r9d0"/>
          <p:cNvSpPr/>
          <p:nvPr/>
        </p:nvSpPr>
        <p:spPr>
          <a:xfrm>
            <a:off x="3781410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85" name="s04_r9c1_sh"/>
          <p:cNvSpPr/>
          <p:nvPr/>
        </p:nvSpPr>
        <p:spPr>
          <a:xfrm>
            <a:off x="5173675" y="535655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6" name="s04_r9c1"/>
          <p:cNvSpPr/>
          <p:nvPr/>
        </p:nvSpPr>
        <p:spPr>
          <a:xfrm>
            <a:off x="5146243" y="5329123"/>
            <a:ext cx="826618" cy="287528"/>
          </a:xfrm>
          <a:prstGeom prst="rect">
            <a:avLst/>
          </a:prstGeom>
          <a:solidFill>
            <a:srgbClr val="E5F5EA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87" name="s04_r9c1_t"/>
          <p:cNvSpPr/>
          <p:nvPr/>
        </p:nvSpPr>
        <p:spPr>
          <a:xfrm>
            <a:off x="5146243" y="532912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COPY-AS-IS</a:t>
            </a:r>
            <a:endParaRPr lang="en-US" sz="700" dirty="0"/>
          </a:p>
        </p:txBody>
      </p:sp>
      <p:sp>
        <p:nvSpPr>
          <p:cNvPr id="188" name="s04_r9d1"/>
          <p:cNvSpPr/>
          <p:nvPr/>
        </p:nvSpPr>
        <p:spPr>
          <a:xfrm>
            <a:off x="6174029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89" name="s04_r9c2_sh"/>
          <p:cNvSpPr/>
          <p:nvPr/>
        </p:nvSpPr>
        <p:spPr>
          <a:xfrm>
            <a:off x="7566294" y="5356555"/>
            <a:ext cx="649956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0" name="s04_r9c2"/>
          <p:cNvSpPr/>
          <p:nvPr/>
        </p:nvSpPr>
        <p:spPr>
          <a:xfrm>
            <a:off x="7538862" y="5329123"/>
            <a:ext cx="649956" cy="287528"/>
          </a:xfrm>
          <a:prstGeom prst="rect">
            <a:avLst/>
          </a:prstGeom>
          <a:solidFill>
            <a:srgbClr val="FBEED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91" name="s04_r9c2_t"/>
          <p:cNvSpPr/>
          <p:nvPr/>
        </p:nvSpPr>
        <p:spPr>
          <a:xfrm>
            <a:off x="7538862" y="5329123"/>
            <a:ext cx="649956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92" name="s04_r9d2"/>
          <p:cNvSpPr/>
          <p:nvPr/>
        </p:nvSpPr>
        <p:spPr>
          <a:xfrm>
            <a:off x="8389986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93" name="s04_r9c3_sh"/>
          <p:cNvSpPr/>
          <p:nvPr/>
        </p:nvSpPr>
        <p:spPr>
          <a:xfrm>
            <a:off x="9782251" y="5356555"/>
            <a:ext cx="826618" cy="2875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4" name="s04_r9c3"/>
          <p:cNvSpPr/>
          <p:nvPr/>
        </p:nvSpPr>
        <p:spPr>
          <a:xfrm>
            <a:off x="9754819" y="5329123"/>
            <a:ext cx="826618" cy="287528"/>
          </a:xfrm>
          <a:prstGeom prst="rect">
            <a:avLst/>
          </a:prstGeom>
          <a:solidFill>
            <a:srgbClr val="EFEFEA"/>
          </a:solidFill>
          <a:ln w="15875">
            <a:solidFill>
              <a:srgbClr val="5C6068"/>
            </a:solidFill>
            <a:prstDash val="solid"/>
          </a:ln>
        </p:spPr>
      </p:sp>
      <p:sp>
        <p:nvSpPr>
          <p:cNvPr id="195" name="s04_r9c3_t"/>
          <p:cNvSpPr/>
          <p:nvPr/>
        </p:nvSpPr>
        <p:spPr>
          <a:xfrm>
            <a:off x="9754819" y="5329123"/>
            <a:ext cx="826618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96" name="s04_r9d3"/>
          <p:cNvSpPr/>
          <p:nvPr/>
        </p:nvSpPr>
        <p:spPr>
          <a:xfrm>
            <a:off x="10782605" y="5415991"/>
            <a:ext cx="68580" cy="68580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197" name="s04_hr10"/>
          <p:cNvSpPr/>
          <p:nvPr/>
        </p:nvSpPr>
        <p:spPr>
          <a:xfrm>
            <a:off x="777240" y="5632704"/>
            <a:ext cx="10680192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8" name="s04_key_sh"/>
          <p:cNvSpPr/>
          <p:nvPr/>
        </p:nvSpPr>
        <p:spPr>
          <a:xfrm>
            <a:off x="553212" y="5884164"/>
            <a:ext cx="11183112" cy="62179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9" name="s04_key"/>
          <p:cNvSpPr/>
          <p:nvPr/>
        </p:nvSpPr>
        <p:spPr>
          <a:xfrm>
            <a:off x="502920" y="5833872"/>
            <a:ext cx="11183112" cy="621792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00" name="s04_dot1"/>
          <p:cNvSpPr/>
          <p:nvPr/>
        </p:nvSpPr>
        <p:spPr>
          <a:xfrm>
            <a:off x="777240" y="6035040"/>
            <a:ext cx="8229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1" name="s04_lg1"/>
          <p:cNvSpPr/>
          <p:nvPr/>
        </p:nvSpPr>
        <p:spPr>
          <a:xfrm>
            <a:off x="914400" y="5943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updates itself once installed</a:t>
            </a:r>
            <a:endParaRPr lang="en-US" sz="900" dirty="0"/>
          </a:p>
        </p:txBody>
      </p:sp>
      <p:sp>
        <p:nvSpPr>
          <p:cNvPr id="202" name="s04_dot2"/>
          <p:cNvSpPr/>
          <p:nvPr/>
        </p:nvSpPr>
        <p:spPr>
          <a:xfrm>
            <a:off x="3063240" y="6035040"/>
            <a:ext cx="82296" cy="82296"/>
          </a:xfrm>
          <a:prstGeom prst="rect">
            <a:avLst/>
          </a:prstGeom>
          <a:solidFill>
            <a:srgbClr val="C7CAD1"/>
          </a:solidFill>
          <a:ln/>
        </p:spPr>
      </p:sp>
      <p:sp>
        <p:nvSpPr>
          <p:cNvPr id="203" name="s04_lg2"/>
          <p:cNvSpPr/>
          <p:nvPr/>
        </p:nvSpPr>
        <p:spPr>
          <a:xfrm>
            <a:off x="3200400" y="5943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manual — the lockfile owns updates</a:t>
            </a:r>
            <a:endParaRPr lang="en-US" sz="900" dirty="0"/>
          </a:p>
        </p:txBody>
      </p:sp>
      <p:sp>
        <p:nvSpPr>
          <p:cNvPr id="204" name="s04_take"/>
          <p:cNvSpPr/>
          <p:nvPr/>
        </p:nvSpPr>
        <p:spPr>
          <a:xfrm>
            <a:off x="6035040" y="594360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skills: overlay everywhere, translate only metadata · mcp: json everywhere except codex toml · only plugins self-update — lockfile covers the rest</a:t>
            </a:r>
            <a:endParaRPr lang="en-US" sz="900" dirty="0"/>
          </a:p>
        </p:txBody>
      </p:sp>
      <p:sp>
        <p:nvSpPr>
          <p:cNvPr id="205" name="Text 0">
            <a:extLst>
              <a:ext uri="{FF2B5EF4-FFF2-40B4-BE49-F238E27FC236}">
                <a16:creationId xmlns:a16="http://schemas.microsoft.com/office/drawing/2014/main" id="{4EB28646-7BDF-1441-49E6-3B65D5FE7939}"/>
              </a:ext>
            </a:extLst>
          </p:cNvPr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Support for each Harness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7_vx_v1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27_vx_v2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27_vx_v3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s27_kick" descr="assets/a2_k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"/>
            <a:ext cx="2952206" cy="182880"/>
          </a:xfrm>
          <a:prstGeom prst="rect">
            <a:avLst/>
          </a:prstGeom>
        </p:spPr>
      </p:pic>
      <p:pic>
        <p:nvPicPr>
          <p:cNvPr id="6" name="s27_title" descr="assets/a2_t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"/>
            <a:ext cx="8083296" cy="1052866"/>
          </a:xfrm>
          <a:prstGeom prst="rect">
            <a:avLst/>
          </a:prstGeom>
        </p:spPr>
      </p:pic>
      <p:sp>
        <p:nvSpPr>
          <p:cNvPr id="8" name="s27_pg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27</a:t>
            </a:r>
            <a:endParaRPr lang="en-US" sz="950" dirty="0"/>
          </a:p>
        </p:txBody>
      </p:sp>
      <p:sp>
        <p:nvSpPr>
          <p:cNvPr id="10" name="s27_box0"/>
          <p:cNvSpPr/>
          <p:nvPr/>
        </p:nvSpPr>
        <p:spPr>
          <a:xfrm>
            <a:off x="502920" y="1828800"/>
            <a:ext cx="11183112" cy="1261872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11" name="s27_n0"/>
          <p:cNvSpPr/>
          <p:nvPr/>
        </p:nvSpPr>
        <p:spPr>
          <a:xfrm>
            <a:off x="868680" y="1828800"/>
            <a:ext cx="77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s27_t0"/>
          <p:cNvSpPr/>
          <p:nvPr/>
        </p:nvSpPr>
        <p:spPr>
          <a:xfrm>
            <a:off x="1783080" y="1828800"/>
            <a:ext cx="9692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C6068"/>
                </a:solidFill>
                <a:latin typeface="Segoe UI" pitchFamily="34" charset="0"/>
                <a:cs typeface="Segoe UI" pitchFamily="34" charset="-120"/>
              </a:rPr>
              <a:t>More advanced features that harnesses provide</a:t>
            </a:r>
            <a:endParaRPr lang="en-US" sz="1400" dirty="0"/>
          </a:p>
        </p:txBody>
      </p:sp>
      <p:sp>
        <p:nvSpPr>
          <p:cNvPr id="13" name="s27_box1"/>
          <p:cNvSpPr/>
          <p:nvPr/>
        </p:nvSpPr>
        <p:spPr>
          <a:xfrm>
            <a:off x="502920" y="3310128"/>
            <a:ext cx="11183112" cy="1261872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14" name="s27_n1"/>
          <p:cNvSpPr/>
          <p:nvPr/>
        </p:nvSpPr>
        <p:spPr>
          <a:xfrm>
            <a:off x="868680" y="3310128"/>
            <a:ext cx="77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27_t1"/>
          <p:cNvSpPr/>
          <p:nvPr/>
        </p:nvSpPr>
        <p:spPr>
          <a:xfrm>
            <a:off x="1783080" y="3310128"/>
            <a:ext cx="9692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of skills (some harnesses support evaluation of skill, outside of the spec)</a:t>
            </a:r>
            <a:endParaRPr lang="en-US" sz="1400" dirty="0"/>
          </a:p>
        </p:txBody>
      </p:sp>
      <p:sp>
        <p:nvSpPr>
          <p:cNvPr id="16" name="s27_box2"/>
          <p:cNvSpPr/>
          <p:nvPr/>
        </p:nvSpPr>
        <p:spPr>
          <a:xfrm>
            <a:off x="502920" y="4791456"/>
            <a:ext cx="11183112" cy="1261872"/>
          </a:xfrm>
          <a:prstGeom prst="rect">
            <a:avLst/>
          </a:prstGeom>
          <a:ln w="15875">
            <a:solidFill>
              <a:srgbClr val="D97706"/>
            </a:solidFill>
            <a:prstDash val="dash"/>
          </a:ln>
        </p:spPr>
      </p:sp>
      <p:sp>
        <p:nvSpPr>
          <p:cNvPr id="17" name="s27_n2"/>
          <p:cNvSpPr/>
          <p:nvPr/>
        </p:nvSpPr>
        <p:spPr>
          <a:xfrm>
            <a:off x="868680" y="4791456"/>
            <a:ext cx="77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27_t2"/>
          <p:cNvSpPr/>
          <p:nvPr/>
        </p:nvSpPr>
        <p:spPr>
          <a:xfrm>
            <a:off x="1783080" y="4791456"/>
            <a:ext cx="9692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Workflows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3308</Words>
  <Application>Microsoft Office PowerPoint</Application>
  <PresentationFormat>Widescreen</PresentationFormat>
  <Paragraphs>525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Registries — PCM</dc:title>
  <dc:subject>PptxGenJS Presentation</dc:subject>
  <dc:creator>aryan-rajoria</dc:creator>
  <cp:lastModifiedBy>Aryan Rajoria</cp:lastModifiedBy>
  <cp:revision>5</cp:revision>
  <dcterms:created xsi:type="dcterms:W3CDTF">2026-10-29T11:40:51Z</dcterms:created>
  <dcterms:modified xsi:type="dcterms:W3CDTF">2026-10-29T16:54:23Z</dcterms:modified>
</cp:coreProperties>
</file>